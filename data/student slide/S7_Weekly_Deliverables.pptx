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FFA30A-18B5-4F8F-9A49-6164087E6097}">
  <a:tblStyle styleId="{ABFFA30A-18B5-4F8F-9A49-6164087E609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8T04:37:22.768">
    <p:pos x="196" y="725"/>
    <p:text>@jeffren2@umbc.edu your communication goal should be considered from your audience's perspective. Envision what they are interested in. You are "selling" a communication product to them. Your analysis should be directed towards achieving those communication goal</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15T03:39:06.066">
    <p:pos x="2952" y="641"/>
    <p:text>This is a bit hard to comprehend, check out my comments to Marilyn's plot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15T03:39:49.565">
    <p:pos x="196" y="725"/>
    <p:text>on the right track. aim for 2 insights per week with steady progress</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4-21T05:26:01.272">
    <p:pos x="196" y="725"/>
    <p:text>@jeffren2@umbc.edu why you chose those five</p:text>
  </p:cm>
  <p:cm authorId="0" idx="5" dt="2026-04-21T05:26:42.682">
    <p:pos x="196" y="825"/>
    <p:text>they are different measure, but why this is interesting to know? try to dig deeper</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21T05:29:09.767">
    <p:pos x="2995" y="1929"/>
    <p:text>since premiere dates has time ordered, it is better to present as x-axis ad plot a trend line, another suggestions, you could also plot the average ranking by premier dates</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4-28T23:38:47.201">
    <p:pos x="2954" y="641"/>
    <p:text>good starting point, however, it is difficult to compare when the data are distributed across multiple plots, one way to resolve the issue is to plot an overlay line chart</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4-28T23:39:21.245">
    <p:pos x="196" y="280"/>
    <p:text>similar comments as previous slide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4ae6ecec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4ae6ecec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4ae6ece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4ae6ece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4ae6ecec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4ae6ecec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4ae6ecec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4ae6ecec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4ae6ececb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4ae6ececb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4ae6ececb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4ae6ececb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4ae6ecec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4ae6ecec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4ae6ecec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d4ae6ecec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4ae6ecec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4ae6ecec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726620f1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726620f1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726620f1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726620f1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726620f1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726620f1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726620f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726620f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7695ace6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7695ace6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7695ace6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7695ace6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7695ace66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7695ace66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7695ace66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7695ace66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7695ace66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7695ace66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a422cc6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a422cc6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a422cc6a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a422cc6a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a422cc6a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9a422cc6a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a422cc6a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a422cc6a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a422cc6a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9a422cc6a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a422cc6a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9a422cc6a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bcbcdd3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dbcbcdd3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bcbcdd33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dbcbcdd33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bcbcdd33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dbcbcdd33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bcbcdd33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dbcbcdd33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bcbcdd33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dbcbcdd33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comments" Target="../comments/commen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omments" Target="../comments/comment4.xml"/><Relationship Id="rId4" Type="http://schemas.openxmlformats.org/officeDocument/2006/relationships/image" Target="../media/image1.png"/><Relationship Id="rId5"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omments" Target="../comments/comment5.xml"/><Relationship Id="rId4" Type="http://schemas.openxmlformats.org/officeDocument/2006/relationships/image" Target="../media/image13.png"/><Relationship Id="rId5"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comments" Target="../comments/comment6.xml"/><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2.png"/><Relationship Id="rId7" Type="http://schemas.openxmlformats.org/officeDocument/2006/relationships/image" Target="../media/image14.png"/><Relationship Id="rId8"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comments" Target="../comments/comment7.xml"/><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8.png"/><Relationship Id="rId7" Type="http://schemas.openxmlformats.org/officeDocument/2006/relationships/image" Target="../media/image7.png"/><Relationship Id="rId8"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0.png"/><Relationship Id="rId7"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S7</a:t>
            </a:r>
            <a:endParaRPr/>
          </a:p>
          <a:p>
            <a:pPr indent="0" lvl="0" marL="0" rtl="0" algn="ctr">
              <a:spcBef>
                <a:spcPts val="0"/>
              </a:spcBef>
              <a:spcAft>
                <a:spcPts val="0"/>
              </a:spcAft>
              <a:buNone/>
            </a:pPr>
            <a:r>
              <a:rPr lang="en"/>
              <a:t>Weekly Deliverables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Jeffrey Novak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744575"/>
            <a:ext cx="8520600" cy="2319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 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Introduction</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“What is the ‘Golden Age’(or ‘Dark Age’) of _____?”</a:t>
            </a:r>
            <a:endParaRPr b="1"/>
          </a:p>
          <a:p>
            <a:pPr indent="0" lvl="0" marL="0" rtl="0" algn="l">
              <a:spcBef>
                <a:spcPts val="1200"/>
              </a:spcBef>
              <a:spcAft>
                <a:spcPts val="0"/>
              </a:spcAft>
              <a:buNone/>
            </a:pPr>
            <a:r>
              <a:rPr lang="en"/>
              <a:t>This is a question that is both highly opinionated, and asked across many different pieces of media and genres.</a:t>
            </a:r>
            <a:endParaRPr/>
          </a:p>
          <a:p>
            <a:pPr indent="0" lvl="0" marL="0" rtl="0" algn="l">
              <a:spcBef>
                <a:spcPts val="1200"/>
              </a:spcBef>
              <a:spcAft>
                <a:spcPts val="0"/>
              </a:spcAft>
              <a:buNone/>
            </a:pPr>
            <a:r>
              <a:rPr lang="en"/>
              <a:t>Anime is no different in this regard. </a:t>
            </a:r>
            <a:r>
              <a:rPr lang="en"/>
              <a:t>In fact, it can be much more difficult to answer in this case as anime is split into multiple different genres and categories, each with their own highs and lows.</a:t>
            </a:r>
            <a:endParaRPr/>
          </a:p>
          <a:p>
            <a:pPr indent="0" lvl="0" marL="0" rtl="0" algn="l">
              <a:spcBef>
                <a:spcPts val="1200"/>
              </a:spcBef>
              <a:spcAft>
                <a:spcPts val="1200"/>
              </a:spcAft>
              <a:buNone/>
            </a:pPr>
            <a:r>
              <a:rPr lang="en"/>
              <a:t>The goal of this project is to attempt to find an answer to this question regarding anime using data provided on 15000 different entries.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1125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Data profile</a:t>
            </a:r>
            <a:endParaRPr/>
          </a:p>
          <a:p>
            <a:pPr indent="0" lvl="0" marL="0" rtl="0" algn="ctr">
              <a:spcBef>
                <a:spcPts val="0"/>
              </a:spcBef>
              <a:spcAft>
                <a:spcPts val="0"/>
              </a:spcAft>
              <a:buNone/>
            </a:pPr>
            <a:r>
              <a:rPr lang="en" sz="2000"/>
              <a:t>The dataset c</a:t>
            </a:r>
            <a:r>
              <a:rPr lang="en" sz="2000"/>
              <a:t>ontains 15000 rows and 22 columns</a:t>
            </a:r>
            <a:endParaRPr sz="2000"/>
          </a:p>
        </p:txBody>
      </p:sp>
      <p:graphicFrame>
        <p:nvGraphicFramePr>
          <p:cNvPr id="72" name="Google Shape;72;p16"/>
          <p:cNvGraphicFramePr/>
          <p:nvPr/>
        </p:nvGraphicFramePr>
        <p:xfrm>
          <a:off x="507913" y="1660275"/>
          <a:ext cx="3000000" cy="3000000"/>
        </p:xfrm>
        <a:graphic>
          <a:graphicData uri="http://schemas.openxmlformats.org/drawingml/2006/table">
            <a:tbl>
              <a:tblPr>
                <a:noFill/>
                <a:tableStyleId>{ABFFA30A-18B5-4F8F-9A49-6164087E6097}</a:tableStyleId>
              </a:tblPr>
              <a:tblGrid>
                <a:gridCol w="1561425"/>
                <a:gridCol w="1561425"/>
                <a:gridCol w="2021600"/>
                <a:gridCol w="1336675"/>
                <a:gridCol w="1647050"/>
              </a:tblGrid>
              <a:tr h="668725">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421225">
                <a:tc>
                  <a:txBody>
                    <a:bodyPr/>
                    <a:lstStyle/>
                    <a:p>
                      <a:pPr indent="0" lvl="0" marL="0" rtl="0" algn="l">
                        <a:spcBef>
                          <a:spcPts val="0"/>
                        </a:spcBef>
                        <a:spcAft>
                          <a:spcPts val="0"/>
                        </a:spcAft>
                        <a:buNone/>
                      </a:pPr>
                      <a:r>
                        <a:rPr lang="en"/>
                        <a:t>anime_id</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anime_url</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image_url</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name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english_name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japanese_names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1125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Data profile</a:t>
            </a:r>
            <a:endParaRPr/>
          </a:p>
          <a:p>
            <a:pPr indent="0" lvl="0" marL="0" rtl="0" algn="ctr">
              <a:spcBef>
                <a:spcPts val="0"/>
              </a:spcBef>
              <a:spcAft>
                <a:spcPts val="0"/>
              </a:spcAft>
              <a:buNone/>
            </a:pPr>
            <a:r>
              <a:rPr lang="en" sz="2000"/>
              <a:t>The dataset contains 15000 rows and 22 columns</a:t>
            </a:r>
            <a:endParaRPr sz="2000"/>
          </a:p>
        </p:txBody>
      </p:sp>
      <p:graphicFrame>
        <p:nvGraphicFramePr>
          <p:cNvPr id="78" name="Google Shape;78;p17"/>
          <p:cNvGraphicFramePr/>
          <p:nvPr/>
        </p:nvGraphicFramePr>
        <p:xfrm>
          <a:off x="507913" y="1660275"/>
          <a:ext cx="3000000" cy="3000000"/>
        </p:xfrm>
        <a:graphic>
          <a:graphicData uri="http://schemas.openxmlformats.org/drawingml/2006/table">
            <a:tbl>
              <a:tblPr>
                <a:noFill/>
                <a:tableStyleId>{ABFFA30A-18B5-4F8F-9A49-6164087E6097}</a:tableStyleId>
              </a:tblPr>
              <a:tblGrid>
                <a:gridCol w="1561425"/>
                <a:gridCol w="1561425"/>
                <a:gridCol w="2021600"/>
                <a:gridCol w="1336675"/>
                <a:gridCol w="1647050"/>
              </a:tblGrid>
              <a:tr h="668725">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421225">
                <a:tc>
                  <a:txBody>
                    <a:bodyPr/>
                    <a:lstStyle/>
                    <a:p>
                      <a:pPr indent="0" lvl="0" marL="0" rtl="0" algn="l">
                        <a:spcBef>
                          <a:spcPts val="0"/>
                        </a:spcBef>
                        <a:spcAft>
                          <a:spcPts val="0"/>
                        </a:spcAft>
                        <a:buNone/>
                      </a:pPr>
                      <a:r>
                        <a:rPr lang="en"/>
                        <a:t>score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genres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synopsis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type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episodes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premiered</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1125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Data profile</a:t>
            </a:r>
            <a:endParaRPr/>
          </a:p>
          <a:p>
            <a:pPr indent="0" lvl="0" marL="0" rtl="0" algn="ctr">
              <a:spcBef>
                <a:spcPts val="0"/>
              </a:spcBef>
              <a:spcAft>
                <a:spcPts val="0"/>
              </a:spcAft>
              <a:buNone/>
            </a:pPr>
            <a:r>
              <a:rPr lang="en" sz="2000"/>
              <a:t>The dataset contains 15000 rows and 22 columns</a:t>
            </a:r>
            <a:endParaRPr sz="2000"/>
          </a:p>
        </p:txBody>
      </p:sp>
      <p:graphicFrame>
        <p:nvGraphicFramePr>
          <p:cNvPr id="84" name="Google Shape;84;p18"/>
          <p:cNvGraphicFramePr/>
          <p:nvPr/>
        </p:nvGraphicFramePr>
        <p:xfrm>
          <a:off x="507913" y="1660275"/>
          <a:ext cx="3000000" cy="3000000"/>
        </p:xfrm>
        <a:graphic>
          <a:graphicData uri="http://schemas.openxmlformats.org/drawingml/2006/table">
            <a:tbl>
              <a:tblPr>
                <a:noFill/>
                <a:tableStyleId>{ABFFA30A-18B5-4F8F-9A49-6164087E6097}</a:tableStyleId>
              </a:tblPr>
              <a:tblGrid>
                <a:gridCol w="1561425"/>
                <a:gridCol w="1561425"/>
                <a:gridCol w="2021600"/>
                <a:gridCol w="1336675"/>
                <a:gridCol w="1647050"/>
              </a:tblGrid>
              <a:tr h="668725">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t>producers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t>studios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t>source</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t>duration</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t>rating</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Free text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1225">
                <a:tc>
                  <a:txBody>
                    <a:bodyPr/>
                    <a:lstStyle/>
                    <a:p>
                      <a:pPr indent="0" lvl="0" marL="0" rtl="0" algn="l">
                        <a:spcBef>
                          <a:spcPts val="0"/>
                        </a:spcBef>
                        <a:spcAft>
                          <a:spcPts val="0"/>
                        </a:spcAft>
                        <a:buNone/>
                      </a:pPr>
                      <a:r>
                        <a:rPr lang="en"/>
                        <a:t>rank</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1125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Data profile</a:t>
            </a:r>
            <a:endParaRPr/>
          </a:p>
          <a:p>
            <a:pPr indent="0" lvl="0" marL="0" rtl="0" algn="ctr">
              <a:spcBef>
                <a:spcPts val="0"/>
              </a:spcBef>
              <a:spcAft>
                <a:spcPts val="0"/>
              </a:spcAft>
              <a:buNone/>
            </a:pPr>
            <a:r>
              <a:rPr lang="en" sz="2000"/>
              <a:t>The dataset contains 15000 rows and 22 columns</a:t>
            </a:r>
            <a:endParaRPr sz="2000"/>
          </a:p>
        </p:txBody>
      </p:sp>
      <p:graphicFrame>
        <p:nvGraphicFramePr>
          <p:cNvPr id="90" name="Google Shape;90;p19"/>
          <p:cNvGraphicFramePr/>
          <p:nvPr/>
        </p:nvGraphicFramePr>
        <p:xfrm>
          <a:off x="507913" y="1660275"/>
          <a:ext cx="3000000" cy="3000000"/>
        </p:xfrm>
        <a:graphic>
          <a:graphicData uri="http://schemas.openxmlformats.org/drawingml/2006/table">
            <a:tbl>
              <a:tblPr>
                <a:noFill/>
                <a:tableStyleId>{ABFFA30A-18B5-4F8F-9A49-6164087E6097}</a:tableStyleId>
              </a:tblPr>
              <a:tblGrid>
                <a:gridCol w="1561425"/>
                <a:gridCol w="1561425"/>
                <a:gridCol w="2021600"/>
                <a:gridCol w="1336675"/>
                <a:gridCol w="1647050"/>
              </a:tblGrid>
              <a:tr h="668725">
                <a:tc>
                  <a:txBody>
                    <a:bodyPr/>
                    <a:lstStyle/>
                    <a:p>
                      <a:pPr indent="0" lvl="0" marL="0" rtl="0" algn="l">
                        <a:spcBef>
                          <a:spcPts val="0"/>
                        </a:spcBef>
                        <a:spcAft>
                          <a:spcPts val="0"/>
                        </a:spcAft>
                        <a:buNone/>
                      </a:pPr>
                      <a:r>
                        <a:rPr lang="en"/>
                        <a:t>Column Name</a:t>
                      </a:r>
                      <a:endParaRPr/>
                    </a:p>
                  </a:txBody>
                  <a:tcPr marT="91425" marB="91425" marR="91425" marL="91425"/>
                </a:tc>
                <a:tc>
                  <a:txBody>
                    <a:bodyPr/>
                    <a:lstStyle/>
                    <a:p>
                      <a:pPr indent="0" lvl="0" marL="0" rtl="0" algn="l">
                        <a:spcBef>
                          <a:spcPts val="0"/>
                        </a:spcBef>
                        <a:spcAft>
                          <a:spcPts val="0"/>
                        </a:spcAft>
                        <a:buNone/>
                      </a:pPr>
                      <a:r>
                        <a:rPr lang="en"/>
                        <a:t>Has missing value?</a:t>
                      </a:r>
                      <a:endParaRPr/>
                    </a:p>
                  </a:txBody>
                  <a:tcPr marT="91425" marB="91425" marR="91425" marL="91425"/>
                </a:tc>
                <a:tc>
                  <a:txBody>
                    <a:bodyPr/>
                    <a:lstStyle/>
                    <a:p>
                      <a:pPr indent="0" lvl="0" marL="0" rtl="0" algn="l">
                        <a:spcBef>
                          <a:spcPts val="0"/>
                        </a:spcBef>
                        <a:spcAft>
                          <a:spcPts val="0"/>
                        </a:spcAft>
                        <a:buNone/>
                      </a:pPr>
                      <a:r>
                        <a:rPr lang="en"/>
                        <a:t>Data Type(Discrete or numeric or free text)</a:t>
                      </a:r>
                      <a:endParaRPr/>
                    </a:p>
                  </a:txBody>
                  <a:tcPr marT="91425" marB="91425" marR="91425" marL="91425"/>
                </a:tc>
                <a:tc>
                  <a:txBody>
                    <a:bodyPr/>
                    <a:lstStyle/>
                    <a:p>
                      <a:pPr indent="0" lvl="0" marL="0" rtl="0" algn="l">
                        <a:spcBef>
                          <a:spcPts val="0"/>
                        </a:spcBef>
                        <a:spcAft>
                          <a:spcPts val="0"/>
                        </a:spcAft>
                        <a:buNone/>
                      </a:pPr>
                      <a:r>
                        <a:rPr lang="en"/>
                        <a:t>Useful?</a:t>
                      </a:r>
                      <a:endParaRPr/>
                    </a:p>
                  </a:txBody>
                  <a:tcPr marT="91425" marB="91425" marR="91425" marL="91425"/>
                </a:tc>
                <a:tc>
                  <a:txBody>
                    <a:bodyPr/>
                    <a:lstStyle/>
                    <a:p>
                      <a:pPr indent="0" lvl="0" marL="0" rtl="0" algn="l">
                        <a:spcBef>
                          <a:spcPts val="0"/>
                        </a:spcBef>
                        <a:spcAft>
                          <a:spcPts val="0"/>
                        </a:spcAft>
                        <a:buNone/>
                      </a:pPr>
                      <a:r>
                        <a:rPr lang="en"/>
                        <a:t>Need cleaning or processing?</a:t>
                      </a:r>
                      <a:endParaRPr/>
                    </a:p>
                  </a:txBody>
                  <a:tcPr marT="91425" marB="91425" marR="91425" marL="91425"/>
                </a:tc>
              </a:tr>
              <a:tr h="421225">
                <a:tc>
                  <a:txBody>
                    <a:bodyPr/>
                    <a:lstStyle/>
                    <a:p>
                      <a:pPr indent="0" lvl="0" marL="0" rtl="0" algn="l">
                        <a:spcBef>
                          <a:spcPts val="0"/>
                        </a:spcBef>
                        <a:spcAft>
                          <a:spcPts val="0"/>
                        </a:spcAft>
                        <a:buNone/>
                      </a:pPr>
                      <a:r>
                        <a:rPr lang="en"/>
                        <a:t>popularity</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favorites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scored_by</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421225">
                <a:tc>
                  <a:txBody>
                    <a:bodyPr/>
                    <a:lstStyle/>
                    <a:p>
                      <a:pPr indent="0" lvl="0" marL="0" rtl="0" algn="l">
                        <a:spcBef>
                          <a:spcPts val="0"/>
                        </a:spcBef>
                        <a:spcAft>
                          <a:spcPts val="0"/>
                        </a:spcAft>
                        <a:buNone/>
                      </a:pPr>
                      <a:r>
                        <a:rPr lang="en"/>
                        <a:t>members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Numeric</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Curious Questions</a:t>
            </a:r>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was the best decade for anime by ratings?</a:t>
            </a:r>
            <a:endParaRPr/>
          </a:p>
          <a:p>
            <a:pPr indent="-342900" lvl="0" marL="457200" rtl="0" algn="l">
              <a:spcBef>
                <a:spcPts val="0"/>
              </a:spcBef>
              <a:spcAft>
                <a:spcPts val="0"/>
              </a:spcAft>
              <a:buSzPts val="1800"/>
              <a:buChar char="●"/>
            </a:pPr>
            <a:r>
              <a:rPr lang="en"/>
              <a:t>Which decade did the highest rating anime of certain genres come out?</a:t>
            </a:r>
            <a:endParaRPr/>
          </a:p>
          <a:p>
            <a:pPr indent="-342900" lvl="0" marL="457200" rtl="0" algn="l">
              <a:spcBef>
                <a:spcPts val="0"/>
              </a:spcBef>
              <a:spcAft>
                <a:spcPts val="0"/>
              </a:spcAft>
              <a:buSzPts val="1800"/>
              <a:buChar char="●"/>
            </a:pPr>
            <a:r>
              <a:rPr lang="en"/>
              <a:t>Which genres were the most popular per decade?</a:t>
            </a:r>
            <a:endParaRPr/>
          </a:p>
          <a:p>
            <a:pPr indent="-342900" lvl="0" marL="457200" rtl="0" algn="l">
              <a:spcBef>
                <a:spcPts val="0"/>
              </a:spcBef>
              <a:spcAft>
                <a:spcPts val="0"/>
              </a:spcAft>
              <a:buSzPts val="1800"/>
              <a:buChar char="●"/>
            </a:pPr>
            <a:r>
              <a:rPr lang="en"/>
              <a:t>Which decades had caused possible stagnation for certain genres?</a:t>
            </a:r>
            <a:endParaRPr/>
          </a:p>
          <a:p>
            <a:pPr indent="-317500" lvl="1" marL="914400" rtl="0" algn="l">
              <a:spcBef>
                <a:spcPts val="0"/>
              </a:spcBef>
              <a:spcAft>
                <a:spcPts val="0"/>
              </a:spcAft>
              <a:buSzPts val="1400"/>
              <a:buChar char="○"/>
            </a:pPr>
            <a:r>
              <a:rPr lang="en"/>
              <a:t>Are there any genres that have had little to no stagnation?</a:t>
            </a:r>
            <a:endParaRPr/>
          </a:p>
          <a:p>
            <a:pPr indent="-342900" lvl="0" marL="457200" rtl="0" algn="l">
              <a:spcBef>
                <a:spcPts val="0"/>
              </a:spcBef>
              <a:spcAft>
                <a:spcPts val="0"/>
              </a:spcAft>
              <a:buSzPts val="1800"/>
              <a:buChar char="●"/>
            </a:pPr>
            <a:r>
              <a:rPr lang="en"/>
              <a:t>At what point were studios at their most </a:t>
            </a:r>
            <a:r>
              <a:rPr lang="en"/>
              <a:t>popular?</a:t>
            </a:r>
            <a:endParaRPr/>
          </a:p>
          <a:p>
            <a:pPr indent="-342900" lvl="0" marL="457200" rtl="0" algn="l">
              <a:spcBef>
                <a:spcPts val="0"/>
              </a:spcBef>
              <a:spcAft>
                <a:spcPts val="0"/>
              </a:spcAft>
              <a:buSzPts val="1800"/>
              <a:buChar char="●"/>
            </a:pPr>
            <a:r>
              <a:rPr lang="en"/>
              <a:t>What was the average amount of episodes in a series per decade?</a:t>
            </a:r>
            <a:endParaRPr/>
          </a:p>
          <a:p>
            <a:pPr indent="-317500" lvl="1" marL="914400" rtl="0" algn="l">
              <a:spcBef>
                <a:spcPts val="0"/>
              </a:spcBef>
              <a:spcAft>
                <a:spcPts val="0"/>
              </a:spcAft>
              <a:buSzPts val="1400"/>
              <a:buChar char="○"/>
            </a:pPr>
            <a:r>
              <a:rPr lang="en"/>
              <a:t>How can this impact the overall score?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Audience</a:t>
            </a:r>
            <a:endParaRPr/>
          </a:p>
        </p:txBody>
      </p:sp>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Anime fans</a:t>
            </a:r>
            <a:endParaRPr/>
          </a:p>
          <a:p>
            <a:pPr indent="-317500" lvl="1" marL="914400" rtl="0" algn="l">
              <a:spcBef>
                <a:spcPts val="0"/>
              </a:spcBef>
              <a:spcAft>
                <a:spcPts val="0"/>
              </a:spcAft>
              <a:buSzPts val="1400"/>
              <a:buChar char="○"/>
            </a:pPr>
            <a:r>
              <a:rPr lang="en"/>
              <a:t>Helping narrow down which time period to look for when trying to find “top rated” shows in a certain genre.</a:t>
            </a:r>
            <a:endParaRPr/>
          </a:p>
          <a:p>
            <a:pPr indent="-317500" lvl="1" marL="914400" rtl="0" algn="l">
              <a:spcBef>
                <a:spcPts val="0"/>
              </a:spcBef>
              <a:spcAft>
                <a:spcPts val="0"/>
              </a:spcAft>
              <a:buSzPts val="1400"/>
              <a:buChar char="○"/>
            </a:pPr>
            <a:r>
              <a:rPr lang="en"/>
              <a:t>Helping better understand the history of certain genres and possibly the medium as a whole.</a:t>
            </a:r>
            <a:endParaRPr/>
          </a:p>
          <a:p>
            <a:pPr indent="-342900" lvl="0" marL="457200" rtl="0" algn="l">
              <a:spcBef>
                <a:spcPts val="0"/>
              </a:spcBef>
              <a:spcAft>
                <a:spcPts val="0"/>
              </a:spcAft>
              <a:buSzPts val="1800"/>
              <a:buChar char="●"/>
            </a:pPr>
            <a:r>
              <a:rPr lang="en"/>
              <a:t>Producers and studios</a:t>
            </a:r>
            <a:endParaRPr/>
          </a:p>
          <a:p>
            <a:pPr indent="-317500" lvl="1" marL="914400" rtl="0" algn="l">
              <a:spcBef>
                <a:spcPts val="0"/>
              </a:spcBef>
              <a:spcAft>
                <a:spcPts val="0"/>
              </a:spcAft>
              <a:buSzPts val="1400"/>
              <a:buChar char="○"/>
            </a:pPr>
            <a:r>
              <a:rPr lang="en"/>
              <a:t>Finding which genres are currently popular, along with what genres were previously </a:t>
            </a:r>
            <a:r>
              <a:rPr lang="en"/>
              <a:t>popular in previous years.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6"/>
              <a:buFont typeface="Arial"/>
              <a:buNone/>
            </a:pPr>
            <a:r>
              <a:rPr lang="en"/>
              <a:t>Communication goals</a:t>
            </a:r>
            <a:endParaRPr/>
          </a:p>
        </p:txBody>
      </p:sp>
      <p:sp>
        <p:nvSpPr>
          <p:cNvPr id="108" name="Google Shape;10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My personal goal with this project is both better understand and explain the history of anime using data. Giving insight such as which genres and studios were the most </a:t>
            </a:r>
            <a:r>
              <a:rPr lang="en"/>
              <a:t>prevalent at certain times, and if they are still as prevalent as to this day. What trends were previously popular in shows compared to trends that are seen today.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ctrTitle"/>
          </p:nvPr>
        </p:nvSpPr>
        <p:spPr>
          <a:xfrm>
            <a:off x="311700" y="744575"/>
            <a:ext cx="8520600" cy="2319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 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Score in relation to popularity</a:t>
            </a:r>
            <a:endParaRPr/>
          </a:p>
        </p:txBody>
      </p:sp>
      <p:sp>
        <p:nvSpPr>
          <p:cNvPr id="119" name="Google Shape;119;p2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a:t>My first choice of action was to determine wether I would be using score or popularity to determine how the anime would be ranked by a period of time.</a:t>
            </a:r>
            <a:endParaRPr/>
          </a:p>
          <a:p>
            <a:pPr indent="0" lvl="0" marL="0" rtl="0" algn="l">
              <a:spcBef>
                <a:spcPts val="1200"/>
              </a:spcBef>
              <a:spcAft>
                <a:spcPts val="0"/>
              </a:spcAft>
              <a:buNone/>
            </a:pPr>
            <a:r>
              <a:rPr lang="en"/>
              <a:t>The following is a scatter plot comparing the popularity of the anime in the database to their overall score. The x-axis represents popularity, with lower numbers representing a higher popularity rating, and the y-axis representing the score.</a:t>
            </a:r>
            <a:endParaRPr/>
          </a:p>
          <a:p>
            <a:pPr indent="0" lvl="0" marL="0" rtl="0" algn="l">
              <a:spcBef>
                <a:spcPts val="1200"/>
              </a:spcBef>
              <a:spcAft>
                <a:spcPts val="1200"/>
              </a:spcAft>
              <a:buNone/>
            </a:pPr>
            <a:r>
              <a:rPr lang="en"/>
              <a:t>Ob</a:t>
            </a:r>
            <a:r>
              <a:rPr lang="en"/>
              <a:t>serving the plot and graph, there is noticeable variation in the popularity in relation to score. The Anime ranked 5th highest in popularity is ranked 174th in score. Knowing that, I made the conclusion that popularity and score do not have as much correlation as I assumed they would.</a:t>
            </a:r>
            <a:br>
              <a:rPr lang="en"/>
            </a:br>
            <a:br>
              <a:rPr lang="en"/>
            </a:br>
            <a:r>
              <a:rPr lang="en"/>
              <a:t>Because of this, I will have to designate rankings based on both popularity and ratings as separate categories going forwards.</a:t>
            </a:r>
            <a:endParaRPr/>
          </a:p>
        </p:txBody>
      </p:sp>
      <p:pic>
        <p:nvPicPr>
          <p:cNvPr id="120" name="Google Shape;120;p24"/>
          <p:cNvPicPr preferRelativeResize="0"/>
          <p:nvPr/>
        </p:nvPicPr>
        <p:blipFill>
          <a:blip r:embed="rId4">
            <a:alphaModFix/>
          </a:blip>
          <a:stretch>
            <a:fillRect/>
          </a:stretch>
        </p:blipFill>
        <p:spPr>
          <a:xfrm>
            <a:off x="4687075" y="1017725"/>
            <a:ext cx="4145219" cy="38209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Progress</a:t>
            </a:r>
            <a:endParaRPr/>
          </a:p>
        </p:txBody>
      </p:sp>
      <p:sp>
        <p:nvSpPr>
          <p:cNvPr id="126" name="Google Shape;12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Although small, I did manage to get some information for the project. I will have to put in more effort next week to make up for this.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 feel that the biggest obstacle for me has been </a:t>
            </a:r>
            <a:r>
              <a:rPr lang="en"/>
              <a:t>management</a:t>
            </a:r>
            <a:r>
              <a:rPr lang="en"/>
              <a:t>. This is something that I personally struggle with across many different classes, including this one. I should try to divide the workload across the week to avoid overwhelming myself, while also possibly getting better results.</a:t>
            </a:r>
            <a:endParaRPr/>
          </a:p>
          <a:p>
            <a:pPr indent="0" lvl="0" marL="0" rtl="0" algn="l">
              <a:spcBef>
                <a:spcPts val="1200"/>
              </a:spcBef>
              <a:spcAft>
                <a:spcPts val="1200"/>
              </a:spcAft>
              <a:buNone/>
            </a:pPr>
            <a:r>
              <a:rPr lang="en"/>
              <a:t>I used Juptyerlab, the datasheet, and the instructions for this week.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Feedback response</a:t>
            </a:r>
            <a:endParaRPr/>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feedback I was given was regarding the communication goals, and how I should have perceived them from an audience perspective. I worded it to sound like a personal goal, when it should be open for other people. This feedback is very useful to me, as it helps me better understand my goals for the project going forward. Instead of wording it as a personal goal, I could have worded it as a solution to a question that is very popular among both anime fans and studios.</a:t>
            </a:r>
            <a:endParaRPr/>
          </a:p>
          <a:p>
            <a:pPr indent="0" lvl="0" marL="0" rtl="0" algn="l">
              <a:spcBef>
                <a:spcPts val="1200"/>
              </a:spcBef>
              <a:spcAft>
                <a:spcPts val="1200"/>
              </a:spcAft>
              <a:buNone/>
            </a:pPr>
            <a:r>
              <a:rPr lang="en"/>
              <a:t>Going forward, I would like to see more feedback related to data needed and used. I feel I have underperformed so far, and would like to improve myself in this regard.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ctrTitle"/>
          </p:nvPr>
        </p:nvSpPr>
        <p:spPr>
          <a:xfrm>
            <a:off x="311700" y="744575"/>
            <a:ext cx="8520600" cy="2319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 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Averages per genre</a:t>
            </a:r>
            <a:endParaRPr/>
          </a:p>
        </p:txBody>
      </p:sp>
      <p:sp>
        <p:nvSpPr>
          <p:cNvPr id="143" name="Google Shape;143;p2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I decided to focus on the following genres for my project</a:t>
            </a:r>
            <a:endParaRPr/>
          </a:p>
          <a:p>
            <a:pPr indent="-317183" lvl="0" marL="457200" rtl="0" algn="l">
              <a:spcBef>
                <a:spcPts val="1200"/>
              </a:spcBef>
              <a:spcAft>
                <a:spcPts val="0"/>
              </a:spcAft>
              <a:buSzPct val="100000"/>
              <a:buChar char="●"/>
            </a:pPr>
            <a:r>
              <a:rPr lang="en"/>
              <a:t>Drama</a:t>
            </a:r>
            <a:endParaRPr/>
          </a:p>
          <a:p>
            <a:pPr indent="-317183" lvl="0" marL="457200" rtl="0" algn="l">
              <a:spcBef>
                <a:spcPts val="0"/>
              </a:spcBef>
              <a:spcAft>
                <a:spcPts val="0"/>
              </a:spcAft>
              <a:buSzPct val="100000"/>
              <a:buChar char="●"/>
            </a:pPr>
            <a:r>
              <a:rPr lang="en"/>
              <a:t>Adventure</a:t>
            </a:r>
            <a:endParaRPr/>
          </a:p>
          <a:p>
            <a:pPr indent="-317183" lvl="0" marL="457200" rtl="0" algn="l">
              <a:spcBef>
                <a:spcPts val="0"/>
              </a:spcBef>
              <a:spcAft>
                <a:spcPts val="0"/>
              </a:spcAft>
              <a:buSzPct val="100000"/>
              <a:buChar char="●"/>
            </a:pPr>
            <a:r>
              <a:rPr lang="en"/>
              <a:t>Sports</a:t>
            </a:r>
            <a:endParaRPr/>
          </a:p>
          <a:p>
            <a:pPr indent="-317183" lvl="0" marL="457200" rtl="0" algn="l">
              <a:spcBef>
                <a:spcPts val="0"/>
              </a:spcBef>
              <a:spcAft>
                <a:spcPts val="0"/>
              </a:spcAft>
              <a:buSzPct val="100000"/>
              <a:buChar char="●"/>
            </a:pPr>
            <a:r>
              <a:rPr lang="en"/>
              <a:t>Slice of Life</a:t>
            </a:r>
            <a:endParaRPr/>
          </a:p>
          <a:p>
            <a:pPr indent="-317183" lvl="0" marL="457200" rtl="0" algn="l">
              <a:spcBef>
                <a:spcPts val="0"/>
              </a:spcBef>
              <a:spcAft>
                <a:spcPts val="0"/>
              </a:spcAft>
              <a:buSzPct val="100000"/>
              <a:buChar char="●"/>
            </a:pPr>
            <a:r>
              <a:rPr lang="en"/>
              <a:t>Avant Garde</a:t>
            </a:r>
            <a:endParaRPr/>
          </a:p>
          <a:p>
            <a:pPr indent="0" lvl="0" marL="0" rtl="0" algn="l">
              <a:spcBef>
                <a:spcPts val="1200"/>
              </a:spcBef>
              <a:spcAft>
                <a:spcPts val="0"/>
              </a:spcAft>
              <a:buNone/>
            </a:pPr>
            <a:r>
              <a:rPr lang="en"/>
              <a:t>I chose to do the averages for both ratings and popularity.</a:t>
            </a:r>
            <a:endParaRPr/>
          </a:p>
          <a:p>
            <a:pPr indent="0" lvl="0" marL="0" rtl="0" algn="l">
              <a:spcBef>
                <a:spcPts val="1200"/>
              </a:spcBef>
              <a:spcAft>
                <a:spcPts val="1200"/>
              </a:spcAft>
              <a:buNone/>
            </a:pPr>
            <a:r>
              <a:rPr lang="en"/>
              <a:t>The difference between the ratings and popularity graph helped verify my belief from week 2 that </a:t>
            </a:r>
            <a:r>
              <a:rPr lang="en"/>
              <a:t>ratings and popularity are measured differently.</a:t>
            </a:r>
            <a:endParaRPr/>
          </a:p>
        </p:txBody>
      </p:sp>
      <p:pic>
        <p:nvPicPr>
          <p:cNvPr id="144" name="Google Shape;144;p28"/>
          <p:cNvPicPr preferRelativeResize="0"/>
          <p:nvPr/>
        </p:nvPicPr>
        <p:blipFill>
          <a:blip r:embed="rId4">
            <a:alphaModFix/>
          </a:blip>
          <a:stretch>
            <a:fillRect/>
          </a:stretch>
        </p:blipFill>
        <p:spPr>
          <a:xfrm>
            <a:off x="4832750" y="965350"/>
            <a:ext cx="3307826" cy="1872650"/>
          </a:xfrm>
          <a:prstGeom prst="rect">
            <a:avLst/>
          </a:prstGeom>
          <a:noFill/>
          <a:ln>
            <a:noFill/>
          </a:ln>
        </p:spPr>
      </p:pic>
      <p:pic>
        <p:nvPicPr>
          <p:cNvPr id="145" name="Google Shape;145;p28"/>
          <p:cNvPicPr preferRelativeResize="0"/>
          <p:nvPr/>
        </p:nvPicPr>
        <p:blipFill>
          <a:blip r:embed="rId5">
            <a:alphaModFix/>
          </a:blip>
          <a:stretch>
            <a:fillRect/>
          </a:stretch>
        </p:blipFill>
        <p:spPr>
          <a:xfrm>
            <a:off x="4832750" y="2918125"/>
            <a:ext cx="3590468" cy="2000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Most common premiere dates among the top ranks</a:t>
            </a:r>
            <a:endParaRPr/>
          </a:p>
        </p:txBody>
      </p:sp>
      <p:sp>
        <p:nvSpPr>
          <p:cNvPr id="151" name="Google Shape;151;p29"/>
          <p:cNvSpPr txBox="1"/>
          <p:nvPr>
            <p:ph idx="1" type="body"/>
          </p:nvPr>
        </p:nvSpPr>
        <p:spPr>
          <a:xfrm>
            <a:off x="311700" y="1130818"/>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 grabbed the premiere periods for both the top 50 most popular and highest ranked animes from the database.</a:t>
            </a:r>
            <a:br>
              <a:rPr lang="en"/>
            </a:br>
            <a:br>
              <a:rPr lang="en"/>
            </a:br>
            <a:r>
              <a:rPr lang="en"/>
              <a:t>I </a:t>
            </a:r>
            <a:r>
              <a:rPr lang="en"/>
              <a:t>received</a:t>
            </a:r>
            <a:r>
              <a:rPr lang="en"/>
              <a:t> differing results from both of the tables. The highest scoring anime seem to come recently in the past few years, while the most popular are from the mid to late 2010s.</a:t>
            </a:r>
            <a:endParaRPr/>
          </a:p>
          <a:p>
            <a:pPr indent="0" lvl="0" marL="0" rtl="0" algn="l">
              <a:spcBef>
                <a:spcPts val="1200"/>
              </a:spcBef>
              <a:spcAft>
                <a:spcPts val="1200"/>
              </a:spcAft>
              <a:buNone/>
            </a:pPr>
            <a:r>
              <a:rPr lang="en"/>
              <a:t>This gives me an idea of where to look for the respective variables.</a:t>
            </a:r>
            <a:endParaRPr/>
          </a:p>
        </p:txBody>
      </p:sp>
      <p:pic>
        <p:nvPicPr>
          <p:cNvPr id="152" name="Google Shape;152;p29"/>
          <p:cNvPicPr preferRelativeResize="0"/>
          <p:nvPr/>
        </p:nvPicPr>
        <p:blipFill>
          <a:blip r:embed="rId4">
            <a:alphaModFix/>
          </a:blip>
          <a:stretch>
            <a:fillRect/>
          </a:stretch>
        </p:blipFill>
        <p:spPr>
          <a:xfrm>
            <a:off x="4808625" y="1017725"/>
            <a:ext cx="3013126" cy="1992501"/>
          </a:xfrm>
          <a:prstGeom prst="rect">
            <a:avLst/>
          </a:prstGeom>
          <a:noFill/>
          <a:ln>
            <a:noFill/>
          </a:ln>
        </p:spPr>
      </p:pic>
      <p:pic>
        <p:nvPicPr>
          <p:cNvPr id="153" name="Google Shape;153;p29"/>
          <p:cNvPicPr preferRelativeResize="0"/>
          <p:nvPr/>
        </p:nvPicPr>
        <p:blipFill>
          <a:blip r:embed="rId5">
            <a:alphaModFix/>
          </a:blip>
          <a:stretch>
            <a:fillRect/>
          </a:stretch>
        </p:blipFill>
        <p:spPr>
          <a:xfrm>
            <a:off x="4755650" y="3063784"/>
            <a:ext cx="3013124" cy="199959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Progress</a:t>
            </a:r>
            <a:endParaRPr/>
          </a:p>
        </p:txBody>
      </p:sp>
      <p:sp>
        <p:nvSpPr>
          <p:cNvPr id="159" name="Google Shape;15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 ran into some issues with the genres overlapping each other. This could cause issues with trying to compare data later on. My proposed solutions were to either </a:t>
            </a:r>
            <a:r>
              <a:rPr lang="en"/>
              <a:t>clean the data further to try and get more accurate results, or try and use genres that were not as broad (i.e. drama, adventure).</a:t>
            </a:r>
            <a:endParaRPr/>
          </a:p>
          <a:p>
            <a:pPr indent="0" lvl="0" marL="0" rtl="0" algn="l">
              <a:spcBef>
                <a:spcPts val="1200"/>
              </a:spcBef>
              <a:spcAft>
                <a:spcPts val="0"/>
              </a:spcAft>
              <a:buNone/>
            </a:pPr>
            <a:r>
              <a:rPr lang="en"/>
              <a:t>I also found some data was missing from table when I looked deeper into it. This too could lead to issues when trying to sort data.</a:t>
            </a:r>
            <a:endParaRPr/>
          </a:p>
          <a:p>
            <a:pPr indent="0" lvl="0" marL="0" rtl="0" algn="l">
              <a:spcBef>
                <a:spcPts val="1200"/>
              </a:spcBef>
              <a:spcAft>
                <a:spcPts val="1200"/>
              </a:spcAft>
              <a:buNone/>
            </a:pPr>
            <a:r>
              <a:rPr lang="en"/>
              <a:t>That bring said, I did manage to find some averages for the data this week that could be useful in the future. The data collected for this week is broad, so the process going forward will involve getting more specific.</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Feedback response</a:t>
            </a:r>
            <a:endParaRPr/>
          </a:p>
        </p:txBody>
      </p:sp>
      <p:sp>
        <p:nvSpPr>
          <p:cNvPr id="165" name="Google Shape;16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Although I am still somewhat behind in terms of progress, I have started to make more progress by including 2 insight slides. Going forward, I believe that I will have to include 3 insight slides for each week in order to make the required process in order to catch up.</a:t>
            </a:r>
            <a:endParaRPr/>
          </a:p>
          <a:p>
            <a:pPr indent="0" lvl="0" marL="0" rtl="0" algn="l">
              <a:spcBef>
                <a:spcPts val="1200"/>
              </a:spcBef>
              <a:spcAft>
                <a:spcPts val="0"/>
              </a:spcAft>
              <a:buNone/>
            </a:pPr>
            <a:r>
              <a:rPr lang="en"/>
              <a:t>As for the graph, I do believe that I could have made it more comprehensive, or have used a different graph type to represent my point.</a:t>
            </a:r>
            <a:endParaRPr/>
          </a:p>
          <a:p>
            <a:pPr indent="0" lvl="0" marL="0" rtl="0" algn="l">
              <a:spcBef>
                <a:spcPts val="1200"/>
              </a:spcBef>
              <a:spcAft>
                <a:spcPts val="1200"/>
              </a:spcAft>
              <a:buNone/>
            </a:pPr>
            <a:r>
              <a:rPr lang="en"/>
              <a:t>The feedback was very useful, and I would still like to see feedback related to the data used, as I feel there is still work that can be done.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ctrTitle"/>
          </p:nvPr>
        </p:nvSpPr>
        <p:spPr>
          <a:xfrm>
            <a:off x="311700" y="744575"/>
            <a:ext cx="8520600" cy="2319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 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Genres average score by decade</a:t>
            </a:r>
            <a:endParaRPr/>
          </a:p>
        </p:txBody>
      </p:sp>
      <p:sp>
        <p:nvSpPr>
          <p:cNvPr id="176" name="Google Shape;176;p33"/>
          <p:cNvSpPr txBox="1"/>
          <p:nvPr>
            <p:ph idx="1" type="body"/>
          </p:nvPr>
        </p:nvSpPr>
        <p:spPr>
          <a:xfrm>
            <a:off x="311700" y="1130826"/>
            <a:ext cx="4260300" cy="3950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The three images on the left represent the average score per genre from the 1980s, 1990s, and 2000s from top to bottom. The two images on the right represent the average score from the 2010s on top and the 2020 on the bottom.</a:t>
            </a:r>
            <a:endParaRPr/>
          </a:p>
          <a:p>
            <a:pPr indent="0" lvl="0" marL="0" rtl="0" algn="l">
              <a:spcBef>
                <a:spcPts val="1200"/>
              </a:spcBef>
              <a:spcAft>
                <a:spcPts val="0"/>
              </a:spcAft>
              <a:buClr>
                <a:schemeClr val="dk1"/>
              </a:buClr>
              <a:buSzPct val="61111"/>
              <a:buFont typeface="Arial"/>
              <a:buNone/>
            </a:pPr>
            <a:r>
              <a:rPr lang="en"/>
              <a:t>I found the following things:</a:t>
            </a:r>
            <a:endParaRPr/>
          </a:p>
          <a:p>
            <a:pPr indent="-334328" lvl="0" marL="457200" rtl="0" algn="l">
              <a:spcBef>
                <a:spcPts val="1200"/>
              </a:spcBef>
              <a:spcAft>
                <a:spcPts val="0"/>
              </a:spcAft>
              <a:buSzPct val="100000"/>
              <a:buChar char="●"/>
            </a:pPr>
            <a:r>
              <a:rPr lang="en"/>
              <a:t>The average score for many genres was around 7 across all decades.</a:t>
            </a:r>
            <a:endParaRPr/>
          </a:p>
          <a:p>
            <a:pPr indent="-334328" lvl="0" marL="457200" rtl="0" algn="l">
              <a:spcBef>
                <a:spcPts val="0"/>
              </a:spcBef>
              <a:spcAft>
                <a:spcPts val="0"/>
              </a:spcAft>
              <a:buSzPct val="100000"/>
              <a:buChar char="●"/>
            </a:pPr>
            <a:r>
              <a:rPr lang="en"/>
              <a:t>I would need to get more specific with the data if I wanted to find anything else worth noting.</a:t>
            </a:r>
            <a:endParaRPr/>
          </a:p>
        </p:txBody>
      </p:sp>
      <p:pic>
        <p:nvPicPr>
          <p:cNvPr id="177" name="Google Shape;177;p33"/>
          <p:cNvPicPr preferRelativeResize="0"/>
          <p:nvPr/>
        </p:nvPicPr>
        <p:blipFill>
          <a:blip r:embed="rId4">
            <a:alphaModFix/>
          </a:blip>
          <a:stretch>
            <a:fillRect/>
          </a:stretch>
        </p:blipFill>
        <p:spPr>
          <a:xfrm>
            <a:off x="4690863" y="1017724"/>
            <a:ext cx="2329949" cy="1296850"/>
          </a:xfrm>
          <a:prstGeom prst="rect">
            <a:avLst/>
          </a:prstGeom>
          <a:noFill/>
          <a:ln>
            <a:noFill/>
          </a:ln>
        </p:spPr>
      </p:pic>
      <p:pic>
        <p:nvPicPr>
          <p:cNvPr id="178" name="Google Shape;178;p33"/>
          <p:cNvPicPr preferRelativeResize="0"/>
          <p:nvPr/>
        </p:nvPicPr>
        <p:blipFill>
          <a:blip r:embed="rId5">
            <a:alphaModFix/>
          </a:blip>
          <a:stretch>
            <a:fillRect/>
          </a:stretch>
        </p:blipFill>
        <p:spPr>
          <a:xfrm>
            <a:off x="4729689" y="2376200"/>
            <a:ext cx="2252278" cy="1296850"/>
          </a:xfrm>
          <a:prstGeom prst="rect">
            <a:avLst/>
          </a:prstGeom>
          <a:noFill/>
          <a:ln>
            <a:noFill/>
          </a:ln>
        </p:spPr>
      </p:pic>
      <p:pic>
        <p:nvPicPr>
          <p:cNvPr id="179" name="Google Shape;179;p33"/>
          <p:cNvPicPr preferRelativeResize="0"/>
          <p:nvPr/>
        </p:nvPicPr>
        <p:blipFill>
          <a:blip r:embed="rId6">
            <a:alphaModFix/>
          </a:blip>
          <a:stretch>
            <a:fillRect/>
          </a:stretch>
        </p:blipFill>
        <p:spPr>
          <a:xfrm>
            <a:off x="4690874" y="3788886"/>
            <a:ext cx="2329925" cy="1292264"/>
          </a:xfrm>
          <a:prstGeom prst="rect">
            <a:avLst/>
          </a:prstGeom>
          <a:noFill/>
          <a:ln>
            <a:noFill/>
          </a:ln>
        </p:spPr>
      </p:pic>
      <p:pic>
        <p:nvPicPr>
          <p:cNvPr id="180" name="Google Shape;180;p33"/>
          <p:cNvPicPr preferRelativeResize="0"/>
          <p:nvPr/>
        </p:nvPicPr>
        <p:blipFill>
          <a:blip r:embed="rId7">
            <a:alphaModFix/>
          </a:blip>
          <a:stretch>
            <a:fillRect/>
          </a:stretch>
        </p:blipFill>
        <p:spPr>
          <a:xfrm>
            <a:off x="7139675" y="1580375"/>
            <a:ext cx="1818199" cy="991375"/>
          </a:xfrm>
          <a:prstGeom prst="rect">
            <a:avLst/>
          </a:prstGeom>
          <a:noFill/>
          <a:ln>
            <a:noFill/>
          </a:ln>
        </p:spPr>
      </p:pic>
      <p:pic>
        <p:nvPicPr>
          <p:cNvPr id="181" name="Google Shape;181;p33"/>
          <p:cNvPicPr preferRelativeResize="0"/>
          <p:nvPr/>
        </p:nvPicPr>
        <p:blipFill>
          <a:blip r:embed="rId8">
            <a:alphaModFix/>
          </a:blip>
          <a:stretch>
            <a:fillRect/>
          </a:stretch>
        </p:blipFill>
        <p:spPr>
          <a:xfrm>
            <a:off x="7139675" y="2767450"/>
            <a:ext cx="1818201" cy="102142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Genres popularity score by decade</a:t>
            </a:r>
            <a:endParaRPr/>
          </a:p>
        </p:txBody>
      </p:sp>
      <p:sp>
        <p:nvSpPr>
          <p:cNvPr id="187" name="Google Shape;187;p34"/>
          <p:cNvSpPr txBox="1"/>
          <p:nvPr>
            <p:ph idx="1" type="body"/>
          </p:nvPr>
        </p:nvSpPr>
        <p:spPr>
          <a:xfrm>
            <a:off x="311700" y="1130826"/>
            <a:ext cx="4260300" cy="3690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The three images on the left represent the average popularity ranking per genre from the 1980s, 1990s, and 2000s from top to bottom. The two images on the right represent the average popularity ranking from the 2010s on top and the 2020 on the bottom.</a:t>
            </a:r>
            <a:endParaRPr/>
          </a:p>
          <a:p>
            <a:pPr indent="0" lvl="0" marL="0" rtl="0" algn="l">
              <a:spcBef>
                <a:spcPts val="1200"/>
              </a:spcBef>
              <a:spcAft>
                <a:spcPts val="0"/>
              </a:spcAft>
              <a:buNone/>
            </a:pPr>
            <a:r>
              <a:rPr lang="en"/>
              <a:t>I found the following things:</a:t>
            </a:r>
            <a:endParaRPr/>
          </a:p>
          <a:p>
            <a:pPr indent="-317183" lvl="0" marL="457200" rtl="0" algn="l">
              <a:spcBef>
                <a:spcPts val="1200"/>
              </a:spcBef>
              <a:spcAft>
                <a:spcPts val="0"/>
              </a:spcAft>
              <a:buSzPct val="100000"/>
              <a:buChar char="●"/>
            </a:pPr>
            <a:r>
              <a:rPr lang="en"/>
              <a:t>Avant Garde’s average seemed to be the unusually popular during the 90s</a:t>
            </a:r>
            <a:endParaRPr/>
          </a:p>
          <a:p>
            <a:pPr indent="-297498" lvl="1" marL="914400" rtl="0" algn="l">
              <a:spcBef>
                <a:spcPts val="0"/>
              </a:spcBef>
              <a:spcAft>
                <a:spcPts val="0"/>
              </a:spcAft>
              <a:buSzPct val="100000"/>
              <a:buChar char="○"/>
            </a:pPr>
            <a:r>
              <a:rPr lang="en"/>
              <a:t>This can be attributed to a show with high popularity being in a genre that does not have many shows.</a:t>
            </a:r>
            <a:endParaRPr/>
          </a:p>
          <a:p>
            <a:pPr indent="-317183" lvl="0" marL="457200" rtl="0" algn="l">
              <a:spcBef>
                <a:spcPts val="0"/>
              </a:spcBef>
              <a:spcAft>
                <a:spcPts val="0"/>
              </a:spcAft>
              <a:buSzPct val="100000"/>
              <a:buChar char="●"/>
            </a:pPr>
            <a:r>
              <a:rPr lang="en"/>
              <a:t>Adventure and Drama seemed to gain noticeable popularity during the 2010s and 2020s</a:t>
            </a:r>
            <a:endParaRPr/>
          </a:p>
          <a:p>
            <a:pPr indent="-317183" lvl="0" marL="457200" rtl="0" algn="l">
              <a:spcBef>
                <a:spcPts val="0"/>
              </a:spcBef>
              <a:spcAft>
                <a:spcPts val="0"/>
              </a:spcAft>
              <a:buSzPct val="100000"/>
              <a:buChar char="●"/>
            </a:pPr>
            <a:r>
              <a:rPr lang="en"/>
              <a:t>Slice of Life started to become popular starting in the 2000s</a:t>
            </a:r>
            <a:endParaRPr/>
          </a:p>
        </p:txBody>
      </p:sp>
      <p:pic>
        <p:nvPicPr>
          <p:cNvPr id="188" name="Google Shape;188;p34"/>
          <p:cNvPicPr preferRelativeResize="0"/>
          <p:nvPr/>
        </p:nvPicPr>
        <p:blipFill>
          <a:blip r:embed="rId4">
            <a:alphaModFix/>
          </a:blip>
          <a:stretch>
            <a:fillRect/>
          </a:stretch>
        </p:blipFill>
        <p:spPr>
          <a:xfrm>
            <a:off x="4907000" y="1191084"/>
            <a:ext cx="2004401" cy="1134341"/>
          </a:xfrm>
          <a:prstGeom prst="rect">
            <a:avLst/>
          </a:prstGeom>
          <a:noFill/>
          <a:ln>
            <a:noFill/>
          </a:ln>
        </p:spPr>
      </p:pic>
      <p:pic>
        <p:nvPicPr>
          <p:cNvPr id="189" name="Google Shape;189;p34"/>
          <p:cNvPicPr preferRelativeResize="0"/>
          <p:nvPr/>
        </p:nvPicPr>
        <p:blipFill>
          <a:blip r:embed="rId5">
            <a:alphaModFix/>
          </a:blip>
          <a:stretch>
            <a:fillRect/>
          </a:stretch>
        </p:blipFill>
        <p:spPr>
          <a:xfrm>
            <a:off x="4907000" y="2477629"/>
            <a:ext cx="2004400" cy="1066600"/>
          </a:xfrm>
          <a:prstGeom prst="rect">
            <a:avLst/>
          </a:prstGeom>
          <a:noFill/>
          <a:ln>
            <a:noFill/>
          </a:ln>
        </p:spPr>
      </p:pic>
      <p:pic>
        <p:nvPicPr>
          <p:cNvPr id="190" name="Google Shape;190;p34"/>
          <p:cNvPicPr preferRelativeResize="0"/>
          <p:nvPr/>
        </p:nvPicPr>
        <p:blipFill>
          <a:blip r:embed="rId6">
            <a:alphaModFix/>
          </a:blip>
          <a:stretch>
            <a:fillRect/>
          </a:stretch>
        </p:blipFill>
        <p:spPr>
          <a:xfrm>
            <a:off x="4907000" y="3696425"/>
            <a:ext cx="2004400" cy="1124542"/>
          </a:xfrm>
          <a:prstGeom prst="rect">
            <a:avLst/>
          </a:prstGeom>
          <a:noFill/>
          <a:ln>
            <a:noFill/>
          </a:ln>
        </p:spPr>
      </p:pic>
      <p:pic>
        <p:nvPicPr>
          <p:cNvPr id="191" name="Google Shape;191;p34"/>
          <p:cNvPicPr preferRelativeResize="0"/>
          <p:nvPr/>
        </p:nvPicPr>
        <p:blipFill>
          <a:blip r:embed="rId7">
            <a:alphaModFix/>
          </a:blip>
          <a:stretch>
            <a:fillRect/>
          </a:stretch>
        </p:blipFill>
        <p:spPr>
          <a:xfrm>
            <a:off x="7078538" y="1411025"/>
            <a:ext cx="1883140" cy="1066600"/>
          </a:xfrm>
          <a:prstGeom prst="rect">
            <a:avLst/>
          </a:prstGeom>
          <a:noFill/>
          <a:ln>
            <a:noFill/>
          </a:ln>
        </p:spPr>
      </p:pic>
      <p:pic>
        <p:nvPicPr>
          <p:cNvPr id="192" name="Google Shape;192;p34"/>
          <p:cNvPicPr preferRelativeResize="0"/>
          <p:nvPr/>
        </p:nvPicPr>
        <p:blipFill>
          <a:blip r:embed="rId8">
            <a:alphaModFix/>
          </a:blip>
          <a:stretch>
            <a:fillRect/>
          </a:stretch>
        </p:blipFill>
        <p:spPr>
          <a:xfrm>
            <a:off x="7078550" y="2723588"/>
            <a:ext cx="1883126" cy="103248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Frequency of top 500 ranking by decades</a:t>
            </a:r>
            <a:endParaRPr/>
          </a:p>
        </p:txBody>
      </p:sp>
      <p:sp>
        <p:nvSpPr>
          <p:cNvPr id="198" name="Google Shape;198;p35"/>
          <p:cNvSpPr txBox="1"/>
          <p:nvPr>
            <p:ph idx="1" type="body"/>
          </p:nvPr>
        </p:nvSpPr>
        <p:spPr>
          <a:xfrm>
            <a:off x="311700" y="1130826"/>
            <a:ext cx="4260300" cy="38937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Using the same image structure as the last two slides, the </a:t>
            </a:r>
            <a:r>
              <a:rPr lang="en"/>
              <a:t>following</a:t>
            </a:r>
            <a:r>
              <a:rPr lang="en"/>
              <a:t> is a number of how many anime are ranked in the top 500 by decade.</a:t>
            </a:r>
            <a:endParaRPr/>
          </a:p>
          <a:p>
            <a:pPr indent="0" lvl="0" marL="0" rtl="0" algn="l">
              <a:spcBef>
                <a:spcPts val="1200"/>
              </a:spcBef>
              <a:spcAft>
                <a:spcPts val="0"/>
              </a:spcAft>
              <a:buNone/>
            </a:pPr>
            <a:r>
              <a:rPr lang="en"/>
              <a:t>I found the following things:</a:t>
            </a:r>
            <a:endParaRPr/>
          </a:p>
          <a:p>
            <a:pPr indent="-325755" lvl="0" marL="457200" rtl="0" algn="l">
              <a:spcBef>
                <a:spcPts val="1200"/>
              </a:spcBef>
              <a:spcAft>
                <a:spcPts val="0"/>
              </a:spcAft>
              <a:buSzPct val="100000"/>
              <a:buChar char="●"/>
            </a:pPr>
            <a:r>
              <a:rPr lang="en"/>
              <a:t>Avant Garde is an uncommon genre</a:t>
            </a:r>
            <a:endParaRPr/>
          </a:p>
          <a:p>
            <a:pPr indent="-304165" lvl="1" marL="914400" rtl="0" algn="l">
              <a:spcBef>
                <a:spcPts val="0"/>
              </a:spcBef>
              <a:spcAft>
                <a:spcPts val="0"/>
              </a:spcAft>
              <a:buSzPct val="100000"/>
              <a:buChar char="○"/>
            </a:pPr>
            <a:r>
              <a:rPr lang="en"/>
              <a:t>This can explain the </a:t>
            </a:r>
            <a:r>
              <a:rPr lang="en"/>
              <a:t>inconsistencies</a:t>
            </a:r>
            <a:r>
              <a:rPr lang="en"/>
              <a:t> between the popularity and score for the genre displayed on the previous slides</a:t>
            </a:r>
            <a:endParaRPr/>
          </a:p>
          <a:p>
            <a:pPr indent="-325755" lvl="0" marL="457200" rtl="0" algn="l">
              <a:spcBef>
                <a:spcPts val="0"/>
              </a:spcBef>
              <a:spcAft>
                <a:spcPts val="0"/>
              </a:spcAft>
              <a:buSzPct val="100000"/>
              <a:buChar char="●"/>
            </a:pPr>
            <a:r>
              <a:rPr lang="en"/>
              <a:t>Many of the top 500 shows seemed to be produced from the 2000s onward.</a:t>
            </a:r>
            <a:endParaRPr/>
          </a:p>
          <a:p>
            <a:pPr indent="-325755" lvl="0" marL="457200" rtl="0" algn="l">
              <a:spcBef>
                <a:spcPts val="0"/>
              </a:spcBef>
              <a:spcAft>
                <a:spcPts val="0"/>
              </a:spcAft>
              <a:buSzPct val="100000"/>
              <a:buChar char="●"/>
            </a:pPr>
            <a:r>
              <a:rPr lang="en"/>
              <a:t>This gives me a possible lead by telling me that the 2000s would be worth looking into for more answers on ranking by score.</a:t>
            </a:r>
            <a:endParaRPr/>
          </a:p>
        </p:txBody>
      </p:sp>
      <p:pic>
        <p:nvPicPr>
          <p:cNvPr id="199" name="Google Shape;199;p35"/>
          <p:cNvPicPr preferRelativeResize="0"/>
          <p:nvPr/>
        </p:nvPicPr>
        <p:blipFill>
          <a:blip r:embed="rId3">
            <a:alphaModFix/>
          </a:blip>
          <a:stretch>
            <a:fillRect/>
          </a:stretch>
        </p:blipFill>
        <p:spPr>
          <a:xfrm>
            <a:off x="4651625" y="1097375"/>
            <a:ext cx="2123653" cy="1197200"/>
          </a:xfrm>
          <a:prstGeom prst="rect">
            <a:avLst/>
          </a:prstGeom>
          <a:noFill/>
          <a:ln>
            <a:noFill/>
          </a:ln>
        </p:spPr>
      </p:pic>
      <p:pic>
        <p:nvPicPr>
          <p:cNvPr id="200" name="Google Shape;200;p35"/>
          <p:cNvPicPr preferRelativeResize="0"/>
          <p:nvPr/>
        </p:nvPicPr>
        <p:blipFill>
          <a:blip r:embed="rId4">
            <a:alphaModFix/>
          </a:blip>
          <a:stretch>
            <a:fillRect/>
          </a:stretch>
        </p:blipFill>
        <p:spPr>
          <a:xfrm>
            <a:off x="4651625" y="2374224"/>
            <a:ext cx="2123649" cy="1194705"/>
          </a:xfrm>
          <a:prstGeom prst="rect">
            <a:avLst/>
          </a:prstGeom>
          <a:noFill/>
          <a:ln>
            <a:noFill/>
          </a:ln>
        </p:spPr>
      </p:pic>
      <p:pic>
        <p:nvPicPr>
          <p:cNvPr id="201" name="Google Shape;201;p35"/>
          <p:cNvPicPr preferRelativeResize="0"/>
          <p:nvPr/>
        </p:nvPicPr>
        <p:blipFill>
          <a:blip r:embed="rId5">
            <a:alphaModFix/>
          </a:blip>
          <a:stretch>
            <a:fillRect/>
          </a:stretch>
        </p:blipFill>
        <p:spPr>
          <a:xfrm>
            <a:off x="4651625" y="3827349"/>
            <a:ext cx="2123649" cy="1197176"/>
          </a:xfrm>
          <a:prstGeom prst="rect">
            <a:avLst/>
          </a:prstGeom>
          <a:noFill/>
          <a:ln>
            <a:noFill/>
          </a:ln>
        </p:spPr>
      </p:pic>
      <p:pic>
        <p:nvPicPr>
          <p:cNvPr id="202" name="Google Shape;202;p35"/>
          <p:cNvPicPr preferRelativeResize="0"/>
          <p:nvPr/>
        </p:nvPicPr>
        <p:blipFill>
          <a:blip r:embed="rId6">
            <a:alphaModFix/>
          </a:blip>
          <a:stretch>
            <a:fillRect/>
          </a:stretch>
        </p:blipFill>
        <p:spPr>
          <a:xfrm>
            <a:off x="6854900" y="1488344"/>
            <a:ext cx="2157475" cy="1197197"/>
          </a:xfrm>
          <a:prstGeom prst="rect">
            <a:avLst/>
          </a:prstGeom>
          <a:noFill/>
          <a:ln>
            <a:noFill/>
          </a:ln>
        </p:spPr>
      </p:pic>
      <p:pic>
        <p:nvPicPr>
          <p:cNvPr id="203" name="Google Shape;203;p35"/>
          <p:cNvPicPr preferRelativeResize="0"/>
          <p:nvPr/>
        </p:nvPicPr>
        <p:blipFill>
          <a:blip r:embed="rId7">
            <a:alphaModFix/>
          </a:blip>
          <a:stretch>
            <a:fillRect/>
          </a:stretch>
        </p:blipFill>
        <p:spPr>
          <a:xfrm>
            <a:off x="6854900" y="2879479"/>
            <a:ext cx="2157475" cy="119522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Progress</a:t>
            </a:r>
            <a:endParaRPr/>
          </a:p>
        </p:txBody>
      </p:sp>
      <p:sp>
        <p:nvSpPr>
          <p:cNvPr id="209" name="Google Shape;20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 feel I made significant progress for this week. I was able to successfully sort by decades, which will be very useful going forward in this project.</a:t>
            </a:r>
            <a:endParaRPr/>
          </a:p>
          <a:p>
            <a:pPr indent="0" lvl="0" marL="0" rtl="0" algn="l">
              <a:spcBef>
                <a:spcPts val="1200"/>
              </a:spcBef>
              <a:spcAft>
                <a:spcPts val="0"/>
              </a:spcAft>
              <a:buNone/>
            </a:pPr>
            <a:r>
              <a:rPr lang="en"/>
              <a:t>There are admittedly some issues from last week that I am yet to resolve. I still feel I need to fix the issues of the genres potentially giving less </a:t>
            </a:r>
            <a:r>
              <a:rPr lang="en"/>
              <a:t>accurate</a:t>
            </a:r>
            <a:r>
              <a:rPr lang="en"/>
              <a:t> averages by overlapping. And I still feel that the data being displayed overall in the graphs is too broad.</a:t>
            </a:r>
            <a:endParaRPr/>
          </a:p>
          <a:p>
            <a:pPr indent="0" lvl="0" marL="0" rtl="0" algn="l">
              <a:spcBef>
                <a:spcPts val="1200"/>
              </a:spcBef>
              <a:spcAft>
                <a:spcPts val="1200"/>
              </a:spcAft>
              <a:buNone/>
            </a:pPr>
            <a:r>
              <a:rPr lang="en"/>
              <a:t>Looking past that, this should be the final piece of “broad” data that I need to gather to help with my story. Going forward I will have to dedicate more time as the data gets more and more specific.</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6"/>
              <a:buFont typeface="Arial"/>
              <a:buNone/>
            </a:pPr>
            <a:r>
              <a:rPr lang="en"/>
              <a:t>Feedback response</a:t>
            </a:r>
            <a:endParaRPr/>
          </a:p>
          <a:p>
            <a:pPr indent="0" lvl="0" marL="0" rtl="0" algn="l">
              <a:spcBef>
                <a:spcPts val="0"/>
              </a:spcBef>
              <a:spcAft>
                <a:spcPts val="0"/>
              </a:spcAft>
              <a:buNone/>
            </a:pPr>
            <a:r>
              <a:t/>
            </a:r>
            <a:endParaRPr/>
          </a:p>
        </p:txBody>
      </p:sp>
      <p:sp>
        <p:nvSpPr>
          <p:cNvPr id="215" name="Google Shape;215;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Personally I chose those 5 because I wanted 3 common genres(Drama, Adventure, Slice of Life) and 2 genres that are more niche(Sports and Avant Garde).</a:t>
            </a:r>
            <a:endParaRPr/>
          </a:p>
          <a:p>
            <a:pPr indent="0" lvl="0" marL="0" rtl="0" algn="l">
              <a:spcBef>
                <a:spcPts val="1200"/>
              </a:spcBef>
              <a:spcAft>
                <a:spcPts val="0"/>
              </a:spcAft>
              <a:buNone/>
            </a:pPr>
            <a:r>
              <a:rPr lang="en"/>
              <a:t>I am thankful for the recommendation to use other types of plots. I feel that I have been using mostly bar graphs for the majority of this project and should look into other forms of graphing as well.</a:t>
            </a:r>
            <a:endParaRPr/>
          </a:p>
          <a:p>
            <a:pPr indent="0" lvl="0" marL="0" rtl="0" algn="l">
              <a:spcBef>
                <a:spcPts val="1200"/>
              </a:spcBef>
              <a:spcAft>
                <a:spcPts val="1200"/>
              </a:spcAft>
              <a:buNone/>
            </a:pPr>
            <a:r>
              <a:rPr lang="en"/>
              <a:t>The feedback was still very valuable to me. I would personally like to see more graph recommendations so I understand what other graphs I can integrate into my project’s research.</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8"/>
          <p:cNvSpPr txBox="1"/>
          <p:nvPr>
            <p:ph type="ctrTitle"/>
          </p:nvPr>
        </p:nvSpPr>
        <p:spPr>
          <a:xfrm>
            <a:off x="311700" y="744575"/>
            <a:ext cx="8520600" cy="2319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 5</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Storyboard</a:t>
            </a:r>
            <a:endParaRPr/>
          </a:p>
        </p:txBody>
      </p:sp>
      <p:sp>
        <p:nvSpPr>
          <p:cNvPr id="226" name="Google Shape;226;p39"/>
          <p:cNvSpPr txBox="1"/>
          <p:nvPr>
            <p:ph idx="1" type="body"/>
          </p:nvPr>
        </p:nvSpPr>
        <p:spPr>
          <a:xfrm>
            <a:off x="311700" y="1130826"/>
            <a:ext cx="4260300" cy="38937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The storyboard I created provides the previously shown </a:t>
            </a:r>
            <a:r>
              <a:rPr lang="en"/>
              <a:t>ratings, popularity, and ranking by decades. Being able to view the data in this format has made me realize a few things.</a:t>
            </a:r>
            <a:endParaRPr/>
          </a:p>
          <a:p>
            <a:pPr indent="0" lvl="0" marL="0" rtl="0" algn="l">
              <a:spcBef>
                <a:spcPts val="1200"/>
              </a:spcBef>
              <a:spcAft>
                <a:spcPts val="0"/>
              </a:spcAft>
              <a:buNone/>
            </a:pPr>
            <a:r>
              <a:rPr lang="en"/>
              <a:t>I found that:</a:t>
            </a:r>
            <a:endParaRPr/>
          </a:p>
          <a:p>
            <a:pPr indent="-300038" lvl="0" marL="457200" rtl="0" algn="l">
              <a:spcBef>
                <a:spcPts val="1200"/>
              </a:spcBef>
              <a:spcAft>
                <a:spcPts val="0"/>
              </a:spcAft>
              <a:buSzPct val="100000"/>
              <a:buChar char="●"/>
            </a:pPr>
            <a:r>
              <a:rPr lang="en"/>
              <a:t>Average popularity gave more insight into what makes frequently high ranked shows compared to the average ratings.</a:t>
            </a:r>
            <a:endParaRPr/>
          </a:p>
          <a:p>
            <a:pPr indent="-284163" lvl="1" marL="914400" rtl="0" algn="l">
              <a:spcBef>
                <a:spcPts val="0"/>
              </a:spcBef>
              <a:spcAft>
                <a:spcPts val="0"/>
              </a:spcAft>
              <a:buSzPct val="100000"/>
              <a:buChar char="○"/>
            </a:pPr>
            <a:r>
              <a:rPr lang="en"/>
              <a:t>2000s, 2010s, and 2020s show a possible correlation between a high popularity rating leading to a higher number of highly ranked shows.</a:t>
            </a:r>
            <a:endParaRPr/>
          </a:p>
          <a:p>
            <a:pPr indent="-284163" lvl="1" marL="914400" rtl="0" algn="l">
              <a:spcBef>
                <a:spcPts val="0"/>
              </a:spcBef>
              <a:spcAft>
                <a:spcPts val="0"/>
              </a:spcAft>
              <a:buSzPct val="100000"/>
              <a:buChar char="○"/>
            </a:pPr>
            <a:r>
              <a:rPr lang="en"/>
              <a:t>Popularity could possibly be a more important than variable to measure than ratings.</a:t>
            </a:r>
            <a:endParaRPr/>
          </a:p>
          <a:p>
            <a:pPr indent="-300038" lvl="0" marL="457200" rtl="0" algn="l">
              <a:spcBef>
                <a:spcPts val="0"/>
              </a:spcBef>
              <a:spcAft>
                <a:spcPts val="0"/>
              </a:spcAft>
              <a:buSzPct val="100000"/>
              <a:buChar char="●"/>
            </a:pPr>
            <a:r>
              <a:rPr lang="en"/>
              <a:t>Popularity has been rapidly increasing in almost all genres measured.</a:t>
            </a:r>
            <a:endParaRPr/>
          </a:p>
          <a:p>
            <a:pPr indent="-284163" lvl="1" marL="914400" rtl="0" algn="l">
              <a:spcBef>
                <a:spcPts val="0"/>
              </a:spcBef>
              <a:spcAft>
                <a:spcPts val="0"/>
              </a:spcAft>
              <a:buSzPct val="100000"/>
              <a:buChar char="○"/>
            </a:pPr>
            <a:r>
              <a:rPr lang="en"/>
              <a:t>Sports and Adventure have been consistently growing in popularity, while Slice of Life and Drama have seen similar results with the exception of one decade.</a:t>
            </a:r>
            <a:endParaRPr/>
          </a:p>
          <a:p>
            <a:pPr indent="-300038" lvl="0" marL="457200" rtl="0" algn="l">
              <a:spcBef>
                <a:spcPts val="0"/>
              </a:spcBef>
              <a:spcAft>
                <a:spcPts val="0"/>
              </a:spcAft>
              <a:buSzPct val="100000"/>
              <a:buChar char="●"/>
            </a:pPr>
            <a:r>
              <a:rPr lang="en"/>
              <a:t>Despite the varying popularity and rankings, ratings did not show much </a:t>
            </a:r>
            <a:r>
              <a:rPr lang="en"/>
              <a:t>variation.</a:t>
            </a:r>
            <a:endParaRPr/>
          </a:p>
          <a:p>
            <a:pPr indent="-284163" lvl="1" marL="914400" rtl="0" algn="l">
              <a:spcBef>
                <a:spcPts val="0"/>
              </a:spcBef>
              <a:spcAft>
                <a:spcPts val="0"/>
              </a:spcAft>
              <a:buSzPct val="100000"/>
              <a:buChar char="○"/>
            </a:pPr>
            <a:r>
              <a:rPr lang="en"/>
              <a:t>Many hovered around an average of 7.</a:t>
            </a:r>
            <a:endParaRPr/>
          </a:p>
          <a:p>
            <a:pPr indent="-284163" lvl="1" marL="914400" rtl="0" algn="l">
              <a:spcBef>
                <a:spcPts val="0"/>
              </a:spcBef>
              <a:spcAft>
                <a:spcPts val="0"/>
              </a:spcAft>
              <a:buSzPct val="100000"/>
              <a:buChar char="○"/>
            </a:pPr>
            <a:r>
              <a:rPr lang="en"/>
              <a:t>Deeper cleaning of the data might be required in order to get any value from the average rating.</a:t>
            </a:r>
            <a:endParaRPr/>
          </a:p>
        </p:txBody>
      </p:sp>
      <p:pic>
        <p:nvPicPr>
          <p:cNvPr id="227" name="Google Shape;227;p39"/>
          <p:cNvPicPr preferRelativeResize="0"/>
          <p:nvPr/>
        </p:nvPicPr>
        <p:blipFill>
          <a:blip r:embed="rId3">
            <a:alphaModFix/>
          </a:blip>
          <a:stretch>
            <a:fillRect/>
          </a:stretch>
        </p:blipFill>
        <p:spPr>
          <a:xfrm>
            <a:off x="4572000" y="1520575"/>
            <a:ext cx="4267199" cy="270231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Micro Data Story</a:t>
            </a:r>
            <a:endParaRPr/>
          </a:p>
        </p:txBody>
      </p:sp>
      <p:sp>
        <p:nvSpPr>
          <p:cNvPr id="233" name="Google Shape;233;p40"/>
          <p:cNvSpPr txBox="1"/>
          <p:nvPr>
            <p:ph idx="1" type="body"/>
          </p:nvPr>
        </p:nvSpPr>
        <p:spPr>
          <a:xfrm>
            <a:off x="311700" y="1130825"/>
            <a:ext cx="8636700" cy="38937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Working on slides 22 and 23 made me realize something, it's hard to find a ‘golden age’ in a medium that is constantly managing to out-perform itself. While the ratings slide didn’t provide many details for me, the popularity slides did help me form a narrative. That being, in terms of popularity, we are in a golden age and it’s showing no signs of slowing down.</a:t>
            </a:r>
            <a:endParaRPr/>
          </a:p>
          <a:p>
            <a:pPr indent="0" lvl="0" marL="0" rtl="0" algn="l">
              <a:spcBef>
                <a:spcPts val="1200"/>
              </a:spcBef>
              <a:spcAft>
                <a:spcPts val="0"/>
              </a:spcAft>
              <a:buNone/>
            </a:pPr>
            <a:r>
              <a:rPr lang="en"/>
              <a:t>Genres such as sports and adventure have been consistently becoming more and more popular over the decades. And other genres have seen similar results with one exception, such as slice of life’s popularity with the exception of the 70s to the 80s, and dramas popularity from the 2010s to the 2020s. There has also been an increase in top rated shows over the decades, with the 2010s and 2020s having the most amount of the top 500 ranked anime. I bring all this up to demonstrate how anime has gone mainstream in terms of popularity. I also bring this up because it keeps managing to out-perform itself, with more top rated shows being released as time goes on.</a:t>
            </a:r>
            <a:endParaRPr/>
          </a:p>
          <a:p>
            <a:pPr indent="0" lvl="0" marL="0" rtl="0" algn="l">
              <a:spcBef>
                <a:spcPts val="1200"/>
              </a:spcBef>
              <a:spcAft>
                <a:spcPts val="0"/>
              </a:spcAft>
              <a:buNone/>
            </a:pPr>
            <a:r>
              <a:rPr lang="en"/>
              <a:t>This all made me ask a different question, maybe instead of looking into “when” I could try looking at “where” and “why” going forward. What era did anime begin to go mainstream? And what animes pioneered the genre and allowed for it to happen? And although it might be out of the jurisdiction of data science, were there any real-world factors that contributed?</a:t>
            </a:r>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Progress</a:t>
            </a:r>
            <a:endParaRPr/>
          </a:p>
        </p:txBody>
      </p:sp>
      <p:sp>
        <p:nvSpPr>
          <p:cNvPr id="239" name="Google Shape;239;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t>This week had me begin to properly construct the narrative for my PI project. I was able to use StoryStudio and the </a:t>
            </a:r>
            <a:r>
              <a:rPr lang="en"/>
              <a:t>visuals to display a coherent narrative. I also asked myself questions about the popularity ratings, and might have found another possible lead that I could look into.</a:t>
            </a:r>
            <a:endParaRPr/>
          </a:p>
          <a:p>
            <a:pPr indent="0" lvl="0" marL="0" rtl="0" algn="l">
              <a:spcBef>
                <a:spcPts val="1200"/>
              </a:spcBef>
              <a:spcAft>
                <a:spcPts val="0"/>
              </a:spcAft>
              <a:buNone/>
            </a:pPr>
            <a:r>
              <a:rPr lang="en"/>
              <a:t>The only real issue is because I was preoccupied with the StoryStudio and constructing a narrative, I wasn’t able to find and visualize as much data for this week. I hope I can resolve this problem by doing more research going forward. I also had some problems with importing the visuals into StoryStudio. Also, for some reason, the graphs for the 2000s and 2010s popularity would not fully show up, so I could not screenshot them entirely.</a:t>
            </a:r>
            <a:endParaRPr/>
          </a:p>
          <a:p>
            <a:pPr indent="0" lvl="0" marL="0" rtl="0" algn="l">
              <a:spcBef>
                <a:spcPts val="1200"/>
              </a:spcBef>
              <a:spcAft>
                <a:spcPts val="1200"/>
              </a:spcAft>
              <a:buNone/>
            </a:pPr>
            <a:r>
              <a:rPr lang="en"/>
              <a:t>Overall, I think I did just okay for this week. I feel that the narrative created can answer some of the questions I asked when starting the PI project, as well as create some new ones.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6"/>
              <a:buFont typeface="Arial"/>
              <a:buNone/>
            </a:pPr>
            <a:r>
              <a:rPr lang="en"/>
              <a:t>Feedback response</a:t>
            </a:r>
            <a:endParaRPr/>
          </a:p>
          <a:p>
            <a:pPr indent="0" lvl="0" marL="0" rtl="0" algn="l">
              <a:spcBef>
                <a:spcPts val="0"/>
              </a:spcBef>
              <a:spcAft>
                <a:spcPts val="0"/>
              </a:spcAft>
              <a:buNone/>
            </a:pPr>
            <a:r>
              <a:t/>
            </a:r>
            <a:endParaRPr/>
          </a:p>
        </p:txBody>
      </p:sp>
      <p:sp>
        <p:nvSpPr>
          <p:cNvPr id="245" name="Google Shape;24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 should have taken layered graphs into account when creating the visuals to help with clarity. Although I did want more on other types of graphs besides bar graphs, it’s still important to make sure that I am using bar graphs right when I do use them. This information was valuable to me, and I will take note of it for future cases.</a:t>
            </a:r>
            <a:endParaRPr/>
          </a:p>
          <a:p>
            <a:pPr indent="0" lvl="0" marL="0" rtl="0" algn="l">
              <a:spcBef>
                <a:spcPts val="1200"/>
              </a:spcBef>
              <a:spcAft>
                <a:spcPts val="1200"/>
              </a:spcAft>
              <a:buNone/>
            </a:pPr>
            <a:r>
              <a:rPr lang="en"/>
              <a:t>As for future feedback, I would like to hear about the possibility of me looking to the questions proposed in the final section of the micro data story. I believe that finding these answers can possibly help with the narrative, but also understand that it could be off-topic from what the PI project originally aimed to answer.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