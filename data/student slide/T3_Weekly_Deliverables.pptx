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6.xml"/>
  <Override ContentType="application/vnd.openxmlformats-officedocument.presentationml.comments+xml" PartName="/ppt/comments/comment19.xml"/>
  <Override ContentType="application/vnd.openxmlformats-officedocument.presentationml.comments+xml" PartName="/ppt/comments/comment3.xml"/>
  <Override ContentType="application/vnd.openxmlformats-officedocument.presentationml.comments+xml" PartName="/ppt/comments/comment15.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8.xml"/>
  <Override ContentType="application/vnd.openxmlformats-officedocument.presentationml.comments+xml" PartName="/ppt/comments/comment12.xml"/>
  <Override ContentType="application/vnd.openxmlformats-officedocument.presentationml.comments+xml" PartName="/ppt/comments/comment1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Raleway"/>
      <p:regular r:id="rId45"/>
      <p:bold r:id="rId46"/>
      <p:italic r:id="rId47"/>
      <p:boldItalic r:id="rId48"/>
    </p:embeddedFont>
    <p:embeddedFont>
      <p:font typeface="VT323"/>
      <p:regular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3" name="Karen Chen"/>
  <p:cmAuthor clrIdx="1" id="1" initials="" lastIdx="1" name="Nareh Avagyan"/>
  <p:cmAuthor clrIdx="2" id="2" initials="" lastIdx="2" name="Fatimah Niya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8DB5CF-45D0-4F0A-BDBD-7449CC713BA9}">
  <a:tblStyle styleId="{438DB5CF-45D0-4F0A-BDBD-7449CC713BA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Raleway-bold.fntdata"/><Relationship Id="rId45"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aleway-boldItalic.fntdata"/><Relationship Id="rId47" Type="http://schemas.openxmlformats.org/officeDocument/2006/relationships/font" Target="fonts/Raleway-italic.fntdata"/><Relationship Id="rId49" Type="http://schemas.openxmlformats.org/officeDocument/2006/relationships/font" Target="fonts/VT323-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9T02:46:49.904">
    <p:pos x="72" y="2144"/>
    <p:text>@nareha1@umbc.edu this index is interesting, did you invent this? also, why there are repetition of the game in the plot, is there a bug?</p:text>
  </p:cm>
  <p:cm authorId="1" idx="1" dt="2026-04-29T02:46:49.904">
    <p:pos x="72" y="2144"/>
    <p:text>Yeah, I made up the term "guilt index" to describe the relation between backlogs divided by plays. As for the repeating names on the plot, in the actual .csv file there were a few repeating names, looking back on creating this plot I probably could've just used the .drop function to get a broader picture lol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8T22:51:05.117">
    <p:pos x="115" y="441"/>
    <p:text>very interesting analysis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28T22:51:16.860">
    <p:pos x="109" y="562"/>
    <p:text>great questions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8T22:53:13.665">
    <p:pos x="2592" y="412"/>
    <p:text>this indeed tell as you are identifying patterns. in the final product, you don't have to differentiate between show and tell as this is our internal code word, your audience will not know anything about it.</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8T22:54:06.584">
    <p:pos x="2646" y="470"/>
    <p:text>see my comments to Nareh about show and tell</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8T22:55:43.497">
    <p:pos x="159" y="461"/>
    <p:text>I couldn't imagine the game team are of such a small size, are you sure this is what the data is about? @fniyas1@umbc.edu</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8T22:57:20.995">
    <p:pos x="152" y="465"/>
    <p:text>it would be interesting to bin the number of games then plot the average rating, ideally with a confidence interval to quantify the uncertainty in estimation</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21T03:57:41.865">
    <p:pos x="2937" y="490"/>
    <p:text>since you are plotting top 10, even the lowest doesn't mean it is low, so it would be useful to complement the bottom list</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21T03:59:02.726">
    <p:pos x="2809" y="616"/>
    <p:text>do you have a way to validate your speculation from the data?</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21T04:01:17.745">
    <p:pos x="3043" y="477"/>
    <p:text>interesting insights, I am wonder if you could provide a bit explanation for those not familiar with game</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6-04-21T04:02:39.035">
    <p:pos x="166" y="503"/>
    <p:text>you could run into the issues as plays and wishlist are different scale, the wishlist are "sequeezed",we talk about this kind of issues and how to resolve in PI project,</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21T20:10:11.441">
    <p:pos x="159" y="477"/>
    <p:text>do you use AI to generate the plots? we didn't talk about how to generate bubble chart like this, also your plotting color style looks different from the default package, be remindful of the AI policy @fniyas1@umbc.edu</p:text>
  </p:cm>
  <p:cm authorId="2" idx="1" dt="2026-04-21T04:18:41.890">
    <p:pos x="159" y="477"/>
    <p:text>I have taken multiple python classes before so I knew how. Sorry for making something we haven't learned yet, I wanted to visualize it differently. As for the colors I just experimented by writing color ='purple' and 'darkgreen'.</p:text>
  </p:cm>
  <p:cm authorId="2" idx="2" dt="2026-04-21T19:53:19.080">
    <p:pos x="159" y="477"/>
    <p:text>@lujiec@umbc.edu</p:text>
  </p:cm>
  <p:cm authorId="0" idx="13" dt="2026-04-21T20:10:11.441">
    <p:pos x="159" y="477"/>
    <p:text>okay</p:text>
  </p:cm>
  <p:cm authorId="0" idx="14" dt="2026-04-21T04:06:22.240">
    <p:pos x="159" y="577"/>
    <p:text>it might make more sense to do log scale;</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6-04-21T04:07:15.984">
    <p:pos x="131" y="439"/>
    <p:text>this is great. do track your questions to inform the analysis for next step</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4-15T02:31:54.668">
    <p:pos x="2532" y="481"/>
    <p:text>or perhaps rating high -&gt; more popular?</p:text>
  </p:cm>
  <p:cm authorId="0" idx="17" dt="2026-04-15T02:33:02.368">
    <p:pos x="2532" y="581"/>
    <p:text>I like you how you label those games</p:text>
  </p:cm>
  <p:cm authorId="0" idx="18" dt="2026-04-15T02:34:30.838">
    <p:pos x="2532" y="681"/>
    <p:text>excellent analysis @nareha1@umbc.edu</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6-04-15T02:36:07.278">
    <p:pos x="3188" y="481"/>
    <p:text>would it also be interesting to see the # of games for each team? together with average rating</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0" dt="2026-04-15T02:38:01.051">
    <p:pos x="2677" y="479"/>
    <p:text>or other way around, because they are high rated, people more likely want to play</p:tex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6-04-15T02:39:38.742">
    <p:pos x="163" y="418"/>
    <p:text>@nareha1@umbc.edu @fniyas1@umbc.edu great analysis.</p:tex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2" dt="2026-04-08T04:06:58.488">
    <p:pos x="291" y="564"/>
    <p:text>nice set of questions</p:tex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3" dt="2026-04-08T04:07:43.436">
    <p:pos x="1119" y="0"/>
    <p:text>make sense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76d616a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76d616a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76d616aa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76d616aa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bab770a2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bab770a2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76d616aa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76d616aa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bab770a2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bab770a2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5309c0e0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5309c0e0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962d9df2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962d9df2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74cc4e162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74cc4e162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962d9df2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962d9df2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962d9df2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962d9df2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74cc4e162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74cc4e162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95e6071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95e6071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95e60712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95e60712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74cc4e162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74cc4e162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497449191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497449191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5309c0e0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5309c0e0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74cc4e16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d74cc4e16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74cc4e16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74cc4e16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5309c0e0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5309c0e0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74cc4e162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74cc4e162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74cc4e1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74cc4e1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5309c0e0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5309c0e0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49744919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d49744919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49744919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d49744919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5309c0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5309c0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49744919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49744919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5309c0e0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5309c0e0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5309c0e0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d5309c0e0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e1d838b62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e1d838b62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3fb61485a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3fb61485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497449191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d497449191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49744919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d49744919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e1d838b627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e1d838b627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76d616aa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76d616aa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76d616aa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76d616aa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76d616aa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76d616aa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76d616aa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76d616aa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hyperlink" Target="https://bit.ly/3A1uf1Q" TargetMode="External"/><Relationship Id="rId6"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84988" y="78599"/>
            <a:ext cx="8974027" cy="4925051"/>
            <a:chOff x="84988" y="78599"/>
            <a:chExt cx="8974027" cy="4925051"/>
          </a:xfrm>
        </p:grpSpPr>
        <p:pic>
          <p:nvPicPr>
            <p:cNvPr id="10" name="Google Shape;10;p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 name="Google Shape;11;p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2" name="Google Shape;12;p2"/>
          <p:cNvSpPr/>
          <p:nvPr>
            <p:ph idx="2" type="pic"/>
          </p:nvPr>
        </p:nvSpPr>
        <p:spPr>
          <a:xfrm>
            <a:off x="5805375" y="1317075"/>
            <a:ext cx="2831700" cy="2648100"/>
          </a:xfrm>
          <a:prstGeom prst="rect">
            <a:avLst/>
          </a:prstGeom>
          <a:noFill/>
          <a:ln cap="flat" cmpd="sng" w="19050">
            <a:solidFill>
              <a:schemeClr val="dk2"/>
            </a:solidFill>
            <a:prstDash val="solid"/>
            <a:round/>
            <a:headEnd len="sm" w="sm" type="none"/>
            <a:tailEnd len="sm" w="sm" type="none"/>
          </a:ln>
        </p:spPr>
      </p:sp>
      <p:sp>
        <p:nvSpPr>
          <p:cNvPr id="13" name="Google Shape;13;p2"/>
          <p:cNvSpPr txBox="1"/>
          <p:nvPr>
            <p:ph type="ctrTitle"/>
          </p:nvPr>
        </p:nvSpPr>
        <p:spPr>
          <a:xfrm>
            <a:off x="606800" y="849600"/>
            <a:ext cx="5060700" cy="2462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191919"/>
              </a:buClr>
              <a:buSzPts val="5200"/>
              <a:buNone/>
              <a:defRPr sz="5600"/>
            </a:lvl1pPr>
            <a:lvl2pPr lvl="1">
              <a:spcBef>
                <a:spcPts val="0"/>
              </a:spcBef>
              <a:spcAft>
                <a:spcPts val="0"/>
              </a:spcAft>
              <a:buClr>
                <a:srgbClr val="191919"/>
              </a:buClr>
              <a:buSzPts val="5200"/>
              <a:buNone/>
              <a:defRPr sz="5200">
                <a:solidFill>
                  <a:srgbClr val="191919"/>
                </a:solidFill>
              </a:defRPr>
            </a:lvl2pPr>
            <a:lvl3pPr lvl="2">
              <a:spcBef>
                <a:spcPts val="0"/>
              </a:spcBef>
              <a:spcAft>
                <a:spcPts val="0"/>
              </a:spcAft>
              <a:buClr>
                <a:srgbClr val="191919"/>
              </a:buClr>
              <a:buSzPts val="5200"/>
              <a:buNone/>
              <a:defRPr sz="5200">
                <a:solidFill>
                  <a:srgbClr val="191919"/>
                </a:solidFill>
              </a:defRPr>
            </a:lvl3pPr>
            <a:lvl4pPr lvl="3">
              <a:spcBef>
                <a:spcPts val="0"/>
              </a:spcBef>
              <a:spcAft>
                <a:spcPts val="0"/>
              </a:spcAft>
              <a:buClr>
                <a:srgbClr val="191919"/>
              </a:buClr>
              <a:buSzPts val="5200"/>
              <a:buNone/>
              <a:defRPr sz="5200">
                <a:solidFill>
                  <a:srgbClr val="191919"/>
                </a:solidFill>
              </a:defRPr>
            </a:lvl4pPr>
            <a:lvl5pPr lvl="4">
              <a:spcBef>
                <a:spcPts val="0"/>
              </a:spcBef>
              <a:spcAft>
                <a:spcPts val="0"/>
              </a:spcAft>
              <a:buClr>
                <a:srgbClr val="191919"/>
              </a:buClr>
              <a:buSzPts val="5200"/>
              <a:buNone/>
              <a:defRPr sz="5200">
                <a:solidFill>
                  <a:srgbClr val="191919"/>
                </a:solidFill>
              </a:defRPr>
            </a:lvl5pPr>
            <a:lvl6pPr lvl="5">
              <a:spcBef>
                <a:spcPts val="0"/>
              </a:spcBef>
              <a:spcAft>
                <a:spcPts val="0"/>
              </a:spcAft>
              <a:buClr>
                <a:srgbClr val="191919"/>
              </a:buClr>
              <a:buSzPts val="5200"/>
              <a:buNone/>
              <a:defRPr sz="5200">
                <a:solidFill>
                  <a:srgbClr val="191919"/>
                </a:solidFill>
              </a:defRPr>
            </a:lvl6pPr>
            <a:lvl7pPr lvl="6">
              <a:spcBef>
                <a:spcPts val="0"/>
              </a:spcBef>
              <a:spcAft>
                <a:spcPts val="0"/>
              </a:spcAft>
              <a:buClr>
                <a:srgbClr val="191919"/>
              </a:buClr>
              <a:buSzPts val="5200"/>
              <a:buNone/>
              <a:defRPr sz="5200">
                <a:solidFill>
                  <a:srgbClr val="191919"/>
                </a:solidFill>
              </a:defRPr>
            </a:lvl7pPr>
            <a:lvl8pPr lvl="7">
              <a:spcBef>
                <a:spcPts val="0"/>
              </a:spcBef>
              <a:spcAft>
                <a:spcPts val="0"/>
              </a:spcAft>
              <a:buClr>
                <a:srgbClr val="191919"/>
              </a:buClr>
              <a:buSzPts val="5200"/>
              <a:buNone/>
              <a:defRPr sz="5200">
                <a:solidFill>
                  <a:srgbClr val="191919"/>
                </a:solidFill>
              </a:defRPr>
            </a:lvl8pPr>
            <a:lvl9pPr lvl="8">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606800" y="3364900"/>
            <a:ext cx="4351500" cy="1135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pic>
        <p:nvPicPr>
          <p:cNvPr id="15" name="Google Shape;15;p2" title="Sin título-2.png"/>
          <p:cNvPicPr preferRelativeResize="0"/>
          <p:nvPr/>
        </p:nvPicPr>
        <p:blipFill rotWithShape="1">
          <a:blip r:embed="rId3">
            <a:alphaModFix/>
          </a:blip>
          <a:srcRect b="0" l="61983" r="0" t="0"/>
          <a:stretch/>
        </p:blipFill>
        <p:spPr>
          <a:xfrm>
            <a:off x="5805376" y="1051575"/>
            <a:ext cx="2831677" cy="265500"/>
          </a:xfrm>
          <a:prstGeom prst="rect">
            <a:avLst/>
          </a:prstGeom>
          <a:noFill/>
          <a:ln cap="flat" cmpd="sng" w="9525">
            <a:solidFill>
              <a:schemeClr val="dk2"/>
            </a:solidFill>
            <a:prstDash val="solid"/>
            <a:round/>
            <a:headEnd len="sm" w="sm" type="none"/>
            <a:tailEnd len="sm" w="sm" type="none"/>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grpSp>
        <p:nvGrpSpPr>
          <p:cNvPr id="17" name="Google Shape;17;p3"/>
          <p:cNvGrpSpPr/>
          <p:nvPr/>
        </p:nvGrpSpPr>
        <p:grpSpPr>
          <a:xfrm>
            <a:off x="84988" y="78599"/>
            <a:ext cx="8974027" cy="4925051"/>
            <a:chOff x="84988" y="78599"/>
            <a:chExt cx="8974027" cy="4925051"/>
          </a:xfrm>
        </p:grpSpPr>
        <p:pic>
          <p:nvPicPr>
            <p:cNvPr id="18" name="Google Shape;18;p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9" name="Google Shape;19;p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pic>
        <p:nvPicPr>
          <p:cNvPr id="20" name="Google Shape;20;p3" title="Sin título-5.png"/>
          <p:cNvPicPr preferRelativeResize="0"/>
          <p:nvPr/>
        </p:nvPicPr>
        <p:blipFill>
          <a:blip r:embed="rId4">
            <a:alphaModFix/>
          </a:blip>
          <a:stretch>
            <a:fillRect/>
          </a:stretch>
        </p:blipFill>
        <p:spPr>
          <a:xfrm>
            <a:off x="3233000" y="3371475"/>
            <a:ext cx="5515599" cy="1351825"/>
          </a:xfrm>
          <a:prstGeom prst="rect">
            <a:avLst/>
          </a:prstGeom>
          <a:noFill/>
          <a:ln>
            <a:noFill/>
          </a:ln>
        </p:spPr>
      </p:pic>
      <p:pic>
        <p:nvPicPr>
          <p:cNvPr id="21" name="Google Shape;21;p3" title="Sin título-4.png"/>
          <p:cNvPicPr preferRelativeResize="0"/>
          <p:nvPr/>
        </p:nvPicPr>
        <p:blipFill>
          <a:blip r:embed="rId5">
            <a:alphaModFix/>
          </a:blip>
          <a:stretch>
            <a:fillRect/>
          </a:stretch>
        </p:blipFill>
        <p:spPr>
          <a:xfrm>
            <a:off x="555462" y="817950"/>
            <a:ext cx="5399452" cy="3024425"/>
          </a:xfrm>
          <a:prstGeom prst="rect">
            <a:avLst/>
          </a:prstGeom>
          <a:noFill/>
          <a:ln>
            <a:noFill/>
          </a:ln>
        </p:spPr>
      </p:pic>
      <p:sp>
        <p:nvSpPr>
          <p:cNvPr id="22" name="Google Shape;22;p3"/>
          <p:cNvSpPr txBox="1"/>
          <p:nvPr>
            <p:ph type="title"/>
          </p:nvPr>
        </p:nvSpPr>
        <p:spPr>
          <a:xfrm>
            <a:off x="1860500" y="1532500"/>
            <a:ext cx="3459000" cy="1521000"/>
          </a:xfrm>
          <a:prstGeom prst="rect">
            <a:avLst/>
          </a:prstGeom>
          <a:ln>
            <a:noFill/>
          </a:ln>
        </p:spPr>
        <p:txBody>
          <a:bodyPr anchorCtr="0" anchor="ctr" bIns="91425" lIns="91425" spcFirstLastPara="1" rIns="91425" wrap="square" tIns="91425">
            <a:noAutofit/>
          </a:bodyPr>
          <a:lstStyle>
            <a:lvl1pPr lvl="0">
              <a:lnSpc>
                <a:spcPct val="8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hasCustomPrompt="1" idx="2" type="title"/>
          </p:nvPr>
        </p:nvSpPr>
        <p:spPr>
          <a:xfrm>
            <a:off x="779673" y="1910725"/>
            <a:ext cx="778200" cy="764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 name="Google Shape;24;p3"/>
          <p:cNvSpPr txBox="1"/>
          <p:nvPr>
            <p:ph idx="1" type="subTitle"/>
          </p:nvPr>
        </p:nvSpPr>
        <p:spPr>
          <a:xfrm>
            <a:off x="3465325" y="3918575"/>
            <a:ext cx="5174400" cy="66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 name="Google Shape;25;p3"/>
          <p:cNvSpPr/>
          <p:nvPr>
            <p:ph idx="3" type="pic"/>
          </p:nvPr>
        </p:nvSpPr>
        <p:spPr>
          <a:xfrm flipH="1">
            <a:off x="6386650" y="947025"/>
            <a:ext cx="2107500" cy="2067600"/>
          </a:xfrm>
          <a:prstGeom prst="rect">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grpSp>
        <p:nvGrpSpPr>
          <p:cNvPr id="27" name="Google Shape;27;p4"/>
          <p:cNvGrpSpPr/>
          <p:nvPr/>
        </p:nvGrpSpPr>
        <p:grpSpPr>
          <a:xfrm>
            <a:off x="84988" y="78599"/>
            <a:ext cx="8974027" cy="4925051"/>
            <a:chOff x="84988" y="78599"/>
            <a:chExt cx="8974027" cy="4925051"/>
          </a:xfrm>
        </p:grpSpPr>
        <p:pic>
          <p:nvPicPr>
            <p:cNvPr id="28" name="Google Shape;28;p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29" name="Google Shape;29;p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30" name="Google Shape;30;p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31" name="Google Shape;31;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pic>
        <p:nvPicPr>
          <p:cNvPr id="33" name="Google Shape;33;p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34" name="Google Shape;34;p5"/>
          <p:cNvSpPr txBox="1"/>
          <p:nvPr>
            <p:ph idx="1" type="subTitle"/>
          </p:nvPr>
        </p:nvSpPr>
        <p:spPr>
          <a:xfrm>
            <a:off x="3540003" y="1330738"/>
            <a:ext cx="39414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300">
                <a:latin typeface="VT323"/>
                <a:ea typeface="VT323"/>
                <a:cs typeface="VT323"/>
                <a:sym typeface="VT323"/>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5" name="Google Shape;35;p5"/>
          <p:cNvSpPr txBox="1"/>
          <p:nvPr>
            <p:ph idx="2" type="subTitle"/>
          </p:nvPr>
        </p:nvSpPr>
        <p:spPr>
          <a:xfrm>
            <a:off x="3540003" y="3067776"/>
            <a:ext cx="39414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latin typeface="VT323"/>
                <a:ea typeface="VT323"/>
                <a:cs typeface="VT323"/>
                <a:sym typeface="VT323"/>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 name="Google Shape;36;p5"/>
          <p:cNvSpPr txBox="1"/>
          <p:nvPr>
            <p:ph idx="3" type="subTitle"/>
          </p:nvPr>
        </p:nvSpPr>
        <p:spPr>
          <a:xfrm>
            <a:off x="3540003" y="1827236"/>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 name="Google Shape;37;p5"/>
          <p:cNvSpPr txBox="1"/>
          <p:nvPr>
            <p:ph idx="4" type="subTitle"/>
          </p:nvPr>
        </p:nvSpPr>
        <p:spPr>
          <a:xfrm>
            <a:off x="3540003" y="3564275"/>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 name="Google Shape;38;p5"/>
          <p:cNvSpPr txBox="1"/>
          <p:nvPr>
            <p:ph type="title"/>
          </p:nvPr>
        </p:nvSpPr>
        <p:spPr>
          <a:xfrm>
            <a:off x="341850" y="654800"/>
            <a:ext cx="85737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39" name="Google Shape;39;p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grpSp>
        <p:nvGrpSpPr>
          <p:cNvPr id="41" name="Google Shape;41;p6"/>
          <p:cNvGrpSpPr/>
          <p:nvPr/>
        </p:nvGrpSpPr>
        <p:grpSpPr>
          <a:xfrm>
            <a:off x="84988" y="78599"/>
            <a:ext cx="8974027" cy="4925051"/>
            <a:chOff x="84988" y="78599"/>
            <a:chExt cx="8974027" cy="4925051"/>
          </a:xfrm>
        </p:grpSpPr>
        <p:pic>
          <p:nvPicPr>
            <p:cNvPr id="42" name="Google Shape;42;p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3" name="Google Shape;43;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44" name="Google Shape;44;p6"/>
          <p:cNvSpPr txBox="1"/>
          <p:nvPr>
            <p:ph type="title"/>
          </p:nvPr>
        </p:nvSpPr>
        <p:spPr>
          <a:xfrm>
            <a:off x="341850" y="654800"/>
            <a:ext cx="84603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45" name="Google Shape;45;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grpSp>
        <p:nvGrpSpPr>
          <p:cNvPr id="47" name="Google Shape;47;p7"/>
          <p:cNvGrpSpPr/>
          <p:nvPr/>
        </p:nvGrpSpPr>
        <p:grpSpPr>
          <a:xfrm>
            <a:off x="84988" y="78599"/>
            <a:ext cx="8974027" cy="4925051"/>
            <a:chOff x="84988" y="78599"/>
            <a:chExt cx="8974027" cy="4925051"/>
          </a:xfrm>
        </p:grpSpPr>
        <p:pic>
          <p:nvPicPr>
            <p:cNvPr id="48" name="Google Shape;48;p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9" name="Google Shape;49;p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0" name="Google Shape;50;p7"/>
          <p:cNvSpPr txBox="1"/>
          <p:nvPr>
            <p:ph type="title"/>
          </p:nvPr>
        </p:nvSpPr>
        <p:spPr>
          <a:xfrm>
            <a:off x="228600" y="228600"/>
            <a:ext cx="3998400" cy="1445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1" name="Google Shape;51;p7"/>
          <p:cNvSpPr txBox="1"/>
          <p:nvPr>
            <p:ph idx="1" type="body"/>
          </p:nvPr>
        </p:nvSpPr>
        <p:spPr>
          <a:xfrm>
            <a:off x="1609625" y="206612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2" name="Google Shape;52;p7"/>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grpSp>
        <p:nvGrpSpPr>
          <p:cNvPr id="54" name="Google Shape;54;p8"/>
          <p:cNvGrpSpPr/>
          <p:nvPr/>
        </p:nvGrpSpPr>
        <p:grpSpPr>
          <a:xfrm>
            <a:off x="84988" y="78599"/>
            <a:ext cx="8974027" cy="4925051"/>
            <a:chOff x="84988" y="78599"/>
            <a:chExt cx="8974027" cy="4925051"/>
          </a:xfrm>
        </p:grpSpPr>
        <p:pic>
          <p:nvPicPr>
            <p:cNvPr id="55" name="Google Shape;55;p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56" name="Google Shape;56;p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7" name="Google Shape;57;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grpSp>
        <p:nvGrpSpPr>
          <p:cNvPr id="59" name="Google Shape;59;p9"/>
          <p:cNvGrpSpPr/>
          <p:nvPr/>
        </p:nvGrpSpPr>
        <p:grpSpPr>
          <a:xfrm>
            <a:off x="84988" y="78599"/>
            <a:ext cx="8974027" cy="4925051"/>
            <a:chOff x="84988" y="78599"/>
            <a:chExt cx="8974027" cy="4925051"/>
          </a:xfrm>
        </p:grpSpPr>
        <p:pic>
          <p:nvPicPr>
            <p:cNvPr id="60" name="Google Shape;60;p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61" name="Google Shape;61;p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62" name="Google Shape;62;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3" name="Google Shape;63;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 name="Google Shape;64;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pic>
        <p:nvPicPr>
          <p:cNvPr id="66" name="Google Shape;66;p1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67" name="Google Shape;67;p10"/>
          <p:cNvSpPr/>
          <p:nvPr>
            <p:ph idx="2" type="pic"/>
          </p:nvPr>
        </p:nvSpPr>
        <p:spPr>
          <a:xfrm>
            <a:off x="191450" y="686275"/>
            <a:ext cx="8758200" cy="4130100"/>
          </a:xfrm>
          <a:prstGeom prst="rect">
            <a:avLst/>
          </a:prstGeom>
          <a:noFill/>
          <a:ln>
            <a:noFill/>
          </a:ln>
        </p:spPr>
      </p:sp>
      <p:sp>
        <p:nvSpPr>
          <p:cNvPr id="68" name="Google Shape;68;p10"/>
          <p:cNvSpPr txBox="1"/>
          <p:nvPr>
            <p:ph type="title"/>
          </p:nvPr>
        </p:nvSpPr>
        <p:spPr>
          <a:xfrm>
            <a:off x="6584125" y="3792925"/>
            <a:ext cx="2004000" cy="694500"/>
          </a:xfrm>
          <a:prstGeom prst="rect">
            <a:avLst/>
          </a:prstGeom>
          <a:solidFill>
            <a:schemeClr val="lt1"/>
          </a:solidFill>
          <a:ln>
            <a:noFill/>
          </a:ln>
        </p:spPr>
        <p:txBody>
          <a:bodyPr anchorCtr="0" anchor="t" bIns="91425" lIns="91425" spcFirstLastPara="1" rIns="91425" wrap="square" tIns="91425">
            <a:noAutofit/>
          </a:bodyPr>
          <a:lstStyle>
            <a:lvl1pPr lvl="0" rtl="0" algn="ctr">
              <a:spcBef>
                <a:spcPts val="0"/>
              </a:spcBef>
              <a:spcAft>
                <a:spcPts val="0"/>
              </a:spcAft>
              <a:buSzPts val="3200"/>
              <a:buNone/>
              <a:defRPr sz="15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pic>
        <p:nvPicPr>
          <p:cNvPr id="69" name="Google Shape;69;p1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grpSp>
        <p:nvGrpSpPr>
          <p:cNvPr id="71" name="Google Shape;71;p11"/>
          <p:cNvGrpSpPr/>
          <p:nvPr/>
        </p:nvGrpSpPr>
        <p:grpSpPr>
          <a:xfrm>
            <a:off x="84988" y="78599"/>
            <a:ext cx="8974027" cy="4925051"/>
            <a:chOff x="84988" y="78599"/>
            <a:chExt cx="8974027" cy="4925051"/>
          </a:xfrm>
        </p:grpSpPr>
        <p:pic>
          <p:nvPicPr>
            <p:cNvPr id="72" name="Google Shape;72;p1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73" name="Google Shape;73;p1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74" name="Google Shape;74;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77" name="Shape 77"/>
        <p:cNvGrpSpPr/>
        <p:nvPr/>
      </p:nvGrpSpPr>
      <p:grpSpPr>
        <a:xfrm>
          <a:off x="0" y="0"/>
          <a:ext cx="0" cy="0"/>
          <a:chOff x="0" y="0"/>
          <a:chExt cx="0" cy="0"/>
        </a:xfrm>
      </p:grpSpPr>
      <p:pic>
        <p:nvPicPr>
          <p:cNvPr id="78" name="Google Shape;78;p1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79" name="Google Shape;79;p13"/>
          <p:cNvSpPr txBox="1"/>
          <p:nvPr>
            <p:ph type="title"/>
          </p:nvPr>
        </p:nvSpPr>
        <p:spPr>
          <a:xfrm>
            <a:off x="341850" y="654800"/>
            <a:ext cx="8453400" cy="6024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80" name="Google Shape;80;p13"/>
          <p:cNvSpPr txBox="1"/>
          <p:nvPr>
            <p:ph idx="1" type="subTitle"/>
          </p:nvPr>
        </p:nvSpPr>
        <p:spPr>
          <a:xfrm>
            <a:off x="1107250" y="1796625"/>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1" name="Google Shape;81;p13"/>
          <p:cNvSpPr txBox="1"/>
          <p:nvPr>
            <p:ph idx="2" type="subTitle"/>
          </p:nvPr>
        </p:nvSpPr>
        <p:spPr>
          <a:xfrm>
            <a:off x="1107250" y="2442833"/>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2" name="Google Shape;82;p13"/>
          <p:cNvSpPr txBox="1"/>
          <p:nvPr>
            <p:ph idx="3" type="subTitle"/>
          </p:nvPr>
        </p:nvSpPr>
        <p:spPr>
          <a:xfrm>
            <a:off x="1107250" y="3089042"/>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3" name="Google Shape;83;p13"/>
          <p:cNvSpPr txBox="1"/>
          <p:nvPr>
            <p:ph idx="4" type="subTitle"/>
          </p:nvPr>
        </p:nvSpPr>
        <p:spPr>
          <a:xfrm>
            <a:off x="1107250" y="3735250"/>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4" name="Google Shape;84;p13"/>
          <p:cNvSpPr txBox="1"/>
          <p:nvPr>
            <p:ph idx="5" type="subTitle"/>
          </p:nvPr>
        </p:nvSpPr>
        <p:spPr>
          <a:xfrm>
            <a:off x="4851600" y="1796625"/>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5" name="Google Shape;85;p13"/>
          <p:cNvSpPr txBox="1"/>
          <p:nvPr>
            <p:ph idx="6" type="subTitle"/>
          </p:nvPr>
        </p:nvSpPr>
        <p:spPr>
          <a:xfrm>
            <a:off x="4851600" y="2442831"/>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6" name="Google Shape;86;p13"/>
          <p:cNvSpPr txBox="1"/>
          <p:nvPr>
            <p:ph idx="7" type="subTitle"/>
          </p:nvPr>
        </p:nvSpPr>
        <p:spPr>
          <a:xfrm>
            <a:off x="4851600" y="3089037"/>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7" name="Google Shape;87;p13"/>
          <p:cNvSpPr txBox="1"/>
          <p:nvPr>
            <p:ph idx="8" type="subTitle"/>
          </p:nvPr>
        </p:nvSpPr>
        <p:spPr>
          <a:xfrm>
            <a:off x="4851600" y="3735244"/>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8" name="Google Shape;88;p13"/>
          <p:cNvSpPr txBox="1"/>
          <p:nvPr>
            <p:ph hasCustomPrompt="1" idx="9" type="title"/>
          </p:nvPr>
        </p:nvSpPr>
        <p:spPr>
          <a:xfrm>
            <a:off x="341850" y="3849550"/>
            <a:ext cx="7653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p:nvPr>
            <p:ph hasCustomPrompt="1" idx="13" type="title"/>
          </p:nvPr>
        </p:nvSpPr>
        <p:spPr>
          <a:xfrm>
            <a:off x="341850" y="2560850"/>
            <a:ext cx="7653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p:nvPr>
            <p:ph hasCustomPrompt="1" idx="14" type="title"/>
          </p:nvPr>
        </p:nvSpPr>
        <p:spPr>
          <a:xfrm>
            <a:off x="342582" y="1916800"/>
            <a:ext cx="764100" cy="31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3"/>
          <p:cNvSpPr txBox="1"/>
          <p:nvPr>
            <p:ph hasCustomPrompt="1" idx="15" type="title"/>
          </p:nvPr>
        </p:nvSpPr>
        <p:spPr>
          <a:xfrm>
            <a:off x="341850" y="3205200"/>
            <a:ext cx="7653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2" name="Google Shape;92;p13"/>
          <p:cNvSpPr txBox="1"/>
          <p:nvPr>
            <p:ph hasCustomPrompt="1" idx="16" type="title"/>
          </p:nvPr>
        </p:nvSpPr>
        <p:spPr>
          <a:xfrm>
            <a:off x="3985789" y="2561048"/>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3" name="Google Shape;93;p13"/>
          <p:cNvSpPr txBox="1"/>
          <p:nvPr>
            <p:ph hasCustomPrompt="1" idx="17" type="title"/>
          </p:nvPr>
        </p:nvSpPr>
        <p:spPr>
          <a:xfrm>
            <a:off x="3985787" y="3205296"/>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4" name="Google Shape;94;p13"/>
          <p:cNvSpPr txBox="1"/>
          <p:nvPr>
            <p:ph hasCustomPrompt="1" idx="18" type="title"/>
          </p:nvPr>
        </p:nvSpPr>
        <p:spPr>
          <a:xfrm>
            <a:off x="3985789" y="3849544"/>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3"/>
          <p:cNvSpPr txBox="1"/>
          <p:nvPr>
            <p:ph hasCustomPrompt="1" idx="19" type="title"/>
          </p:nvPr>
        </p:nvSpPr>
        <p:spPr>
          <a:xfrm>
            <a:off x="3985789" y="1916800"/>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96" name="Google Shape;96;p1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97" name="Shape 97"/>
        <p:cNvGrpSpPr/>
        <p:nvPr/>
      </p:nvGrpSpPr>
      <p:grpSpPr>
        <a:xfrm>
          <a:off x="0" y="0"/>
          <a:ext cx="0" cy="0"/>
          <a:chOff x="0" y="0"/>
          <a:chExt cx="0" cy="0"/>
        </a:xfrm>
      </p:grpSpPr>
      <p:pic>
        <p:nvPicPr>
          <p:cNvPr id="98" name="Google Shape;98;p1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99" name="Google Shape;99;p14"/>
          <p:cNvSpPr txBox="1"/>
          <p:nvPr>
            <p:ph type="title"/>
          </p:nvPr>
        </p:nvSpPr>
        <p:spPr>
          <a:xfrm>
            <a:off x="679225" y="794675"/>
            <a:ext cx="78666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3200"/>
              <a:buNone/>
              <a:defRPr sz="40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00" name="Google Shape;100;p14"/>
          <p:cNvSpPr txBox="1"/>
          <p:nvPr>
            <p:ph idx="1" type="subTitle"/>
          </p:nvPr>
        </p:nvSpPr>
        <p:spPr>
          <a:xfrm>
            <a:off x="1522850" y="1816950"/>
            <a:ext cx="6918600" cy="25389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1" name="Google Shape;101;p1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02" name="Shape 102"/>
        <p:cNvGrpSpPr/>
        <p:nvPr/>
      </p:nvGrpSpPr>
      <p:grpSpPr>
        <a:xfrm>
          <a:off x="0" y="0"/>
          <a:ext cx="0" cy="0"/>
          <a:chOff x="0" y="0"/>
          <a:chExt cx="0" cy="0"/>
        </a:xfrm>
      </p:grpSpPr>
      <p:pic>
        <p:nvPicPr>
          <p:cNvPr id="103" name="Google Shape;103;p1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04" name="Google Shape;104;p15"/>
          <p:cNvSpPr txBox="1"/>
          <p:nvPr>
            <p:ph type="title"/>
          </p:nvPr>
        </p:nvSpPr>
        <p:spPr>
          <a:xfrm>
            <a:off x="3789425" y="795800"/>
            <a:ext cx="4547700" cy="1255500"/>
          </a:xfrm>
          <a:prstGeom prst="rect">
            <a:avLst/>
          </a:prstGeom>
          <a:ln>
            <a:noFill/>
          </a:ln>
        </p:spPr>
        <p:txBody>
          <a:bodyPr anchorCtr="0" anchor="t" bIns="91425" lIns="91425" spcFirstLastPara="1" rIns="91425" wrap="square" tIns="91425">
            <a:noAutofit/>
          </a:bodyPr>
          <a:lstStyle>
            <a:lvl1pPr lvl="0">
              <a:lnSpc>
                <a:spcPct val="80000"/>
              </a:lnSpc>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05" name="Google Shape;105;p15"/>
          <p:cNvSpPr txBox="1"/>
          <p:nvPr>
            <p:ph idx="1" type="body"/>
          </p:nvPr>
        </p:nvSpPr>
        <p:spPr>
          <a:xfrm>
            <a:off x="3789425" y="2229300"/>
            <a:ext cx="4940100" cy="2532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4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106" name="Google Shape;106;p15"/>
          <p:cNvSpPr/>
          <p:nvPr>
            <p:ph idx="2" type="pic"/>
          </p:nvPr>
        </p:nvSpPr>
        <p:spPr>
          <a:xfrm>
            <a:off x="522525" y="1195150"/>
            <a:ext cx="2947200" cy="3341400"/>
          </a:xfrm>
          <a:prstGeom prst="rect">
            <a:avLst/>
          </a:prstGeom>
          <a:noFill/>
          <a:ln cap="flat" cmpd="sng" w="9525">
            <a:solidFill>
              <a:schemeClr val="dk2"/>
            </a:solidFill>
            <a:prstDash val="solid"/>
            <a:round/>
            <a:headEnd len="sm" w="sm" type="none"/>
            <a:tailEnd len="sm" w="sm" type="none"/>
          </a:ln>
        </p:spPr>
      </p:sp>
      <p:pic>
        <p:nvPicPr>
          <p:cNvPr id="107" name="Google Shape;107;p1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8" name="Shape 108"/>
        <p:cNvGrpSpPr/>
        <p:nvPr/>
      </p:nvGrpSpPr>
      <p:grpSpPr>
        <a:xfrm>
          <a:off x="0" y="0"/>
          <a:ext cx="0" cy="0"/>
          <a:chOff x="0" y="0"/>
          <a:chExt cx="0" cy="0"/>
        </a:xfrm>
      </p:grpSpPr>
      <p:pic>
        <p:nvPicPr>
          <p:cNvPr id="109" name="Google Shape;109;p1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0" name="Google Shape;110;p16"/>
          <p:cNvSpPr txBox="1"/>
          <p:nvPr>
            <p:ph type="title"/>
          </p:nvPr>
        </p:nvSpPr>
        <p:spPr>
          <a:xfrm>
            <a:off x="341850" y="689750"/>
            <a:ext cx="84603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111" name="Google Shape;111;p1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12" name="Shape 112"/>
        <p:cNvGrpSpPr/>
        <p:nvPr/>
      </p:nvGrpSpPr>
      <p:grpSpPr>
        <a:xfrm>
          <a:off x="0" y="0"/>
          <a:ext cx="0" cy="0"/>
          <a:chOff x="0" y="0"/>
          <a:chExt cx="0" cy="0"/>
        </a:xfrm>
      </p:grpSpPr>
      <p:grpSp>
        <p:nvGrpSpPr>
          <p:cNvPr id="113" name="Google Shape;113;p17"/>
          <p:cNvGrpSpPr/>
          <p:nvPr/>
        </p:nvGrpSpPr>
        <p:grpSpPr>
          <a:xfrm>
            <a:off x="84988" y="78599"/>
            <a:ext cx="8974027" cy="4925051"/>
            <a:chOff x="84988" y="78599"/>
            <a:chExt cx="8974027" cy="4925051"/>
          </a:xfrm>
        </p:grpSpPr>
        <p:pic>
          <p:nvPicPr>
            <p:cNvPr id="114" name="Google Shape;114;p1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5" name="Google Shape;115;p1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16" name="Google Shape;116;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7" name="Shape 117"/>
        <p:cNvGrpSpPr/>
        <p:nvPr/>
      </p:nvGrpSpPr>
      <p:grpSpPr>
        <a:xfrm>
          <a:off x="0" y="0"/>
          <a:ext cx="0" cy="0"/>
          <a:chOff x="0" y="0"/>
          <a:chExt cx="0" cy="0"/>
        </a:xfrm>
      </p:grpSpPr>
      <p:pic>
        <p:nvPicPr>
          <p:cNvPr id="118" name="Google Shape;118;p1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9" name="Google Shape;119;p18"/>
          <p:cNvSpPr txBox="1"/>
          <p:nvPr>
            <p:ph idx="1" type="subTitle"/>
          </p:nvPr>
        </p:nvSpPr>
        <p:spPr>
          <a:xfrm>
            <a:off x="3145041"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0" name="Google Shape;120;p18"/>
          <p:cNvSpPr txBox="1"/>
          <p:nvPr>
            <p:ph idx="2" type="subTitle"/>
          </p:nvPr>
        </p:nvSpPr>
        <p:spPr>
          <a:xfrm>
            <a:off x="341850"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 name="Google Shape;121;p18"/>
          <p:cNvSpPr txBox="1"/>
          <p:nvPr>
            <p:ph idx="3" type="subTitle"/>
          </p:nvPr>
        </p:nvSpPr>
        <p:spPr>
          <a:xfrm>
            <a:off x="5948257"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2" name="Google Shape;122;p18"/>
          <p:cNvSpPr txBox="1"/>
          <p:nvPr>
            <p:ph hasCustomPrompt="1" type="title"/>
          </p:nvPr>
        </p:nvSpPr>
        <p:spPr>
          <a:xfrm>
            <a:off x="3144432" y="1706300"/>
            <a:ext cx="6987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 name="Google Shape;123;p18"/>
          <p:cNvSpPr txBox="1"/>
          <p:nvPr>
            <p:ph hasCustomPrompt="1" idx="4" type="title"/>
          </p:nvPr>
        </p:nvSpPr>
        <p:spPr>
          <a:xfrm>
            <a:off x="341854" y="1706450"/>
            <a:ext cx="697500" cy="3105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4" name="Google Shape;124;p18"/>
          <p:cNvSpPr txBox="1"/>
          <p:nvPr>
            <p:ph hasCustomPrompt="1" idx="5" type="title"/>
          </p:nvPr>
        </p:nvSpPr>
        <p:spPr>
          <a:xfrm>
            <a:off x="5948295" y="1706300"/>
            <a:ext cx="6987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25" name="Google Shape;125;p18"/>
          <p:cNvSpPr txBox="1"/>
          <p:nvPr>
            <p:ph idx="6" type="title"/>
          </p:nvPr>
        </p:nvSpPr>
        <p:spPr>
          <a:xfrm>
            <a:off x="341850" y="654800"/>
            <a:ext cx="8249700" cy="60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pic>
        <p:nvPicPr>
          <p:cNvPr id="126" name="Google Shape;126;p1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27" name="Shape 127"/>
        <p:cNvGrpSpPr/>
        <p:nvPr/>
      </p:nvGrpSpPr>
      <p:grpSpPr>
        <a:xfrm>
          <a:off x="0" y="0"/>
          <a:ext cx="0" cy="0"/>
          <a:chOff x="0" y="0"/>
          <a:chExt cx="0" cy="0"/>
        </a:xfrm>
      </p:grpSpPr>
      <p:pic>
        <p:nvPicPr>
          <p:cNvPr id="128" name="Google Shape;128;p1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29" name="Google Shape;129;p19"/>
          <p:cNvSpPr txBox="1"/>
          <p:nvPr>
            <p:ph idx="1" type="subTitle"/>
          </p:nvPr>
        </p:nvSpPr>
        <p:spPr>
          <a:xfrm>
            <a:off x="330950"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0" name="Google Shape;130;p19"/>
          <p:cNvSpPr txBox="1"/>
          <p:nvPr>
            <p:ph idx="2" type="subTitle"/>
          </p:nvPr>
        </p:nvSpPr>
        <p:spPr>
          <a:xfrm>
            <a:off x="3225884"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1" name="Google Shape;131;p19"/>
          <p:cNvSpPr txBox="1"/>
          <p:nvPr>
            <p:ph idx="3" type="subTitle"/>
          </p:nvPr>
        </p:nvSpPr>
        <p:spPr>
          <a:xfrm>
            <a:off x="330950"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 name="Google Shape;132;p19"/>
          <p:cNvSpPr txBox="1"/>
          <p:nvPr>
            <p:ph idx="4" type="subTitle"/>
          </p:nvPr>
        </p:nvSpPr>
        <p:spPr>
          <a:xfrm>
            <a:off x="3225884"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3" name="Google Shape;133;p19"/>
          <p:cNvSpPr txBox="1"/>
          <p:nvPr>
            <p:ph idx="5" type="subTitle"/>
          </p:nvPr>
        </p:nvSpPr>
        <p:spPr>
          <a:xfrm>
            <a:off x="6120825"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4" name="Google Shape;134;p19"/>
          <p:cNvSpPr txBox="1"/>
          <p:nvPr>
            <p:ph idx="6" type="subTitle"/>
          </p:nvPr>
        </p:nvSpPr>
        <p:spPr>
          <a:xfrm>
            <a:off x="6120825"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19"/>
          <p:cNvSpPr txBox="1"/>
          <p:nvPr>
            <p:ph type="title"/>
          </p:nvPr>
        </p:nvSpPr>
        <p:spPr>
          <a:xfrm>
            <a:off x="341850" y="654800"/>
            <a:ext cx="77040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36" name="Google Shape;136;p19"/>
          <p:cNvSpPr txBox="1"/>
          <p:nvPr>
            <p:ph hasCustomPrompt="1" idx="7" type="title"/>
          </p:nvPr>
        </p:nvSpPr>
        <p:spPr>
          <a:xfrm>
            <a:off x="6132612" y="3071476"/>
            <a:ext cx="25746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7" name="Google Shape;137;p19"/>
          <p:cNvSpPr txBox="1"/>
          <p:nvPr>
            <p:ph hasCustomPrompt="1" idx="8" type="title"/>
          </p:nvPr>
        </p:nvSpPr>
        <p:spPr>
          <a:xfrm>
            <a:off x="6132612" y="1677125"/>
            <a:ext cx="25746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19"/>
          <p:cNvSpPr txBox="1"/>
          <p:nvPr>
            <p:ph hasCustomPrompt="1" idx="9" type="title"/>
          </p:nvPr>
        </p:nvSpPr>
        <p:spPr>
          <a:xfrm>
            <a:off x="3239948" y="1677425"/>
            <a:ext cx="2574600" cy="3105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9" name="Google Shape;139;p19"/>
          <p:cNvSpPr txBox="1"/>
          <p:nvPr>
            <p:ph hasCustomPrompt="1" idx="13" type="title"/>
          </p:nvPr>
        </p:nvSpPr>
        <p:spPr>
          <a:xfrm>
            <a:off x="3237714" y="3071476"/>
            <a:ext cx="25794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40" name="Google Shape;140;p19"/>
          <p:cNvSpPr txBox="1"/>
          <p:nvPr>
            <p:ph hasCustomPrompt="1" idx="14" type="title"/>
          </p:nvPr>
        </p:nvSpPr>
        <p:spPr>
          <a:xfrm>
            <a:off x="342736" y="1677125"/>
            <a:ext cx="25794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19"/>
          <p:cNvSpPr txBox="1"/>
          <p:nvPr>
            <p:ph hasCustomPrompt="1" idx="15" type="title"/>
          </p:nvPr>
        </p:nvSpPr>
        <p:spPr>
          <a:xfrm>
            <a:off x="342736" y="3071476"/>
            <a:ext cx="25794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142" name="Google Shape;142;p1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43" name="Shape 143"/>
        <p:cNvGrpSpPr/>
        <p:nvPr/>
      </p:nvGrpSpPr>
      <p:grpSpPr>
        <a:xfrm>
          <a:off x="0" y="0"/>
          <a:ext cx="0" cy="0"/>
          <a:chOff x="0" y="0"/>
          <a:chExt cx="0" cy="0"/>
        </a:xfrm>
      </p:grpSpPr>
      <p:grpSp>
        <p:nvGrpSpPr>
          <p:cNvPr id="144" name="Google Shape;144;p20"/>
          <p:cNvGrpSpPr/>
          <p:nvPr/>
        </p:nvGrpSpPr>
        <p:grpSpPr>
          <a:xfrm>
            <a:off x="84988" y="78599"/>
            <a:ext cx="8974027" cy="4925051"/>
            <a:chOff x="84988" y="78599"/>
            <a:chExt cx="8974027" cy="4925051"/>
          </a:xfrm>
        </p:grpSpPr>
        <p:pic>
          <p:nvPicPr>
            <p:cNvPr id="145" name="Google Shape;145;p2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46" name="Google Shape;146;p2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47" name="Google Shape;147;p20"/>
          <p:cNvSpPr txBox="1"/>
          <p:nvPr>
            <p:ph hasCustomPrompt="1" type="title"/>
          </p:nvPr>
        </p:nvSpPr>
        <p:spPr>
          <a:xfrm>
            <a:off x="792825" y="974863"/>
            <a:ext cx="38766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solidFill>
                  <a:schemeClr val="dk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8" name="Google Shape;148;p20"/>
          <p:cNvSpPr txBox="1"/>
          <p:nvPr>
            <p:ph idx="1" type="subTitle"/>
          </p:nvPr>
        </p:nvSpPr>
        <p:spPr>
          <a:xfrm>
            <a:off x="792825" y="1629188"/>
            <a:ext cx="3876600" cy="448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20"/>
          <p:cNvSpPr txBox="1"/>
          <p:nvPr>
            <p:ph hasCustomPrompt="1" idx="2" type="title"/>
          </p:nvPr>
        </p:nvSpPr>
        <p:spPr>
          <a:xfrm>
            <a:off x="4298725" y="2743425"/>
            <a:ext cx="39291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solidFill>
                  <a:schemeClr val="dk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50" name="Google Shape;150;p20"/>
          <p:cNvSpPr txBox="1"/>
          <p:nvPr>
            <p:ph idx="3" type="subTitle"/>
          </p:nvPr>
        </p:nvSpPr>
        <p:spPr>
          <a:xfrm>
            <a:off x="4298725" y="3498224"/>
            <a:ext cx="3929100" cy="448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1" name="Shape 151"/>
        <p:cNvGrpSpPr/>
        <p:nvPr/>
      </p:nvGrpSpPr>
      <p:grpSpPr>
        <a:xfrm>
          <a:off x="0" y="0"/>
          <a:ext cx="0" cy="0"/>
          <a:chOff x="0" y="0"/>
          <a:chExt cx="0" cy="0"/>
        </a:xfrm>
      </p:grpSpPr>
      <p:grpSp>
        <p:nvGrpSpPr>
          <p:cNvPr id="152" name="Google Shape;152;p21"/>
          <p:cNvGrpSpPr/>
          <p:nvPr/>
        </p:nvGrpSpPr>
        <p:grpSpPr>
          <a:xfrm>
            <a:off x="84988" y="78599"/>
            <a:ext cx="8974027" cy="4925051"/>
            <a:chOff x="84988" y="78599"/>
            <a:chExt cx="8974027" cy="4925051"/>
          </a:xfrm>
        </p:grpSpPr>
        <p:pic>
          <p:nvPicPr>
            <p:cNvPr id="153" name="Google Shape;153;p2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54" name="Google Shape;154;p2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55" name="Google Shape;155;p21"/>
          <p:cNvSpPr txBox="1"/>
          <p:nvPr>
            <p:ph type="title"/>
          </p:nvPr>
        </p:nvSpPr>
        <p:spPr>
          <a:xfrm>
            <a:off x="669775" y="1143000"/>
            <a:ext cx="3852300" cy="5640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48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p:txBody>
      </p:sp>
      <p:sp>
        <p:nvSpPr>
          <p:cNvPr id="156" name="Google Shape;156;p21"/>
          <p:cNvSpPr txBox="1"/>
          <p:nvPr>
            <p:ph idx="1" type="subTitle"/>
          </p:nvPr>
        </p:nvSpPr>
        <p:spPr>
          <a:xfrm>
            <a:off x="669775" y="1850750"/>
            <a:ext cx="3683400" cy="977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57" name="Google Shape;157;p21" title="Sin título-9.png"/>
          <p:cNvPicPr preferRelativeResize="0"/>
          <p:nvPr/>
        </p:nvPicPr>
        <p:blipFill rotWithShape="1">
          <a:blip r:embed="rId4">
            <a:alphaModFix/>
          </a:blip>
          <a:srcRect b="47107" l="19763" r="19447" t="14676"/>
          <a:stretch/>
        </p:blipFill>
        <p:spPr>
          <a:xfrm>
            <a:off x="4549250" y="1778300"/>
            <a:ext cx="3953100" cy="2485174"/>
          </a:xfrm>
          <a:prstGeom prst="rect">
            <a:avLst/>
          </a:prstGeom>
          <a:noFill/>
          <a:ln>
            <a:noFill/>
          </a:ln>
        </p:spPr>
      </p:pic>
      <p:sp>
        <p:nvSpPr>
          <p:cNvPr id="158" name="Google Shape;158;p21"/>
          <p:cNvSpPr txBox="1"/>
          <p:nvPr/>
        </p:nvSpPr>
        <p:spPr>
          <a:xfrm>
            <a:off x="4865450" y="2464525"/>
            <a:ext cx="33207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Roboto Mono"/>
                <a:ea typeface="Roboto Mono"/>
                <a:cs typeface="Roboto Mono"/>
                <a:sym typeface="Roboto Mono"/>
              </a:rPr>
              <a:t>CREDITS:</a:t>
            </a:r>
            <a:r>
              <a:rPr lang="en" sz="1000">
                <a:solidFill>
                  <a:schemeClr val="dk1"/>
                </a:solidFill>
                <a:latin typeface="Roboto Mono"/>
                <a:ea typeface="Roboto Mono"/>
                <a:cs typeface="Roboto Mono"/>
                <a:sym typeface="Roboto Mono"/>
              </a:rPr>
              <a:t> This presentation template was created by </a:t>
            </a:r>
            <a:r>
              <a:rPr b="1" lang="en" sz="1000">
                <a:solidFill>
                  <a:schemeClr val="dk1"/>
                </a:solidFill>
                <a:uFill>
                  <a:noFill/>
                </a:uFill>
                <a:latin typeface="Roboto Mono"/>
                <a:ea typeface="Roboto Mono"/>
                <a:cs typeface="Roboto Mono"/>
                <a:sym typeface="Roboto Mono"/>
                <a:hlinkClick r:id="rId5">
                  <a:extLst>
                    <a:ext uri="{A12FA001-AC4F-418D-AE19-62706E023703}">
                      <ahyp:hlinkClr val="tx"/>
                    </a:ext>
                  </a:extLst>
                </a:hlinkClick>
              </a:rPr>
              <a:t>Slidesgo</a:t>
            </a:r>
            <a:r>
              <a:rPr lang="en" sz="1000">
                <a:solidFill>
                  <a:schemeClr val="dk1"/>
                </a:solidFill>
                <a:latin typeface="Roboto Mono"/>
                <a:ea typeface="Roboto Mono"/>
                <a:cs typeface="Roboto Mono"/>
                <a:sym typeface="Roboto Mono"/>
              </a:rPr>
              <a:t>, and includes icons, infographics &amp; images by </a:t>
            </a:r>
            <a:r>
              <a:rPr b="1" lang="en" sz="1000">
                <a:solidFill>
                  <a:schemeClr val="dk1"/>
                </a:solidFill>
                <a:uFill>
                  <a:noFill/>
                </a:uFill>
                <a:latin typeface="Roboto Mono"/>
                <a:ea typeface="Roboto Mono"/>
                <a:cs typeface="Roboto Mono"/>
                <a:sym typeface="Roboto Mono"/>
                <a:hlinkClick r:id="rId6">
                  <a:extLst>
                    <a:ext uri="{A12FA001-AC4F-418D-AE19-62706E023703}">
                      <ahyp:hlinkClr val="tx"/>
                    </a:ext>
                  </a:extLst>
                </a:hlinkClick>
              </a:rPr>
              <a:t>Freepik</a:t>
            </a:r>
            <a:r>
              <a:rPr lang="en" sz="1000">
                <a:solidFill>
                  <a:schemeClr val="dk1"/>
                </a:solidFill>
                <a:latin typeface="Roboto Mono"/>
                <a:ea typeface="Roboto Mono"/>
                <a:cs typeface="Roboto Mono"/>
                <a:sym typeface="Roboto Mono"/>
              </a:rPr>
              <a:t> </a:t>
            </a:r>
            <a:endParaRPr b="1" sz="1000" u="sng">
              <a:solidFill>
                <a:schemeClr val="dk1"/>
              </a:solidFill>
              <a:latin typeface="Roboto Mono"/>
              <a:ea typeface="Roboto Mono"/>
              <a:cs typeface="Roboto Mono"/>
              <a:sym typeface="Roboto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59" name="Shape 159"/>
        <p:cNvGrpSpPr/>
        <p:nvPr/>
      </p:nvGrpSpPr>
      <p:grpSpPr>
        <a:xfrm>
          <a:off x="0" y="0"/>
          <a:ext cx="0" cy="0"/>
          <a:chOff x="0" y="0"/>
          <a:chExt cx="0" cy="0"/>
        </a:xfrm>
      </p:grpSpPr>
      <p:grpSp>
        <p:nvGrpSpPr>
          <p:cNvPr id="160" name="Google Shape;160;p22"/>
          <p:cNvGrpSpPr/>
          <p:nvPr/>
        </p:nvGrpSpPr>
        <p:grpSpPr>
          <a:xfrm>
            <a:off x="84988" y="78599"/>
            <a:ext cx="8974027" cy="4925051"/>
            <a:chOff x="84988" y="78599"/>
            <a:chExt cx="8974027" cy="4925051"/>
          </a:xfrm>
        </p:grpSpPr>
        <p:pic>
          <p:nvPicPr>
            <p:cNvPr id="161" name="Google Shape;161;p2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62" name="Google Shape;162;p2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63" name="Shape 16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1pPr>
            <a:lvl2pPr lvl="1"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2pPr>
            <a:lvl3pPr lvl="2"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3pPr>
            <a:lvl4pPr lvl="3"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4pPr>
            <a:lvl5pPr lvl="4"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5pPr>
            <a:lvl6pPr lvl="5"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6pPr>
            <a:lvl7pPr lvl="6"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7pPr>
            <a:lvl8pPr lvl="7"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8pPr>
            <a:lvl9pPr lvl="8"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1pPr>
            <a:lvl2pPr indent="-317500" lvl="1" marL="914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2pPr>
            <a:lvl3pPr indent="-317500" lvl="2" marL="1371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3pPr>
            <a:lvl4pPr indent="-317500" lvl="3" marL="1828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4pPr>
            <a:lvl5pPr indent="-317500" lvl="4" marL="22860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5pPr>
            <a:lvl6pPr indent="-317500" lvl="5" marL="27432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6pPr>
            <a:lvl7pPr indent="-317500" lvl="6" marL="3200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7pPr>
            <a:lvl8pPr indent="-317500" lvl="7" marL="3657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8pPr>
            <a:lvl9pPr indent="-317500" lvl="8" marL="4114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comments" Target="../comments/commen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comments" Target="../comments/comment4.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comments" Target="../comments/comment5.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comments" Target="../comments/comment6.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comments" Target="../comments/commen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comments" Target="../comments/commen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comments" Target="../comments/comment9.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comments" Target="../comments/comment10.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comments" Target="../comments/comment1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comments" Target="../comments/comment1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comments" Target="../comments/commen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comments" Target="../comments/comment14.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comments" Target="../comments/comment15.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comments" Target="../comments/comment16.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comments" Target="../comments/commen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jp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comments" Target="../comments/commen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comments" Target="../comments/comment19.xml"/><Relationship Id="rId4" Type="http://schemas.openxmlformats.org/officeDocument/2006/relationships/image" Target="../media/image31.png"/><Relationship Id="rId5"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ctrTitle"/>
          </p:nvPr>
        </p:nvSpPr>
        <p:spPr>
          <a:xfrm>
            <a:off x="544850" y="906150"/>
            <a:ext cx="5060700" cy="246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T3- Data </a:t>
            </a:r>
            <a:endParaRPr sz="6000"/>
          </a:p>
          <a:p>
            <a:pPr indent="0" lvl="0" marL="0" rtl="0" algn="l">
              <a:spcBef>
                <a:spcPts val="0"/>
              </a:spcBef>
              <a:spcAft>
                <a:spcPts val="0"/>
              </a:spcAft>
              <a:buNone/>
            </a:pPr>
            <a:r>
              <a:rPr lang="en" sz="6000"/>
              <a:t>Story telling</a:t>
            </a:r>
            <a:endParaRPr sz="6000"/>
          </a:p>
          <a:p>
            <a:pPr indent="0" lvl="0" marL="0" rtl="0" algn="l">
              <a:spcBef>
                <a:spcPts val="0"/>
              </a:spcBef>
              <a:spcAft>
                <a:spcPts val="0"/>
              </a:spcAft>
              <a:buNone/>
            </a:pPr>
            <a:r>
              <a:rPr lang="en" sz="6000"/>
              <a:t>Project</a:t>
            </a:r>
            <a:endParaRPr sz="6000"/>
          </a:p>
        </p:txBody>
      </p:sp>
      <p:sp>
        <p:nvSpPr>
          <p:cNvPr id="169" name="Google Shape;169;p24"/>
          <p:cNvSpPr txBox="1"/>
          <p:nvPr>
            <p:ph idx="1" type="subTitle"/>
          </p:nvPr>
        </p:nvSpPr>
        <p:spPr>
          <a:xfrm>
            <a:off x="257225" y="145975"/>
            <a:ext cx="4351500" cy="4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T3_Topic{ Video Games }</a:t>
            </a:r>
            <a:endParaRPr b="1" sz="1700"/>
          </a:p>
          <a:p>
            <a:pPr indent="0" lvl="0" marL="0" rtl="0" algn="l">
              <a:spcBef>
                <a:spcPts val="0"/>
              </a:spcBef>
              <a:spcAft>
                <a:spcPts val="0"/>
              </a:spcAft>
              <a:buNone/>
            </a:pPr>
            <a:r>
              <a:t/>
            </a:r>
            <a:endParaRPr sz="1700"/>
          </a:p>
        </p:txBody>
      </p:sp>
      <p:sp>
        <p:nvSpPr>
          <p:cNvPr id="170" name="Google Shape;170;p24"/>
          <p:cNvSpPr txBox="1"/>
          <p:nvPr/>
        </p:nvSpPr>
        <p:spPr>
          <a:xfrm>
            <a:off x="442775" y="3566375"/>
            <a:ext cx="4591500" cy="72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chemeClr val="dk1"/>
                </a:solidFill>
                <a:latin typeface="Roboto Mono"/>
                <a:ea typeface="Roboto Mono"/>
                <a:cs typeface="Roboto Mono"/>
                <a:sym typeface="Roboto Mono"/>
              </a:rPr>
              <a:t>By: Nareh Avagyan and  Fatimah Niyas </a:t>
            </a:r>
            <a:endParaRPr b="1" sz="2400">
              <a:solidFill>
                <a:schemeClr val="dk1"/>
              </a:solidFill>
              <a:latin typeface="Roboto Mono"/>
              <a:ea typeface="Roboto Mono"/>
              <a:cs typeface="Roboto Mono"/>
              <a:sym typeface="Roboto Mono"/>
            </a:endParaRPr>
          </a:p>
        </p:txBody>
      </p:sp>
      <p:pic>
        <p:nvPicPr>
          <p:cNvPr id="171" name="Google Shape;171;p24"/>
          <p:cNvPicPr preferRelativeResize="0"/>
          <p:nvPr/>
        </p:nvPicPr>
        <p:blipFill>
          <a:blip r:embed="rId3">
            <a:alphaModFix/>
          </a:blip>
          <a:stretch>
            <a:fillRect/>
          </a:stretch>
        </p:blipFill>
        <p:spPr>
          <a:xfrm>
            <a:off x="5812325" y="1323575"/>
            <a:ext cx="2854326" cy="28543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idx="1" type="subTitle"/>
          </p:nvPr>
        </p:nvSpPr>
        <p:spPr>
          <a:xfrm>
            <a:off x="3302700" y="3913800"/>
            <a:ext cx="5736300" cy="6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(Data Storyboarding &amp;&amp; Micro Data Stories);</a:t>
            </a:r>
            <a:endParaRPr sz="1700"/>
          </a:p>
        </p:txBody>
      </p:sp>
      <p:sp>
        <p:nvSpPr>
          <p:cNvPr id="177" name="Google Shape;177;p25"/>
          <p:cNvSpPr txBox="1"/>
          <p:nvPr>
            <p:ph type="title"/>
          </p:nvPr>
        </p:nvSpPr>
        <p:spPr>
          <a:xfrm>
            <a:off x="1884325" y="1659175"/>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#5</a:t>
            </a:r>
            <a:endParaRPr/>
          </a:p>
        </p:txBody>
      </p:sp>
      <p:sp>
        <p:nvSpPr>
          <p:cNvPr id="178" name="Google Shape;178;p25"/>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179" name="Google Shape;179;p25"/>
          <p:cNvGrpSpPr/>
          <p:nvPr/>
        </p:nvGrpSpPr>
        <p:grpSpPr>
          <a:xfrm>
            <a:off x="6321457" y="870564"/>
            <a:ext cx="2172468" cy="273704"/>
            <a:chOff x="6386650" y="947025"/>
            <a:chExt cx="2107351" cy="265500"/>
          </a:xfrm>
        </p:grpSpPr>
        <p:pic>
          <p:nvPicPr>
            <p:cNvPr id="180" name="Google Shape;180;p25"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pic>
          <p:nvPicPr>
            <p:cNvPr id="181" name="Google Shape;181;p25"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grpSp>
      <p:pic>
        <p:nvPicPr>
          <p:cNvPr id="182" name="Google Shape;182;p25"/>
          <p:cNvPicPr preferRelativeResize="0"/>
          <p:nvPr/>
        </p:nvPicPr>
        <p:blipFill>
          <a:blip r:embed="rId4">
            <a:alphaModFix/>
          </a:blip>
          <a:stretch>
            <a:fillRect/>
          </a:stretch>
        </p:blipFill>
        <p:spPr>
          <a:xfrm>
            <a:off x="6321450" y="1144275"/>
            <a:ext cx="2172475" cy="2172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187550" y="-87925"/>
            <a:ext cx="86238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Data Story - The Backlog Problem</a:t>
            </a:r>
            <a:endParaRPr sz="3800"/>
          </a:p>
        </p:txBody>
      </p:sp>
      <p:sp>
        <p:nvSpPr>
          <p:cNvPr id="188" name="Google Shape;188;p26"/>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189" name="Google Shape;189;p26"/>
          <p:cNvPicPr preferRelativeResize="0"/>
          <p:nvPr/>
        </p:nvPicPr>
        <p:blipFill>
          <a:blip r:embed="rId3">
            <a:alphaModFix/>
          </a:blip>
          <a:stretch>
            <a:fillRect/>
          </a:stretch>
        </p:blipFill>
        <p:spPr>
          <a:xfrm>
            <a:off x="1679700" y="735875"/>
            <a:ext cx="5527274" cy="401730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Data Story- </a:t>
            </a:r>
            <a:r>
              <a:rPr lang="en" sz="3800"/>
              <a:t>Why I grouped these</a:t>
            </a:r>
            <a:endParaRPr sz="3800"/>
          </a:p>
        </p:txBody>
      </p:sp>
      <p:sp>
        <p:nvSpPr>
          <p:cNvPr id="195" name="Google Shape;195;p27"/>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sp>
        <p:nvSpPr>
          <p:cNvPr id="196" name="Google Shape;196;p27"/>
          <p:cNvSpPr txBox="1"/>
          <p:nvPr/>
        </p:nvSpPr>
        <p:spPr>
          <a:xfrm>
            <a:off x="322425" y="804150"/>
            <a:ext cx="8375400" cy="40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Every gamer knows the feeling. You buy a game in a Steam sale, swear you'll play it next weekend, and three years later it's still sitting untouched while you've put another 200 hours into Minecraft. This board explores the data behind that universal experience. The gap between the games we buy and the games we actually finish.</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So which games win that scarce attention? The top 10 most-played list is won over by accessible, replayable, social, or open-ended titles. Minecraft, GTA V, Breath of the Wild, Doom, Portal. These are games people return to again and again, crowding out everything else in the library.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This is where the backlog problem emerges, plotting backlogs against currently-playing counts shows a striking pattern that when games </a:t>
            </a:r>
            <a:r>
              <a:rPr lang="en" sz="1500">
                <a:solidFill>
                  <a:schemeClr val="dk1"/>
                </a:solidFill>
                <a:latin typeface="Roboto Mono"/>
                <a:ea typeface="Roboto Mono"/>
                <a:cs typeface="Roboto Mono"/>
                <a:sym typeface="Roboto Mono"/>
              </a:rPr>
              <a:t>accumulate</a:t>
            </a:r>
            <a:r>
              <a:rPr lang="en" sz="1500">
                <a:solidFill>
                  <a:schemeClr val="dk1"/>
                </a:solidFill>
                <a:latin typeface="Roboto Mono"/>
                <a:ea typeface="Roboto Mono"/>
                <a:cs typeface="Roboto Mono"/>
                <a:sym typeface="Roboto Mono"/>
              </a:rPr>
              <a:t> in players “to play” folder” the likelihood of people </a:t>
            </a:r>
            <a:r>
              <a:rPr lang="en" sz="1500">
                <a:solidFill>
                  <a:schemeClr val="dk1"/>
                </a:solidFill>
                <a:latin typeface="Roboto Mono"/>
                <a:ea typeface="Roboto Mono"/>
                <a:cs typeface="Roboto Mono"/>
                <a:sym typeface="Roboto Mono"/>
              </a:rPr>
              <a:t>actually</a:t>
            </a:r>
            <a:r>
              <a:rPr lang="en" sz="1500">
                <a:solidFill>
                  <a:schemeClr val="dk1"/>
                </a:solidFill>
                <a:latin typeface="Roboto Mono"/>
                <a:ea typeface="Roboto Mono"/>
                <a:cs typeface="Roboto Mono"/>
                <a:sym typeface="Roboto Mono"/>
              </a:rPr>
              <a:t> playing them grows </a:t>
            </a:r>
            <a:r>
              <a:rPr lang="en" sz="1500">
                <a:solidFill>
                  <a:schemeClr val="dk1"/>
                </a:solidFill>
                <a:latin typeface="Roboto Mono"/>
                <a:ea typeface="Roboto Mono"/>
                <a:cs typeface="Roboto Mono"/>
                <a:sym typeface="Roboto Mono"/>
              </a:rPr>
              <a:t>a lot</a:t>
            </a:r>
            <a:r>
              <a:rPr lang="en" sz="1500">
                <a:solidFill>
                  <a:schemeClr val="dk1"/>
                </a:solidFill>
                <a:latin typeface="Roboto Mono"/>
                <a:ea typeface="Roboto Mono"/>
                <a:cs typeface="Roboto Mono"/>
                <a:sym typeface="Roboto Mono"/>
              </a:rPr>
              <a:t> slower.</a:t>
            </a:r>
            <a:endParaRPr sz="1500">
              <a:solidFill>
                <a:schemeClr val="dk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Data Story - Success in Games</a:t>
            </a:r>
            <a:endParaRPr sz="3800"/>
          </a:p>
        </p:txBody>
      </p:sp>
      <p:sp>
        <p:nvSpPr>
          <p:cNvPr id="202" name="Google Shape;202;p28"/>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203" name="Google Shape;203;p28"/>
          <p:cNvPicPr preferRelativeResize="0"/>
          <p:nvPr/>
        </p:nvPicPr>
        <p:blipFill>
          <a:blip r:embed="rId3">
            <a:alphaModFix/>
          </a:blip>
          <a:stretch>
            <a:fillRect/>
          </a:stretch>
        </p:blipFill>
        <p:spPr>
          <a:xfrm>
            <a:off x="2591200" y="668275"/>
            <a:ext cx="4151650" cy="4170424"/>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Data Story - Success in Games</a:t>
            </a:r>
            <a:endParaRPr sz="3800"/>
          </a:p>
        </p:txBody>
      </p:sp>
      <p:sp>
        <p:nvSpPr>
          <p:cNvPr id="209" name="Google Shape;209;p29"/>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sp>
        <p:nvSpPr>
          <p:cNvPr id="210" name="Google Shape;210;p29"/>
          <p:cNvSpPr txBox="1"/>
          <p:nvPr/>
        </p:nvSpPr>
        <p:spPr>
          <a:xfrm>
            <a:off x="556850" y="1019500"/>
            <a:ext cx="78666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Gaming is something I care about so when I got to pick what to analyze I wanted to ask questions I actually wondered about myself. Like does it matter if a game is made by multiple studios? Does having more reviews mean people actually liked it or just that more </a:t>
            </a:r>
            <a:r>
              <a:rPr lang="en">
                <a:solidFill>
                  <a:schemeClr val="dk1"/>
                </a:solidFill>
                <a:latin typeface="Roboto Mono"/>
                <a:ea typeface="Roboto Mono"/>
                <a:cs typeface="Roboto Mono"/>
                <a:sym typeface="Roboto Mono"/>
              </a:rPr>
              <a:t>people</a:t>
            </a:r>
            <a:r>
              <a:rPr lang="en">
                <a:solidFill>
                  <a:schemeClr val="dk1"/>
                </a:solidFill>
                <a:latin typeface="Roboto Mono"/>
                <a:ea typeface="Roboto Mono"/>
                <a:cs typeface="Roboto Mono"/>
                <a:sym typeface="Roboto Mono"/>
              </a:rPr>
              <a:t> played it? These are things I think about when I am deciding what to play </a:t>
            </a:r>
            <a:r>
              <a:rPr lang="en">
                <a:solidFill>
                  <a:schemeClr val="dk1"/>
                </a:solidFill>
                <a:latin typeface="Roboto Mono"/>
                <a:ea typeface="Roboto Mono"/>
                <a:cs typeface="Roboto Mono"/>
                <a:sym typeface="Roboto Mono"/>
              </a:rPr>
              <a:t>next/</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I grouped these graphs because they all circle back to the same thing I wanted to figure out: what actually separates a game people remember from one they forget. The top 10 most played was my starting point because I recognized some of them personally like Minecraft and GTA, but others surprised me which made me even more curious what they all had in common. Then I worked backwards asking do people wishlist them before they blow up, do reviews reflect quality, does the team matter. It is not a perfect answer but the data gives you enough to start making some sense of it. </a:t>
            </a:r>
            <a:endParaRPr>
              <a:solidFill>
                <a:schemeClr val="dk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idx="1" type="subTitle"/>
          </p:nvPr>
        </p:nvSpPr>
        <p:spPr>
          <a:xfrm>
            <a:off x="4497550" y="3993450"/>
            <a:ext cx="3459000" cy="4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a:t>
            </a:r>
            <a:r>
              <a:rPr lang="en" sz="1700"/>
              <a:t>Weekly Mini Updates);</a:t>
            </a:r>
            <a:endParaRPr sz="1700"/>
          </a:p>
        </p:txBody>
      </p:sp>
      <p:sp>
        <p:nvSpPr>
          <p:cNvPr id="216" name="Google Shape;216;p30"/>
          <p:cNvSpPr txBox="1"/>
          <p:nvPr>
            <p:ph type="title"/>
          </p:nvPr>
        </p:nvSpPr>
        <p:spPr>
          <a:xfrm>
            <a:off x="1860500" y="1659175"/>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#4</a:t>
            </a:r>
            <a:endParaRPr/>
          </a:p>
        </p:txBody>
      </p:sp>
      <p:sp>
        <p:nvSpPr>
          <p:cNvPr id="217" name="Google Shape;217;p30"/>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218" name="Google Shape;218;p30"/>
          <p:cNvPicPr preferRelativeResize="0"/>
          <p:nvPr/>
        </p:nvPicPr>
        <p:blipFill>
          <a:blip r:embed="rId3">
            <a:alphaModFix/>
          </a:blip>
          <a:stretch>
            <a:fillRect/>
          </a:stretch>
        </p:blipFill>
        <p:spPr>
          <a:xfrm>
            <a:off x="6321450" y="1053250"/>
            <a:ext cx="2172475" cy="2172475"/>
          </a:xfrm>
          <a:prstGeom prst="rect">
            <a:avLst/>
          </a:prstGeom>
          <a:noFill/>
          <a:ln>
            <a:noFill/>
          </a:ln>
        </p:spPr>
      </p:pic>
      <p:grpSp>
        <p:nvGrpSpPr>
          <p:cNvPr id="219" name="Google Shape;219;p30"/>
          <p:cNvGrpSpPr/>
          <p:nvPr/>
        </p:nvGrpSpPr>
        <p:grpSpPr>
          <a:xfrm>
            <a:off x="6321457" y="870564"/>
            <a:ext cx="2172468" cy="273704"/>
            <a:chOff x="6386650" y="947025"/>
            <a:chExt cx="2107351" cy="265500"/>
          </a:xfrm>
        </p:grpSpPr>
        <p:pic>
          <p:nvPicPr>
            <p:cNvPr id="220" name="Google Shape;220;p30"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pic>
          <p:nvPicPr>
            <p:cNvPr id="221" name="Google Shape;221;p30"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 </a:t>
            </a:r>
            <a:r>
              <a:rPr b="1" lang="en" sz="2300"/>
              <a:t>Guilt Index (Backlogs / Plays)</a:t>
            </a:r>
            <a:endParaRPr b="1" sz="2300"/>
          </a:p>
          <a:p>
            <a:pPr indent="0" lvl="0" marL="0" rtl="0" algn="l">
              <a:spcBef>
                <a:spcPts val="0"/>
              </a:spcBef>
              <a:spcAft>
                <a:spcPts val="0"/>
              </a:spcAft>
              <a:buNone/>
            </a:pPr>
            <a:r>
              <a:t/>
            </a:r>
            <a:endParaRPr sz="3800"/>
          </a:p>
        </p:txBody>
      </p:sp>
      <p:sp>
        <p:nvSpPr>
          <p:cNvPr id="227" name="Google Shape;227;p31"/>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228" name="Google Shape;228;p31"/>
          <p:cNvPicPr preferRelativeResize="0"/>
          <p:nvPr/>
        </p:nvPicPr>
        <p:blipFill>
          <a:blip r:embed="rId4">
            <a:alphaModFix/>
          </a:blip>
          <a:stretch>
            <a:fillRect/>
          </a:stretch>
        </p:blipFill>
        <p:spPr>
          <a:xfrm>
            <a:off x="2051800" y="769225"/>
            <a:ext cx="4430501" cy="2808400"/>
          </a:xfrm>
          <a:prstGeom prst="rect">
            <a:avLst/>
          </a:prstGeom>
          <a:noFill/>
          <a:ln cap="flat" cmpd="sng" w="28575">
            <a:solidFill>
              <a:schemeClr val="dk2"/>
            </a:solidFill>
            <a:prstDash val="solid"/>
            <a:round/>
            <a:headEnd len="sm" w="sm" type="none"/>
            <a:tailEnd len="sm" w="sm" type="none"/>
          </a:ln>
        </p:spPr>
      </p:pic>
      <p:sp>
        <p:nvSpPr>
          <p:cNvPr id="229" name="Google Shape;229;p31"/>
          <p:cNvSpPr txBox="1"/>
          <p:nvPr/>
        </p:nvSpPr>
        <p:spPr>
          <a:xfrm>
            <a:off x="115050" y="3404200"/>
            <a:ext cx="9029100" cy="219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The </a:t>
            </a:r>
            <a:r>
              <a:rPr lang="en">
                <a:solidFill>
                  <a:schemeClr val="dk1"/>
                </a:solidFill>
                <a:latin typeface="Roboto Mono"/>
                <a:ea typeface="Roboto Mono"/>
                <a:cs typeface="Roboto Mono"/>
                <a:sym typeface="Roboto Mono"/>
              </a:rPr>
              <a:t>guilt index</a:t>
            </a:r>
            <a:r>
              <a:rPr lang="en">
                <a:solidFill>
                  <a:schemeClr val="dk1"/>
                </a:solidFill>
                <a:latin typeface="Roboto Mono"/>
                <a:ea typeface="Roboto Mono"/>
                <a:cs typeface="Roboto Mono"/>
                <a:sym typeface="Roboto Mono"/>
              </a:rPr>
              <a:t> measures how many people add a game to their backlog compared to how many people actually played it. The top guilty games are Moon: Remix RPG Adventure, Vagrant Story, Live A Live, and Pathologic 2. These all have backlogs ranging from roughly 1.4x to nearly 2x their play counts, meaning more </a:t>
            </a:r>
            <a:r>
              <a:rPr lang="en">
                <a:solidFill>
                  <a:schemeClr val="dk1"/>
                </a:solidFill>
                <a:latin typeface="Roboto Mono"/>
                <a:ea typeface="Roboto Mono"/>
                <a:cs typeface="Roboto Mono"/>
                <a:sym typeface="Roboto Mono"/>
              </a:rPr>
              <a:t>people are</a:t>
            </a:r>
            <a:r>
              <a:rPr lang="en">
                <a:solidFill>
                  <a:schemeClr val="dk1"/>
                </a:solidFill>
                <a:latin typeface="Roboto Mono"/>
                <a:ea typeface="Roboto Mono"/>
                <a:cs typeface="Roboto Mono"/>
                <a:sym typeface="Roboto Mono"/>
              </a:rPr>
              <a:t> sitting on </a:t>
            </a:r>
            <a:r>
              <a:rPr lang="en">
                <a:solidFill>
                  <a:schemeClr val="dk1"/>
                </a:solidFill>
                <a:latin typeface="Roboto Mono"/>
                <a:ea typeface="Roboto Mono"/>
                <a:cs typeface="Roboto Mono"/>
                <a:sym typeface="Roboto Mono"/>
              </a:rPr>
              <a:t>them than</a:t>
            </a:r>
            <a:r>
              <a:rPr lang="en">
                <a:solidFill>
                  <a:schemeClr val="dk1"/>
                </a:solidFill>
                <a:latin typeface="Roboto Mono"/>
                <a:ea typeface="Roboto Mono"/>
                <a:cs typeface="Roboto Mono"/>
                <a:sym typeface="Roboto Mono"/>
              </a:rPr>
              <a:t> actively playing them.</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
        <p:nvSpPr>
          <p:cNvPr id="230" name="Google Shape;230;p31"/>
          <p:cNvSpPr txBox="1"/>
          <p:nvPr/>
        </p:nvSpPr>
        <p:spPr>
          <a:xfrm>
            <a:off x="5450400" y="3132400"/>
            <a:ext cx="39039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           Tell on next slide &gt;&gt;</a:t>
            </a:r>
            <a:endParaRPr>
              <a:solidFill>
                <a:schemeClr val="dk1"/>
              </a:solidFill>
              <a:latin typeface="Roboto Mono"/>
              <a:ea typeface="Roboto Mono"/>
              <a:cs typeface="Roboto Mono"/>
              <a:sym typeface="Roboto Mono"/>
            </a:endParaRPr>
          </a:p>
        </p:txBody>
      </p:sp>
      <p:sp>
        <p:nvSpPr>
          <p:cNvPr id="231" name="Google Shape;231;p31"/>
          <p:cNvSpPr txBox="1"/>
          <p:nvPr/>
        </p:nvSpPr>
        <p:spPr>
          <a:xfrm>
            <a:off x="2830350" y="689850"/>
            <a:ext cx="39039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Roboto Mono"/>
                <a:ea typeface="Roboto Mono"/>
                <a:cs typeface="Roboto Mono"/>
                <a:sym typeface="Roboto Mono"/>
              </a:rPr>
              <a:t> Guilt Index (backlogs / plays)</a:t>
            </a:r>
            <a:endParaRPr sz="1100">
              <a:solidFill>
                <a:schemeClr val="dk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a:t>
            </a:r>
            <a:r>
              <a:rPr lang="en" sz="3800"/>
              <a:t> Mini Update: </a:t>
            </a:r>
            <a:r>
              <a:rPr b="1" lang="en" sz="2900"/>
              <a:t>Guilt index cont.</a:t>
            </a:r>
            <a:endParaRPr b="1" sz="2900"/>
          </a:p>
        </p:txBody>
      </p:sp>
      <p:sp>
        <p:nvSpPr>
          <p:cNvPr id="237" name="Google Shape;237;p32"/>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sp>
        <p:nvSpPr>
          <p:cNvPr id="238" name="Google Shape;238;p32"/>
          <p:cNvSpPr txBox="1"/>
          <p:nvPr/>
        </p:nvSpPr>
        <p:spPr>
          <a:xfrm>
            <a:off x="183900" y="701100"/>
            <a:ext cx="8776200" cy="39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Roboto Mono"/>
                <a:ea typeface="Roboto Mono"/>
                <a:cs typeface="Roboto Mono"/>
                <a:sym typeface="Roboto Mono"/>
              </a:rPr>
              <a:t>Tell: </a:t>
            </a:r>
            <a:endParaRPr sz="15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500">
                <a:solidFill>
                  <a:schemeClr val="dk1"/>
                </a:solidFill>
                <a:latin typeface="Roboto Mono"/>
                <a:ea typeface="Roboto Mono"/>
                <a:cs typeface="Roboto Mono"/>
                <a:sym typeface="Roboto Mono"/>
              </a:rPr>
              <a:t>This finding adds a new layer to the overhyped vs hidden gems question. Originally,we framed hidden gems as games with few plays but high ratings, as basically games flying under the radar, The guilt index actually poses a 3rd category we didn’t consider yet: games that aren’t unknown at all but are sitting in thousands of backlogs unplayed. Looking at the names on this list, they’re nearly all critically respected RPGs and cult classics with reputations for being long, complex or emotionally heavy. Players know that </a:t>
            </a:r>
            <a:r>
              <a:rPr lang="en" sz="1500">
                <a:solidFill>
                  <a:schemeClr val="dk1"/>
                </a:solidFill>
                <a:latin typeface="Roboto Mono"/>
                <a:ea typeface="Roboto Mono"/>
                <a:cs typeface="Roboto Mono"/>
                <a:sym typeface="Roboto Mono"/>
              </a:rPr>
              <a:t>these games</a:t>
            </a:r>
            <a:r>
              <a:rPr lang="en" sz="1500">
                <a:solidFill>
                  <a:schemeClr val="dk1"/>
                </a:solidFill>
                <a:latin typeface="Roboto Mono"/>
                <a:ea typeface="Roboto Mono"/>
                <a:cs typeface="Roboto Mono"/>
                <a:sym typeface="Roboto Mono"/>
              </a:rPr>
              <a:t> are good. They want to play them, but the time and mental commitment required keeps them forgotten in the backlog </a:t>
            </a:r>
            <a:r>
              <a:rPr lang="en" sz="1500">
                <a:solidFill>
                  <a:schemeClr val="dk1"/>
                </a:solidFill>
                <a:latin typeface="Roboto Mono"/>
                <a:ea typeface="Roboto Mono"/>
                <a:cs typeface="Roboto Mono"/>
                <a:sym typeface="Roboto Mono"/>
              </a:rPr>
              <a:t>indefinitely</a:t>
            </a:r>
            <a:r>
              <a:rPr lang="en" sz="1500">
                <a:solidFill>
                  <a:schemeClr val="dk1"/>
                </a:solidFill>
                <a:latin typeface="Roboto Mono"/>
                <a:ea typeface="Roboto Mono"/>
                <a:cs typeface="Roboto Mono"/>
                <a:sym typeface="Roboto Mono"/>
              </a:rPr>
              <a:t>. For indie studios, this reframes what a “hidden gem” can mean. The challenge isn’t always getting players to discover the game, sometimes it’s getting them to actually start it. A game that is frequently backlogged is </a:t>
            </a:r>
            <a:r>
              <a:rPr lang="en" sz="1500">
                <a:solidFill>
                  <a:schemeClr val="dk1"/>
                </a:solidFill>
                <a:latin typeface="Roboto Mono"/>
                <a:ea typeface="Roboto Mono"/>
                <a:cs typeface="Roboto Mono"/>
                <a:sym typeface="Roboto Mono"/>
              </a:rPr>
              <a:t>succeeding in </a:t>
            </a:r>
            <a:r>
              <a:rPr lang="en" sz="1500">
                <a:solidFill>
                  <a:schemeClr val="dk1"/>
                </a:solidFill>
                <a:latin typeface="Roboto Mono"/>
                <a:ea typeface="Roboto Mono"/>
                <a:cs typeface="Roboto Mono"/>
                <a:sym typeface="Roboto Mono"/>
              </a:rPr>
              <a:t>attracting interest but losing the battle for attention against shorter, easier titles like Wordle or Agar.io , designing with accessibility and a strong early hook in mind could be the difference between a game players love and one they only intend to love.</a:t>
            </a:r>
            <a:endParaRPr sz="1500">
              <a:solidFill>
                <a:schemeClr val="dk1"/>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type="title"/>
          </p:nvPr>
        </p:nvSpPr>
        <p:spPr>
          <a:xfrm>
            <a:off x="182650" y="-87925"/>
            <a:ext cx="86571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 </a:t>
            </a:r>
            <a:r>
              <a:rPr b="1" lang="en" sz="3200"/>
              <a:t>New posed questions</a:t>
            </a:r>
            <a:endParaRPr b="1" sz="3200"/>
          </a:p>
        </p:txBody>
      </p:sp>
      <p:sp>
        <p:nvSpPr>
          <p:cNvPr id="244" name="Google Shape;244;p33"/>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3</a:t>
            </a:r>
            <a:endParaRPr sz="3800"/>
          </a:p>
        </p:txBody>
      </p:sp>
      <p:sp>
        <p:nvSpPr>
          <p:cNvPr id="245" name="Google Shape;245;p33"/>
          <p:cNvSpPr txBox="1"/>
          <p:nvPr/>
        </p:nvSpPr>
        <p:spPr>
          <a:xfrm>
            <a:off x="174300" y="893025"/>
            <a:ext cx="8795400" cy="3689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Roboto Mono"/>
              <a:buChar char="-"/>
            </a:pPr>
            <a:r>
              <a:rPr lang="en" sz="1800">
                <a:solidFill>
                  <a:schemeClr val="dk1"/>
                </a:solidFill>
                <a:latin typeface="Roboto Mono"/>
                <a:ea typeface="Roboto Mono"/>
                <a:cs typeface="Roboto Mono"/>
                <a:sym typeface="Roboto Mono"/>
              </a:rPr>
              <a:t>Do longer games ( more story content, more time to complete) end up in more backlogs than shorter ones?</a:t>
            </a:r>
            <a:endParaRPr sz="1800">
              <a:solidFill>
                <a:schemeClr val="dk1"/>
              </a:solidFill>
              <a:latin typeface="Roboto Mono"/>
              <a:ea typeface="Roboto Mono"/>
              <a:cs typeface="Roboto Mono"/>
              <a:sym typeface="Roboto Mono"/>
            </a:endParaRPr>
          </a:p>
          <a:p>
            <a:pPr indent="0" lvl="0" marL="457200" rtl="0" algn="l">
              <a:spcBef>
                <a:spcPts val="0"/>
              </a:spcBef>
              <a:spcAft>
                <a:spcPts val="0"/>
              </a:spcAft>
              <a:buNone/>
            </a:pPr>
            <a:r>
              <a:t/>
            </a:r>
            <a:endParaRPr sz="1800">
              <a:solidFill>
                <a:schemeClr val="dk1"/>
              </a:solidFill>
              <a:latin typeface="Roboto Mono"/>
              <a:ea typeface="Roboto Mono"/>
              <a:cs typeface="Roboto Mono"/>
              <a:sym typeface="Roboto Mono"/>
            </a:endParaRPr>
          </a:p>
          <a:p>
            <a:pPr indent="-342900" lvl="0" marL="457200" rtl="0" algn="l">
              <a:spcBef>
                <a:spcPts val="0"/>
              </a:spcBef>
              <a:spcAft>
                <a:spcPts val="0"/>
              </a:spcAft>
              <a:buClr>
                <a:schemeClr val="dk1"/>
              </a:buClr>
              <a:buSzPts val="1800"/>
              <a:buFont typeface="Roboto Mono"/>
              <a:buChar char="-"/>
            </a:pPr>
            <a:r>
              <a:rPr lang="en" sz="1800">
                <a:solidFill>
                  <a:schemeClr val="dk1"/>
                </a:solidFill>
                <a:latin typeface="Roboto Mono"/>
                <a:ea typeface="Roboto Mono"/>
                <a:cs typeface="Roboto Mono"/>
                <a:sym typeface="Roboto Mono"/>
              </a:rPr>
              <a:t>Is there a relationship </a:t>
            </a:r>
            <a:r>
              <a:rPr lang="en" sz="1800">
                <a:solidFill>
                  <a:schemeClr val="dk1"/>
                </a:solidFill>
                <a:latin typeface="Roboto Mono"/>
                <a:ea typeface="Roboto Mono"/>
                <a:cs typeface="Roboto Mono"/>
                <a:sym typeface="Roboto Mono"/>
              </a:rPr>
              <a:t>between guilt and how old a game is? Older games may suggest a “I’ll get to it eventually” mentality that never actually happens, while newer ones might still have a chance of being played.</a:t>
            </a:r>
            <a:endParaRPr sz="1800">
              <a:solidFill>
                <a:schemeClr val="dk1"/>
              </a:solidFill>
              <a:latin typeface="Roboto Mono"/>
              <a:ea typeface="Roboto Mono"/>
              <a:cs typeface="Roboto Mono"/>
              <a:sym typeface="Roboto Mono"/>
            </a:endParaRPr>
          </a:p>
          <a:p>
            <a:pPr indent="0" lvl="0" marL="457200" rtl="0" algn="l">
              <a:spcBef>
                <a:spcPts val="0"/>
              </a:spcBef>
              <a:spcAft>
                <a:spcPts val="0"/>
              </a:spcAft>
              <a:buNone/>
            </a:pPr>
            <a:r>
              <a:t/>
            </a:r>
            <a:endParaRPr sz="1800">
              <a:solidFill>
                <a:schemeClr val="dk1"/>
              </a:solidFill>
              <a:latin typeface="Roboto Mono"/>
              <a:ea typeface="Roboto Mono"/>
              <a:cs typeface="Roboto Mono"/>
              <a:sym typeface="Roboto Mono"/>
            </a:endParaRPr>
          </a:p>
          <a:p>
            <a:pPr indent="-342900" lvl="0" marL="457200" rtl="0" algn="l">
              <a:spcBef>
                <a:spcPts val="0"/>
              </a:spcBef>
              <a:spcAft>
                <a:spcPts val="0"/>
              </a:spcAft>
              <a:buClr>
                <a:schemeClr val="dk1"/>
              </a:buClr>
              <a:buSzPts val="1800"/>
              <a:buFont typeface="Roboto Mono"/>
              <a:buChar char="-"/>
            </a:pPr>
            <a:r>
              <a:rPr lang="en" sz="1800">
                <a:solidFill>
                  <a:schemeClr val="dk1"/>
                </a:solidFill>
                <a:latin typeface="Roboto Mono"/>
                <a:ea typeface="Roboto Mono"/>
                <a:cs typeface="Roboto Mono"/>
                <a:sym typeface="Roboto Mono"/>
              </a:rPr>
              <a:t>Do certain studios produce more guilty games than others? If certain studios dominate the guilt index, it confirms the “prestige but demanding” pattern and gives indie studios a clear archetype to study or avoid</a:t>
            </a:r>
            <a:endParaRPr sz="1800">
              <a:solidFill>
                <a:schemeClr val="dk1"/>
              </a:solidFill>
              <a:latin typeface="Roboto Mono"/>
              <a:ea typeface="Roboto Mono"/>
              <a:cs typeface="Roboto Mono"/>
              <a:sym typeface="Roboto Mono"/>
            </a:endParaRPr>
          </a:p>
          <a:p>
            <a:pPr indent="0" lvl="0" marL="457200" rtl="0" algn="l">
              <a:spcBef>
                <a:spcPts val="0"/>
              </a:spcBef>
              <a:spcAft>
                <a:spcPts val="0"/>
              </a:spcAft>
              <a:buNone/>
            </a:pPr>
            <a:r>
              <a:t/>
            </a:r>
            <a:endParaRPr sz="18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800">
              <a:solidFill>
                <a:schemeClr val="dk1"/>
              </a:solidFill>
              <a:latin typeface="Roboto Mono"/>
              <a:ea typeface="Roboto Mono"/>
              <a:cs typeface="Roboto Mono"/>
              <a:sym typeface="Roboto Mono"/>
            </a:endParaRPr>
          </a:p>
          <a:p>
            <a:pPr indent="0" lvl="0" marL="0" rtl="0" algn="l">
              <a:spcBef>
                <a:spcPts val="0"/>
              </a:spcBef>
              <a:spcAft>
                <a:spcPts val="0"/>
              </a:spcAft>
              <a:buNone/>
            </a:pPr>
            <a:br>
              <a:rPr lang="en" sz="2200">
                <a:solidFill>
                  <a:schemeClr val="dk1"/>
                </a:solidFill>
                <a:latin typeface="Roboto Mono"/>
                <a:ea typeface="Roboto Mono"/>
                <a:cs typeface="Roboto Mono"/>
                <a:sym typeface="Roboto Mono"/>
              </a:rPr>
            </a:br>
            <a:endParaRPr sz="22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2500">
              <a:solidFill>
                <a:schemeClr val="dk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 </a:t>
            </a:r>
            <a:r>
              <a:rPr b="1" lang="en" sz="2300"/>
              <a:t>Release Month vs Average Plays </a:t>
            </a:r>
            <a:endParaRPr b="1" sz="2300"/>
          </a:p>
        </p:txBody>
      </p:sp>
      <p:sp>
        <p:nvSpPr>
          <p:cNvPr id="251" name="Google Shape;251;p34"/>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4</a:t>
            </a:r>
            <a:endParaRPr sz="3800"/>
          </a:p>
        </p:txBody>
      </p:sp>
      <p:sp>
        <p:nvSpPr>
          <p:cNvPr id="252" name="Google Shape;252;p34"/>
          <p:cNvSpPr txBox="1"/>
          <p:nvPr/>
        </p:nvSpPr>
        <p:spPr>
          <a:xfrm>
            <a:off x="4115950" y="655263"/>
            <a:ext cx="4890600" cy="42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a:t>
            </a:r>
            <a:r>
              <a:rPr lang="en">
                <a:solidFill>
                  <a:schemeClr val="dk1"/>
                </a:solidFill>
                <a:latin typeface="Roboto Mono"/>
                <a:ea typeface="Roboto Mono"/>
                <a:cs typeface="Roboto Mono"/>
                <a:sym typeface="Roboto Mono"/>
              </a:rPr>
              <a:t> Average plays peak in April at around 7,800, with November close behind at 7,300. The lowest months are August (4,150) and July (4,600). Ratings follow a similar but flatter pattern, with May and March on top and August at the bottom. By season, Spring is the leading season.</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 April is the best time to release a game. </a:t>
            </a:r>
            <a:r>
              <a:rPr lang="en">
                <a:solidFill>
                  <a:schemeClr val="dk1"/>
                </a:solidFill>
                <a:latin typeface="Roboto Mono"/>
                <a:ea typeface="Roboto Mono"/>
                <a:cs typeface="Roboto Mono"/>
                <a:sym typeface="Roboto Mono"/>
              </a:rPr>
              <a:t>The Holiday</a:t>
            </a:r>
            <a:r>
              <a:rPr lang="en">
                <a:solidFill>
                  <a:schemeClr val="dk1"/>
                </a:solidFill>
                <a:latin typeface="Roboto Mono"/>
                <a:ea typeface="Roboto Mono"/>
                <a:cs typeface="Roboto Mono"/>
                <a:sym typeface="Roboto Mono"/>
              </a:rPr>
              <a:t> window helps, but spring releases do better with </a:t>
            </a:r>
            <a:r>
              <a:rPr lang="en">
                <a:solidFill>
                  <a:schemeClr val="dk1"/>
                </a:solidFill>
                <a:latin typeface="Roboto Mono"/>
                <a:ea typeface="Roboto Mono"/>
                <a:cs typeface="Roboto Mono"/>
                <a:sym typeface="Roboto Mono"/>
              </a:rPr>
              <a:t>popularity</a:t>
            </a:r>
            <a:r>
              <a:rPr lang="en">
                <a:solidFill>
                  <a:schemeClr val="dk1"/>
                </a:solidFill>
                <a:latin typeface="Roboto Mono"/>
                <a:ea typeface="Roboto Mono"/>
                <a:cs typeface="Roboto Mono"/>
                <a:sym typeface="Roboto Mono"/>
              </a:rPr>
              <a:t>, and August is the month to avoid. The summer slump likely reflects players spending less time gaming when school is out and the weather is good. For indie studios, planning a spring release could mean catching players when they’re most engaged </a:t>
            </a:r>
            <a:r>
              <a:rPr lang="en">
                <a:solidFill>
                  <a:schemeClr val="dk1"/>
                </a:solidFill>
                <a:latin typeface="Roboto Mono"/>
                <a:ea typeface="Roboto Mono"/>
                <a:cs typeface="Roboto Mono"/>
                <a:sym typeface="Roboto Mono"/>
              </a:rPr>
              <a:t>rather</a:t>
            </a:r>
            <a:r>
              <a:rPr lang="en">
                <a:solidFill>
                  <a:schemeClr val="dk1"/>
                </a:solidFill>
                <a:latin typeface="Roboto Mono"/>
                <a:ea typeface="Roboto Mono"/>
                <a:cs typeface="Roboto Mono"/>
                <a:sym typeface="Roboto Mono"/>
              </a:rPr>
              <a:t> than fighting for attention in the holiday season.</a:t>
            </a:r>
            <a:endParaRPr>
              <a:solidFill>
                <a:schemeClr val="dk1"/>
              </a:solidFill>
              <a:latin typeface="Roboto Mono"/>
              <a:ea typeface="Roboto Mono"/>
              <a:cs typeface="Roboto Mono"/>
              <a:sym typeface="Roboto Mono"/>
            </a:endParaRPr>
          </a:p>
        </p:txBody>
      </p:sp>
      <p:pic>
        <p:nvPicPr>
          <p:cNvPr id="253" name="Google Shape;253;p34"/>
          <p:cNvPicPr preferRelativeResize="0"/>
          <p:nvPr/>
        </p:nvPicPr>
        <p:blipFill>
          <a:blip r:embed="rId4">
            <a:alphaModFix/>
          </a:blip>
          <a:stretch>
            <a:fillRect/>
          </a:stretch>
        </p:blipFill>
        <p:spPr>
          <a:xfrm>
            <a:off x="304800" y="1112425"/>
            <a:ext cx="3731775" cy="3354081"/>
          </a:xfrm>
          <a:prstGeom prst="rect">
            <a:avLst/>
          </a:prstGeom>
          <a:noFill/>
          <a:ln cap="flat" cmpd="sng" w="28575">
            <a:solidFill>
              <a:schemeClr val="dk2"/>
            </a:solidFill>
            <a:prstDash val="solid"/>
            <a:round/>
            <a:headEnd len="sm" w="sm" type="none"/>
            <a:tailEnd len="sm" w="sm" type="none"/>
          </a:ln>
        </p:spPr>
      </p:pic>
      <p:sp>
        <p:nvSpPr>
          <p:cNvPr id="254" name="Google Shape;254;p34"/>
          <p:cNvSpPr txBox="1"/>
          <p:nvPr/>
        </p:nvSpPr>
        <p:spPr>
          <a:xfrm>
            <a:off x="304800" y="778500"/>
            <a:ext cx="3981300" cy="1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Release Month vs. Average Plays</a:t>
            </a:r>
            <a:endParaRPr>
              <a:solidFill>
                <a:schemeClr val="dk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a:t>
            </a:r>
            <a:r>
              <a:rPr lang="en" sz="3800"/>
              <a:t>’s Mini Update</a:t>
            </a:r>
            <a:endParaRPr sz="3800"/>
          </a:p>
        </p:txBody>
      </p:sp>
      <p:sp>
        <p:nvSpPr>
          <p:cNvPr id="260" name="Google Shape;260;p35"/>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261" name="Google Shape;261;p35"/>
          <p:cNvPicPr preferRelativeResize="0"/>
          <p:nvPr/>
        </p:nvPicPr>
        <p:blipFill>
          <a:blip r:embed="rId4">
            <a:alphaModFix/>
          </a:blip>
          <a:stretch>
            <a:fillRect/>
          </a:stretch>
        </p:blipFill>
        <p:spPr>
          <a:xfrm>
            <a:off x="252600" y="747450"/>
            <a:ext cx="3776575" cy="2432150"/>
          </a:xfrm>
          <a:prstGeom prst="rect">
            <a:avLst/>
          </a:prstGeom>
          <a:noFill/>
          <a:ln cap="flat" cmpd="sng" w="28575">
            <a:solidFill>
              <a:schemeClr val="dk2"/>
            </a:solidFill>
            <a:prstDash val="solid"/>
            <a:round/>
            <a:headEnd len="sm" w="sm" type="none"/>
            <a:tailEnd len="sm" w="sm" type="none"/>
          </a:ln>
        </p:spPr>
      </p:pic>
      <p:sp>
        <p:nvSpPr>
          <p:cNvPr id="262" name="Google Shape;262;p35"/>
          <p:cNvSpPr txBox="1"/>
          <p:nvPr/>
        </p:nvSpPr>
        <p:spPr>
          <a:xfrm>
            <a:off x="4201875" y="747450"/>
            <a:ext cx="46524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 Most games cluster under 1,000 reviews with ratings spread across the full range from 1 to 4.5. As the number of reviews increases past 1,000, the ratings tend to stay above 3.5. There are very few games with over 2,000 reviews and they all sit at relatively high ratings.</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 This helps answer question 1 about what makes a game highly rated. Games with more reviews tend to be better rated, which suggests that highly rated games generate more discussion and engagement. It also makes sense that low rated games don't get as many reviews since people are less motivated to talk about a game they didn't enjoy.</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a:t>
            </a:r>
            <a:endParaRPr sz="3800"/>
          </a:p>
        </p:txBody>
      </p:sp>
      <p:sp>
        <p:nvSpPr>
          <p:cNvPr id="268" name="Google Shape;268;p36"/>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pic>
        <p:nvPicPr>
          <p:cNvPr id="269" name="Google Shape;269;p36"/>
          <p:cNvPicPr preferRelativeResize="0"/>
          <p:nvPr/>
        </p:nvPicPr>
        <p:blipFill>
          <a:blip r:embed="rId4">
            <a:alphaModFix/>
          </a:blip>
          <a:stretch>
            <a:fillRect/>
          </a:stretch>
        </p:blipFill>
        <p:spPr>
          <a:xfrm>
            <a:off x="252625" y="732025"/>
            <a:ext cx="4274580" cy="3534750"/>
          </a:xfrm>
          <a:prstGeom prst="rect">
            <a:avLst/>
          </a:prstGeom>
          <a:noFill/>
          <a:ln cap="flat" cmpd="sng" w="28575">
            <a:solidFill>
              <a:schemeClr val="dk2"/>
            </a:solidFill>
            <a:prstDash val="solid"/>
            <a:round/>
            <a:headEnd len="sm" w="sm" type="none"/>
            <a:tailEnd len="sm" w="sm" type="none"/>
          </a:ln>
        </p:spPr>
      </p:pic>
      <p:sp>
        <p:nvSpPr>
          <p:cNvPr id="270" name="Google Shape;270;p36"/>
          <p:cNvSpPr txBox="1"/>
          <p:nvPr/>
        </p:nvSpPr>
        <p:spPr>
          <a:xfrm>
            <a:off x="4581500" y="946325"/>
            <a:ext cx="44409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 Games made by 1 developer average around 3.7 and games made by 2 developers average slightly above that. The difference between the two is very small but visible.</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 This addresses question 1 about whether team size affects rating. Based on this data, team size does not seem to make too much of a difference since solo and two developer teams produce almost identical average ratings. This suggests that the quality of a game comes down to other factors beyond just how many teams made it.</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a:t>
            </a:r>
            <a:endParaRPr sz="3800"/>
          </a:p>
        </p:txBody>
      </p:sp>
      <p:sp>
        <p:nvSpPr>
          <p:cNvPr id="276" name="Google Shape;276;p37"/>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3</a:t>
            </a:r>
            <a:endParaRPr sz="3800"/>
          </a:p>
        </p:txBody>
      </p:sp>
      <p:pic>
        <p:nvPicPr>
          <p:cNvPr id="277" name="Google Shape;277;p37"/>
          <p:cNvPicPr preferRelativeResize="0"/>
          <p:nvPr/>
        </p:nvPicPr>
        <p:blipFill>
          <a:blip r:embed="rId4">
            <a:alphaModFix/>
          </a:blip>
          <a:stretch>
            <a:fillRect/>
          </a:stretch>
        </p:blipFill>
        <p:spPr>
          <a:xfrm>
            <a:off x="242675" y="739725"/>
            <a:ext cx="4492776" cy="2881575"/>
          </a:xfrm>
          <a:prstGeom prst="rect">
            <a:avLst/>
          </a:prstGeom>
          <a:noFill/>
          <a:ln cap="flat" cmpd="sng" w="28575">
            <a:solidFill>
              <a:schemeClr val="dk2"/>
            </a:solidFill>
            <a:prstDash val="solid"/>
            <a:round/>
            <a:headEnd len="sm" w="sm" type="none"/>
            <a:tailEnd len="sm" w="sm" type="none"/>
          </a:ln>
        </p:spPr>
      </p:pic>
      <p:sp>
        <p:nvSpPr>
          <p:cNvPr id="278" name="Google Shape;278;p37"/>
          <p:cNvSpPr txBox="1"/>
          <p:nvPr/>
        </p:nvSpPr>
        <p:spPr>
          <a:xfrm>
            <a:off x="4735450" y="610475"/>
            <a:ext cx="42261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Roboto Mono"/>
                <a:ea typeface="Roboto Mono"/>
                <a:cs typeface="Roboto Mono"/>
                <a:sym typeface="Roboto Mono"/>
              </a:rPr>
              <a:t>Show: Most studios have made fewer than 5 games and their average ratings range widely from below 1 to above 4.5. As studios make more games the ratings tend to stabilize around 3.5 to 4.0. The studio with the most games at around 35 sits at roughly 3.7.</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300">
                <a:solidFill>
                  <a:schemeClr val="dk1"/>
                </a:solidFill>
                <a:latin typeface="Roboto Mono"/>
                <a:ea typeface="Roboto Mono"/>
                <a:cs typeface="Roboto Mono"/>
                <a:sym typeface="Roboto Mono"/>
              </a:rPr>
              <a:t>Tell: This addresses question 4 about which development teams consistently make the best games. Newer studios with only a few games show the most variation, meaning one bad or good game can completely define their average. More experienced studios with many games tend to cluster in a more consistent rating range, suggesting that experience leads to more reliable quality even if not necessarily higher ratings.</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Progress Slide</a:t>
            </a:r>
            <a:endParaRPr sz="3800"/>
          </a:p>
        </p:txBody>
      </p:sp>
      <p:sp>
        <p:nvSpPr>
          <p:cNvPr id="284" name="Google Shape;284;p38"/>
          <p:cNvSpPr txBox="1"/>
          <p:nvPr/>
        </p:nvSpPr>
        <p:spPr>
          <a:xfrm>
            <a:off x="93900" y="705725"/>
            <a:ext cx="9050100" cy="504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latin typeface="Roboto Mono"/>
                <a:ea typeface="Roboto Mono"/>
                <a:cs typeface="Roboto Mono"/>
                <a:sym typeface="Roboto Mono"/>
              </a:rPr>
              <a:t>Accomplished: Created new data insight plots exploring what makes a game highly rated, which studios are experienced, backlogs vs plays, and Release time vs. plays. Analyzed relationships between number of reviews and ratings, average rating by team size, and studio experience vs average rating. </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rPr lang="en" sz="1500">
                <a:latin typeface="Roboto Mono"/>
                <a:ea typeface="Roboto Mono"/>
                <a:cs typeface="Roboto Mono"/>
                <a:sym typeface="Roboto Mono"/>
              </a:rPr>
              <a:t>Plan for next week: Begin connecting with all the insights</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rPr lang="en" sz="1500">
                <a:latin typeface="Roboto Mono"/>
                <a:ea typeface="Roboto Mono"/>
                <a:cs typeface="Roboto Mono"/>
                <a:sym typeface="Roboto Mono"/>
              </a:rPr>
              <a:t>Obstacles: Some columns like Team were stored as lists which made it difficult to group and analyze, limiting some of the visualizations originally planned</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rPr lang="en" sz="1500">
                <a:latin typeface="Roboto Mono"/>
                <a:ea typeface="Roboto Mono"/>
                <a:cs typeface="Roboto Mono"/>
                <a:sym typeface="Roboto Mono"/>
              </a:rPr>
              <a:t>Resources: Python, pandas, datascience library, matplotlib</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Contributions: Fatimah; 3 data insights focusing on specific curious questions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 				Nareh; 2 data insights, 3 new posed curious questions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1500">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1500">
              <a:latin typeface="Roboto Mono"/>
              <a:ea typeface="Roboto Mono"/>
              <a:cs typeface="Roboto Mono"/>
              <a:sym typeface="Roboto Mono"/>
            </a:endParaRPr>
          </a:p>
          <a:p>
            <a:pPr indent="0" lvl="0" marL="0" rtl="0" algn="l">
              <a:lnSpc>
                <a:spcPct val="115000"/>
              </a:lnSpc>
              <a:spcBef>
                <a:spcPts val="1200"/>
              </a:spcBef>
              <a:spcAft>
                <a:spcPts val="1200"/>
              </a:spcAft>
              <a:buNone/>
            </a:pPr>
            <a:r>
              <a:t/>
            </a:r>
            <a:endParaRPr sz="1500">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type="title"/>
          </p:nvPr>
        </p:nvSpPr>
        <p:spPr>
          <a:xfrm>
            <a:off x="1860500" y="1659175"/>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#3</a:t>
            </a:r>
            <a:endParaRPr/>
          </a:p>
        </p:txBody>
      </p:sp>
      <p:sp>
        <p:nvSpPr>
          <p:cNvPr id="290" name="Google Shape;290;p39"/>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291" name="Google Shape;291;p39"/>
          <p:cNvGrpSpPr/>
          <p:nvPr/>
        </p:nvGrpSpPr>
        <p:grpSpPr>
          <a:xfrm>
            <a:off x="6321457" y="938839"/>
            <a:ext cx="2172468" cy="273704"/>
            <a:chOff x="6386650" y="947025"/>
            <a:chExt cx="2107351" cy="265500"/>
          </a:xfrm>
        </p:grpSpPr>
        <p:pic>
          <p:nvPicPr>
            <p:cNvPr id="292" name="Google Shape;292;p39"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pic>
          <p:nvPicPr>
            <p:cNvPr id="293" name="Google Shape;293;p39"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grpSp>
      <p:pic>
        <p:nvPicPr>
          <p:cNvPr id="294" name="Google Shape;294;p39"/>
          <p:cNvPicPr preferRelativeResize="0"/>
          <p:nvPr/>
        </p:nvPicPr>
        <p:blipFill>
          <a:blip r:embed="rId4">
            <a:alphaModFix/>
          </a:blip>
          <a:stretch>
            <a:fillRect/>
          </a:stretch>
        </p:blipFill>
        <p:spPr>
          <a:xfrm>
            <a:off x="6321075" y="1212525"/>
            <a:ext cx="2172475" cy="1629370"/>
          </a:xfrm>
          <a:prstGeom prst="rect">
            <a:avLst/>
          </a:prstGeom>
          <a:noFill/>
          <a:ln>
            <a:noFill/>
          </a:ln>
        </p:spPr>
      </p:pic>
      <p:sp>
        <p:nvSpPr>
          <p:cNvPr id="295" name="Google Shape;295;p39"/>
          <p:cNvSpPr txBox="1"/>
          <p:nvPr>
            <p:ph idx="1" type="subTitle"/>
          </p:nvPr>
        </p:nvSpPr>
        <p:spPr>
          <a:xfrm>
            <a:off x="4497550" y="3993450"/>
            <a:ext cx="3459000" cy="4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(Weekly Mini Updates);</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txBox="1"/>
          <p:nvPr>
            <p:ph type="title"/>
          </p:nvPr>
        </p:nvSpPr>
        <p:spPr>
          <a:xfrm>
            <a:off x="210300" y="-31028"/>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Nareh’s Mini Update - Genre by Average Rating</a:t>
            </a:r>
            <a:endParaRPr sz="3300"/>
          </a:p>
        </p:txBody>
      </p:sp>
      <p:sp>
        <p:nvSpPr>
          <p:cNvPr id="301" name="Google Shape;301;p40"/>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sp>
        <p:nvSpPr>
          <p:cNvPr id="302" name="Google Shape;302;p40"/>
          <p:cNvSpPr txBox="1"/>
          <p:nvPr/>
        </p:nvSpPr>
        <p:spPr>
          <a:xfrm>
            <a:off x="4663950" y="778300"/>
            <a:ext cx="4480200" cy="39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Mono"/>
                <a:ea typeface="Roboto Mono"/>
                <a:cs typeface="Roboto Mono"/>
                <a:sym typeface="Roboto Mono"/>
              </a:rPr>
              <a:t>Show: Visual Novels have the highest average rating at around 4.0, followed by Turn Based Strategy and RPG. Shooters sit at the bottom of the top 10 with the lowest average rating. </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Tell: This is interesting for developers because it suggests that story driven and strategy heavy genres tend to be rated higher by players. </a:t>
            </a:r>
            <a:r>
              <a:rPr lang="en" sz="1300">
                <a:latin typeface="Roboto Mono"/>
                <a:ea typeface="Roboto Mono"/>
                <a:cs typeface="Roboto Mono"/>
                <a:sym typeface="Roboto Mono"/>
              </a:rPr>
              <a:t>Shooters at the bottom doesn't mean they are bad,</a:t>
            </a:r>
            <a:r>
              <a:rPr lang="en" sz="1300">
                <a:latin typeface="Roboto Mono"/>
                <a:ea typeface="Roboto Mono"/>
                <a:cs typeface="Roboto Mono"/>
                <a:sym typeface="Roboto Mono"/>
              </a:rPr>
              <a:t> but it could just mean that it’s very </a:t>
            </a:r>
            <a:r>
              <a:rPr lang="en" sz="1300">
                <a:latin typeface="Roboto Mono"/>
                <a:ea typeface="Roboto Mono"/>
                <a:cs typeface="Roboto Mono"/>
                <a:sym typeface="Roboto Mono"/>
              </a:rPr>
              <a:t>oversaturated</a:t>
            </a:r>
            <a:r>
              <a:rPr lang="en" sz="1300">
                <a:latin typeface="Roboto Mono"/>
                <a:ea typeface="Roboto Mono"/>
                <a:cs typeface="Roboto Mono"/>
                <a:sym typeface="Roboto Mono"/>
              </a:rPr>
              <a:t> which will make it harder to stand out. From this insight, we can see that for indie game studios it could be a smart move to lean into genres like visual novels or turn based strategy games because not only are they cheaper to produce but they are also favored more highly by players.</a:t>
            </a:r>
            <a:endParaRPr sz="1300">
              <a:latin typeface="Roboto Mono"/>
              <a:ea typeface="Roboto Mono"/>
              <a:cs typeface="Roboto Mono"/>
              <a:sym typeface="Roboto Mono"/>
            </a:endParaRPr>
          </a:p>
        </p:txBody>
      </p:sp>
      <p:pic>
        <p:nvPicPr>
          <p:cNvPr id="303" name="Google Shape;303;p40"/>
          <p:cNvPicPr preferRelativeResize="0"/>
          <p:nvPr/>
        </p:nvPicPr>
        <p:blipFill>
          <a:blip r:embed="rId4">
            <a:alphaModFix/>
          </a:blip>
          <a:stretch>
            <a:fillRect/>
          </a:stretch>
        </p:blipFill>
        <p:spPr>
          <a:xfrm>
            <a:off x="366725" y="1259713"/>
            <a:ext cx="4084774" cy="2542750"/>
          </a:xfrm>
          <a:prstGeom prst="rect">
            <a:avLst/>
          </a:prstGeom>
          <a:noFill/>
          <a:ln cap="flat" cmpd="sng" w="19050">
            <a:solidFill>
              <a:srgbClr val="15325B"/>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type="title"/>
          </p:nvPr>
        </p:nvSpPr>
        <p:spPr>
          <a:xfrm>
            <a:off x="210300" y="-31028"/>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Nareh’s Mini Update - Games R</a:t>
            </a:r>
            <a:r>
              <a:rPr lang="en" sz="3300"/>
              <a:t>eleased</a:t>
            </a:r>
            <a:r>
              <a:rPr lang="en" sz="3300"/>
              <a:t> by Year</a:t>
            </a:r>
            <a:endParaRPr sz="3300"/>
          </a:p>
        </p:txBody>
      </p:sp>
      <p:sp>
        <p:nvSpPr>
          <p:cNvPr id="309" name="Google Shape;309;p41"/>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sp>
        <p:nvSpPr>
          <p:cNvPr id="310" name="Google Shape;310;p41"/>
          <p:cNvSpPr txBox="1"/>
          <p:nvPr/>
        </p:nvSpPr>
        <p:spPr>
          <a:xfrm>
            <a:off x="4460250" y="978600"/>
            <a:ext cx="44802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Mono"/>
                <a:ea typeface="Roboto Mono"/>
                <a:cs typeface="Roboto Mono"/>
                <a:sym typeface="Roboto Mono"/>
              </a:rPr>
              <a:t>Show: The number of games released per year stayed relatively low from 1980 to the early 2000s, then began climbing steadily. There is a massive spike around 2020-2022, peaking at over 120 games in the dataset. After that, </a:t>
            </a:r>
            <a:r>
              <a:rPr lang="en" sz="1300">
                <a:latin typeface="Roboto Mono"/>
                <a:ea typeface="Roboto Mono"/>
                <a:cs typeface="Roboto Mono"/>
                <a:sym typeface="Roboto Mono"/>
              </a:rPr>
              <a:t>the count drops sharply.</a:t>
            </a:r>
            <a:r>
              <a:rPr lang="en"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Tell: The peak around 2020-2022 likely reflects both the growth of indie game development and the pandemic, when more people had time to create and play games. </a:t>
            </a:r>
            <a:r>
              <a:rPr lang="en" sz="1300">
                <a:latin typeface="Roboto Mono"/>
                <a:ea typeface="Roboto Mono"/>
                <a:cs typeface="Roboto Mono"/>
                <a:sym typeface="Roboto Mono"/>
              </a:rPr>
              <a:t>The sharp drop after 2022 is probably because the dataset only captures games up to a certain point,</a:t>
            </a:r>
            <a:r>
              <a:rPr lang="en" sz="1300">
                <a:latin typeface="Roboto Mono"/>
                <a:ea typeface="Roboto Mono"/>
                <a:cs typeface="Roboto Mono"/>
                <a:sym typeface="Roboto Mono"/>
              </a:rPr>
              <a:t> not because fewer games are actually being made. </a:t>
            </a:r>
            <a:endParaRPr sz="1300">
              <a:latin typeface="Roboto Mono"/>
              <a:ea typeface="Roboto Mono"/>
              <a:cs typeface="Roboto Mono"/>
              <a:sym typeface="Roboto Mono"/>
            </a:endParaRPr>
          </a:p>
        </p:txBody>
      </p:sp>
      <p:pic>
        <p:nvPicPr>
          <p:cNvPr id="311" name="Google Shape;311;p41"/>
          <p:cNvPicPr preferRelativeResize="0"/>
          <p:nvPr/>
        </p:nvPicPr>
        <p:blipFill>
          <a:blip r:embed="rId4">
            <a:alphaModFix/>
          </a:blip>
          <a:stretch>
            <a:fillRect/>
          </a:stretch>
        </p:blipFill>
        <p:spPr>
          <a:xfrm>
            <a:off x="368625" y="888075"/>
            <a:ext cx="3845550" cy="3495099"/>
          </a:xfrm>
          <a:prstGeom prst="rect">
            <a:avLst/>
          </a:prstGeom>
          <a:noFill/>
          <a:ln cap="flat" cmpd="sng" w="19050">
            <a:solidFill>
              <a:srgbClr val="15325B"/>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2"/>
          <p:cNvSpPr txBox="1"/>
          <p:nvPr>
            <p:ph type="title"/>
          </p:nvPr>
        </p:nvSpPr>
        <p:spPr>
          <a:xfrm>
            <a:off x="210300" y="-31025"/>
            <a:ext cx="82143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Nareh’s Mini Update - Average Rating Over Time</a:t>
            </a:r>
            <a:endParaRPr sz="3300"/>
          </a:p>
        </p:txBody>
      </p:sp>
      <p:sp>
        <p:nvSpPr>
          <p:cNvPr id="317" name="Google Shape;317;p42"/>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3</a:t>
            </a:r>
            <a:endParaRPr sz="3800"/>
          </a:p>
        </p:txBody>
      </p:sp>
      <p:sp>
        <p:nvSpPr>
          <p:cNvPr id="318" name="Google Shape;318;p42"/>
          <p:cNvSpPr txBox="1"/>
          <p:nvPr/>
        </p:nvSpPr>
        <p:spPr>
          <a:xfrm>
            <a:off x="4383900" y="778507"/>
            <a:ext cx="44802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Mono"/>
                <a:ea typeface="Roboto Mono"/>
                <a:cs typeface="Roboto Mono"/>
                <a:sym typeface="Roboto Mono"/>
              </a:rPr>
              <a:t>Show: Average ratings were volatile in the early years with big swings between 2.8 and 4.2. From around 2000 and on, ratings stabilize and hover in the range of 3.4 and 3.8.</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Tell: The wild swings in the early years are likely because very few games were in the dataset for those years, so one good or bad game could shift the average dramatically. As more games enter the market, the average smooths out. It is worth noting that ratings have not really gone up over time despite advances in technology, suggesting that player expectations rise alongside the quality of games being made. </a:t>
            </a:r>
            <a:endParaRPr sz="1300">
              <a:latin typeface="Roboto Mono"/>
              <a:ea typeface="Roboto Mono"/>
              <a:cs typeface="Roboto Mono"/>
              <a:sym typeface="Roboto Mono"/>
            </a:endParaRPr>
          </a:p>
        </p:txBody>
      </p:sp>
      <p:pic>
        <p:nvPicPr>
          <p:cNvPr id="319" name="Google Shape;319;p42"/>
          <p:cNvPicPr preferRelativeResize="0"/>
          <p:nvPr/>
        </p:nvPicPr>
        <p:blipFill>
          <a:blip r:embed="rId3">
            <a:alphaModFix/>
          </a:blip>
          <a:stretch>
            <a:fillRect/>
          </a:stretch>
        </p:blipFill>
        <p:spPr>
          <a:xfrm>
            <a:off x="323075" y="888063"/>
            <a:ext cx="3739101" cy="3409574"/>
          </a:xfrm>
          <a:prstGeom prst="rect">
            <a:avLst/>
          </a:prstGeom>
          <a:noFill/>
          <a:ln cap="flat" cmpd="sng" w="19050">
            <a:solidFill>
              <a:srgbClr val="15325B"/>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3"/>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a:t>
            </a:r>
            <a:r>
              <a:rPr lang="en" sz="3800"/>
              <a:t>’s Mini Update</a:t>
            </a:r>
            <a:endParaRPr sz="3800"/>
          </a:p>
        </p:txBody>
      </p:sp>
      <p:sp>
        <p:nvSpPr>
          <p:cNvPr id="325" name="Google Shape;325;p43"/>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326" name="Google Shape;326;p43"/>
          <p:cNvPicPr preferRelativeResize="0"/>
          <p:nvPr/>
        </p:nvPicPr>
        <p:blipFill>
          <a:blip r:embed="rId4">
            <a:alphaModFix/>
          </a:blip>
          <a:stretch>
            <a:fillRect/>
          </a:stretch>
        </p:blipFill>
        <p:spPr>
          <a:xfrm>
            <a:off x="256575" y="758125"/>
            <a:ext cx="4475099" cy="2852874"/>
          </a:xfrm>
          <a:prstGeom prst="rect">
            <a:avLst/>
          </a:prstGeom>
          <a:noFill/>
          <a:ln cap="flat" cmpd="sng" w="19050">
            <a:solidFill>
              <a:schemeClr val="dk1"/>
            </a:solidFill>
            <a:prstDash val="solid"/>
            <a:round/>
            <a:headEnd len="sm" w="sm" type="none"/>
            <a:tailEnd len="sm" w="sm" type="none"/>
          </a:ln>
        </p:spPr>
      </p:pic>
      <p:sp>
        <p:nvSpPr>
          <p:cNvPr id="327" name="Google Shape;327;p43"/>
          <p:cNvSpPr txBox="1"/>
          <p:nvPr/>
        </p:nvSpPr>
        <p:spPr>
          <a:xfrm>
            <a:off x="4831650" y="758125"/>
            <a:ext cx="41463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 The distribution is heavily skewed to the right. The majority of games have under 5,000 plays, with the tallest bar sitting around 1,000 to 2,000 plays. Very few games make it past 20,000 plays and only a handful reach 30,000 or more.</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 This shows that having a lot of plays is actually pretty rare in the gaming world. Most games in this dataset never break 5,000 plays, which puts games like Minecraft with 100,000+ plays in a completely different league.</a:t>
            </a:r>
            <a:r>
              <a:rPr lang="en">
                <a:solidFill>
                  <a:schemeClr val="dk1"/>
                </a:solidFill>
                <a:latin typeface="Roboto Mono"/>
                <a:ea typeface="Roboto Mono"/>
                <a:cs typeface="Roboto Mono"/>
                <a:sym typeface="Roboto Mono"/>
              </a:rPr>
              <a:t> For indie studios this is actually useful to know since breaking even a modest play count puts you ahead of the majority of games out there.</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a:t>
            </a:r>
            <a:endParaRPr sz="3800"/>
          </a:p>
        </p:txBody>
      </p:sp>
      <p:sp>
        <p:nvSpPr>
          <p:cNvPr id="333" name="Google Shape;333;p44"/>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pic>
        <p:nvPicPr>
          <p:cNvPr id="334" name="Google Shape;334;p44"/>
          <p:cNvPicPr preferRelativeResize="0"/>
          <p:nvPr/>
        </p:nvPicPr>
        <p:blipFill>
          <a:blip r:embed="rId4">
            <a:alphaModFix/>
          </a:blip>
          <a:stretch>
            <a:fillRect/>
          </a:stretch>
        </p:blipFill>
        <p:spPr>
          <a:xfrm>
            <a:off x="264275" y="799488"/>
            <a:ext cx="4852901" cy="2476775"/>
          </a:xfrm>
          <a:prstGeom prst="rect">
            <a:avLst/>
          </a:prstGeom>
          <a:noFill/>
          <a:ln cap="flat" cmpd="sng" w="19050">
            <a:solidFill>
              <a:schemeClr val="dk1"/>
            </a:solidFill>
            <a:prstDash val="solid"/>
            <a:round/>
            <a:headEnd len="sm" w="sm" type="none"/>
            <a:tailEnd len="sm" w="sm" type="none"/>
          </a:ln>
        </p:spPr>
      </p:pic>
      <p:sp>
        <p:nvSpPr>
          <p:cNvPr id="335" name="Google Shape;335;p44"/>
          <p:cNvSpPr txBox="1"/>
          <p:nvPr/>
        </p:nvSpPr>
        <p:spPr>
          <a:xfrm>
            <a:off x="5218225" y="750925"/>
            <a:ext cx="3776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Show: Both average plays and average wishlist count generally trend upward as rating increases. Average plays stay much higher than wishlist counts across all ratings. Both lines drop sharply at the very end around 4.5 to 5.0.</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
        <p:nvSpPr>
          <p:cNvPr id="336" name="Google Shape;336;p44"/>
          <p:cNvSpPr txBox="1"/>
          <p:nvPr/>
        </p:nvSpPr>
        <p:spPr>
          <a:xfrm>
            <a:off x="422025" y="3465275"/>
            <a:ext cx="8036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Tell: This directly addresses the question of which comes first - plays or wishlist. Since both go up together with rating, it suggests that higher rated games attract both more players and more wishlist adds. The drop at the very top ratings is probably because very few games have a perfect or near perfect rating so the averages get unstable there.</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a:t>
            </a:r>
            <a:endParaRPr sz="3800"/>
          </a:p>
        </p:txBody>
      </p:sp>
      <p:sp>
        <p:nvSpPr>
          <p:cNvPr id="342" name="Google Shape;342;p45"/>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pic>
        <p:nvPicPr>
          <p:cNvPr id="343" name="Google Shape;343;p45"/>
          <p:cNvPicPr preferRelativeResize="0"/>
          <p:nvPr/>
        </p:nvPicPr>
        <p:blipFill>
          <a:blip r:embed="rId4">
            <a:alphaModFix/>
          </a:blip>
          <a:stretch>
            <a:fillRect/>
          </a:stretch>
        </p:blipFill>
        <p:spPr>
          <a:xfrm>
            <a:off x="252625" y="758525"/>
            <a:ext cx="4644724" cy="2807251"/>
          </a:xfrm>
          <a:prstGeom prst="rect">
            <a:avLst/>
          </a:prstGeom>
          <a:noFill/>
          <a:ln cap="flat" cmpd="sng" w="19050">
            <a:solidFill>
              <a:schemeClr val="dk1"/>
            </a:solidFill>
            <a:prstDash val="solid"/>
            <a:round/>
            <a:headEnd len="sm" w="sm" type="none"/>
            <a:tailEnd len="sm" w="sm" type="none"/>
          </a:ln>
        </p:spPr>
      </p:pic>
      <p:sp>
        <p:nvSpPr>
          <p:cNvPr id="344" name="Google Shape;344;p45"/>
          <p:cNvSpPr txBox="1"/>
          <p:nvPr/>
        </p:nvSpPr>
        <p:spPr>
          <a:xfrm>
            <a:off x="4969150" y="745550"/>
            <a:ext cx="3730200" cy="301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Roboto Mono"/>
                <a:ea typeface="Roboto Mono"/>
                <a:cs typeface="Roboto Mono"/>
                <a:sym typeface="Roboto Mono"/>
              </a:rPr>
              <a:t>Show: Most games cluster near the bottom left with low backlogs and low currently playing counts. As backlogs increase, the currently playing count also tends to go up. The bigger dots, which represent higher wishlist counts, appear more often among games with higher backlogs and playing numbers. There are a few outliers sitting very high on the currently playing axis with relatively low backlogs.</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
        <p:nvSpPr>
          <p:cNvPr id="345" name="Google Shape;345;p45"/>
          <p:cNvSpPr txBox="1"/>
          <p:nvPr/>
        </p:nvSpPr>
        <p:spPr>
          <a:xfrm>
            <a:off x="298400" y="3565775"/>
            <a:ext cx="84735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Mono"/>
                <a:ea typeface="Roboto Mono"/>
                <a:cs typeface="Roboto Mono"/>
                <a:sym typeface="Roboto Mono"/>
              </a:rPr>
              <a:t>Tell: This graph shows that games with big backlogs tend to also have a lot of people actively playing them, which makes sense since popular games attract both. The bigger dot sizes scattered throughout the higher ranges suggest that wishlisted games also end up in more backlogs, meaning people add them to their list but don't always get around to them right away. Those outliers with super high currently playing counts are interesting since they suggest some games pull people in immediately rather than sitting in a backlog.</a:t>
            </a:r>
            <a:endParaRPr sz="12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6"/>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Progress Slide</a:t>
            </a:r>
            <a:endParaRPr sz="3800"/>
          </a:p>
        </p:txBody>
      </p:sp>
      <p:sp>
        <p:nvSpPr>
          <p:cNvPr id="351" name="Google Shape;351;p46"/>
          <p:cNvSpPr txBox="1"/>
          <p:nvPr/>
        </p:nvSpPr>
        <p:spPr>
          <a:xfrm>
            <a:off x="208200" y="697450"/>
            <a:ext cx="8775600" cy="416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Roboto Mono"/>
                <a:ea typeface="Roboto Mono"/>
                <a:cs typeface="Roboto Mono"/>
                <a:sym typeface="Roboto Mono"/>
              </a:rPr>
              <a:t>Accomplished: Created three new data insight plots exploring genre trends and the gaming landscape over time. Analyzed which genres receive the highest average ratings, how the number of game releases has changed from 1980 to present, and whether average ratings have improved over time (Nareh). Created 3 data insight plots. Explored different variables including Backlogs, Playing, Ratings, etc. (Fatimah)</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Plan for next week: Dive deeper into the overhyped vs hidden gems question by identifying specific games.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Obstacles: Interpreting the graphs and drawing clear conclusions from the data proved to be more challenging than expected, </a:t>
            </a:r>
            <a:r>
              <a:rPr lang="en">
                <a:latin typeface="Roboto Mono"/>
                <a:ea typeface="Roboto Mono"/>
                <a:cs typeface="Roboto Mono"/>
                <a:sym typeface="Roboto Mono"/>
              </a:rPr>
              <a:t>as some visualizations raised more questions than they answered.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Resources: Python, pandas, datascience library, Story Studio</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Contributions: Nareh; +3 data insights 	Fatimah; +3 data insights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1200"/>
              </a:spcAft>
              <a:buNone/>
            </a:pPr>
            <a:r>
              <a:t/>
            </a:r>
            <a:endParaRPr>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7"/>
          <p:cNvSpPr txBox="1"/>
          <p:nvPr>
            <p:ph type="title"/>
          </p:nvPr>
        </p:nvSpPr>
        <p:spPr>
          <a:xfrm>
            <a:off x="1860500" y="1659175"/>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#2</a:t>
            </a:r>
            <a:endParaRPr/>
          </a:p>
        </p:txBody>
      </p:sp>
      <p:sp>
        <p:nvSpPr>
          <p:cNvPr id="357" name="Google Shape;357;p47"/>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358" name="Google Shape;358;p47"/>
          <p:cNvPicPr preferRelativeResize="0"/>
          <p:nvPr/>
        </p:nvPicPr>
        <p:blipFill rotWithShape="1">
          <a:blip r:embed="rId3">
            <a:alphaModFix/>
          </a:blip>
          <a:srcRect b="0" l="0" r="8232" t="0"/>
          <a:stretch/>
        </p:blipFill>
        <p:spPr>
          <a:xfrm>
            <a:off x="6359700" y="1162575"/>
            <a:ext cx="2133850" cy="1658525"/>
          </a:xfrm>
          <a:prstGeom prst="rect">
            <a:avLst/>
          </a:prstGeom>
          <a:noFill/>
          <a:ln>
            <a:noFill/>
          </a:ln>
        </p:spPr>
      </p:pic>
      <p:grpSp>
        <p:nvGrpSpPr>
          <p:cNvPr id="359" name="Google Shape;359;p47"/>
          <p:cNvGrpSpPr/>
          <p:nvPr/>
        </p:nvGrpSpPr>
        <p:grpSpPr>
          <a:xfrm>
            <a:off x="6386203" y="947025"/>
            <a:ext cx="2107351" cy="265500"/>
            <a:chOff x="6386650" y="947025"/>
            <a:chExt cx="2107351" cy="265500"/>
          </a:xfrm>
        </p:grpSpPr>
        <p:pic>
          <p:nvPicPr>
            <p:cNvPr id="360" name="Google Shape;360;p47"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pic>
          <p:nvPicPr>
            <p:cNvPr id="361" name="Google Shape;361;p47"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grpSp>
      <p:sp>
        <p:nvSpPr>
          <p:cNvPr id="362" name="Google Shape;362;p47"/>
          <p:cNvSpPr txBox="1"/>
          <p:nvPr>
            <p:ph idx="1" type="subTitle"/>
          </p:nvPr>
        </p:nvSpPr>
        <p:spPr>
          <a:xfrm>
            <a:off x="4497550" y="3993450"/>
            <a:ext cx="3459000" cy="4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(Weekly Mini Updates);</a:t>
            </a:r>
            <a:endParaRPr sz="17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Updates</a:t>
            </a:r>
            <a:endParaRPr sz="3800"/>
          </a:p>
        </p:txBody>
      </p:sp>
      <p:pic>
        <p:nvPicPr>
          <p:cNvPr id="368" name="Google Shape;368;p48"/>
          <p:cNvPicPr preferRelativeResize="0"/>
          <p:nvPr/>
        </p:nvPicPr>
        <p:blipFill>
          <a:blip r:embed="rId4">
            <a:alphaModFix/>
          </a:blip>
          <a:stretch>
            <a:fillRect/>
          </a:stretch>
        </p:blipFill>
        <p:spPr>
          <a:xfrm>
            <a:off x="241379" y="929825"/>
            <a:ext cx="3774899" cy="3453426"/>
          </a:xfrm>
          <a:prstGeom prst="rect">
            <a:avLst/>
          </a:prstGeom>
          <a:noFill/>
          <a:ln cap="flat" cmpd="sng" w="19050">
            <a:solidFill>
              <a:srgbClr val="434343"/>
            </a:solidFill>
            <a:prstDash val="solid"/>
            <a:round/>
            <a:headEnd len="sm" w="sm" type="none"/>
            <a:tailEnd len="sm" w="sm" type="none"/>
          </a:ln>
        </p:spPr>
      </p:pic>
      <p:sp>
        <p:nvSpPr>
          <p:cNvPr id="369" name="Google Shape;369;p48"/>
          <p:cNvSpPr txBox="1"/>
          <p:nvPr/>
        </p:nvSpPr>
        <p:spPr>
          <a:xfrm>
            <a:off x="4019700" y="764513"/>
            <a:ext cx="5124300" cy="38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Roboto Mono"/>
                <a:ea typeface="Roboto Mono"/>
                <a:cs typeface="Roboto Mono"/>
                <a:sym typeface="Roboto Mono"/>
              </a:rPr>
              <a:t>Show: Most games in the dataset cluster under 10,000 plays have ratings between 2.5 and 4.5. Games with the highest play counts (20,000-33,000) tend to have ratings above 3.5, while the lowest-rated games tend to not break past a few thousand plays.</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Tell: This graph  suggests that </a:t>
            </a:r>
            <a:r>
              <a:rPr lang="en" sz="1300">
                <a:latin typeface="Roboto Mono"/>
                <a:ea typeface="Roboto Mono"/>
                <a:cs typeface="Roboto Mono"/>
                <a:sym typeface="Roboto Mono"/>
              </a:rPr>
              <a:t>highly played games generally earn their popularity with decent ratings.</a:t>
            </a:r>
            <a:r>
              <a:rPr lang="en" sz="1300">
                <a:latin typeface="Roboto Mono"/>
                <a:ea typeface="Roboto Mono"/>
                <a:cs typeface="Roboto Mono"/>
                <a:sym typeface="Roboto Mono"/>
              </a:rPr>
              <a:t> However, there are some interesting outliers. A few games with 15,000+ plays sit below a 3.0 rating, meaning they attracted a lot of attention but disappointed players. These could be considered </a:t>
            </a:r>
            <a:r>
              <a:rPr lang="en" sz="1300">
                <a:latin typeface="Roboto Mono"/>
                <a:ea typeface="Roboto Mono"/>
                <a:cs typeface="Roboto Mono"/>
                <a:sym typeface="Roboto Mono"/>
              </a:rPr>
              <a:t>"overhyped.</a:t>
            </a:r>
            <a:r>
              <a:rPr lang="en" sz="1300">
                <a:latin typeface="Roboto Mono"/>
                <a:ea typeface="Roboto Mono"/>
                <a:cs typeface="Roboto Mono"/>
                <a:sym typeface="Roboto Mono"/>
              </a:rPr>
              <a:t>" On the flip side, many games with very few plays sit above 4.0, suggesting there are plenty of hidden gems that haven't found a wide audience yet.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
        <p:nvSpPr>
          <p:cNvPr id="370" name="Google Shape;370;p48"/>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9"/>
          <p:cNvSpPr txBox="1"/>
          <p:nvPr>
            <p:ph type="title"/>
          </p:nvPr>
        </p:nvSpPr>
        <p:spPr>
          <a:xfrm>
            <a:off x="867660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pic>
        <p:nvPicPr>
          <p:cNvPr id="376" name="Google Shape;376;p49"/>
          <p:cNvPicPr preferRelativeResize="0"/>
          <p:nvPr/>
        </p:nvPicPr>
        <p:blipFill>
          <a:blip r:embed="rId4">
            <a:alphaModFix/>
          </a:blip>
          <a:stretch>
            <a:fillRect/>
          </a:stretch>
        </p:blipFill>
        <p:spPr>
          <a:xfrm>
            <a:off x="225839" y="1221725"/>
            <a:ext cx="4852223" cy="2700051"/>
          </a:xfrm>
          <a:prstGeom prst="rect">
            <a:avLst/>
          </a:prstGeom>
          <a:noFill/>
          <a:ln cap="flat" cmpd="sng" w="19050">
            <a:solidFill>
              <a:srgbClr val="434343"/>
            </a:solidFill>
            <a:prstDash val="solid"/>
            <a:round/>
            <a:headEnd len="sm" w="sm" type="none"/>
            <a:tailEnd len="sm" w="sm" type="none"/>
          </a:ln>
        </p:spPr>
      </p:pic>
      <p:sp>
        <p:nvSpPr>
          <p:cNvPr id="377" name="Google Shape;377;p49"/>
          <p:cNvSpPr txBox="1"/>
          <p:nvPr/>
        </p:nvSpPr>
        <p:spPr>
          <a:xfrm>
            <a:off x="5061550" y="764525"/>
            <a:ext cx="4082400" cy="388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latin typeface="Roboto Mono"/>
                <a:ea typeface="Roboto Mono"/>
                <a:cs typeface="Roboto Mono"/>
                <a:sym typeface="Roboto Mono"/>
              </a:rPr>
              <a:t>Show: The top 10 development teams by average rating all score between roughly 4.4 and 4.6, with studios like Bay 12 Games, Kitfox Games, and Konami Digital Entertainment leading the industry. Notably, EA also appears in the top 10.</a:t>
            </a:r>
            <a:endParaRPr sz="1200">
              <a:latin typeface="Roboto Mono"/>
              <a:ea typeface="Roboto Mono"/>
              <a:cs typeface="Roboto Mono"/>
              <a:sym typeface="Roboto Mono"/>
            </a:endParaRPr>
          </a:p>
          <a:p>
            <a:pPr indent="0" lvl="0" marL="0" rtl="0" algn="l">
              <a:lnSpc>
                <a:spcPct val="115000"/>
              </a:lnSpc>
              <a:spcBef>
                <a:spcPts val="1200"/>
              </a:spcBef>
              <a:spcAft>
                <a:spcPts val="0"/>
              </a:spcAft>
              <a:buNone/>
            </a:pPr>
            <a:r>
              <a:rPr lang="en" sz="1200">
                <a:latin typeface="Roboto Mono"/>
                <a:ea typeface="Roboto Mono"/>
                <a:cs typeface="Roboto Mono"/>
                <a:sym typeface="Roboto Mono"/>
              </a:rPr>
              <a:t>Tell: Many of these top-rated teams are smaller or indie studios rather than major AAA publishers, which suggests that bigger doesn't always mean better in game development. EA's presence is surprising given its reputation among gamers, but this reflects a small number of highly rated titles pulling their average up. This is a limitation worth noting since teams with only one or two games can easily land at the top.</a:t>
            </a:r>
            <a:endParaRPr sz="1200">
              <a:latin typeface="Roboto Mono"/>
              <a:ea typeface="Roboto Mono"/>
              <a:cs typeface="Roboto Mono"/>
              <a:sym typeface="Roboto Mono"/>
            </a:endParaRPr>
          </a:p>
          <a:p>
            <a:pPr indent="0" lvl="0" marL="0" rtl="0" algn="l">
              <a:spcBef>
                <a:spcPts val="1200"/>
              </a:spcBef>
              <a:spcAft>
                <a:spcPts val="0"/>
              </a:spcAft>
              <a:buNone/>
            </a:pPr>
            <a:r>
              <a:t/>
            </a:r>
            <a:endParaRPr sz="1300">
              <a:solidFill>
                <a:schemeClr val="dk1"/>
              </a:solidFill>
              <a:latin typeface="Roboto Mono"/>
              <a:ea typeface="Roboto Mono"/>
              <a:cs typeface="Roboto Mono"/>
              <a:sym typeface="Roboto Mono"/>
            </a:endParaRPr>
          </a:p>
        </p:txBody>
      </p:sp>
      <p:sp>
        <p:nvSpPr>
          <p:cNvPr id="378" name="Google Shape;378;p49"/>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Updates</a:t>
            </a:r>
            <a:endParaRPr sz="3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0"/>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a:t>
            </a:r>
            <a:r>
              <a:rPr lang="en" sz="3800"/>
              <a:t>Mini Updates</a:t>
            </a:r>
            <a:endParaRPr sz="3800"/>
          </a:p>
        </p:txBody>
      </p:sp>
      <p:sp>
        <p:nvSpPr>
          <p:cNvPr id="384" name="Google Shape;384;p50"/>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pic>
        <p:nvPicPr>
          <p:cNvPr id="385" name="Google Shape;385;p50"/>
          <p:cNvPicPr preferRelativeResize="0"/>
          <p:nvPr/>
        </p:nvPicPr>
        <p:blipFill>
          <a:blip r:embed="rId3">
            <a:alphaModFix/>
          </a:blip>
          <a:stretch>
            <a:fillRect/>
          </a:stretch>
        </p:blipFill>
        <p:spPr>
          <a:xfrm>
            <a:off x="251926" y="778300"/>
            <a:ext cx="5431925" cy="2547775"/>
          </a:xfrm>
          <a:prstGeom prst="rect">
            <a:avLst/>
          </a:prstGeom>
          <a:noFill/>
          <a:ln cap="flat" cmpd="sng" w="19050">
            <a:solidFill>
              <a:srgbClr val="434343"/>
            </a:solidFill>
            <a:prstDash val="solid"/>
            <a:round/>
            <a:headEnd len="sm" w="sm" type="none"/>
            <a:tailEnd len="sm" w="sm" type="none"/>
          </a:ln>
        </p:spPr>
      </p:pic>
      <p:sp>
        <p:nvSpPr>
          <p:cNvPr id="386" name="Google Shape;386;p50"/>
          <p:cNvSpPr txBox="1"/>
          <p:nvPr/>
        </p:nvSpPr>
        <p:spPr>
          <a:xfrm>
            <a:off x="5878750" y="778300"/>
            <a:ext cx="30252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Roboto Mono"/>
                <a:ea typeface="Roboto Mono"/>
                <a:cs typeface="Roboto Mono"/>
                <a:sym typeface="Roboto Mono"/>
              </a:rPr>
              <a:t>Top 10 Most Played Games</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Show: Minecraft sits at the top with over 100,000 plays, noticeably ahead of every other game. Grand Theft Auto V and The Legend of Zelda: Breath of the Wild come in second and third with around 90,000 plays. The rest of the top 10 including Doom, Portal, Undertale, and Among Us are all pretty close to each other between 75,000 and 88,000 plays.</a:t>
            </a:r>
            <a:endParaRPr>
              <a:solidFill>
                <a:schemeClr val="dk1"/>
              </a:solidFill>
              <a:latin typeface="Roboto Mono"/>
              <a:ea typeface="Roboto Mono"/>
              <a:cs typeface="Roboto Mono"/>
              <a:sym typeface="Roboto Mono"/>
            </a:endParaRPr>
          </a:p>
        </p:txBody>
      </p:sp>
      <p:sp>
        <p:nvSpPr>
          <p:cNvPr id="387" name="Google Shape;387;p50"/>
          <p:cNvSpPr txBox="1"/>
          <p:nvPr/>
        </p:nvSpPr>
        <p:spPr>
          <a:xfrm>
            <a:off x="210288" y="3028400"/>
            <a:ext cx="53607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 Minecraft being number one is not surprising but the gap between it and everything else is bigger than expected. It also shows that older games like GTA V and Zelda still dominate play counts, meaning popularity does not fade quickly for well loved games.</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Updates</a:t>
            </a:r>
            <a:endParaRPr sz="3800"/>
          </a:p>
        </p:txBody>
      </p:sp>
      <p:sp>
        <p:nvSpPr>
          <p:cNvPr id="393" name="Google Shape;393;p51"/>
          <p:cNvSpPr txBox="1"/>
          <p:nvPr>
            <p:ph type="title"/>
          </p:nvPr>
        </p:nvSpPr>
        <p:spPr>
          <a:xfrm>
            <a:off x="867660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2</a:t>
            </a:r>
            <a:endParaRPr sz="3800"/>
          </a:p>
        </p:txBody>
      </p:sp>
      <p:pic>
        <p:nvPicPr>
          <p:cNvPr id="394" name="Google Shape;394;p51"/>
          <p:cNvPicPr preferRelativeResize="0"/>
          <p:nvPr/>
        </p:nvPicPr>
        <p:blipFill>
          <a:blip r:embed="rId4">
            <a:alphaModFix/>
          </a:blip>
          <a:stretch>
            <a:fillRect/>
          </a:stretch>
        </p:blipFill>
        <p:spPr>
          <a:xfrm>
            <a:off x="241379" y="808575"/>
            <a:ext cx="3958550" cy="3843124"/>
          </a:xfrm>
          <a:prstGeom prst="rect">
            <a:avLst/>
          </a:prstGeom>
          <a:noFill/>
          <a:ln cap="flat" cmpd="sng" w="19050">
            <a:solidFill>
              <a:srgbClr val="434343"/>
            </a:solidFill>
            <a:prstDash val="solid"/>
            <a:round/>
            <a:headEnd len="sm" w="sm" type="none"/>
            <a:tailEnd len="sm" w="sm" type="none"/>
          </a:ln>
        </p:spPr>
      </p:pic>
      <p:sp>
        <p:nvSpPr>
          <p:cNvPr id="395" name="Google Shape;395;p51"/>
          <p:cNvSpPr txBox="1"/>
          <p:nvPr/>
        </p:nvSpPr>
        <p:spPr>
          <a:xfrm>
            <a:off x="4250100" y="761625"/>
            <a:ext cx="48117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Roboto Mono"/>
                <a:ea typeface="Roboto Mono"/>
                <a:cs typeface="Roboto Mono"/>
                <a:sym typeface="Roboto Mono"/>
              </a:rPr>
              <a:t>Wishlist Count vs Rating</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Show: Most games have a wishlist count under 1,000 and ratings that range anywhere from 1 to 4.5. As wishlist count goes up, the ratings tend to stay above 3.5. There is one outlier sitting near 4,800 wishlists with a high rating around 4.5.</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Tell:</a:t>
            </a:r>
            <a:r>
              <a:rPr lang="en">
                <a:solidFill>
                  <a:schemeClr val="dk1"/>
                </a:solidFill>
                <a:latin typeface="Roboto Mono"/>
                <a:ea typeface="Roboto Mono"/>
                <a:cs typeface="Roboto Mono"/>
                <a:sym typeface="Roboto Mono"/>
              </a:rPr>
              <a:t> This graph suggests that games people actually want to play tend to live up to the hype.</a:t>
            </a:r>
            <a:r>
              <a:rPr lang="en">
                <a:solidFill>
                  <a:schemeClr val="dk1"/>
                </a:solidFill>
                <a:latin typeface="Roboto Mono"/>
                <a:ea typeface="Roboto Mono"/>
                <a:cs typeface="Roboto Mono"/>
                <a:sym typeface="Roboto Mono"/>
              </a:rPr>
              <a:t> Low rated games barely show up on wishlists at all, which makes sense since word of mouth probably stops people from adding bad games. The one outlier way out to the right is interesting since it has way more wishlist activity than anything else in the dataset.</a:t>
            </a:r>
            <a:endParaRPr>
              <a:solidFill>
                <a:schemeClr val="dk1"/>
              </a:solidFill>
              <a:latin typeface="Roboto Mono"/>
              <a:ea typeface="Roboto Mono"/>
              <a:cs typeface="Roboto Mono"/>
              <a:sym typeface="Roboto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2"/>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Progress Slide</a:t>
            </a:r>
            <a:endParaRPr sz="3800"/>
          </a:p>
        </p:txBody>
      </p:sp>
      <p:sp>
        <p:nvSpPr>
          <p:cNvPr id="401" name="Google Shape;401;p52"/>
          <p:cNvSpPr txBox="1"/>
          <p:nvPr/>
        </p:nvSpPr>
        <p:spPr>
          <a:xfrm>
            <a:off x="259200" y="664100"/>
            <a:ext cx="8625600" cy="420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Roboto Mono"/>
                <a:ea typeface="Roboto Mono"/>
                <a:cs typeface="Roboto Mono"/>
                <a:sym typeface="Roboto Mono"/>
              </a:rPr>
              <a:t>Accomplished:Cleaned the dataset by removing TBD dates, converting K values to numbers, and parsing genre and team columns. Created two data insight plots: a scatter plot exploring plays vs. rating and a bar chart of top 10 development teams by average rating.</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Plan for next week:Explore our remaining curious questions about genre trends over time and overhyped vs hidden gem games. Create 2-3 more data insight plots.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Obstacles:Some release dates had 'TBD' instead of actual dates which caused errors. Several numeric columns like Plays and Wishlist were stored as text with 'K' abbreviations that needed converting.</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Resources: datascience library, story </a:t>
            </a:r>
            <a:r>
              <a:rPr lang="en">
                <a:latin typeface="Roboto Mono"/>
                <a:ea typeface="Roboto Mono"/>
                <a:cs typeface="Roboto Mono"/>
                <a:sym typeface="Roboto Mono"/>
              </a:rPr>
              <a:t>studio</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Contributions: Nareh; cleaned data set, contributed 2 data insights.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			  Fatimah; contributed 2 data insights.</a:t>
            </a:r>
            <a:endParaRPr>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3"/>
          <p:cNvSpPr txBox="1"/>
          <p:nvPr>
            <p:ph idx="1" type="subTitle"/>
          </p:nvPr>
        </p:nvSpPr>
        <p:spPr>
          <a:xfrm>
            <a:off x="3429525" y="3887000"/>
            <a:ext cx="5174400" cy="66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(Data Profile, Curious Questions, target audience, &amp;&amp; communication goals);</a:t>
            </a:r>
            <a:endParaRPr sz="1600"/>
          </a:p>
        </p:txBody>
      </p:sp>
      <p:sp>
        <p:nvSpPr>
          <p:cNvPr id="407" name="Google Shape;407;p53"/>
          <p:cNvSpPr txBox="1"/>
          <p:nvPr>
            <p:ph type="title"/>
          </p:nvPr>
        </p:nvSpPr>
        <p:spPr>
          <a:xfrm>
            <a:off x="2007050" y="1605700"/>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#1</a:t>
            </a:r>
            <a:endParaRPr/>
          </a:p>
        </p:txBody>
      </p:sp>
      <p:sp>
        <p:nvSpPr>
          <p:cNvPr id="408" name="Google Shape;408;p53"/>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409" name="Google Shape;409;p53" title="cat.jpg"/>
          <p:cNvPicPr preferRelativeResize="0"/>
          <p:nvPr/>
        </p:nvPicPr>
        <p:blipFill>
          <a:blip r:embed="rId3">
            <a:alphaModFix/>
          </a:blip>
          <a:stretch>
            <a:fillRect/>
          </a:stretch>
        </p:blipFill>
        <p:spPr>
          <a:xfrm>
            <a:off x="6386650" y="1137600"/>
            <a:ext cx="2107350" cy="2111137"/>
          </a:xfrm>
          <a:prstGeom prst="rect">
            <a:avLst/>
          </a:prstGeom>
          <a:noFill/>
          <a:ln>
            <a:noFill/>
          </a:ln>
        </p:spPr>
      </p:pic>
      <p:grpSp>
        <p:nvGrpSpPr>
          <p:cNvPr id="410" name="Google Shape;410;p53"/>
          <p:cNvGrpSpPr/>
          <p:nvPr/>
        </p:nvGrpSpPr>
        <p:grpSpPr>
          <a:xfrm>
            <a:off x="6386650" y="947025"/>
            <a:ext cx="2107351" cy="265500"/>
            <a:chOff x="6386650" y="947025"/>
            <a:chExt cx="2107351" cy="265500"/>
          </a:xfrm>
        </p:grpSpPr>
        <p:pic>
          <p:nvPicPr>
            <p:cNvPr id="411" name="Google Shape;411;p53"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pic>
          <p:nvPicPr>
            <p:cNvPr id="412" name="Google Shape;412;p53"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4"/>
          <p:cNvSpPr txBox="1"/>
          <p:nvPr>
            <p:ph type="title"/>
          </p:nvPr>
        </p:nvSpPr>
        <p:spPr>
          <a:xfrm>
            <a:off x="3353399" y="-73300"/>
            <a:ext cx="24372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Data Profile</a:t>
            </a:r>
            <a:endParaRPr sz="3800"/>
          </a:p>
        </p:txBody>
      </p:sp>
      <p:graphicFrame>
        <p:nvGraphicFramePr>
          <p:cNvPr id="418" name="Google Shape;418;p54"/>
          <p:cNvGraphicFramePr/>
          <p:nvPr/>
        </p:nvGraphicFramePr>
        <p:xfrm>
          <a:off x="1262575" y="698363"/>
          <a:ext cx="3000000" cy="3000000"/>
        </p:xfrm>
        <a:graphic>
          <a:graphicData uri="http://schemas.openxmlformats.org/drawingml/2006/table">
            <a:tbl>
              <a:tblPr>
                <a:noFill/>
                <a:tableStyleId>{438DB5CF-45D0-4F0A-BDBD-7449CC713BA9}</a:tableStyleId>
              </a:tblPr>
              <a:tblGrid>
                <a:gridCol w="1271450"/>
                <a:gridCol w="1271450"/>
                <a:gridCol w="1646225"/>
                <a:gridCol w="1088475"/>
                <a:gridCol w="1341225"/>
              </a:tblGrid>
              <a:tr h="496150">
                <a:tc>
                  <a:txBody>
                    <a:bodyPr/>
                    <a:lstStyle/>
                    <a:p>
                      <a:pPr indent="0" lvl="0" marL="0" rtl="0" algn="l">
                        <a:spcBef>
                          <a:spcPts val="0"/>
                        </a:spcBef>
                        <a:spcAft>
                          <a:spcPts val="0"/>
                        </a:spcAft>
                        <a:buNone/>
                      </a:pPr>
                      <a:r>
                        <a:rPr lang="en" sz="1100"/>
                        <a:t>Column Name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Has missing value?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Data Type(Discrete or numeric or free 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Useful?</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Need cleaning or processing?</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335600">
                <a:tc>
                  <a:txBody>
                    <a:bodyPr/>
                    <a:lstStyle/>
                    <a:p>
                      <a:pPr indent="0" lvl="0" marL="0" rtl="0" algn="l">
                        <a:spcBef>
                          <a:spcPts val="0"/>
                        </a:spcBef>
                        <a:spcAft>
                          <a:spcPts val="0"/>
                        </a:spcAft>
                        <a:buNone/>
                      </a:pPr>
                      <a:r>
                        <a:rPr lang="en" sz="1100"/>
                        <a:t>Title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Release Date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convert to proper date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656650">
                <a:tc>
                  <a:txBody>
                    <a:bodyPr/>
                    <a:lstStyle/>
                    <a:p>
                      <a:pPr indent="0" lvl="0" marL="0" rtl="0" algn="l">
                        <a:spcBef>
                          <a:spcPts val="0"/>
                        </a:spcBef>
                        <a:spcAft>
                          <a:spcPts val="0"/>
                        </a:spcAft>
                        <a:buNone/>
                      </a:pPr>
                      <a:r>
                        <a:rPr lang="en" sz="1100"/>
                        <a:t>Team</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(1)</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it's stored as a string that looks like a list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Rating</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(13)</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Numeric</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handle missing value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Times Listed</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convert k to a value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Number of Reviews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same issue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Genres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stored as string</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5"/>
          <p:cNvSpPr txBox="1"/>
          <p:nvPr>
            <p:ph type="title"/>
          </p:nvPr>
        </p:nvSpPr>
        <p:spPr>
          <a:xfrm>
            <a:off x="3355813" y="-58625"/>
            <a:ext cx="24324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Data Profile</a:t>
            </a:r>
            <a:endParaRPr sz="3800"/>
          </a:p>
        </p:txBody>
      </p:sp>
      <p:graphicFrame>
        <p:nvGraphicFramePr>
          <p:cNvPr id="424" name="Google Shape;424;p55"/>
          <p:cNvGraphicFramePr/>
          <p:nvPr/>
        </p:nvGraphicFramePr>
        <p:xfrm>
          <a:off x="1262588" y="783850"/>
          <a:ext cx="3000000" cy="3000000"/>
        </p:xfrm>
        <a:graphic>
          <a:graphicData uri="http://schemas.openxmlformats.org/drawingml/2006/table">
            <a:tbl>
              <a:tblPr>
                <a:noFill/>
                <a:tableStyleId>{438DB5CF-45D0-4F0A-BDBD-7449CC713BA9}</a:tableStyleId>
              </a:tblPr>
              <a:tblGrid>
                <a:gridCol w="1271450"/>
                <a:gridCol w="1271450"/>
                <a:gridCol w="1646225"/>
                <a:gridCol w="1088475"/>
                <a:gridCol w="1341225"/>
              </a:tblGrid>
              <a:tr h="496150">
                <a:tc>
                  <a:txBody>
                    <a:bodyPr/>
                    <a:lstStyle/>
                    <a:p>
                      <a:pPr indent="0" lvl="0" marL="0" rtl="0" algn="l">
                        <a:spcBef>
                          <a:spcPts val="0"/>
                        </a:spcBef>
                        <a:spcAft>
                          <a:spcPts val="0"/>
                        </a:spcAft>
                        <a:buNone/>
                      </a:pPr>
                      <a:r>
                        <a:rPr lang="en" sz="1100"/>
                        <a:t>Column Name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Has missing value?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Data Type(Discrete or numeric or free 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Useful?</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Need cleaning or processing?</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335600">
                <a:tc>
                  <a:txBody>
                    <a:bodyPr/>
                    <a:lstStyle/>
                    <a:p>
                      <a:pPr indent="0" lvl="0" marL="0" rtl="0" algn="l">
                        <a:spcBef>
                          <a:spcPts val="0"/>
                        </a:spcBef>
                        <a:spcAft>
                          <a:spcPts val="0"/>
                        </a:spcAft>
                        <a:buNone/>
                      </a:pPr>
                      <a:r>
                        <a:rPr lang="en" sz="1100"/>
                        <a:t>Summary</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(1)</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Maybe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Reviews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Maybe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656650">
                <a:tc>
                  <a:txBody>
                    <a:bodyPr/>
                    <a:lstStyle/>
                    <a:p>
                      <a:pPr indent="0" lvl="0" marL="0" rtl="0" algn="l">
                        <a:spcBef>
                          <a:spcPts val="0"/>
                        </a:spcBef>
                        <a:spcAft>
                          <a:spcPts val="0"/>
                        </a:spcAft>
                        <a:buNone/>
                      </a:pPr>
                      <a:r>
                        <a:rPr lang="en" sz="1100"/>
                        <a:t>Plays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"K" conversion issue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Playing</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"K" conversion issue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Backlogs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"K" conversion issue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496150">
                <a:tc>
                  <a:txBody>
                    <a:bodyPr/>
                    <a:lstStyle/>
                    <a:p>
                      <a:pPr indent="0" lvl="0" marL="0" rtl="0" algn="l">
                        <a:spcBef>
                          <a:spcPts val="0"/>
                        </a:spcBef>
                        <a:spcAft>
                          <a:spcPts val="0"/>
                        </a:spcAft>
                        <a:buNone/>
                      </a:pPr>
                      <a:r>
                        <a:rPr lang="en" sz="1100"/>
                        <a:t>Wishlist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No</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text</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sz="1100"/>
                        <a:t>Yes, "K" conversion issue</a:t>
                      </a:r>
                      <a:endParaRPr sz="1100"/>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bl>
          </a:graphicData>
        </a:graphic>
      </p:graphicFrame>
      <p:sp>
        <p:nvSpPr>
          <p:cNvPr id="425" name="Google Shape;425;p55"/>
          <p:cNvSpPr txBox="1"/>
          <p:nvPr>
            <p:ph idx="4294967295" type="subTitle"/>
          </p:nvPr>
        </p:nvSpPr>
        <p:spPr>
          <a:xfrm flipH="1" rot="461">
            <a:off x="210325" y="4391699"/>
            <a:ext cx="6710100" cy="8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00000"/>
                </a:solidFill>
              </a:rPr>
              <a:t>This dataset has 1,512 rows and 14 columns</a:t>
            </a:r>
            <a:endParaRPr sz="1700">
              <a:solidFill>
                <a:srgbClr val="000000"/>
              </a:solidFill>
            </a:endParaRPr>
          </a:p>
          <a:p>
            <a:pPr indent="0" lvl="0" marL="0" rtl="0" algn="l">
              <a:spcBef>
                <a:spcPts val="0"/>
              </a:spcBef>
              <a:spcAft>
                <a:spcPts val="0"/>
              </a:spcAft>
              <a:buNone/>
            </a:pPr>
            <a:r>
              <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6"/>
          <p:cNvSpPr txBox="1"/>
          <p:nvPr>
            <p:ph type="title"/>
          </p:nvPr>
        </p:nvSpPr>
        <p:spPr>
          <a:xfrm>
            <a:off x="2813700" y="-58625"/>
            <a:ext cx="351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Curious Questions</a:t>
            </a:r>
            <a:endParaRPr sz="3800"/>
          </a:p>
        </p:txBody>
      </p:sp>
      <p:sp>
        <p:nvSpPr>
          <p:cNvPr id="431" name="Google Shape;431;p56"/>
          <p:cNvSpPr txBox="1"/>
          <p:nvPr>
            <p:ph idx="4294967295" type="body"/>
          </p:nvPr>
        </p:nvSpPr>
        <p:spPr>
          <a:xfrm>
            <a:off x="463500" y="895800"/>
            <a:ext cx="8217000" cy="3978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solidFill>
                  <a:srgbClr val="000000"/>
                </a:solidFill>
              </a:rPr>
              <a:t>What makes a game highly rated? Do certain genres, team sizes, or release years tend to produce a higher rating?</a:t>
            </a:r>
            <a:endParaRPr sz="1500">
              <a:solidFill>
                <a:srgbClr val="000000"/>
              </a:solidFill>
            </a:endParaRPr>
          </a:p>
          <a:p>
            <a:pPr indent="0" lvl="0" marL="457200" rtl="0" algn="l">
              <a:spcBef>
                <a:spcPts val="0"/>
              </a:spcBef>
              <a:spcAft>
                <a:spcPts val="0"/>
              </a:spcAft>
              <a:buNone/>
            </a:pPr>
            <a:r>
              <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How has the gaming landscape changed over time? Are certain genres becoming more or less popular over the years? Are more games being released now than before?</a:t>
            </a:r>
            <a:endParaRPr sz="1500">
              <a:solidFill>
                <a:srgbClr val="000000"/>
              </a:solidFill>
            </a:endParaRPr>
          </a:p>
          <a:p>
            <a:pPr indent="0" lvl="0" marL="457200" rtl="0" algn="l">
              <a:spcBef>
                <a:spcPts val="0"/>
              </a:spcBef>
              <a:spcAft>
                <a:spcPts val="0"/>
              </a:spcAft>
              <a:buNone/>
            </a:pPr>
            <a:r>
              <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What games are the most "overhyped"? Which games have tons of plays but low ratings, and which hidden gems have few plays but amazing ratings?</a:t>
            </a:r>
            <a:endParaRPr sz="1500">
              <a:solidFill>
                <a:srgbClr val="000000"/>
              </a:solidFill>
            </a:endParaRPr>
          </a:p>
          <a:p>
            <a:pPr indent="0" lvl="0" marL="457200" rtl="0" algn="l">
              <a:spcBef>
                <a:spcPts val="0"/>
              </a:spcBef>
              <a:spcAft>
                <a:spcPts val="0"/>
              </a:spcAft>
              <a:buNone/>
            </a:pPr>
            <a:r>
              <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Which development teams consistently make the best games? Are there studios that make popular games every time, and what do they have in common?</a:t>
            </a:r>
            <a:endParaRPr sz="15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7"/>
          <p:cNvSpPr txBox="1"/>
          <p:nvPr>
            <p:ph type="title"/>
          </p:nvPr>
        </p:nvSpPr>
        <p:spPr>
          <a:xfrm>
            <a:off x="1777950" y="0"/>
            <a:ext cx="5405100" cy="6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Audience and Communication Goals</a:t>
            </a:r>
            <a:endParaRPr/>
          </a:p>
        </p:txBody>
      </p:sp>
      <p:sp>
        <p:nvSpPr>
          <p:cNvPr id="437" name="Google Shape;437;p57"/>
          <p:cNvSpPr txBox="1"/>
          <p:nvPr>
            <p:ph idx="3" type="subTitle"/>
          </p:nvPr>
        </p:nvSpPr>
        <p:spPr>
          <a:xfrm>
            <a:off x="316153" y="1251586"/>
            <a:ext cx="3941400" cy="116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Independent and mid sized gaming studios seeking to understand market trends or player preferences</a:t>
            </a:r>
            <a:endParaRPr sz="1700"/>
          </a:p>
        </p:txBody>
      </p:sp>
      <p:sp>
        <p:nvSpPr>
          <p:cNvPr id="438" name="Google Shape;438;p57"/>
          <p:cNvSpPr txBox="1"/>
          <p:nvPr>
            <p:ph idx="4" type="subTitle"/>
          </p:nvPr>
        </p:nvSpPr>
        <p:spPr>
          <a:xfrm>
            <a:off x="4357875" y="3061250"/>
            <a:ext cx="4556400" cy="17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To provide data-driven insights into consumer preferences to enable developers to make more informed decisions during the game design process.</a:t>
            </a:r>
            <a:endParaRPr sz="1700"/>
          </a:p>
        </p:txBody>
      </p:sp>
      <p:sp>
        <p:nvSpPr>
          <p:cNvPr id="439" name="Google Shape;439;p57"/>
          <p:cNvSpPr txBox="1"/>
          <p:nvPr>
            <p:ph idx="1" type="subTitle"/>
          </p:nvPr>
        </p:nvSpPr>
        <p:spPr>
          <a:xfrm>
            <a:off x="316153" y="732100"/>
            <a:ext cx="39414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100"/>
              <a:t>Audience</a:t>
            </a:r>
            <a:endParaRPr sz="3100"/>
          </a:p>
        </p:txBody>
      </p:sp>
      <p:sp>
        <p:nvSpPr>
          <p:cNvPr id="440" name="Google Shape;440;p57"/>
          <p:cNvSpPr txBox="1"/>
          <p:nvPr>
            <p:ph idx="2" type="subTitle"/>
          </p:nvPr>
        </p:nvSpPr>
        <p:spPr>
          <a:xfrm>
            <a:off x="4257553" y="2561826"/>
            <a:ext cx="39414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100"/>
              <a:t>Communication Goals</a:t>
            </a:r>
            <a:endParaRPr sz="3100"/>
          </a:p>
        </p:txBody>
      </p:sp>
      <p:pic>
        <p:nvPicPr>
          <p:cNvPr id="441" name="Google Shape;441;p57"/>
          <p:cNvPicPr preferRelativeResize="0"/>
          <p:nvPr/>
        </p:nvPicPr>
        <p:blipFill>
          <a:blip r:embed="rId4">
            <a:alphaModFix/>
          </a:blip>
          <a:stretch>
            <a:fillRect/>
          </a:stretch>
        </p:blipFill>
        <p:spPr>
          <a:xfrm>
            <a:off x="310475" y="2629611"/>
            <a:ext cx="3952752" cy="2075195"/>
          </a:xfrm>
          <a:prstGeom prst="rect">
            <a:avLst/>
          </a:prstGeom>
          <a:noFill/>
          <a:ln>
            <a:noFill/>
          </a:ln>
        </p:spPr>
      </p:pic>
      <p:pic>
        <p:nvPicPr>
          <p:cNvPr id="442" name="Google Shape;442;p57"/>
          <p:cNvPicPr preferRelativeResize="0"/>
          <p:nvPr/>
        </p:nvPicPr>
        <p:blipFill rotWithShape="1">
          <a:blip r:embed="rId5">
            <a:alphaModFix/>
          </a:blip>
          <a:srcRect b="0" l="16430" r="0" t="0"/>
          <a:stretch/>
        </p:blipFill>
        <p:spPr>
          <a:xfrm>
            <a:off x="4843098" y="732100"/>
            <a:ext cx="3910127" cy="1874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8"/>
          <p:cNvSpPr txBox="1"/>
          <p:nvPr>
            <p:ph type="title"/>
          </p:nvPr>
        </p:nvSpPr>
        <p:spPr>
          <a:xfrm>
            <a:off x="1860500" y="1659175"/>
            <a:ext cx="3459000" cy="152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Update #6</a:t>
            </a:r>
            <a:endParaRPr/>
          </a:p>
        </p:txBody>
      </p:sp>
      <p:sp>
        <p:nvSpPr>
          <p:cNvPr id="448" name="Google Shape;448;p58"/>
          <p:cNvSpPr txBox="1"/>
          <p:nvPr>
            <p:ph idx="2" type="title"/>
          </p:nvPr>
        </p:nvSpPr>
        <p:spPr>
          <a:xfrm>
            <a:off x="779673" y="1910725"/>
            <a:ext cx="778200" cy="76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449" name="Google Shape;449;p58"/>
          <p:cNvGrpSpPr/>
          <p:nvPr/>
        </p:nvGrpSpPr>
        <p:grpSpPr>
          <a:xfrm>
            <a:off x="6321457" y="870564"/>
            <a:ext cx="2172468" cy="273704"/>
            <a:chOff x="6386650" y="947025"/>
            <a:chExt cx="2107351" cy="265500"/>
          </a:xfrm>
        </p:grpSpPr>
        <p:pic>
          <p:nvPicPr>
            <p:cNvPr id="450" name="Google Shape;450;p58"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pic>
          <p:nvPicPr>
            <p:cNvPr id="451" name="Google Shape;451;p58" title="Sin título-2.png"/>
            <p:cNvPicPr preferRelativeResize="0"/>
            <p:nvPr/>
          </p:nvPicPr>
          <p:blipFill rotWithShape="1">
            <a:blip r:embed="rId3">
              <a:alphaModFix/>
            </a:blip>
            <a:srcRect b="0" l="71707" r="0" t="0"/>
            <a:stretch/>
          </p:blipFill>
          <p:spPr>
            <a:xfrm>
              <a:off x="6386650" y="947025"/>
              <a:ext cx="2107351" cy="265500"/>
            </a:xfrm>
            <a:prstGeom prst="rect">
              <a:avLst/>
            </a:prstGeom>
            <a:noFill/>
            <a:ln>
              <a:noFill/>
            </a:ln>
          </p:spPr>
        </p:pic>
      </p:grpSp>
      <p:pic>
        <p:nvPicPr>
          <p:cNvPr id="452" name="Google Shape;452;p58"/>
          <p:cNvPicPr preferRelativeResize="0"/>
          <p:nvPr/>
        </p:nvPicPr>
        <p:blipFill>
          <a:blip r:embed="rId4">
            <a:alphaModFix/>
          </a:blip>
          <a:stretch>
            <a:fillRect/>
          </a:stretch>
        </p:blipFill>
        <p:spPr>
          <a:xfrm>
            <a:off x="6321450" y="1144275"/>
            <a:ext cx="2172474" cy="1811879"/>
          </a:xfrm>
          <a:prstGeom prst="rect">
            <a:avLst/>
          </a:prstGeom>
          <a:noFill/>
          <a:ln>
            <a:noFill/>
          </a:ln>
        </p:spPr>
      </p:pic>
      <p:sp>
        <p:nvSpPr>
          <p:cNvPr id="453" name="Google Shape;453;p58"/>
          <p:cNvSpPr txBox="1"/>
          <p:nvPr>
            <p:ph idx="1" type="subTitle"/>
          </p:nvPr>
        </p:nvSpPr>
        <p:spPr>
          <a:xfrm>
            <a:off x="4076550" y="3993450"/>
            <a:ext cx="4370700" cy="4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(Final Weekly Mini Update);</a:t>
            </a:r>
            <a:endParaRPr sz="17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9"/>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Nareh’s Mini Update</a:t>
            </a:r>
            <a:endParaRPr sz="3800"/>
          </a:p>
        </p:txBody>
      </p:sp>
      <p:sp>
        <p:nvSpPr>
          <p:cNvPr id="459" name="Google Shape;459;p59"/>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0"/>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Fatimah’s Mini Update</a:t>
            </a:r>
            <a:endParaRPr sz="3800"/>
          </a:p>
        </p:txBody>
      </p:sp>
      <p:sp>
        <p:nvSpPr>
          <p:cNvPr id="465" name="Google Shape;465;p60"/>
          <p:cNvSpPr txBox="1"/>
          <p:nvPr>
            <p:ph type="title"/>
          </p:nvPr>
        </p:nvSpPr>
        <p:spPr>
          <a:xfrm>
            <a:off x="8699350" y="4297625"/>
            <a:ext cx="385200" cy="6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1</a:t>
            </a:r>
            <a:endParaRPr sz="3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1"/>
          <p:cNvSpPr txBox="1"/>
          <p:nvPr>
            <p:ph type="title"/>
          </p:nvPr>
        </p:nvSpPr>
        <p:spPr>
          <a:xfrm>
            <a:off x="210300" y="-87925"/>
            <a:ext cx="7866600" cy="69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Progress Slide</a:t>
            </a:r>
            <a:endParaRPr sz="3800"/>
          </a:p>
        </p:txBody>
      </p:sp>
      <p:sp>
        <p:nvSpPr>
          <p:cNvPr id="471" name="Google Shape;471;p61"/>
          <p:cNvSpPr txBox="1"/>
          <p:nvPr/>
        </p:nvSpPr>
        <p:spPr>
          <a:xfrm>
            <a:off x="208200" y="697450"/>
            <a:ext cx="8775600" cy="416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Roboto Mono"/>
                <a:ea typeface="Roboto Mono"/>
                <a:cs typeface="Roboto Mono"/>
                <a:sym typeface="Roboto Mono"/>
              </a:rPr>
              <a:t>Accomplished:</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Plan for next week: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Obstacles: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Resources:</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rPr lang="en">
                <a:latin typeface="Roboto Mono"/>
                <a:ea typeface="Roboto Mono"/>
                <a:cs typeface="Roboto Mono"/>
                <a:sym typeface="Roboto Mono"/>
              </a:rPr>
              <a:t>Contributions: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a:latin typeface="Roboto Mono"/>
              <a:ea typeface="Roboto Mono"/>
              <a:cs typeface="Roboto Mono"/>
              <a:sym typeface="Roboto Mono"/>
            </a:endParaRPr>
          </a:p>
          <a:p>
            <a:pPr indent="0" lvl="0" marL="0" rtl="0" algn="l">
              <a:lnSpc>
                <a:spcPct val="115000"/>
              </a:lnSpc>
              <a:spcBef>
                <a:spcPts val="1200"/>
              </a:spcBef>
              <a:spcAft>
                <a:spcPts val="1200"/>
              </a:spcAft>
              <a:buNone/>
            </a:pPr>
            <a:r>
              <a:t/>
            </a:r>
            <a:endParaRPr>
              <a:latin typeface="Roboto Mono"/>
              <a:ea typeface="Roboto Mono"/>
              <a:cs typeface="Roboto Mono"/>
              <a:sym typeface="Roboto Mono"/>
            </a:endParaRPr>
          </a:p>
        </p:txBody>
      </p:sp>
    </p:spTree>
  </p:cSld>
  <p:clrMapOvr>
    <a:masterClrMapping/>
  </p:clrMapOvr>
</p:sld>
</file>

<file path=ppt/theme/theme1.xml><?xml version="1.0" encoding="utf-8"?>
<a:theme xmlns:a="http://schemas.openxmlformats.org/drawingml/2006/main" xmlns:r="http://schemas.openxmlformats.org/officeDocument/2006/relationships"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