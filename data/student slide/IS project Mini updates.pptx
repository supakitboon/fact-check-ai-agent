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PT Sans Narrow"/>
      <p:regular r:id="rId27"/>
      <p:bold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3"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TSansNarrow-bold.fntdata"/><Relationship Id="rId27" Type="http://schemas.openxmlformats.org/officeDocument/2006/relationships/font" Target="fonts/PTSansNarrow-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8T22:28:00.885">
    <p:pos x="196" y="280"/>
    <p:text>@bhowe2@umbc.edu @annam6@umbc.edu this week's four data insights seems to be more coordinated, I would like to challenge you to think whether there is a measure that could predict winning team better than any of the direct measure you are exploring, it can be a derived variable based on your domain knowledge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21T03:51:08.479">
    <p:pos x="3241" y="797"/>
    <p:text>I don't see in the plots you show those information, if want to visualize this finding, then I imagine you could plot a histogram to show the distribution of the PPG across all players, not just top 10 @annam6@umbc.edu</p:text>
  </p:cm>
  <p:cm authorId="0" idx="3" dt="2026-04-21T03:51:43.103">
    <p:pos x="3241" y="897"/>
    <p:text>well, you don't know whether it is rare if you only show top10</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1T03:53:41.822">
    <p:pos x="2806" y="821"/>
    <p:text>@bhowe2@umbc.edu this plot complements with Anna's plot will tells a story better, do you talk to each other? make sure you coordinate with each other and avoid duplication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1T03:55:16.711">
    <p:pos x="196" y="797"/>
    <p:text>@bhowe2@umbc.edu @annam6@umbc.edu ask more questions is good but you need to produce more data insights, 2-3 min data insights/member</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15T02:18:35.877">
    <p:pos x="3336" y="859"/>
    <p:text>@bhowe2@umbc.edu interesting finding, I like how you are able to integrate with your domain knowledge. Follow up with your curious question, this is what a data scientist would do!</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15T02:21:57.908">
    <p:pos x="100" y="779"/>
    <p:text>@annam6@umbc.edu it is a great start, I like how your knowledge of basket is coming to live.  it seems like you can derive some "effectiveness" like variable to characterize player.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15T02:23:54.974">
    <p:pos x="196" y="797"/>
    <p:text>you definitely on the right track, your could follow along with your subsequent question, when feeling lost, getting back to your original curious questions and communication goal.  also consider deriving new variables. Aim for 2-3 insights/week/person</p:text>
  </p:cm>
  <p:cm authorId="0" idx="9" dt="2026-04-15T02:30:10.440">
    <p:pos x="196" y="280"/>
    <p:text>also please move the most recent week update to the front</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15T02:24:34.449">
    <p:pos x="0" y="371"/>
    <p:text>@annam6@umbc.edu @bhowe2@umbc.edu what about other 28 columns?</p:text>
  </p:cm>
  <p:cm authorId="0" idx="11" dt="2026-04-15T02:24:34.449">
    <p:pos x="0" y="371"/>
    <p:text>okay</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08T04:05:16.048">
    <p:pos x="196" y="280"/>
    <p:text>you only need to have one set of curious questions, and audience and communication goals, also consider align your communication goals with audience in case the goals may vary by audience</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6-04-08T04:02:08.294">
    <p:pos x="196" y="797"/>
    <p:text>this sounds interesting, which type of audience will like those information?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a6d2387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a6d2387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8dbc6c70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8dbc6c70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8dbc6c7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8dbc6c7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8bc1328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8bc1328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8bc13287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8bc13287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8dbc6c70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8dbc6c70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8dbc6c70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8dbc6c70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65cf3089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65cf3089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66509c6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66509c6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66509c69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66509c69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65cf3089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65cf3089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550b1e19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550b1e19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550b1e19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550b1e19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550b1e19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550b1e19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550b1e1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550b1e1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3f322a0c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3f322a0c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3f322a0c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3f322a0c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47815eca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47815eca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3f322a0c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3f322a0c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6.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8.xml"/><Relationship Id="rId4" Type="http://schemas.openxmlformats.org/officeDocument/2006/relationships/hyperlink" Target="https://docs.google.com/spreadsheets/d/1TsghxFWiK-NHE4CaMbX1p-QQBlQih_dUIpUvzrBDwkE/edit?usp=shar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omments" Target="../comments/commen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Project Mini Updates</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Brittany Howe &amp; Anna Miller</a:t>
            </a:r>
            <a:endParaRPr/>
          </a:p>
          <a:p>
            <a:pPr indent="0" lvl="0" marL="0" rtl="0" algn="ctr">
              <a:spcBef>
                <a:spcPts val="0"/>
              </a:spcBef>
              <a:spcAft>
                <a:spcPts val="0"/>
              </a:spcAft>
              <a:buNone/>
            </a:pPr>
            <a:r>
              <a:rPr lang="en"/>
              <a:t>T1:NBA Stats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5 Storyboard Brittany&amp;Anna</a:t>
            </a:r>
            <a:endParaRPr/>
          </a:p>
        </p:txBody>
      </p:sp>
      <p:pic>
        <p:nvPicPr>
          <p:cNvPr id="73" name="Google Shape;73;p14" title="Screenshot 2026-05-02 at 2.12.38 PM.png"/>
          <p:cNvPicPr preferRelativeResize="0"/>
          <p:nvPr/>
        </p:nvPicPr>
        <p:blipFill>
          <a:blip r:embed="rId3">
            <a:alphaModFix/>
          </a:blip>
          <a:stretch>
            <a:fillRect/>
          </a:stretch>
        </p:blipFill>
        <p:spPr>
          <a:xfrm>
            <a:off x="470050" y="1186550"/>
            <a:ext cx="6884127" cy="3462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4-Data Insight Brittany </a:t>
            </a:r>
            <a:endParaRPr/>
          </a:p>
        </p:txBody>
      </p:sp>
      <p:sp>
        <p:nvSpPr>
          <p:cNvPr id="79" name="Google Shape;79;p15"/>
          <p:cNvSpPr txBox="1"/>
          <p:nvPr>
            <p:ph idx="1" type="body"/>
          </p:nvPr>
        </p:nvSpPr>
        <p:spPr>
          <a:xfrm>
            <a:off x="311700" y="1266325"/>
            <a:ext cx="5139300" cy="3302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I made this graph to </a:t>
            </a:r>
            <a:r>
              <a:rPr lang="en"/>
              <a:t>compare the total offensive rebounds by every NBA team in the 2021-2022 playoffs. I wanted to see if the offensive rebounds affected the whole performance of the team. Because GSW won the playoffs, it makes sense that they were third in this stat. What is interesting though is that the second place team, BOS, was 9th in this stat and they were the runner up in the playoffs. This tells me that offensive rebounds definitely help teams, but it is not the sole factor contributing to their wins. A team does not have to be that great at offensive rebounding, but if they are, it will definitely improve their chances at winning.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wonder if this is the case with defensive rebounds as well? </a:t>
            </a:r>
            <a:endParaRPr/>
          </a:p>
          <a:p>
            <a:pPr indent="0" lvl="0" marL="0" rtl="0" algn="l">
              <a:spcBef>
                <a:spcPts val="0"/>
              </a:spcBef>
              <a:spcAft>
                <a:spcPts val="1200"/>
              </a:spcAft>
              <a:buNone/>
            </a:pPr>
            <a:r>
              <a:t/>
            </a:r>
            <a:endParaRPr/>
          </a:p>
        </p:txBody>
      </p:sp>
      <p:pic>
        <p:nvPicPr>
          <p:cNvPr id="80" name="Google Shape;80;p15" title="Screenshot 2026-04-23 at 10.25.29 AM.png"/>
          <p:cNvPicPr preferRelativeResize="0"/>
          <p:nvPr/>
        </p:nvPicPr>
        <p:blipFill>
          <a:blip r:embed="rId3">
            <a:alphaModFix/>
          </a:blip>
          <a:stretch>
            <a:fillRect/>
          </a:stretch>
        </p:blipFill>
        <p:spPr>
          <a:xfrm>
            <a:off x="5338621" y="994350"/>
            <a:ext cx="3644998" cy="23773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Data Insight Brittany</a:t>
            </a:r>
            <a:endParaRPr/>
          </a:p>
        </p:txBody>
      </p:sp>
      <p:sp>
        <p:nvSpPr>
          <p:cNvPr id="86" name="Google Shape;86;p16"/>
          <p:cNvSpPr txBox="1"/>
          <p:nvPr>
            <p:ph idx="1" type="body"/>
          </p:nvPr>
        </p:nvSpPr>
        <p:spPr>
          <a:xfrm>
            <a:off x="311700" y="1266325"/>
            <a:ext cx="4899000" cy="33027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t>This graph shows the total defensive rebounds by every team in the 2021-2022 NBA playoffs. Because I saw that the offensive rebounds had some impact on the success of the team, I wanted to see if defensive rebounds had a similar pattern. What I found was that the top two finishing teams in the NBA playoffs were in the top 6 in defensive rebounds. The winning team was 4th, the runner up was 6th. The top teams in the playoffs were not the absolute best in defensive rebounds, but they still had good defensive rebounding numbers. Similar to the offensive rebounds, teams should still strive to be good at defensive rebounds, but it is not the end of the world if they are not. A team can still be successful if they are not particularly good at them, but if a team is good at defensive rebounding, it will definitely contribute to their success. </a:t>
            </a:r>
            <a:endParaRPr/>
          </a:p>
          <a:p>
            <a:pPr indent="0" lvl="0" marL="0" rtl="0" algn="l">
              <a:spcBef>
                <a:spcPts val="1200"/>
              </a:spcBef>
              <a:spcAft>
                <a:spcPts val="1200"/>
              </a:spcAft>
              <a:buNone/>
            </a:pPr>
            <a:r>
              <a:rPr lang="en"/>
              <a:t>I wonder if there is one particular stat that heavily correlates with the success of a team? What is a stat that immediately makes a teams chances of losing fall dramatically? </a:t>
            </a:r>
            <a:endParaRPr/>
          </a:p>
        </p:txBody>
      </p:sp>
      <p:pic>
        <p:nvPicPr>
          <p:cNvPr id="87" name="Google Shape;87;p16" title="Screenshot 2026-04-23 at 10.53.07 AM.png"/>
          <p:cNvPicPr preferRelativeResize="0"/>
          <p:nvPr/>
        </p:nvPicPr>
        <p:blipFill>
          <a:blip r:embed="rId3">
            <a:alphaModFix/>
          </a:blip>
          <a:stretch>
            <a:fillRect/>
          </a:stretch>
        </p:blipFill>
        <p:spPr>
          <a:xfrm>
            <a:off x="5254950" y="1382050"/>
            <a:ext cx="3785102" cy="24687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Data Insight Anna</a:t>
            </a:r>
            <a:endParaRPr/>
          </a:p>
        </p:txBody>
      </p:sp>
      <p:sp>
        <p:nvSpPr>
          <p:cNvPr id="93" name="Google Shape;93;p17"/>
          <p:cNvSpPr txBox="1"/>
          <p:nvPr>
            <p:ph idx="1" type="body"/>
          </p:nvPr>
        </p:nvSpPr>
        <p:spPr>
          <a:xfrm>
            <a:off x="5367300" y="1154125"/>
            <a:ext cx="3465000" cy="38772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SzPts val="935"/>
              <a:buNone/>
            </a:pPr>
            <a:r>
              <a:rPr lang="en" sz="1430"/>
              <a:t>I created this graph to compare the total free throws made by each NBA team during the 2021-2022 playoffs. The goal was to see which teams relied </a:t>
            </a:r>
            <a:r>
              <a:rPr lang="en" sz="1430"/>
              <a:t>more</a:t>
            </a:r>
            <a:r>
              <a:rPr lang="en" sz="1430"/>
              <a:t> on drawing fouls and scoring from the FT line. The results show clear differences in how </a:t>
            </a:r>
            <a:r>
              <a:rPr lang="en" sz="1430"/>
              <a:t>often</a:t>
            </a:r>
            <a:r>
              <a:rPr lang="en" sz="1430"/>
              <a:t> they reach the line. Interestingly GSW who won the championship that year, was second to last in FT made. This suggests their </a:t>
            </a:r>
            <a:r>
              <a:rPr lang="en" sz="1430"/>
              <a:t>succes was not based on physical play or driving to the </a:t>
            </a:r>
            <a:r>
              <a:rPr lang="en" sz="1430"/>
              <a:t> basket, but instead on </a:t>
            </a:r>
            <a:r>
              <a:rPr lang="en" sz="1430"/>
              <a:t>their</a:t>
            </a:r>
            <a:r>
              <a:rPr lang="en" sz="1430"/>
              <a:t> perimeter shooting. I will evalute this with my next graph.</a:t>
            </a:r>
            <a:endParaRPr sz="1430"/>
          </a:p>
        </p:txBody>
      </p:sp>
      <p:pic>
        <p:nvPicPr>
          <p:cNvPr id="94" name="Google Shape;94;p17"/>
          <p:cNvPicPr preferRelativeResize="0"/>
          <p:nvPr/>
        </p:nvPicPr>
        <p:blipFill>
          <a:blip r:embed="rId3">
            <a:alphaModFix/>
          </a:blip>
          <a:stretch>
            <a:fillRect/>
          </a:stretch>
        </p:blipFill>
        <p:spPr>
          <a:xfrm>
            <a:off x="83825" y="1312900"/>
            <a:ext cx="5023101" cy="35596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Data Insight Anna</a:t>
            </a:r>
            <a:endParaRPr/>
          </a:p>
        </p:txBody>
      </p:sp>
      <p:sp>
        <p:nvSpPr>
          <p:cNvPr id="100" name="Google Shape;100;p18"/>
          <p:cNvSpPr txBox="1"/>
          <p:nvPr>
            <p:ph idx="1" type="body"/>
          </p:nvPr>
        </p:nvSpPr>
        <p:spPr>
          <a:xfrm>
            <a:off x="4961725" y="1266325"/>
            <a:ext cx="3870600" cy="3877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I created this graph to compare the total number of three pointers made by each team during the 2021-2022 playoffs. The goal was to analyze how teams relied on </a:t>
            </a:r>
            <a:r>
              <a:rPr lang="en"/>
              <a:t>perimeter</a:t>
            </a:r>
            <a:r>
              <a:rPr lang="en"/>
              <a:t> shooting as part of their offensive strategy. The result showed that GSW had the second highest number of 3P made among all playoff teams. Thus supports my original idea that GSW’s success is heavily driven by their 3P shooting ability. Their offense is showing to be centered around the perimiter.</a:t>
            </a:r>
            <a:endParaRPr/>
          </a:p>
        </p:txBody>
      </p:sp>
      <p:pic>
        <p:nvPicPr>
          <p:cNvPr id="101" name="Google Shape;101;p18"/>
          <p:cNvPicPr preferRelativeResize="0"/>
          <p:nvPr/>
        </p:nvPicPr>
        <p:blipFill>
          <a:blip r:embed="rId3">
            <a:alphaModFix/>
          </a:blip>
          <a:stretch>
            <a:fillRect/>
          </a:stretch>
        </p:blipFill>
        <p:spPr>
          <a:xfrm>
            <a:off x="152400" y="1304825"/>
            <a:ext cx="4685376" cy="330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a:t>
            </a:r>
            <a:r>
              <a:rPr lang="en"/>
              <a:t> Update 4- Data Feedback Brittany </a:t>
            </a:r>
            <a:endParaRPr/>
          </a:p>
        </p:txBody>
      </p:sp>
      <p:sp>
        <p:nvSpPr>
          <p:cNvPr id="107" name="Google Shape;107;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feedback we received was to make sure our insights were not too similar and to make sure we coordinate with each other what our insights will be on. </a:t>
            </a:r>
            <a:endParaRPr/>
          </a:p>
          <a:p>
            <a:pPr indent="-342900" lvl="0" marL="457200" rtl="0" algn="l">
              <a:spcBef>
                <a:spcPts val="0"/>
              </a:spcBef>
              <a:spcAft>
                <a:spcPts val="0"/>
              </a:spcAft>
              <a:buSzPts val="1800"/>
              <a:buChar char="●"/>
            </a:pPr>
            <a:r>
              <a:rPr lang="en"/>
              <a:t>We were also told to each do another insight. </a:t>
            </a:r>
            <a:endParaRPr/>
          </a:p>
          <a:p>
            <a:pPr indent="-342900" lvl="0" marL="457200" rtl="0" algn="l">
              <a:spcBef>
                <a:spcPts val="0"/>
              </a:spcBef>
              <a:spcAft>
                <a:spcPts val="0"/>
              </a:spcAft>
              <a:buSzPts val="1800"/>
              <a:buChar char="●"/>
            </a:pPr>
            <a:r>
              <a:rPr lang="en"/>
              <a:t>We addressed this by establishing that we are each going to do our insights on two different stats for every team in the playoffs. </a:t>
            </a:r>
            <a:endParaRPr/>
          </a:p>
          <a:p>
            <a:pPr indent="-342900" lvl="0" marL="457200" rtl="0" algn="l">
              <a:spcBef>
                <a:spcPts val="0"/>
              </a:spcBef>
              <a:spcAft>
                <a:spcPts val="0"/>
              </a:spcAft>
              <a:buSzPts val="1800"/>
              <a:buChar char="●"/>
            </a:pPr>
            <a:r>
              <a:rPr lang="en"/>
              <a:t>This feedback was helpful because it allowed us to establish a plan for the rest of the weeks doing our data insights. Now we have an idea of how we will do this every week. </a:t>
            </a:r>
            <a:endParaRPr/>
          </a:p>
          <a:p>
            <a:pPr indent="-342900" lvl="0" marL="457200" rtl="0" algn="l">
              <a:spcBef>
                <a:spcPts val="0"/>
              </a:spcBef>
              <a:spcAft>
                <a:spcPts val="0"/>
              </a:spcAft>
              <a:buSzPts val="1800"/>
              <a:buChar char="●"/>
            </a:pPr>
            <a:r>
              <a:rPr lang="en"/>
              <a:t>We like the type of feedback you are giving us so far, it is very helpful.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4- Data Progress Anna</a:t>
            </a:r>
            <a:endParaRPr/>
          </a:p>
        </p:txBody>
      </p:sp>
      <p:sp>
        <p:nvSpPr>
          <p:cNvPr id="113" name="Google Shape;113;p20"/>
          <p:cNvSpPr txBox="1"/>
          <p:nvPr>
            <p:ph idx="1" type="body"/>
          </p:nvPr>
        </p:nvSpPr>
        <p:spPr>
          <a:xfrm>
            <a:off x="311700" y="1266325"/>
            <a:ext cx="8520600" cy="3606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t>What we accomplished</a:t>
            </a:r>
            <a:endParaRPr b="1"/>
          </a:p>
          <a:p>
            <a:pPr indent="-317183" lvl="0" marL="457200" rtl="0" algn="l">
              <a:spcBef>
                <a:spcPts val="1200"/>
              </a:spcBef>
              <a:spcAft>
                <a:spcPts val="0"/>
              </a:spcAft>
              <a:buSzPct val="100000"/>
              <a:buChar char="●"/>
            </a:pPr>
            <a:r>
              <a:rPr lang="en"/>
              <a:t>We conducted deeper statistical analysis for each NBA team that made the playoffs </a:t>
            </a:r>
            <a:endParaRPr/>
          </a:p>
          <a:p>
            <a:pPr indent="-317183" lvl="0" marL="457200" rtl="0" algn="l">
              <a:spcBef>
                <a:spcPts val="0"/>
              </a:spcBef>
              <a:spcAft>
                <a:spcPts val="0"/>
              </a:spcAft>
              <a:buSzPct val="100000"/>
              <a:buChar char="●"/>
            </a:pPr>
            <a:r>
              <a:rPr lang="en"/>
              <a:t>Collected and organized key performance metrics across teams</a:t>
            </a:r>
            <a:endParaRPr/>
          </a:p>
          <a:p>
            <a:pPr indent="-317183" lvl="0" marL="457200" rtl="0" algn="l">
              <a:spcBef>
                <a:spcPts val="0"/>
              </a:spcBef>
              <a:spcAft>
                <a:spcPts val="0"/>
              </a:spcAft>
              <a:buSzPct val="100000"/>
              <a:buChar char="●"/>
            </a:pPr>
            <a:r>
              <a:rPr lang="en"/>
              <a:t>Developed a hyptohesis on teh relationship between team statistics and rankings</a:t>
            </a:r>
            <a:endParaRPr/>
          </a:p>
          <a:p>
            <a:pPr indent="-317183" lvl="0" marL="457200" rtl="0" algn="l">
              <a:spcBef>
                <a:spcPts val="0"/>
              </a:spcBef>
              <a:spcAft>
                <a:spcPts val="0"/>
              </a:spcAft>
              <a:buSzPct val="100000"/>
              <a:buChar char="●"/>
            </a:pPr>
            <a:r>
              <a:rPr lang="en"/>
              <a:t>Began identifying potential correlations between performance indicators and overal standings</a:t>
            </a:r>
            <a:endParaRPr/>
          </a:p>
          <a:p>
            <a:pPr indent="0" lvl="0" marL="0" rtl="0" algn="l">
              <a:spcBef>
                <a:spcPts val="1200"/>
              </a:spcBef>
              <a:spcAft>
                <a:spcPts val="0"/>
              </a:spcAft>
              <a:buNone/>
            </a:pPr>
            <a:r>
              <a:rPr b="1" lang="en"/>
              <a:t>Plan for next week</a:t>
            </a:r>
            <a:endParaRPr b="1"/>
          </a:p>
          <a:p>
            <a:pPr indent="-317183" lvl="0" marL="457200" rtl="0" algn="l">
              <a:spcBef>
                <a:spcPts val="1200"/>
              </a:spcBef>
              <a:spcAft>
                <a:spcPts val="0"/>
              </a:spcAft>
              <a:buSzPct val="100000"/>
              <a:buChar char="●"/>
            </a:pPr>
            <a:r>
              <a:rPr lang="en"/>
              <a:t>Continue to test and </a:t>
            </a:r>
            <a:r>
              <a:rPr lang="en"/>
              <a:t>analysis</a:t>
            </a:r>
            <a:r>
              <a:rPr lang="en"/>
              <a:t> our new hypothesis</a:t>
            </a:r>
            <a:endParaRPr/>
          </a:p>
          <a:p>
            <a:pPr indent="-317183" lvl="0" marL="457200" rtl="0" algn="l">
              <a:spcBef>
                <a:spcPts val="0"/>
              </a:spcBef>
              <a:spcAft>
                <a:spcPts val="0"/>
              </a:spcAft>
              <a:buSzPct val="100000"/>
              <a:buChar char="●"/>
            </a:pPr>
            <a:r>
              <a:rPr lang="en"/>
              <a:t>Continue to create graphs to represent the data</a:t>
            </a:r>
            <a:endParaRPr/>
          </a:p>
          <a:p>
            <a:pPr indent="-317183" lvl="0" marL="457200" rtl="0" algn="l">
              <a:spcBef>
                <a:spcPts val="0"/>
              </a:spcBef>
              <a:spcAft>
                <a:spcPts val="0"/>
              </a:spcAft>
              <a:buSzPct val="100000"/>
              <a:buChar char="●"/>
            </a:pPr>
            <a:r>
              <a:rPr lang="en"/>
              <a:t>Maybe look into GSW who won the playoffs, and the team that finished last place, and see if we notice any significant differences</a:t>
            </a:r>
            <a:endParaRPr/>
          </a:p>
          <a:p>
            <a:pPr indent="0" lvl="0" marL="0" rtl="0" algn="l">
              <a:spcBef>
                <a:spcPts val="1200"/>
              </a:spcBef>
              <a:spcAft>
                <a:spcPts val="0"/>
              </a:spcAft>
              <a:buNone/>
            </a:pPr>
            <a:r>
              <a:rPr b="1" lang="en"/>
              <a:t>Obstalces/help needed</a:t>
            </a:r>
            <a:endParaRPr b="1"/>
          </a:p>
          <a:p>
            <a:pPr indent="-317183" lvl="0" marL="457200" rtl="0" algn="l">
              <a:spcBef>
                <a:spcPts val="1200"/>
              </a:spcBef>
              <a:spcAft>
                <a:spcPts val="0"/>
              </a:spcAft>
              <a:buSzPct val="100000"/>
              <a:buChar char="●"/>
            </a:pPr>
            <a:r>
              <a:rPr lang="en"/>
              <a:t>Feedback and validity on our new </a:t>
            </a:r>
            <a:r>
              <a:rPr lang="en"/>
              <a:t>hypothesis</a:t>
            </a:r>
            <a:r>
              <a:rPr lang="en"/>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3- Data Insight: Anna</a:t>
            </a:r>
            <a:endParaRPr/>
          </a:p>
        </p:txBody>
      </p:sp>
      <p:sp>
        <p:nvSpPr>
          <p:cNvPr id="119" name="Google Shape;119;p21"/>
          <p:cNvSpPr txBox="1"/>
          <p:nvPr>
            <p:ph idx="1" type="body"/>
          </p:nvPr>
        </p:nvSpPr>
        <p:spPr>
          <a:xfrm>
            <a:off x="5145525" y="1266325"/>
            <a:ext cx="3686700" cy="3793500"/>
          </a:xfrm>
          <a:prstGeom prst="rect">
            <a:avLst/>
          </a:prstGeom>
        </p:spPr>
        <p:txBody>
          <a:bodyPr anchorCtr="0" anchor="t" bIns="91425" lIns="91425" spcFirstLastPara="1" rIns="91425" wrap="square" tIns="91425">
            <a:normAutofit lnSpcReduction="10000"/>
          </a:bodyPr>
          <a:lstStyle/>
          <a:p>
            <a:pPr indent="-323850" lvl="0" marL="457200" rtl="0" algn="l">
              <a:lnSpc>
                <a:spcPct val="95000"/>
              </a:lnSpc>
              <a:spcBef>
                <a:spcPts val="0"/>
              </a:spcBef>
              <a:spcAft>
                <a:spcPts val="0"/>
              </a:spcAft>
              <a:buSzPts val="1500"/>
              <a:buChar char="-"/>
            </a:pPr>
            <a:r>
              <a:rPr lang="en" sz="1500"/>
              <a:t>This histogram shows the distribution of players’ points per game (PPG)</a:t>
            </a:r>
            <a:endParaRPr sz="1500"/>
          </a:p>
          <a:p>
            <a:pPr indent="-323850" lvl="0" marL="457200" rtl="0" algn="l">
              <a:lnSpc>
                <a:spcPct val="95000"/>
              </a:lnSpc>
              <a:spcBef>
                <a:spcPts val="0"/>
              </a:spcBef>
              <a:spcAft>
                <a:spcPts val="0"/>
              </a:spcAft>
              <a:buSzPts val="1500"/>
              <a:buChar char="-"/>
            </a:pPr>
            <a:r>
              <a:rPr lang="en" sz="1500"/>
              <a:t>The majority of players average </a:t>
            </a:r>
            <a:r>
              <a:rPr lang="en" sz="1500"/>
              <a:t>relatively low scoring outputs, with most only just above 0 points per game. </a:t>
            </a:r>
            <a:r>
              <a:rPr lang="en" sz="1500"/>
              <a:t>Only a small number of players reach high scoring averages, showing that elite scoring performances are uncommon</a:t>
            </a:r>
            <a:endParaRPr sz="1500"/>
          </a:p>
          <a:p>
            <a:pPr indent="-323850" lvl="0" marL="457200" rtl="0" algn="l">
              <a:lnSpc>
                <a:spcPct val="95000"/>
              </a:lnSpc>
              <a:spcBef>
                <a:spcPts val="0"/>
              </a:spcBef>
              <a:spcAft>
                <a:spcPts val="0"/>
              </a:spcAft>
              <a:buSzPts val="1500"/>
              <a:buChar char="-"/>
            </a:pPr>
            <a:r>
              <a:rPr lang="en" sz="1500"/>
              <a:t>This pattern suggests that having many high scoring players on one team  is rare</a:t>
            </a:r>
            <a:endParaRPr sz="1500"/>
          </a:p>
          <a:p>
            <a:pPr indent="-323850" lvl="0" marL="457200" rtl="0" algn="l">
              <a:lnSpc>
                <a:spcPct val="95000"/>
              </a:lnSpc>
              <a:spcBef>
                <a:spcPts val="0"/>
              </a:spcBef>
              <a:spcAft>
                <a:spcPts val="0"/>
              </a:spcAft>
              <a:buSzPts val="1500"/>
              <a:buChar char="-"/>
            </a:pPr>
            <a:r>
              <a:rPr lang="en" sz="1500"/>
              <a:t>This raises an interesting question, how would this distribution if we only looked at the top 10 ranked players? </a:t>
            </a:r>
            <a:endParaRPr sz="1500"/>
          </a:p>
        </p:txBody>
      </p:sp>
      <p:pic>
        <p:nvPicPr>
          <p:cNvPr id="120" name="Google Shape;120;p21"/>
          <p:cNvPicPr preferRelativeResize="0"/>
          <p:nvPr/>
        </p:nvPicPr>
        <p:blipFill>
          <a:blip r:embed="rId4">
            <a:alphaModFix/>
          </a:blip>
          <a:stretch>
            <a:fillRect/>
          </a:stretch>
        </p:blipFill>
        <p:spPr>
          <a:xfrm>
            <a:off x="141725" y="1085375"/>
            <a:ext cx="4897951" cy="37106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3: Data Insight-Brittany </a:t>
            </a:r>
            <a:endParaRPr/>
          </a:p>
        </p:txBody>
      </p:sp>
      <p:sp>
        <p:nvSpPr>
          <p:cNvPr id="126" name="Google Shape;126;p22"/>
          <p:cNvSpPr txBox="1"/>
          <p:nvPr>
            <p:ph idx="1" type="body"/>
          </p:nvPr>
        </p:nvSpPr>
        <p:spPr>
          <a:xfrm>
            <a:off x="167825" y="1193225"/>
            <a:ext cx="4353900" cy="37626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Char char="●"/>
            </a:pPr>
            <a:r>
              <a:rPr lang="en"/>
              <a:t>This is a histogram showing the distribution of the players points per game. </a:t>
            </a:r>
            <a:endParaRPr/>
          </a:p>
          <a:p>
            <a:pPr indent="-308610" lvl="0" marL="457200" rtl="0" algn="l">
              <a:spcBef>
                <a:spcPts val="0"/>
              </a:spcBef>
              <a:spcAft>
                <a:spcPts val="0"/>
              </a:spcAft>
              <a:buSzPct val="100000"/>
              <a:buChar char="●"/>
            </a:pPr>
            <a:r>
              <a:rPr lang="en"/>
              <a:t>Majority of the players averaged just above 0 points per game they played in </a:t>
            </a:r>
            <a:endParaRPr/>
          </a:p>
          <a:p>
            <a:pPr indent="-308610" lvl="0" marL="457200" rtl="0" algn="l">
              <a:spcBef>
                <a:spcPts val="0"/>
              </a:spcBef>
              <a:spcAft>
                <a:spcPts val="0"/>
              </a:spcAft>
              <a:buSzPct val="100000"/>
              <a:buChar char="●"/>
            </a:pPr>
            <a:r>
              <a:rPr lang="en"/>
              <a:t>Only a few players averaged high scoring games </a:t>
            </a:r>
            <a:endParaRPr/>
          </a:p>
          <a:p>
            <a:pPr indent="-290830" lvl="1" marL="914400" rtl="0" algn="l">
              <a:spcBef>
                <a:spcPts val="0"/>
              </a:spcBef>
              <a:spcAft>
                <a:spcPts val="0"/>
              </a:spcAft>
              <a:buSzPct val="100000"/>
              <a:buChar char="○"/>
            </a:pPr>
            <a:r>
              <a:rPr lang="en"/>
              <a:t>Having a lot of high Scoring players on a team is very rare</a:t>
            </a:r>
            <a:endParaRPr/>
          </a:p>
          <a:p>
            <a:pPr indent="-290830" lvl="1" marL="914400" rtl="0" algn="l">
              <a:spcBef>
                <a:spcPts val="0"/>
              </a:spcBef>
              <a:spcAft>
                <a:spcPts val="0"/>
              </a:spcAft>
              <a:buSzPct val="100000"/>
              <a:buChar char="○"/>
            </a:pPr>
            <a:r>
              <a:rPr lang="en"/>
              <a:t>This histogram shows that in the NBA playoffs, players are not just good because they can score a lot of points. There are many factors that can determine how good a player is. </a:t>
            </a:r>
            <a:endParaRPr/>
          </a:p>
          <a:p>
            <a:pPr indent="-308610" lvl="0" marL="457200" rtl="0" algn="l">
              <a:spcBef>
                <a:spcPts val="0"/>
              </a:spcBef>
              <a:spcAft>
                <a:spcPts val="0"/>
              </a:spcAft>
              <a:buSzPct val="100000"/>
              <a:buChar char="●"/>
            </a:pPr>
            <a:r>
              <a:rPr lang="en"/>
              <a:t>I wonder how different this histogram would look if I only used the stats from the top 10 ranked players? </a:t>
            </a:r>
            <a:endParaRPr/>
          </a:p>
          <a:p>
            <a:pPr indent="-290830" lvl="1" marL="914400" rtl="0" algn="l">
              <a:spcBef>
                <a:spcPts val="0"/>
              </a:spcBef>
              <a:spcAft>
                <a:spcPts val="0"/>
              </a:spcAft>
              <a:buSzPct val="100000"/>
              <a:buChar char="○"/>
            </a:pPr>
            <a:r>
              <a:rPr lang="en"/>
              <a:t>Would their data tail more to the right? Would it be more evenly distributed?</a:t>
            </a:r>
            <a:endParaRPr/>
          </a:p>
          <a:p>
            <a:pPr indent="-308610" lvl="0" marL="457200" rtl="0" algn="l">
              <a:spcBef>
                <a:spcPts val="0"/>
              </a:spcBef>
              <a:spcAft>
                <a:spcPts val="0"/>
              </a:spcAft>
              <a:buSzPct val="100000"/>
              <a:buChar char="●"/>
            </a:pPr>
            <a:r>
              <a:rPr lang="en"/>
              <a:t>If I only looked at the players of the best team in the NBA, would the data look similar to this graph? </a:t>
            </a:r>
            <a:endParaRPr/>
          </a:p>
        </p:txBody>
      </p:sp>
      <p:pic>
        <p:nvPicPr>
          <p:cNvPr id="127" name="Google Shape;127;p22" title="Screenshot 2026-04-15 at 7.15.20 PM.png"/>
          <p:cNvPicPr preferRelativeResize="0"/>
          <p:nvPr/>
        </p:nvPicPr>
        <p:blipFill>
          <a:blip r:embed="rId4">
            <a:alphaModFix/>
          </a:blip>
          <a:stretch>
            <a:fillRect/>
          </a:stretch>
        </p:blipFill>
        <p:spPr>
          <a:xfrm>
            <a:off x="4455850" y="1304825"/>
            <a:ext cx="4535749" cy="242553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3-Data Feedback(Brittany)</a:t>
            </a:r>
            <a:endParaRPr/>
          </a:p>
        </p:txBody>
      </p:sp>
      <p:sp>
        <p:nvSpPr>
          <p:cNvPr id="133" name="Google Shape;133;p2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feedback we received was to </a:t>
            </a:r>
            <a:r>
              <a:rPr lang="en"/>
              <a:t>ask more questions a</a:t>
            </a:r>
            <a:r>
              <a:rPr lang="en"/>
              <a:t>bout our data after we analyzed it </a:t>
            </a:r>
            <a:endParaRPr/>
          </a:p>
          <a:p>
            <a:pPr indent="-342900" lvl="0" marL="457200" rtl="0" algn="l">
              <a:spcBef>
                <a:spcPts val="0"/>
              </a:spcBef>
              <a:spcAft>
                <a:spcPts val="0"/>
              </a:spcAft>
              <a:buSzPts val="1800"/>
              <a:buChar char="-"/>
            </a:pPr>
            <a:r>
              <a:rPr lang="en"/>
              <a:t>We addressed this by asking more questions about the implications of our data </a:t>
            </a:r>
            <a:endParaRPr/>
          </a:p>
          <a:p>
            <a:pPr indent="-342900" lvl="0" marL="457200" rtl="0" algn="l">
              <a:spcBef>
                <a:spcPts val="0"/>
              </a:spcBef>
              <a:spcAft>
                <a:spcPts val="0"/>
              </a:spcAft>
              <a:buSzPts val="1800"/>
              <a:buChar char="-"/>
            </a:pPr>
            <a:r>
              <a:rPr lang="en"/>
              <a:t>I think this feedback was useful because it allowed us to be able to think deeper about the data we found. </a:t>
            </a:r>
            <a:endParaRPr/>
          </a:p>
          <a:p>
            <a:pPr indent="-342900" lvl="0" marL="457200" rtl="0" algn="l">
              <a:spcBef>
                <a:spcPts val="0"/>
              </a:spcBef>
              <a:spcAft>
                <a:spcPts val="0"/>
              </a:spcAft>
              <a:buSzPts val="1800"/>
              <a:buChar char="-"/>
            </a:pPr>
            <a:r>
              <a:rPr lang="en"/>
              <a:t>We only ask that with the additional feedback in the future that you let us know if there is a better way for us to show or demonstrate our data.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3- Data Progress- Anna</a:t>
            </a:r>
            <a:endParaRPr/>
          </a:p>
        </p:txBody>
      </p:sp>
      <p:sp>
        <p:nvSpPr>
          <p:cNvPr id="139" name="Google Shape;139;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Continue to delve deeper into analyzing the data, and what attributes make the top ranked players</a:t>
            </a:r>
            <a:endParaRPr/>
          </a:p>
          <a:p>
            <a:pPr indent="-342900" lvl="0" marL="457200" rtl="0" algn="l">
              <a:spcBef>
                <a:spcPts val="0"/>
              </a:spcBef>
              <a:spcAft>
                <a:spcPts val="0"/>
              </a:spcAft>
              <a:buSzPts val="1800"/>
              <a:buChar char="-"/>
            </a:pPr>
            <a:r>
              <a:rPr lang="en"/>
              <a:t>Continue applying the feedback given to update and improve our graphs to better represent the data</a:t>
            </a:r>
            <a:endParaRPr/>
          </a:p>
          <a:p>
            <a:pPr indent="-342900" lvl="0" marL="457200" rtl="0" algn="l">
              <a:spcBef>
                <a:spcPts val="0"/>
              </a:spcBef>
              <a:spcAft>
                <a:spcPts val="0"/>
              </a:spcAft>
              <a:buSzPts val="1800"/>
              <a:buChar char="-"/>
            </a:pPr>
            <a:r>
              <a:rPr lang="en"/>
              <a:t>Brittany and I split the work evenly and work well together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2: Data Insight: </a:t>
            </a:r>
            <a:r>
              <a:rPr lang="en"/>
              <a:t>Points and Assists(Brittany) </a:t>
            </a:r>
            <a:endParaRPr/>
          </a:p>
        </p:txBody>
      </p:sp>
      <p:sp>
        <p:nvSpPr>
          <p:cNvPr id="145" name="Google Shape;145;p25"/>
          <p:cNvSpPr txBox="1"/>
          <p:nvPr>
            <p:ph idx="1" type="body"/>
          </p:nvPr>
        </p:nvSpPr>
        <p:spPr>
          <a:xfrm>
            <a:off x="311700" y="1266325"/>
            <a:ext cx="4985700" cy="33027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Char char="●"/>
            </a:pPr>
            <a:r>
              <a:rPr lang="en"/>
              <a:t>This scatter plot is showing the relationship between the amount of points every postseason player scored and the amount of assists(passes to a scorer) they had. </a:t>
            </a:r>
            <a:endParaRPr/>
          </a:p>
          <a:p>
            <a:pPr indent="-317183" lvl="0" marL="457200" rtl="0" algn="l">
              <a:spcBef>
                <a:spcPts val="0"/>
              </a:spcBef>
              <a:spcAft>
                <a:spcPts val="0"/>
              </a:spcAft>
              <a:buSzPct val="100000"/>
              <a:buChar char="●"/>
            </a:pPr>
            <a:r>
              <a:rPr lang="en"/>
              <a:t>I found this interesting because normally these two stats do not necessarily correlate in basketball, but if they do, that is better for the team</a:t>
            </a:r>
            <a:endParaRPr/>
          </a:p>
          <a:p>
            <a:pPr indent="-317183" lvl="0" marL="457200" rtl="0" algn="l">
              <a:spcBef>
                <a:spcPts val="0"/>
              </a:spcBef>
              <a:spcAft>
                <a:spcPts val="0"/>
              </a:spcAft>
              <a:buSzPct val="100000"/>
              <a:buChar char="●"/>
            </a:pPr>
            <a:r>
              <a:rPr lang="en"/>
              <a:t>The data on this plot means that the higher scoring players tend to pass a lot to other players who also score</a:t>
            </a:r>
            <a:endParaRPr/>
          </a:p>
          <a:p>
            <a:pPr indent="-297498" lvl="1" marL="914400" rtl="0" algn="l">
              <a:spcBef>
                <a:spcPts val="0"/>
              </a:spcBef>
              <a:spcAft>
                <a:spcPts val="0"/>
              </a:spcAft>
              <a:buSzPct val="100000"/>
              <a:buChar char="○"/>
            </a:pPr>
            <a:r>
              <a:rPr lang="en"/>
              <a:t>When this happens, it allows a team to score more points, which makes it easier to win</a:t>
            </a:r>
            <a:endParaRPr/>
          </a:p>
          <a:p>
            <a:pPr indent="-297498" lvl="1" marL="914400" rtl="0" algn="l">
              <a:spcBef>
                <a:spcPts val="0"/>
              </a:spcBef>
              <a:spcAft>
                <a:spcPts val="0"/>
              </a:spcAft>
              <a:buSzPct val="100000"/>
              <a:buChar char="○"/>
            </a:pPr>
            <a:r>
              <a:rPr lang="en"/>
              <a:t>Winning is essential in the NBA playoffs</a:t>
            </a:r>
            <a:endParaRPr/>
          </a:p>
          <a:p>
            <a:pPr indent="-317183" lvl="0" marL="457200" rtl="0" algn="l">
              <a:spcBef>
                <a:spcPts val="0"/>
              </a:spcBef>
              <a:spcAft>
                <a:spcPts val="0"/>
              </a:spcAft>
              <a:buSzPct val="100000"/>
              <a:buChar char="●"/>
            </a:pPr>
            <a:r>
              <a:rPr lang="en"/>
              <a:t>Since this plot looks like this with these players, will it be similar with PTS and Rebounds? </a:t>
            </a:r>
            <a:endParaRPr/>
          </a:p>
        </p:txBody>
      </p:sp>
      <p:pic>
        <p:nvPicPr>
          <p:cNvPr id="146" name="Google Shape;146;p25" title="Screenshot 2026-04-10 at 1.48.54 PM.png"/>
          <p:cNvPicPr preferRelativeResize="0"/>
          <p:nvPr/>
        </p:nvPicPr>
        <p:blipFill>
          <a:blip r:embed="rId4">
            <a:alphaModFix/>
          </a:blip>
          <a:stretch>
            <a:fillRect/>
          </a:stretch>
        </p:blipFill>
        <p:spPr>
          <a:xfrm>
            <a:off x="5297399" y="1364962"/>
            <a:ext cx="3688099" cy="31054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158750" y="995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 FTA vs FT (Anna)</a:t>
            </a:r>
            <a:endParaRPr/>
          </a:p>
        </p:txBody>
      </p:sp>
      <p:sp>
        <p:nvSpPr>
          <p:cNvPr id="152" name="Google Shape;152;p26"/>
          <p:cNvSpPr txBox="1"/>
          <p:nvPr>
            <p:ph idx="1" type="body"/>
          </p:nvPr>
        </p:nvSpPr>
        <p:spPr>
          <a:xfrm>
            <a:off x="158750" y="1237475"/>
            <a:ext cx="4313400" cy="36555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This scatterplot represents the amount of Free Throws attempted vs. the amount of free throws that were made.</a:t>
            </a:r>
            <a:endParaRPr/>
          </a:p>
          <a:p>
            <a:pPr indent="-317183" lvl="0" marL="457200" rtl="0" algn="l">
              <a:spcBef>
                <a:spcPts val="1200"/>
              </a:spcBef>
              <a:spcAft>
                <a:spcPts val="0"/>
              </a:spcAft>
              <a:buSzPct val="100000"/>
              <a:buChar char="-"/>
            </a:pPr>
            <a:r>
              <a:rPr lang="en"/>
              <a:t>I found this interesting because these two </a:t>
            </a:r>
            <a:r>
              <a:rPr lang="en"/>
              <a:t>statistics</a:t>
            </a:r>
            <a:r>
              <a:rPr lang="en"/>
              <a:t> are directly related in basketball. The more FTA the more FT a player can </a:t>
            </a:r>
            <a:r>
              <a:rPr lang="en"/>
              <a:t>make</a:t>
            </a:r>
            <a:endParaRPr/>
          </a:p>
          <a:p>
            <a:pPr indent="-317183" lvl="0" marL="457200" rtl="0" algn="l">
              <a:spcBef>
                <a:spcPts val="0"/>
              </a:spcBef>
              <a:spcAft>
                <a:spcPts val="0"/>
              </a:spcAft>
              <a:buSzPct val="100000"/>
              <a:buChar char="-"/>
            </a:pPr>
            <a:r>
              <a:rPr lang="en"/>
              <a:t>The data on this plot shows that players with higher FTA generally also have higher FT, but the key difference is how close they are to converting these attempts consistently, </a:t>
            </a:r>
            <a:r>
              <a:rPr lang="en"/>
              <a:t>especially</a:t>
            </a:r>
            <a:r>
              <a:rPr lang="en"/>
              <a:t> in the playoffs</a:t>
            </a:r>
            <a:endParaRPr/>
          </a:p>
          <a:p>
            <a:pPr indent="-317183" lvl="0" marL="457200" rtl="0" algn="l">
              <a:spcBef>
                <a:spcPts val="0"/>
              </a:spcBef>
              <a:spcAft>
                <a:spcPts val="0"/>
              </a:spcAft>
              <a:buSzPct val="100000"/>
              <a:buChar char="-"/>
            </a:pPr>
            <a:r>
              <a:rPr lang="en"/>
              <a:t>The dotted diagonal line represent 100% of FT made.</a:t>
            </a:r>
            <a:endParaRPr/>
          </a:p>
          <a:p>
            <a:pPr indent="-317183" lvl="0" marL="457200" rtl="0" algn="l">
              <a:spcBef>
                <a:spcPts val="0"/>
              </a:spcBef>
              <a:spcAft>
                <a:spcPts val="0"/>
              </a:spcAft>
              <a:buSzPct val="100000"/>
              <a:buChar char="-"/>
            </a:pPr>
            <a:r>
              <a:rPr lang="en"/>
              <a:t>I am wondering now the percentage of free throws made vs the free throw taken.</a:t>
            </a:r>
            <a:endParaRPr/>
          </a:p>
        </p:txBody>
      </p:sp>
      <p:pic>
        <p:nvPicPr>
          <p:cNvPr id="153" name="Google Shape;153;p26"/>
          <p:cNvPicPr preferRelativeResize="0"/>
          <p:nvPr/>
        </p:nvPicPr>
        <p:blipFill>
          <a:blip r:embed="rId4">
            <a:alphaModFix/>
          </a:blip>
          <a:stretch>
            <a:fillRect/>
          </a:stretch>
        </p:blipFill>
        <p:spPr>
          <a:xfrm>
            <a:off x="4285100" y="607725"/>
            <a:ext cx="4858900" cy="4218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Feedback(Brittany) </a:t>
            </a:r>
            <a:endParaRPr/>
          </a:p>
        </p:txBody>
      </p:sp>
      <p:sp>
        <p:nvSpPr>
          <p:cNvPr id="159" name="Google Shape;159;p2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think the feedback we took to heart was the one about </a:t>
            </a:r>
            <a:r>
              <a:rPr lang="en"/>
              <a:t>aligning our communication goals with the audience</a:t>
            </a:r>
            <a:endParaRPr/>
          </a:p>
          <a:p>
            <a:pPr indent="-317500" lvl="2" marL="1371600" rtl="0" algn="l">
              <a:spcBef>
                <a:spcPts val="0"/>
              </a:spcBef>
              <a:spcAft>
                <a:spcPts val="0"/>
              </a:spcAft>
              <a:buSzPts val="1400"/>
              <a:buChar char="-"/>
            </a:pPr>
            <a:r>
              <a:rPr lang="en"/>
              <a:t>This feedback allowed us to realize we needed to go into more detail about our stats so that our stats could be interesting to the sports betters, trivia masters, and coaches who want to know all the little, tiny, interesting things about the NBA playoffs</a:t>
            </a:r>
            <a:endParaRPr/>
          </a:p>
          <a:p>
            <a:pPr indent="-342900" lvl="0" marL="457200" rtl="0" algn="l">
              <a:spcBef>
                <a:spcPts val="0"/>
              </a:spcBef>
              <a:spcAft>
                <a:spcPts val="0"/>
              </a:spcAft>
              <a:buSzPts val="1800"/>
              <a:buChar char="-"/>
            </a:pPr>
            <a:r>
              <a:rPr lang="en"/>
              <a:t>The feedback is useful because it allows us to realize how deep we should be thinking about our data. </a:t>
            </a:r>
            <a:endParaRPr/>
          </a:p>
          <a:p>
            <a:pPr indent="-342900" lvl="0" marL="457200" rtl="0" algn="l">
              <a:spcBef>
                <a:spcPts val="0"/>
              </a:spcBef>
              <a:spcAft>
                <a:spcPts val="0"/>
              </a:spcAft>
              <a:buSzPts val="1800"/>
              <a:buChar char="-"/>
            </a:pPr>
            <a:r>
              <a:rPr lang="en"/>
              <a:t>The additional feedback we are seeking is guidance of whether or not we are on the right track for our stats.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Progress </a:t>
            </a:r>
            <a:endParaRPr/>
          </a:p>
        </p:txBody>
      </p:sp>
      <p:sp>
        <p:nvSpPr>
          <p:cNvPr id="165" name="Google Shape;165;p2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Accomplishments</a:t>
            </a:r>
            <a:endParaRPr/>
          </a:p>
          <a:p>
            <a:pPr indent="-317183" lvl="0" marL="457200" rtl="0" algn="l">
              <a:spcBef>
                <a:spcPts val="1200"/>
              </a:spcBef>
              <a:spcAft>
                <a:spcPts val="0"/>
              </a:spcAft>
              <a:buSzPct val="100000"/>
              <a:buChar char="-"/>
            </a:pPr>
            <a:r>
              <a:rPr lang="en"/>
              <a:t>Anna- data progress and FTA vs FT scatter plot</a:t>
            </a:r>
            <a:endParaRPr/>
          </a:p>
          <a:p>
            <a:pPr indent="-317183" lvl="0" marL="457200" rtl="0" algn="l">
              <a:spcBef>
                <a:spcPts val="0"/>
              </a:spcBef>
              <a:spcAft>
                <a:spcPts val="0"/>
              </a:spcAft>
              <a:buSzPct val="100000"/>
              <a:buChar char="-"/>
            </a:pPr>
            <a:r>
              <a:rPr lang="en"/>
              <a:t>Brittany- data feedback and Points vs Assists scatter plot</a:t>
            </a:r>
            <a:endParaRPr/>
          </a:p>
          <a:p>
            <a:pPr indent="0" lvl="0" marL="0" rtl="0" algn="l">
              <a:spcBef>
                <a:spcPts val="1200"/>
              </a:spcBef>
              <a:spcAft>
                <a:spcPts val="0"/>
              </a:spcAft>
              <a:buNone/>
            </a:pPr>
            <a:r>
              <a:rPr lang="en"/>
              <a:t>Plan for next week</a:t>
            </a:r>
            <a:endParaRPr/>
          </a:p>
          <a:p>
            <a:pPr indent="-317183" lvl="0" marL="457200" rtl="0" algn="l">
              <a:spcBef>
                <a:spcPts val="1200"/>
              </a:spcBef>
              <a:spcAft>
                <a:spcPts val="0"/>
              </a:spcAft>
              <a:buSzPct val="100000"/>
              <a:buChar char="-"/>
            </a:pPr>
            <a:r>
              <a:rPr lang="en"/>
              <a:t>Continue to split </a:t>
            </a:r>
            <a:r>
              <a:rPr lang="en"/>
              <a:t>responsibilities</a:t>
            </a:r>
            <a:endParaRPr/>
          </a:p>
          <a:p>
            <a:pPr indent="-317183" lvl="0" marL="457200" rtl="0" algn="l">
              <a:spcBef>
                <a:spcPts val="0"/>
              </a:spcBef>
              <a:spcAft>
                <a:spcPts val="0"/>
              </a:spcAft>
              <a:buSzPct val="100000"/>
              <a:buChar char="-"/>
            </a:pPr>
            <a:r>
              <a:rPr lang="en"/>
              <a:t>Refine analysis and visualizations</a:t>
            </a:r>
            <a:endParaRPr/>
          </a:p>
          <a:p>
            <a:pPr indent="0" lvl="0" marL="0" rtl="0" algn="l">
              <a:spcBef>
                <a:spcPts val="1200"/>
              </a:spcBef>
              <a:spcAft>
                <a:spcPts val="0"/>
              </a:spcAft>
              <a:buNone/>
            </a:pPr>
            <a:r>
              <a:rPr lang="en"/>
              <a:t>Obstacles</a:t>
            </a:r>
            <a:endParaRPr/>
          </a:p>
          <a:p>
            <a:pPr indent="-317183" lvl="0" marL="457200" rtl="0" algn="l">
              <a:spcBef>
                <a:spcPts val="1200"/>
              </a:spcBef>
              <a:spcAft>
                <a:spcPts val="0"/>
              </a:spcAft>
              <a:buSzPct val="100000"/>
              <a:buChar char="-"/>
            </a:pPr>
            <a:r>
              <a:rPr lang="en"/>
              <a:t>No major obstacles but open to feedback and guidance </a:t>
            </a:r>
            <a:endParaRPr/>
          </a:p>
          <a:p>
            <a:pPr indent="0" lvl="0" marL="0" rtl="0" algn="l">
              <a:spcBef>
                <a:spcPts val="1200"/>
              </a:spcBef>
              <a:spcAft>
                <a:spcPts val="0"/>
              </a:spcAft>
              <a:buNone/>
            </a:pPr>
            <a:r>
              <a:rPr lang="en"/>
              <a:t>Resources used</a:t>
            </a:r>
            <a:endParaRPr/>
          </a:p>
          <a:p>
            <a:pPr indent="-317183" lvl="0" marL="457200" rtl="0" algn="l">
              <a:spcBef>
                <a:spcPts val="1200"/>
              </a:spcBef>
              <a:spcAft>
                <a:spcPts val="0"/>
              </a:spcAft>
              <a:buSzPct val="100000"/>
              <a:buChar char="-"/>
            </a:pPr>
            <a:r>
              <a:rPr lang="en"/>
              <a:t>Assisted Anna in creating a dashed line representing 100% FT made on a scatter plot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F6C00"/>
                </a:solidFill>
              </a:rPr>
              <a:t>Mini Update #1-Data Profile</a:t>
            </a:r>
            <a:endParaRPr/>
          </a:p>
        </p:txBody>
      </p:sp>
      <p:sp>
        <p:nvSpPr>
          <p:cNvPr id="171" name="Google Shape;171;p29"/>
          <p:cNvSpPr txBox="1"/>
          <p:nvPr>
            <p:ph idx="1" type="body"/>
          </p:nvPr>
        </p:nvSpPr>
        <p:spPr>
          <a:xfrm>
            <a:off x="0" y="589200"/>
            <a:ext cx="8935500" cy="789000"/>
          </a:xfrm>
          <a:prstGeom prst="rect">
            <a:avLst/>
          </a:prstGeom>
        </p:spPr>
        <p:txBody>
          <a:bodyPr anchorCtr="0" anchor="t" bIns="91425" lIns="91425" spcFirstLastPara="1" rIns="91425" wrap="square" tIns="91425">
            <a:normAutofit fontScale="62500" lnSpcReduction="20000"/>
          </a:bodyPr>
          <a:lstStyle/>
          <a:p>
            <a:pPr indent="0" lvl="0" marL="1371600" rtl="0" algn="l">
              <a:lnSpc>
                <a:spcPct val="100000"/>
              </a:lnSpc>
              <a:spcBef>
                <a:spcPts val="0"/>
              </a:spcBef>
              <a:spcAft>
                <a:spcPts val="0"/>
              </a:spcAft>
              <a:buNone/>
            </a:pPr>
            <a:r>
              <a:rPr lang="en" sz="3156">
                <a:solidFill>
                  <a:srgbClr val="000000"/>
                </a:solidFill>
              </a:rPr>
              <a:t>This dataset has 217 rows and 30 columns.</a:t>
            </a:r>
            <a:r>
              <a:rPr lang="en" sz="3156">
                <a:solidFill>
                  <a:srgbClr val="000000"/>
                </a:solidFill>
              </a:rPr>
              <a:t> </a:t>
            </a:r>
            <a:endParaRPr sz="3156">
              <a:solidFill>
                <a:srgbClr val="000000"/>
              </a:solidFill>
            </a:endParaRPr>
          </a:p>
          <a:p>
            <a:pPr indent="0" lvl="0" marL="1371600" rtl="0" algn="l">
              <a:lnSpc>
                <a:spcPct val="100000"/>
              </a:lnSpc>
              <a:spcBef>
                <a:spcPts val="0"/>
              </a:spcBef>
              <a:spcAft>
                <a:spcPts val="0"/>
              </a:spcAft>
              <a:buNone/>
            </a:pPr>
            <a:r>
              <a:t/>
            </a:r>
            <a:endParaRPr sz="2300">
              <a:solidFill>
                <a:srgbClr val="000000"/>
              </a:solidFill>
            </a:endParaRPr>
          </a:p>
          <a:p>
            <a:pPr indent="0" lvl="0" marL="0" rtl="0" algn="l">
              <a:spcBef>
                <a:spcPts val="0"/>
              </a:spcBef>
              <a:spcAft>
                <a:spcPts val="1200"/>
              </a:spcAft>
              <a:buNone/>
            </a:pPr>
            <a:r>
              <a:t/>
            </a:r>
            <a:endParaRPr/>
          </a:p>
        </p:txBody>
      </p:sp>
      <p:sp>
        <p:nvSpPr>
          <p:cNvPr id="172" name="Google Shape;172;p29"/>
          <p:cNvSpPr txBox="1"/>
          <p:nvPr/>
        </p:nvSpPr>
        <p:spPr>
          <a:xfrm>
            <a:off x="404475" y="1578800"/>
            <a:ext cx="8415900" cy="127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Google Sheets of Data Profiling Table </a:t>
            </a:r>
            <a:r>
              <a:rPr lang="en" sz="1800" u="sng">
                <a:solidFill>
                  <a:schemeClr val="hlink"/>
                </a:solidFill>
                <a:latin typeface="Open Sans"/>
                <a:ea typeface="Open Sans"/>
                <a:cs typeface="Open Sans"/>
                <a:sym typeface="Open Sans"/>
                <a:hlinkClick r:id="rId4"/>
              </a:rPr>
              <a:t>https://docs.google.com/spreadsheets/d/1TsghxFWiK-NHE4CaMbX1p-QQBlQih_dUIpUvzrBDwkE/edit?usp=sharing</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Update#1-Curious Question(Anna)</a:t>
            </a:r>
            <a:endParaRPr/>
          </a:p>
          <a:p>
            <a:pPr indent="0" lvl="0" marL="0" rtl="0" algn="l">
              <a:spcBef>
                <a:spcPts val="0"/>
              </a:spcBef>
              <a:spcAft>
                <a:spcPts val="0"/>
              </a:spcAft>
              <a:buNone/>
            </a:pPr>
            <a:r>
              <a:t/>
            </a:r>
            <a:endParaRPr/>
          </a:p>
        </p:txBody>
      </p:sp>
      <p:sp>
        <p:nvSpPr>
          <p:cNvPr id="178" name="Google Shape;178;p3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 star players (high scorers) also contribute across other stats like assists and rebounds?</a:t>
            </a:r>
            <a:endParaRPr/>
          </a:p>
          <a:p>
            <a:pPr indent="-342900" lvl="0" marL="457200" rtl="0" algn="l">
              <a:spcBef>
                <a:spcPts val="0"/>
              </a:spcBef>
              <a:spcAft>
                <a:spcPts val="0"/>
              </a:spcAft>
              <a:buSzPts val="1800"/>
              <a:buChar char="●"/>
            </a:pPr>
            <a:r>
              <a:rPr lang="en"/>
              <a:t>Which teams had the most well rounded player performances?</a:t>
            </a:r>
            <a:endParaRPr/>
          </a:p>
          <a:p>
            <a:pPr indent="-342900" lvl="0" marL="457200" rtl="0" algn="l">
              <a:spcBef>
                <a:spcPts val="0"/>
              </a:spcBef>
              <a:spcAft>
                <a:spcPts val="0"/>
              </a:spcAft>
              <a:buSzPts val="1800"/>
              <a:buChar char="●"/>
            </a:pPr>
            <a:r>
              <a:rPr lang="en"/>
              <a:t>Is there a relationship between games played and player </a:t>
            </a:r>
            <a:r>
              <a:rPr lang="en"/>
              <a:t>performance</a:t>
            </a:r>
            <a:r>
              <a:rPr lang="en"/>
              <a:t>?</a:t>
            </a:r>
            <a:endParaRPr/>
          </a:p>
          <a:p>
            <a:pPr indent="0" lvl="0" marL="0" rtl="0" algn="l">
              <a:spcBef>
                <a:spcPts val="1200"/>
              </a:spcBef>
              <a:spcAft>
                <a:spcPts val="0"/>
              </a:spcAft>
              <a:buNone/>
            </a:pPr>
            <a:r>
              <a:rPr lang="en"/>
              <a:t>Audience:</a:t>
            </a:r>
            <a:endParaRPr/>
          </a:p>
          <a:p>
            <a:pPr indent="-342900" lvl="0" marL="457200" rtl="0" algn="l">
              <a:spcBef>
                <a:spcPts val="1200"/>
              </a:spcBef>
              <a:spcAft>
                <a:spcPts val="0"/>
              </a:spcAft>
              <a:buSzPts val="1800"/>
              <a:buChar char="-"/>
            </a:pPr>
            <a:r>
              <a:rPr lang="en"/>
              <a:t>Sports fans interested in NBA playoff performance</a:t>
            </a:r>
            <a:endParaRPr/>
          </a:p>
          <a:p>
            <a:pPr indent="-342900" lvl="0" marL="457200" rtl="0" algn="l">
              <a:spcBef>
                <a:spcPts val="0"/>
              </a:spcBef>
              <a:spcAft>
                <a:spcPts val="0"/>
              </a:spcAft>
              <a:buSzPts val="1800"/>
              <a:buChar char="-"/>
            </a:pPr>
            <a:r>
              <a:rPr lang="en"/>
              <a:t>Coaches or </a:t>
            </a:r>
            <a:r>
              <a:rPr lang="en"/>
              <a:t>analysts</a:t>
            </a:r>
            <a:r>
              <a:rPr lang="en"/>
              <a:t> looking for player insights</a:t>
            </a:r>
            <a:endParaRPr/>
          </a:p>
          <a:p>
            <a:pPr indent="-342900" lvl="0" marL="457200" rtl="0" algn="l">
              <a:spcBef>
                <a:spcPts val="0"/>
              </a:spcBef>
              <a:spcAft>
                <a:spcPts val="0"/>
              </a:spcAft>
              <a:buSzPts val="1800"/>
              <a:buChar char="-"/>
            </a:pPr>
            <a:r>
              <a:rPr lang="en"/>
              <a:t>Fantasy basketball players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Curious Questions- Slide 2(Anna)</a:t>
            </a:r>
            <a:endParaRPr/>
          </a:p>
        </p:txBody>
      </p:sp>
      <p:sp>
        <p:nvSpPr>
          <p:cNvPr id="184" name="Google Shape;184;p3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Communication Goal:</a:t>
            </a:r>
            <a:endParaRPr/>
          </a:p>
          <a:p>
            <a:pPr indent="-342900" lvl="0" marL="457200" rtl="0" algn="l">
              <a:spcBef>
                <a:spcPts val="1200"/>
              </a:spcBef>
              <a:spcAft>
                <a:spcPts val="0"/>
              </a:spcAft>
              <a:buSzPts val="1800"/>
              <a:buChar char="●"/>
            </a:pPr>
            <a:r>
              <a:rPr lang="en"/>
              <a:t>Improve understanding of player </a:t>
            </a:r>
            <a:r>
              <a:rPr lang="en"/>
              <a:t>performance</a:t>
            </a:r>
            <a:r>
              <a:rPr lang="en"/>
              <a:t> </a:t>
            </a:r>
            <a:r>
              <a:rPr lang="en"/>
              <a:t>beyond</a:t>
            </a:r>
            <a:r>
              <a:rPr lang="en"/>
              <a:t> just </a:t>
            </a:r>
            <a:r>
              <a:rPr lang="en"/>
              <a:t>points</a:t>
            </a:r>
            <a:r>
              <a:rPr lang="en"/>
              <a:t> scored</a:t>
            </a:r>
            <a:endParaRPr/>
          </a:p>
          <a:p>
            <a:pPr indent="-342900" lvl="0" marL="457200" rtl="0" algn="l">
              <a:spcBef>
                <a:spcPts val="0"/>
              </a:spcBef>
              <a:spcAft>
                <a:spcPts val="0"/>
              </a:spcAft>
              <a:buSzPts val="1800"/>
              <a:buChar char="●"/>
            </a:pPr>
            <a:r>
              <a:rPr lang="en"/>
              <a:t>Change perspective by showing well rounded players</a:t>
            </a:r>
            <a:endParaRPr/>
          </a:p>
          <a:p>
            <a:pPr indent="-342900" lvl="0" marL="457200" rtl="0" algn="l">
              <a:spcBef>
                <a:spcPts val="0"/>
              </a:spcBef>
              <a:spcAft>
                <a:spcPts val="0"/>
              </a:spcAft>
              <a:buSzPts val="1800"/>
              <a:buChar char="●"/>
            </a:pPr>
            <a:r>
              <a:rPr lang="en"/>
              <a:t>Encourage deeper analysis of sports statistics rather than surface level metrics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Mini Update #1-Audience/Communication Goal(Brittany)</a:t>
            </a:r>
            <a:endParaRPr/>
          </a:p>
        </p:txBody>
      </p:sp>
      <p:sp>
        <p:nvSpPr>
          <p:cNvPr id="190" name="Google Shape;190;p3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Our audience is going to be basketball fans, analysts, and broadcasters who are looking for insights on players and their stats. </a:t>
            </a:r>
            <a:endParaRPr/>
          </a:p>
          <a:p>
            <a:pPr indent="-342900" lvl="0" marL="457200" rtl="0" algn="l">
              <a:spcBef>
                <a:spcPts val="0"/>
              </a:spcBef>
              <a:spcAft>
                <a:spcPts val="0"/>
              </a:spcAft>
              <a:buSzPts val="1800"/>
              <a:buChar char="-"/>
            </a:pPr>
            <a:r>
              <a:rPr lang="en"/>
              <a:t>Our goal is to be able to give the audiences details of standout games, team trends, and upcoming predictions based on the 2021-2022 NBA playoffs. </a:t>
            </a:r>
            <a:endParaRPr/>
          </a:p>
          <a:p>
            <a:pPr indent="-342900" lvl="0" marL="457200" rtl="0" algn="l">
              <a:spcBef>
                <a:spcPts val="0"/>
              </a:spcBef>
              <a:spcAft>
                <a:spcPts val="0"/>
              </a:spcAft>
              <a:buSzPts val="1800"/>
              <a:buChar char="-"/>
            </a:pPr>
            <a:r>
              <a:rPr lang="en"/>
              <a:t>Another goal we have is to be able to give the audience </a:t>
            </a:r>
            <a:r>
              <a:rPr lang="en"/>
              <a:t>niche stats </a:t>
            </a:r>
            <a:r>
              <a:rPr lang="en"/>
              <a:t>that they would </a:t>
            </a:r>
            <a:r>
              <a:rPr lang="en"/>
              <a:t>have</a:t>
            </a:r>
            <a:r>
              <a:rPr lang="en"/>
              <a:t> never have thought of. Stats that are very </a:t>
            </a:r>
            <a:r>
              <a:rPr lang="en"/>
              <a:t>relevant, but out of the ordinary.</a:t>
            </a:r>
            <a:endParaRPr/>
          </a:p>
          <a:p>
            <a:pPr indent="-317500" lvl="1" marL="914400" rtl="0" algn="l">
              <a:spcBef>
                <a:spcPts val="0"/>
              </a:spcBef>
              <a:spcAft>
                <a:spcPts val="0"/>
              </a:spcAft>
              <a:buSzPts val="1400"/>
              <a:buChar char="-"/>
            </a:pPr>
            <a:r>
              <a:rPr lang="en"/>
              <a:t>Stats essential for sports betters, trivia knowledge, and basketball coaches/players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