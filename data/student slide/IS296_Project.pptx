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comments+xml" PartName="/ppt/comments/comment1.xml"/>
  <Override ContentType="application/vnd.openxmlformats-officedocument.presentationml.comments+xml" PartName="/ppt/comments/comment2.xml"/>
  <Override ContentType="application/vnd.openxmlformats-officedocument.presentationml.comments+xml" PartName="/ppt/comments/comment8.xml"/>
  <Override ContentType="application/vnd.openxmlformats-officedocument.presentationml.comments+xml" PartName="/ppt/comments/comment5.xml"/>
  <Override ContentType="application/vnd.openxmlformats-officedocument.presentationml.comments+xml" PartName="/ppt/comments/comment6.xml"/>
  <Override ContentType="application/vnd.openxmlformats-officedocument.presentationml.comments+xml" PartName="/ppt/comments/comment7.xml"/>
  <Override ContentType="application/vnd.openxmlformats-officedocument.presentationml.comments+xml" PartName="/ppt/comments/comment4.xml"/>
  <Override ContentType="application/vnd.openxmlformats-officedocument.presentationml.comments+xml" PartName="/ppt/comments/comment9.xml"/>
  <Override ContentType="application/vnd.openxmlformats-officedocument.presentationml.comments+xml" PartName="/ppt/comments/comment3.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commentAuthors+xml" PartName="/ppt/commentAuthors.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6"/>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commentAuthors.xml><?xml version="1.0" encoding="utf-8"?>
<p:cmAuthor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Author clrIdx="0" id="0" initials="" lastIdx="13" name="Karen Chen"/>
</p:cmAuthorLst>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278EB9FF-654E-4C98-B2A5-D283D16CF18D}">
  <a:tblStyle styleId="{278EB9FF-654E-4C98-B2A5-D283D16CF18D}"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3.xml"/><Relationship Id="rId22" Type="http://schemas.openxmlformats.org/officeDocument/2006/relationships/slide" Target="slides/slide15.xml"/><Relationship Id="rId21" Type="http://schemas.openxmlformats.org/officeDocument/2006/relationships/slide" Target="slides/slide14.xml"/><Relationship Id="rId24" Type="http://schemas.openxmlformats.org/officeDocument/2006/relationships/slide" Target="slides/slide17.xml"/><Relationship Id="rId23" Type="http://schemas.openxmlformats.org/officeDocument/2006/relationships/slide" Target="slides/slide16.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2.xml"/><Relationship Id="rId26" Type="http://schemas.openxmlformats.org/officeDocument/2006/relationships/slide" Target="slides/slide19.xml"/><Relationship Id="rId25" Type="http://schemas.openxmlformats.org/officeDocument/2006/relationships/slide" Target="slides/slide18.xml"/><Relationship Id="rId5" Type="http://schemas.openxmlformats.org/officeDocument/2006/relationships/commentAuthors" Target="commentAuthors.xml"/><Relationship Id="rId6" Type="http://schemas.openxmlformats.org/officeDocument/2006/relationships/slideMaster" Target="slideMasters/slideMaster1.xml"/><Relationship Id="rId7" Type="http://schemas.openxmlformats.org/officeDocument/2006/relationships/notesMaster" Target="notesMasters/notesMaster1.xml"/><Relationship Id="rId8" Type="http://schemas.openxmlformats.org/officeDocument/2006/relationships/slide" Target="slides/slide1.xml"/><Relationship Id="rId11" Type="http://schemas.openxmlformats.org/officeDocument/2006/relationships/slide" Target="slides/slide4.xml"/><Relationship Id="rId10" Type="http://schemas.openxmlformats.org/officeDocument/2006/relationships/slide" Target="slides/slide3.xml"/><Relationship Id="rId13" Type="http://schemas.openxmlformats.org/officeDocument/2006/relationships/slide" Target="slides/slide6.xml"/><Relationship Id="rId12" Type="http://schemas.openxmlformats.org/officeDocument/2006/relationships/slide" Target="slides/slide5.xml"/><Relationship Id="rId15" Type="http://schemas.openxmlformats.org/officeDocument/2006/relationships/slide" Target="slides/slide8.xml"/><Relationship Id="rId14" Type="http://schemas.openxmlformats.org/officeDocument/2006/relationships/slide" Target="slides/slide7.xml"/><Relationship Id="rId17" Type="http://schemas.openxmlformats.org/officeDocument/2006/relationships/slide" Target="slides/slide10.xml"/><Relationship Id="rId16" Type="http://schemas.openxmlformats.org/officeDocument/2006/relationships/slide" Target="slides/slide9.xml"/><Relationship Id="rId19" Type="http://schemas.openxmlformats.org/officeDocument/2006/relationships/slide" Target="slides/slide12.xml"/><Relationship Id="rId18" Type="http://schemas.openxmlformats.org/officeDocument/2006/relationships/slide" Target="slides/slide11.xml"/></Relationships>
</file>

<file path=ppt/comments/comment1.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1" dt="2026-04-08T04:48:14.185">
    <p:pos x="0" y="752"/>
    <p:text>@renan1@umbc.edu you will need to analyze all column, not just four of them.</p:text>
  </p:cm>
</p:cmLst>
</file>

<file path=ppt/comments/comment2.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2" dt="2026-04-08T04:48:38.589">
    <p:pos x="196" y="725"/>
    <p:text>please be specific about audience</p:text>
  </p:cm>
  <p:cm authorId="0" idx="3" dt="2026-04-08T04:49:12.185">
    <p:pos x="196" y="825"/>
    <p:text>improve understanding of what?</p:text>
  </p:cm>
  <p:cm authorId="0" idx="4" dt="2026-04-08T04:50:04.281">
    <p:pos x="196" y="925"/>
    <p:text>would professionals and non-professional's communication goal different?</p:text>
  </p:cm>
  <p:cm authorId="0" idx="5" dt="2026-04-08T04:51:09.733">
    <p:pos x="196" y="1025"/>
    <p:text>this is a nice comm. goal for lay person. Keep those in mind while evolving your analysis</p:text>
  </p:cm>
</p:cmLst>
</file>

<file path=ppt/comments/comment3.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6" dt="2026-04-15T03:48:01.686">
    <p:pos x="600" y="1020"/>
    <p:text>@renan1@umbc.edu although interesting to look at extreme data points, suggest focus on analyzing general patterns with the complete dataset</p:text>
  </p:cm>
</p:cmLst>
</file>

<file path=ppt/comments/comment4.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7" dt="2026-04-15T03:48:24.843">
    <p:pos x="140" y="903"/>
    <p:text>same comment</p:text>
  </p:cm>
</p:cmLst>
</file>

<file path=ppt/comments/comment5.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8" dt="2026-04-15T03:49:45.557">
    <p:pos x="196" y="725"/>
    <p:text>please check with TF/TA for brainstorming ideas. your analysis is bit too thin for this week, hope to see improvement next week @renan1@umbc.edu</p:text>
  </p:cm>
</p:cmLst>
</file>

<file path=ppt/comments/comment6.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9" dt="2026-04-21T05:33:15.219">
    <p:pos x="18" y="268"/>
    <p:text>@renan1@umbc.edu please generate plot</p:text>
  </p:cm>
</p:cmLst>
</file>

<file path=ppt/comments/comment7.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10" dt="2026-04-28T23:52:23.328">
    <p:pos x="85" y="1993"/>
    <p:text>those time seems to be outlier or erroneous data, please double check</p:text>
  </p:cm>
  <p:cm authorId="0" idx="11" dt="2026-04-28T23:54:22.853">
    <p:pos x="196" y="280"/>
    <p:text>those scatter plot is okay, but not optimal, as the points might overlap, consider bin the average rating (x-axis) and average on Y.</p:text>
  </p:cm>
</p:cmLst>
</file>

<file path=ppt/comments/comment8.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12" dt="2026-04-28T23:56:24.746">
    <p:pos x="1944" y="609"/>
    <p:text>I doubt the receipt rating =0 is real, they are probably error data</p:text>
  </p:cm>
</p:cmLst>
</file>

<file path=ppt/comments/comment9.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13" dt="2026-04-28T23:55:36.499">
    <p:pos x="196" y="725"/>
    <p:text>@renan1@umbc.edu please reach out TF/RA for help</p:text>
  </p:cm>
</p:cmLst>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 name="Shape 56"/>
        <p:cNvGrpSpPr/>
        <p:nvPr/>
      </p:nvGrpSpPr>
      <p:grpSpPr>
        <a:xfrm>
          <a:off x="0" y="0"/>
          <a:ext cx="0" cy="0"/>
          <a:chOff x="0" y="0"/>
          <a:chExt cx="0" cy="0"/>
        </a:xfrm>
      </p:grpSpPr>
      <p:sp>
        <p:nvSpPr>
          <p:cNvPr id="57" name="Google Shape;57;g3d4a9103fb3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 name="Google Shape;58;g3d4a9103fb3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 name="Shape 63"/>
        <p:cNvGrpSpPr/>
        <p:nvPr/>
      </p:nvGrpSpPr>
      <p:grpSpPr>
        <a:xfrm>
          <a:off x="0" y="0"/>
          <a:ext cx="0" cy="0"/>
          <a:chOff x="0" y="0"/>
          <a:chExt cx="0" cy="0"/>
        </a:xfrm>
      </p:grpSpPr>
      <p:sp>
        <p:nvSpPr>
          <p:cNvPr id="64" name="Google Shape;64;g3d5abc6f6b7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5" name="Google Shape;65;g3d5abc6f6b7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 name="Shape 70"/>
        <p:cNvGrpSpPr/>
        <p:nvPr/>
      </p:nvGrpSpPr>
      <p:grpSpPr>
        <a:xfrm>
          <a:off x="0" y="0"/>
          <a:ext cx="0" cy="0"/>
          <a:chOff x="0" y="0"/>
          <a:chExt cx="0" cy="0"/>
        </a:xfrm>
      </p:grpSpPr>
      <p:sp>
        <p:nvSpPr>
          <p:cNvPr id="71" name="Google Shape;71;g3d4a9103fb3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2" name="Google Shape;72;g3d4a9103fb3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 name="Shape 76"/>
        <p:cNvGrpSpPr/>
        <p:nvPr/>
      </p:nvGrpSpPr>
      <p:grpSpPr>
        <a:xfrm>
          <a:off x="0" y="0"/>
          <a:ext cx="0" cy="0"/>
          <a:chOff x="0" y="0"/>
          <a:chExt cx="0" cy="0"/>
        </a:xfrm>
      </p:grpSpPr>
      <p:sp>
        <p:nvSpPr>
          <p:cNvPr id="77" name="Google Shape;77;g3d5abc6f6b7_0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8" name="Google Shape;78;g3d5abc6f6b7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g3d5abc6f6b7_0_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6" name="Google Shape;86;g3d5abc6f6b7_0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 name="Shape 92"/>
        <p:cNvGrpSpPr/>
        <p:nvPr/>
      </p:nvGrpSpPr>
      <p:grpSpPr>
        <a:xfrm>
          <a:off x="0" y="0"/>
          <a:ext cx="0" cy="0"/>
          <a:chOff x="0" y="0"/>
          <a:chExt cx="0" cy="0"/>
        </a:xfrm>
      </p:grpSpPr>
      <p:sp>
        <p:nvSpPr>
          <p:cNvPr id="93" name="Google Shape;93;g3d5abc6f6b7_0_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4" name="Google Shape;94;g3d5abc6f6b7_0_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 name="Shape 98"/>
        <p:cNvGrpSpPr/>
        <p:nvPr/>
      </p:nvGrpSpPr>
      <p:grpSpPr>
        <a:xfrm>
          <a:off x="0" y="0"/>
          <a:ext cx="0" cy="0"/>
          <a:chOff x="0" y="0"/>
          <a:chExt cx="0" cy="0"/>
        </a:xfrm>
      </p:grpSpPr>
      <p:sp>
        <p:nvSpPr>
          <p:cNvPr id="99" name="Google Shape;99;g3d5abc6f6b7_0_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0" name="Google Shape;100;g3d5abc6f6b7_0_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 name="Shape 104"/>
        <p:cNvGrpSpPr/>
        <p:nvPr/>
      </p:nvGrpSpPr>
      <p:grpSpPr>
        <a:xfrm>
          <a:off x="0" y="0"/>
          <a:ext cx="0" cy="0"/>
          <a:chOff x="0" y="0"/>
          <a:chExt cx="0" cy="0"/>
        </a:xfrm>
      </p:grpSpPr>
      <p:sp>
        <p:nvSpPr>
          <p:cNvPr id="105" name="Google Shape;105;g3d76b486aa2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6" name="Google Shape;106;g3d76b486aa2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 name="Shape 114"/>
        <p:cNvGrpSpPr/>
        <p:nvPr/>
      </p:nvGrpSpPr>
      <p:grpSpPr>
        <a:xfrm>
          <a:off x="0" y="0"/>
          <a:ext cx="0" cy="0"/>
          <a:chOff x="0" y="0"/>
          <a:chExt cx="0" cy="0"/>
        </a:xfrm>
      </p:grpSpPr>
      <p:sp>
        <p:nvSpPr>
          <p:cNvPr id="115" name="Google Shape;115;g3d76b486aa2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6" name="Google Shape;116;g3d76b486aa2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 name="Shape 133"/>
        <p:cNvGrpSpPr/>
        <p:nvPr/>
      </p:nvGrpSpPr>
      <p:grpSpPr>
        <a:xfrm>
          <a:off x="0" y="0"/>
          <a:ext cx="0" cy="0"/>
          <a:chOff x="0" y="0"/>
          <a:chExt cx="0" cy="0"/>
        </a:xfrm>
      </p:grpSpPr>
      <p:sp>
        <p:nvSpPr>
          <p:cNvPr id="134" name="Google Shape;134;g3d76b486aa2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5" name="Google Shape;135;g3d76b486aa2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 name="Shape 139"/>
        <p:cNvGrpSpPr/>
        <p:nvPr/>
      </p:nvGrpSpPr>
      <p:grpSpPr>
        <a:xfrm>
          <a:off x="0" y="0"/>
          <a:ext cx="0" cy="0"/>
          <a:chOff x="0" y="0"/>
          <a:chExt cx="0" cy="0"/>
        </a:xfrm>
      </p:grpSpPr>
      <p:sp>
        <p:nvSpPr>
          <p:cNvPr id="140" name="Google Shape;140;g3d76b486aa2_0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1" name="Google Shape;141;g3d76b486aa2_0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5" name="Shape 145"/>
        <p:cNvGrpSpPr/>
        <p:nvPr/>
      </p:nvGrpSpPr>
      <p:grpSpPr>
        <a:xfrm>
          <a:off x="0" y="0"/>
          <a:ext cx="0" cy="0"/>
          <a:chOff x="0" y="0"/>
          <a:chExt cx="0" cy="0"/>
        </a:xfrm>
      </p:grpSpPr>
      <p:sp>
        <p:nvSpPr>
          <p:cNvPr id="146" name="Google Shape;146;g3d98351b916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7" name="Google Shape;147;g3d98351b916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6" name="Shape 156"/>
        <p:cNvGrpSpPr/>
        <p:nvPr/>
      </p:nvGrpSpPr>
      <p:grpSpPr>
        <a:xfrm>
          <a:off x="0" y="0"/>
          <a:ext cx="0" cy="0"/>
          <a:chOff x="0" y="0"/>
          <a:chExt cx="0" cy="0"/>
        </a:xfrm>
      </p:grpSpPr>
      <p:sp>
        <p:nvSpPr>
          <p:cNvPr id="157" name="Google Shape;157;g3d98351b916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8" name="Google Shape;158;g3d98351b916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7" name="Shape 167"/>
        <p:cNvGrpSpPr/>
        <p:nvPr/>
      </p:nvGrpSpPr>
      <p:grpSpPr>
        <a:xfrm>
          <a:off x="0" y="0"/>
          <a:ext cx="0" cy="0"/>
          <a:chOff x="0" y="0"/>
          <a:chExt cx="0" cy="0"/>
        </a:xfrm>
      </p:grpSpPr>
      <p:sp>
        <p:nvSpPr>
          <p:cNvPr id="168" name="Google Shape;168;g3d98351b916_0_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9" name="Google Shape;169;g3d98351b916_0_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3" name="Shape 173"/>
        <p:cNvGrpSpPr/>
        <p:nvPr/>
      </p:nvGrpSpPr>
      <p:grpSpPr>
        <a:xfrm>
          <a:off x="0" y="0"/>
          <a:ext cx="0" cy="0"/>
          <a:chOff x="0" y="0"/>
          <a:chExt cx="0" cy="0"/>
        </a:xfrm>
      </p:grpSpPr>
      <p:sp>
        <p:nvSpPr>
          <p:cNvPr id="174" name="Google Shape;174;g3d98351b916_0_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5" name="Google Shape;175;g3d98351b916_0_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9" name="Shape 179"/>
        <p:cNvGrpSpPr/>
        <p:nvPr/>
      </p:nvGrpSpPr>
      <p:grpSpPr>
        <a:xfrm>
          <a:off x="0" y="0"/>
          <a:ext cx="0" cy="0"/>
          <a:chOff x="0" y="0"/>
          <a:chExt cx="0" cy="0"/>
        </a:xfrm>
      </p:grpSpPr>
      <p:sp>
        <p:nvSpPr>
          <p:cNvPr id="180" name="Google Shape;180;g3dbd1cb0918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1" name="Google Shape;181;g3dbd1cb0918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6" name="Shape 186"/>
        <p:cNvGrpSpPr/>
        <p:nvPr/>
      </p:nvGrpSpPr>
      <p:grpSpPr>
        <a:xfrm>
          <a:off x="0" y="0"/>
          <a:ext cx="0" cy="0"/>
          <a:chOff x="0" y="0"/>
          <a:chExt cx="0" cy="0"/>
        </a:xfrm>
      </p:grpSpPr>
      <p:sp>
        <p:nvSpPr>
          <p:cNvPr id="187" name="Google Shape;187;g3dbd1cb0918_0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8" name="Google Shape;188;g3dbd1cb0918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2" name="Shape 192"/>
        <p:cNvGrpSpPr/>
        <p:nvPr/>
      </p:nvGrpSpPr>
      <p:grpSpPr>
        <a:xfrm>
          <a:off x="0" y="0"/>
          <a:ext cx="0" cy="0"/>
          <a:chOff x="0" y="0"/>
          <a:chExt cx="0" cy="0"/>
        </a:xfrm>
      </p:grpSpPr>
      <p:sp>
        <p:nvSpPr>
          <p:cNvPr id="193" name="Google Shape;193;g3dbd1cb0918_0_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4" name="Google Shape;194;g3dbd1cb0918_0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comments" Target="../comments/commen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comments" Target="../comments/commen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comments" Target="../comments/commen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comments" Target="../comments/comment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comments" Target="../comments/comment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comments" Target="../comments/comment6.xml"/><Relationship Id="rId4" Type="http://schemas.openxmlformats.org/officeDocument/2006/relationships/image" Target="../media/image5.png"/><Relationship Id="rId5" Type="http://schemas.openxmlformats.org/officeDocument/2006/relationships/image" Target="../media/image16.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10.png"/><Relationship Id="rId4" Type="http://schemas.openxmlformats.org/officeDocument/2006/relationships/image" Target="../media/image15.png"/><Relationship Id="rId10" Type="http://schemas.openxmlformats.org/officeDocument/2006/relationships/image" Target="../media/image9.png"/><Relationship Id="rId9" Type="http://schemas.openxmlformats.org/officeDocument/2006/relationships/image" Target="../media/image8.png"/><Relationship Id="rId5" Type="http://schemas.openxmlformats.org/officeDocument/2006/relationships/image" Target="../media/image13.png"/><Relationship Id="rId6" Type="http://schemas.openxmlformats.org/officeDocument/2006/relationships/image" Target="../media/image6.png"/><Relationship Id="rId7" Type="http://schemas.openxmlformats.org/officeDocument/2006/relationships/image" Target="../media/image4.png"/><Relationship Id="rId8" Type="http://schemas.openxmlformats.org/officeDocument/2006/relationships/image" Target="../media/image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comments" Target="../comments/comment7.xml"/><Relationship Id="rId4" Type="http://schemas.openxmlformats.org/officeDocument/2006/relationships/image" Target="../media/image17.png"/><Relationship Id="rId5" Type="http://schemas.openxmlformats.org/officeDocument/2006/relationships/image" Target="../media/image1.png"/><Relationship Id="rId6" Type="http://schemas.openxmlformats.org/officeDocument/2006/relationships/image" Target="../media/image3.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comments" Target="../comments/comment8.xml"/><Relationship Id="rId4" Type="http://schemas.openxmlformats.org/officeDocument/2006/relationships/image" Target="../media/image12.png"/><Relationship Id="rId5" Type="http://schemas.openxmlformats.org/officeDocument/2006/relationships/image" Target="../media/image14.png"/><Relationship Id="rId6" Type="http://schemas.openxmlformats.org/officeDocument/2006/relationships/image" Target="../media/image1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comments" Target="../comments/comment9.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 Id="rId3" Type="http://schemas.openxmlformats.org/officeDocument/2006/relationships/image" Target="../media/image7.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n"/>
              <a:t>All Recipes</a:t>
            </a:r>
            <a:endParaRPr/>
          </a:p>
        </p:txBody>
      </p:sp>
      <p:sp>
        <p:nvSpPr>
          <p:cNvPr id="55" name="Google Shape;55;p13"/>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en"/>
              <a:t>Rena Nguyen</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 name="Shape 59"/>
        <p:cNvGrpSpPr/>
        <p:nvPr/>
      </p:nvGrpSpPr>
      <p:grpSpPr>
        <a:xfrm>
          <a:off x="0" y="0"/>
          <a:ext cx="0" cy="0"/>
          <a:chOff x="0" y="0"/>
          <a:chExt cx="0" cy="0"/>
        </a:xfrm>
      </p:grpSpPr>
      <p:sp>
        <p:nvSpPr>
          <p:cNvPr id="60" name="Google Shape;60;p14"/>
          <p:cNvSpPr txBox="1"/>
          <p:nvPr>
            <p:ph type="title"/>
          </p:nvPr>
        </p:nvSpPr>
        <p:spPr>
          <a:xfrm>
            <a:off x="-34025" y="0"/>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Mini Update #1- Data Profile (Revised)</a:t>
            </a:r>
            <a:endParaRPr/>
          </a:p>
        </p:txBody>
      </p:sp>
      <p:sp>
        <p:nvSpPr>
          <p:cNvPr id="61" name="Google Shape;61;p14"/>
          <p:cNvSpPr txBox="1"/>
          <p:nvPr>
            <p:ph idx="1" type="body"/>
          </p:nvPr>
        </p:nvSpPr>
        <p:spPr>
          <a:xfrm>
            <a:off x="0" y="429225"/>
            <a:ext cx="8520600" cy="765900"/>
          </a:xfrm>
          <a:prstGeom prst="rect">
            <a:avLst/>
          </a:prstGeom>
        </p:spPr>
        <p:txBody>
          <a:bodyPr anchorCtr="0" anchor="t" bIns="91425" lIns="91425" spcFirstLastPara="1" rIns="91425" wrap="square" tIns="91425">
            <a:normAutofit fontScale="85000"/>
          </a:bodyPr>
          <a:lstStyle/>
          <a:p>
            <a:pPr indent="0" lvl="0" marL="0" rtl="0" algn="l">
              <a:spcBef>
                <a:spcPts val="0"/>
              </a:spcBef>
              <a:spcAft>
                <a:spcPts val="1200"/>
              </a:spcAft>
              <a:buNone/>
            </a:pPr>
            <a:r>
              <a:rPr lang="en">
                <a:latin typeface="Times New Roman"/>
                <a:ea typeface="Times New Roman"/>
                <a:cs typeface="Times New Roman"/>
                <a:sym typeface="Times New Roman"/>
              </a:rPr>
              <a:t>There are two datasets for the project: </a:t>
            </a:r>
            <a:r>
              <a:rPr lang="en">
                <a:solidFill>
                  <a:srgbClr val="FF0000"/>
                </a:solidFill>
                <a:latin typeface="Times New Roman"/>
                <a:ea typeface="Times New Roman"/>
                <a:cs typeface="Times New Roman"/>
                <a:sym typeface="Times New Roman"/>
              </a:rPr>
              <a:t>All_Recipes</a:t>
            </a:r>
            <a:r>
              <a:rPr lang="en">
                <a:latin typeface="Times New Roman"/>
                <a:ea typeface="Times New Roman"/>
                <a:cs typeface="Times New Roman"/>
                <a:sym typeface="Times New Roman"/>
              </a:rPr>
              <a:t> and </a:t>
            </a:r>
            <a:r>
              <a:rPr lang="en">
                <a:solidFill>
                  <a:srgbClr val="0000FF"/>
                </a:solidFill>
                <a:latin typeface="Times New Roman"/>
                <a:ea typeface="Times New Roman"/>
                <a:cs typeface="Times New Roman"/>
                <a:sym typeface="Times New Roman"/>
              </a:rPr>
              <a:t>Cuisines</a:t>
            </a:r>
            <a:r>
              <a:rPr lang="en">
                <a:latin typeface="Times New Roman"/>
                <a:ea typeface="Times New Roman"/>
                <a:cs typeface="Times New Roman"/>
                <a:sym typeface="Times New Roman"/>
              </a:rPr>
              <a:t>. All_Recipes (first table) includes 14426 rows and 16 columns. Cuisines (second table) includes 2218 rows and 17 columns.</a:t>
            </a:r>
            <a:endParaRPr>
              <a:latin typeface="Times New Roman"/>
              <a:ea typeface="Times New Roman"/>
              <a:cs typeface="Times New Roman"/>
              <a:sym typeface="Times New Roman"/>
            </a:endParaRPr>
          </a:p>
        </p:txBody>
      </p:sp>
      <p:graphicFrame>
        <p:nvGraphicFramePr>
          <p:cNvPr id="62" name="Google Shape;62;p14"/>
          <p:cNvGraphicFramePr/>
          <p:nvPr/>
        </p:nvGraphicFramePr>
        <p:xfrm>
          <a:off x="-50" y="1195113"/>
          <a:ext cx="3000000" cy="3000000"/>
        </p:xfrm>
        <a:graphic>
          <a:graphicData uri="http://schemas.openxmlformats.org/drawingml/2006/table">
            <a:tbl>
              <a:tblPr>
                <a:noFill/>
                <a:tableStyleId>{278EB9FF-654E-4C98-B2A5-D283D16CF18D}</a:tableStyleId>
              </a:tblPr>
              <a:tblGrid>
                <a:gridCol w="1828800"/>
                <a:gridCol w="1828800"/>
                <a:gridCol w="1828800"/>
                <a:gridCol w="1828800"/>
                <a:gridCol w="1828800"/>
              </a:tblGrid>
              <a:tr h="887850">
                <a:tc>
                  <a:txBody>
                    <a:bodyPr/>
                    <a:lstStyle/>
                    <a:p>
                      <a:pPr indent="0" lvl="0" marL="0" rtl="0" algn="l">
                        <a:spcBef>
                          <a:spcPts val="0"/>
                        </a:spcBef>
                        <a:spcAft>
                          <a:spcPts val="0"/>
                        </a:spcAft>
                        <a:buNone/>
                      </a:pPr>
                      <a:r>
                        <a:rPr lang="en"/>
                        <a:t>Column Name</a:t>
                      </a:r>
                      <a:endParaRPr/>
                    </a:p>
                  </a:txBody>
                  <a:tcPr marT="91425" marB="91425" marR="91425" marL="91425"/>
                </a:tc>
                <a:tc>
                  <a:txBody>
                    <a:bodyPr/>
                    <a:lstStyle/>
                    <a:p>
                      <a:pPr indent="0" lvl="0" marL="0" rtl="0" algn="l">
                        <a:spcBef>
                          <a:spcPts val="0"/>
                        </a:spcBef>
                        <a:spcAft>
                          <a:spcPts val="0"/>
                        </a:spcAft>
                        <a:buNone/>
                      </a:pPr>
                      <a:r>
                        <a:rPr lang="en"/>
                        <a:t>Has missing value?</a:t>
                      </a:r>
                      <a:endParaRPr/>
                    </a:p>
                  </a:txBody>
                  <a:tcPr marT="91425" marB="91425" marR="91425" marL="91425"/>
                </a:tc>
                <a:tc>
                  <a:txBody>
                    <a:bodyPr/>
                    <a:lstStyle/>
                    <a:p>
                      <a:pPr indent="0" lvl="0" marL="0" rtl="0" algn="l">
                        <a:spcBef>
                          <a:spcPts val="0"/>
                        </a:spcBef>
                        <a:spcAft>
                          <a:spcPts val="0"/>
                        </a:spcAft>
                        <a:buNone/>
                      </a:pPr>
                      <a:r>
                        <a:rPr lang="en"/>
                        <a:t>Data Type (Discrete or numeric or free text)</a:t>
                      </a:r>
                      <a:endParaRPr/>
                    </a:p>
                  </a:txBody>
                  <a:tcPr marT="91425" marB="91425" marR="91425" marL="91425"/>
                </a:tc>
                <a:tc>
                  <a:txBody>
                    <a:bodyPr/>
                    <a:lstStyle/>
                    <a:p>
                      <a:pPr indent="0" lvl="0" marL="0" rtl="0" algn="l">
                        <a:spcBef>
                          <a:spcPts val="0"/>
                        </a:spcBef>
                        <a:spcAft>
                          <a:spcPts val="0"/>
                        </a:spcAft>
                        <a:buNone/>
                      </a:pPr>
                      <a:r>
                        <a:rPr lang="en"/>
                        <a:t>Useful?</a:t>
                      </a:r>
                      <a:endParaRPr/>
                    </a:p>
                  </a:txBody>
                  <a:tcPr marT="91425" marB="91425" marR="91425" marL="91425"/>
                </a:tc>
                <a:tc>
                  <a:txBody>
                    <a:bodyPr/>
                    <a:lstStyle/>
                    <a:p>
                      <a:pPr indent="0" lvl="0" marL="0" rtl="0" algn="l">
                        <a:spcBef>
                          <a:spcPts val="0"/>
                        </a:spcBef>
                        <a:spcAft>
                          <a:spcPts val="0"/>
                        </a:spcAft>
                        <a:buNone/>
                      </a:pPr>
                      <a:r>
                        <a:rPr lang="en"/>
                        <a:t>Need cleaning or processing?</a:t>
                      </a:r>
                      <a:endParaRPr/>
                    </a:p>
                  </a:txBody>
                  <a:tcPr marT="91425" marB="91425" marR="91425" marL="91425"/>
                </a:tc>
              </a:tr>
              <a:tr h="464600">
                <a:tc>
                  <a:txBody>
                    <a:bodyPr/>
                    <a:lstStyle/>
                    <a:p>
                      <a:pPr indent="0" lvl="0" marL="0" rtl="0" algn="l">
                        <a:spcBef>
                          <a:spcPts val="0"/>
                        </a:spcBef>
                        <a:spcAft>
                          <a:spcPts val="0"/>
                        </a:spcAft>
                        <a:buNone/>
                      </a:pPr>
                      <a:r>
                        <a:rPr lang="en"/>
                        <a:t>Name</a:t>
                      </a:r>
                      <a:endParaRPr/>
                    </a:p>
                  </a:txBody>
                  <a:tcPr marT="91425" marB="91425" marR="91425" marL="91425"/>
                </a:tc>
                <a:tc>
                  <a:txBody>
                    <a:bodyPr/>
                    <a:lstStyle/>
                    <a:p>
                      <a:pPr indent="0" lvl="0" marL="0" rtl="0" algn="l">
                        <a:spcBef>
                          <a:spcPts val="0"/>
                        </a:spcBef>
                        <a:spcAft>
                          <a:spcPts val="0"/>
                        </a:spcAft>
                        <a:buNone/>
                      </a:pPr>
                      <a:r>
                        <a:rPr lang="en"/>
                        <a:t>No</a:t>
                      </a:r>
                      <a:endParaRPr/>
                    </a:p>
                  </a:txBody>
                  <a:tcPr marT="91425" marB="91425" marR="91425" marL="91425"/>
                </a:tc>
                <a:tc>
                  <a:txBody>
                    <a:bodyPr/>
                    <a:lstStyle/>
                    <a:p>
                      <a:pPr indent="0" lvl="0" marL="0" rtl="0" algn="l">
                        <a:spcBef>
                          <a:spcPts val="0"/>
                        </a:spcBef>
                        <a:spcAft>
                          <a:spcPts val="0"/>
                        </a:spcAft>
                        <a:buNone/>
                      </a:pPr>
                      <a:r>
                        <a:rPr lang="en"/>
                        <a:t>Free Text</a:t>
                      </a:r>
                      <a:endParaRPr/>
                    </a:p>
                  </a:txBody>
                  <a:tcPr marT="91425" marB="91425" marR="91425" marL="91425"/>
                </a:tc>
                <a:tc>
                  <a:txBody>
                    <a:bodyPr/>
                    <a:lstStyle/>
                    <a:p>
                      <a:pPr indent="0" lvl="0" marL="0" rtl="0" algn="l">
                        <a:spcBef>
                          <a:spcPts val="0"/>
                        </a:spcBef>
                        <a:spcAft>
                          <a:spcPts val="0"/>
                        </a:spcAft>
                        <a:buNone/>
                      </a:pPr>
                      <a:r>
                        <a:rPr lang="en"/>
                        <a:t>No</a:t>
                      </a:r>
                      <a:endParaRPr/>
                    </a:p>
                  </a:txBody>
                  <a:tcPr marT="91425" marB="91425" marR="91425" marL="91425"/>
                </a:tc>
                <a:tc>
                  <a:txBody>
                    <a:bodyPr/>
                    <a:lstStyle/>
                    <a:p>
                      <a:pPr indent="0" lvl="0" marL="0" rtl="0" algn="l">
                        <a:spcBef>
                          <a:spcPts val="0"/>
                        </a:spcBef>
                        <a:spcAft>
                          <a:spcPts val="0"/>
                        </a:spcAft>
                        <a:buNone/>
                      </a:pPr>
                      <a:r>
                        <a:rPr lang="en"/>
                        <a:t>No</a:t>
                      </a:r>
                      <a:endParaRPr/>
                    </a:p>
                  </a:txBody>
                  <a:tcPr marT="91425" marB="91425" marR="91425" marL="91425"/>
                </a:tc>
              </a:tr>
              <a:tr h="311725">
                <a:tc>
                  <a:txBody>
                    <a:bodyPr/>
                    <a:lstStyle/>
                    <a:p>
                      <a:pPr indent="0" lvl="0" marL="0" rtl="0" algn="l">
                        <a:spcBef>
                          <a:spcPts val="0"/>
                        </a:spcBef>
                        <a:spcAft>
                          <a:spcPts val="0"/>
                        </a:spcAft>
                        <a:buNone/>
                      </a:pPr>
                      <a:r>
                        <a:rPr lang="en"/>
                        <a:t>URL</a:t>
                      </a:r>
                      <a:endParaRPr/>
                    </a:p>
                  </a:txBody>
                  <a:tcPr marT="91425" marB="91425" marR="91425" marL="91425"/>
                </a:tc>
                <a:tc>
                  <a:txBody>
                    <a:bodyPr/>
                    <a:lstStyle/>
                    <a:p>
                      <a:pPr indent="0" lvl="0" marL="0" rtl="0" algn="l">
                        <a:spcBef>
                          <a:spcPts val="0"/>
                        </a:spcBef>
                        <a:spcAft>
                          <a:spcPts val="0"/>
                        </a:spcAft>
                        <a:buNone/>
                      </a:pPr>
                      <a:r>
                        <a:rPr lang="en"/>
                        <a:t>No</a:t>
                      </a:r>
                      <a:endParaRPr/>
                    </a:p>
                  </a:txBody>
                  <a:tcPr marT="91425" marB="91425" marR="91425" marL="91425"/>
                </a:tc>
                <a:tc>
                  <a:txBody>
                    <a:bodyPr/>
                    <a:lstStyle/>
                    <a:p>
                      <a:pPr indent="0" lvl="0" marL="0" rtl="0" algn="l">
                        <a:spcBef>
                          <a:spcPts val="0"/>
                        </a:spcBef>
                        <a:spcAft>
                          <a:spcPts val="0"/>
                        </a:spcAft>
                        <a:buNone/>
                      </a:pPr>
                      <a:r>
                        <a:rPr lang="en"/>
                        <a:t>Free Text</a:t>
                      </a:r>
                      <a:endParaRPr/>
                    </a:p>
                  </a:txBody>
                  <a:tcPr marT="91425" marB="91425" marR="91425" marL="91425"/>
                </a:tc>
                <a:tc>
                  <a:txBody>
                    <a:bodyPr/>
                    <a:lstStyle/>
                    <a:p>
                      <a:pPr indent="0" lvl="0" marL="0" rtl="0" algn="l">
                        <a:spcBef>
                          <a:spcPts val="0"/>
                        </a:spcBef>
                        <a:spcAft>
                          <a:spcPts val="0"/>
                        </a:spcAft>
                        <a:buNone/>
                      </a:pPr>
                      <a:r>
                        <a:rPr lang="en"/>
                        <a:t>No</a:t>
                      </a:r>
                      <a:endParaRPr/>
                    </a:p>
                  </a:txBody>
                  <a:tcPr marT="91425" marB="91425" marR="91425" marL="91425"/>
                </a:tc>
                <a:tc>
                  <a:txBody>
                    <a:bodyPr/>
                    <a:lstStyle/>
                    <a:p>
                      <a:pPr indent="0" lvl="0" marL="0" rtl="0" algn="l">
                        <a:spcBef>
                          <a:spcPts val="0"/>
                        </a:spcBef>
                        <a:spcAft>
                          <a:spcPts val="0"/>
                        </a:spcAft>
                        <a:buNone/>
                      </a:pPr>
                      <a:r>
                        <a:rPr lang="en"/>
                        <a:t>No</a:t>
                      </a:r>
                      <a:endParaRPr/>
                    </a:p>
                  </a:txBody>
                  <a:tcPr marT="91425" marB="91425" marR="91425" marL="91425"/>
                </a:tc>
              </a:tr>
              <a:tr h="311725">
                <a:tc>
                  <a:txBody>
                    <a:bodyPr/>
                    <a:lstStyle/>
                    <a:p>
                      <a:pPr indent="0" lvl="0" marL="0" rtl="0" algn="l">
                        <a:spcBef>
                          <a:spcPts val="0"/>
                        </a:spcBef>
                        <a:spcAft>
                          <a:spcPts val="0"/>
                        </a:spcAft>
                        <a:buNone/>
                      </a:pPr>
                      <a:r>
                        <a:rPr lang="en"/>
                        <a:t>Author</a:t>
                      </a:r>
                      <a:endParaRPr/>
                    </a:p>
                  </a:txBody>
                  <a:tcPr marT="91425" marB="91425" marR="91425" marL="91425"/>
                </a:tc>
                <a:tc>
                  <a:txBody>
                    <a:bodyPr/>
                    <a:lstStyle/>
                    <a:p>
                      <a:pPr indent="0" lvl="0" marL="0" rtl="0" algn="l">
                        <a:spcBef>
                          <a:spcPts val="0"/>
                        </a:spcBef>
                        <a:spcAft>
                          <a:spcPts val="0"/>
                        </a:spcAft>
                        <a:buNone/>
                      </a:pPr>
                      <a:r>
                        <a:rPr lang="en"/>
                        <a:t>No</a:t>
                      </a:r>
                      <a:endParaRPr/>
                    </a:p>
                  </a:txBody>
                  <a:tcPr marT="91425" marB="91425" marR="91425" marL="91425"/>
                </a:tc>
                <a:tc>
                  <a:txBody>
                    <a:bodyPr/>
                    <a:lstStyle/>
                    <a:p>
                      <a:pPr indent="0" lvl="0" marL="0" rtl="0" algn="l">
                        <a:spcBef>
                          <a:spcPts val="0"/>
                        </a:spcBef>
                        <a:spcAft>
                          <a:spcPts val="0"/>
                        </a:spcAft>
                        <a:buNone/>
                      </a:pPr>
                      <a:r>
                        <a:rPr lang="en"/>
                        <a:t>Free Text</a:t>
                      </a:r>
                      <a:endParaRPr/>
                    </a:p>
                  </a:txBody>
                  <a:tcPr marT="91425" marB="91425" marR="91425" marL="91425"/>
                </a:tc>
                <a:tc>
                  <a:txBody>
                    <a:bodyPr/>
                    <a:lstStyle/>
                    <a:p>
                      <a:pPr indent="0" lvl="0" marL="0" rtl="0" algn="l">
                        <a:spcBef>
                          <a:spcPts val="0"/>
                        </a:spcBef>
                        <a:spcAft>
                          <a:spcPts val="0"/>
                        </a:spcAft>
                        <a:buNone/>
                      </a:pPr>
                      <a:r>
                        <a:rPr lang="en"/>
                        <a:t>No</a:t>
                      </a:r>
                      <a:endParaRPr/>
                    </a:p>
                  </a:txBody>
                  <a:tcPr marT="91425" marB="91425" marR="91425" marL="91425"/>
                </a:tc>
                <a:tc>
                  <a:txBody>
                    <a:bodyPr/>
                    <a:lstStyle/>
                    <a:p>
                      <a:pPr indent="0" lvl="0" marL="0" rtl="0" algn="l">
                        <a:spcBef>
                          <a:spcPts val="0"/>
                        </a:spcBef>
                        <a:spcAft>
                          <a:spcPts val="0"/>
                        </a:spcAft>
                        <a:buNone/>
                      </a:pPr>
                      <a:r>
                        <a:rPr lang="en"/>
                        <a:t>No</a:t>
                      </a:r>
                      <a:endParaRPr/>
                    </a:p>
                  </a:txBody>
                  <a:tcPr marT="91425" marB="91425" marR="91425" marL="91425"/>
                </a:tc>
              </a:tr>
              <a:tr h="311725">
                <a:tc>
                  <a:txBody>
                    <a:bodyPr/>
                    <a:lstStyle/>
                    <a:p>
                      <a:pPr indent="0" lvl="0" marL="0" rtl="0" algn="l">
                        <a:spcBef>
                          <a:spcPts val="0"/>
                        </a:spcBef>
                        <a:spcAft>
                          <a:spcPts val="0"/>
                        </a:spcAft>
                        <a:buNone/>
                      </a:pPr>
                      <a:r>
                        <a:rPr lang="en"/>
                        <a:t>Date Published</a:t>
                      </a:r>
                      <a:endParaRPr/>
                    </a:p>
                  </a:txBody>
                  <a:tcPr marT="91425" marB="91425" marR="91425" marL="91425"/>
                </a:tc>
                <a:tc>
                  <a:txBody>
                    <a:bodyPr/>
                    <a:lstStyle/>
                    <a:p>
                      <a:pPr indent="0" lvl="0" marL="0" rtl="0" algn="l">
                        <a:spcBef>
                          <a:spcPts val="0"/>
                        </a:spcBef>
                        <a:spcAft>
                          <a:spcPts val="0"/>
                        </a:spcAft>
                        <a:buNone/>
                      </a:pPr>
                      <a:r>
                        <a:rPr lang="en"/>
                        <a:t>No</a:t>
                      </a:r>
                      <a:endParaRPr/>
                    </a:p>
                  </a:txBody>
                  <a:tcPr marT="91425" marB="91425" marR="91425" marL="91425"/>
                </a:tc>
                <a:tc>
                  <a:txBody>
                    <a:bodyPr/>
                    <a:lstStyle/>
                    <a:p>
                      <a:pPr indent="0" lvl="0" marL="0" rtl="0" algn="l">
                        <a:spcBef>
                          <a:spcPts val="0"/>
                        </a:spcBef>
                        <a:spcAft>
                          <a:spcPts val="0"/>
                        </a:spcAft>
                        <a:buNone/>
                      </a:pPr>
                      <a:r>
                        <a:rPr lang="en"/>
                        <a:t>Free Text</a:t>
                      </a:r>
                      <a:endParaRPr/>
                    </a:p>
                  </a:txBody>
                  <a:tcPr marT="91425" marB="91425" marR="91425" marL="91425"/>
                </a:tc>
                <a:tc>
                  <a:txBody>
                    <a:bodyPr/>
                    <a:lstStyle/>
                    <a:p>
                      <a:pPr indent="0" lvl="0" marL="0" rtl="0" algn="l">
                        <a:spcBef>
                          <a:spcPts val="0"/>
                        </a:spcBef>
                        <a:spcAft>
                          <a:spcPts val="0"/>
                        </a:spcAft>
                        <a:buNone/>
                      </a:pPr>
                      <a:r>
                        <a:rPr lang="en"/>
                        <a:t>No</a:t>
                      </a:r>
                      <a:endParaRPr/>
                    </a:p>
                  </a:txBody>
                  <a:tcPr marT="91425" marB="91425" marR="91425" marL="91425"/>
                </a:tc>
                <a:tc>
                  <a:txBody>
                    <a:bodyPr/>
                    <a:lstStyle/>
                    <a:p>
                      <a:pPr indent="0" lvl="0" marL="0" rtl="0" algn="l">
                        <a:spcBef>
                          <a:spcPts val="0"/>
                        </a:spcBef>
                        <a:spcAft>
                          <a:spcPts val="0"/>
                        </a:spcAft>
                        <a:buNone/>
                      </a:pPr>
                      <a:r>
                        <a:rPr lang="en"/>
                        <a:t>No</a:t>
                      </a:r>
                      <a:endParaRPr/>
                    </a:p>
                  </a:txBody>
                  <a:tcPr marT="91425" marB="91425" marR="91425" marL="91425"/>
                </a:tc>
              </a:tr>
              <a:tr h="311725">
                <a:tc>
                  <a:txBody>
                    <a:bodyPr/>
                    <a:lstStyle/>
                    <a:p>
                      <a:pPr indent="0" lvl="0" marL="0" rtl="0" algn="l">
                        <a:spcBef>
                          <a:spcPts val="0"/>
                        </a:spcBef>
                        <a:spcAft>
                          <a:spcPts val="0"/>
                        </a:spcAft>
                        <a:buNone/>
                      </a:pPr>
                      <a:r>
                        <a:rPr lang="en"/>
                        <a:t>Ingredients</a:t>
                      </a:r>
                      <a:endParaRPr/>
                    </a:p>
                  </a:txBody>
                  <a:tcPr marT="91425" marB="91425" marR="91425" marL="91425"/>
                </a:tc>
                <a:tc>
                  <a:txBody>
                    <a:bodyPr/>
                    <a:lstStyle/>
                    <a:p>
                      <a:pPr indent="0" lvl="0" marL="0" rtl="0" algn="l">
                        <a:spcBef>
                          <a:spcPts val="0"/>
                        </a:spcBef>
                        <a:spcAft>
                          <a:spcPts val="0"/>
                        </a:spcAft>
                        <a:buNone/>
                      </a:pPr>
                      <a:r>
                        <a:rPr lang="en"/>
                        <a:t>No</a:t>
                      </a:r>
                      <a:endParaRPr/>
                    </a:p>
                  </a:txBody>
                  <a:tcPr marT="91425" marB="91425" marR="91425" marL="91425"/>
                </a:tc>
                <a:tc>
                  <a:txBody>
                    <a:bodyPr/>
                    <a:lstStyle/>
                    <a:p>
                      <a:pPr indent="0" lvl="0" marL="0" rtl="0" algn="l">
                        <a:spcBef>
                          <a:spcPts val="0"/>
                        </a:spcBef>
                        <a:spcAft>
                          <a:spcPts val="0"/>
                        </a:spcAft>
                        <a:buNone/>
                      </a:pPr>
                      <a:r>
                        <a:rPr lang="en"/>
                        <a:t>Free Text</a:t>
                      </a:r>
                      <a:endParaRPr/>
                    </a:p>
                  </a:txBody>
                  <a:tcPr marT="91425" marB="91425" marR="91425" marL="91425"/>
                </a:tc>
                <a:tc>
                  <a:txBody>
                    <a:bodyPr/>
                    <a:lstStyle/>
                    <a:p>
                      <a:pPr indent="0" lvl="0" marL="0" rtl="0" algn="l">
                        <a:spcBef>
                          <a:spcPts val="0"/>
                        </a:spcBef>
                        <a:spcAft>
                          <a:spcPts val="0"/>
                        </a:spcAft>
                        <a:buNone/>
                      </a:pPr>
                      <a:r>
                        <a:rPr lang="en"/>
                        <a:t>No</a:t>
                      </a:r>
                      <a:endParaRPr/>
                    </a:p>
                  </a:txBody>
                  <a:tcPr marT="91425" marB="91425" marR="91425" marL="91425"/>
                </a:tc>
                <a:tc>
                  <a:txBody>
                    <a:bodyPr/>
                    <a:lstStyle/>
                    <a:p>
                      <a:pPr indent="0" lvl="0" marL="0" rtl="0" algn="l">
                        <a:spcBef>
                          <a:spcPts val="0"/>
                        </a:spcBef>
                        <a:spcAft>
                          <a:spcPts val="0"/>
                        </a:spcAft>
                        <a:buNone/>
                      </a:pPr>
                      <a:r>
                        <a:rPr lang="en"/>
                        <a:t>No</a:t>
                      </a:r>
                      <a:endParaRPr/>
                    </a:p>
                  </a:txBody>
                  <a:tcPr marT="91425" marB="91425" marR="91425" marL="91425"/>
                </a:tc>
              </a:tr>
              <a:tr h="311725">
                <a:tc>
                  <a:txBody>
                    <a:bodyPr/>
                    <a:lstStyle/>
                    <a:p>
                      <a:pPr indent="0" lvl="0" marL="0" rtl="0" algn="l">
                        <a:spcBef>
                          <a:spcPts val="0"/>
                        </a:spcBef>
                        <a:spcAft>
                          <a:spcPts val="0"/>
                        </a:spcAft>
                        <a:buNone/>
                      </a:pPr>
                      <a:r>
                        <a:rPr lang="en"/>
                        <a:t>Calories/Fat/Carbs/Protein</a:t>
                      </a:r>
                      <a:endParaRPr/>
                    </a:p>
                  </a:txBody>
                  <a:tcPr marT="91425" marB="91425" marR="91425" marL="91425"/>
                </a:tc>
                <a:tc>
                  <a:txBody>
                    <a:bodyPr/>
                    <a:lstStyle/>
                    <a:p>
                      <a:pPr indent="0" lvl="0" marL="0" rtl="0" algn="l">
                        <a:spcBef>
                          <a:spcPts val="0"/>
                        </a:spcBef>
                        <a:spcAft>
                          <a:spcPts val="0"/>
                        </a:spcAft>
                        <a:buNone/>
                      </a:pPr>
                      <a:r>
                        <a:rPr lang="en"/>
                        <a:t>Yes</a:t>
                      </a:r>
                      <a:endParaRPr/>
                    </a:p>
                  </a:txBody>
                  <a:tcPr marT="91425" marB="91425" marR="91425" marL="91425"/>
                </a:tc>
                <a:tc>
                  <a:txBody>
                    <a:bodyPr/>
                    <a:lstStyle/>
                    <a:p>
                      <a:pPr indent="0" lvl="0" marL="0" rtl="0" algn="l">
                        <a:spcBef>
                          <a:spcPts val="0"/>
                        </a:spcBef>
                        <a:spcAft>
                          <a:spcPts val="0"/>
                        </a:spcAft>
                        <a:buNone/>
                      </a:pPr>
                      <a:r>
                        <a:rPr lang="en"/>
                        <a:t>Discrete</a:t>
                      </a:r>
                      <a:endParaRPr/>
                    </a:p>
                  </a:txBody>
                  <a:tcPr marT="91425" marB="91425" marR="91425" marL="91425"/>
                </a:tc>
                <a:tc>
                  <a:txBody>
                    <a:bodyPr/>
                    <a:lstStyle/>
                    <a:p>
                      <a:pPr indent="0" lvl="0" marL="0" rtl="0" algn="l">
                        <a:spcBef>
                          <a:spcPts val="0"/>
                        </a:spcBef>
                        <a:spcAft>
                          <a:spcPts val="0"/>
                        </a:spcAft>
                        <a:buNone/>
                      </a:pPr>
                      <a:r>
                        <a:rPr lang="en"/>
                        <a:t>Yes</a:t>
                      </a:r>
                      <a:endParaRPr/>
                    </a:p>
                  </a:txBody>
                  <a:tcPr marT="91425" marB="91425" marR="91425" marL="91425"/>
                </a:tc>
                <a:tc>
                  <a:txBody>
                    <a:bodyPr/>
                    <a:lstStyle/>
                    <a:p>
                      <a:pPr indent="0" lvl="0" marL="0" rtl="0" algn="l">
                        <a:spcBef>
                          <a:spcPts val="0"/>
                        </a:spcBef>
                        <a:spcAft>
                          <a:spcPts val="0"/>
                        </a:spcAft>
                        <a:buNone/>
                      </a:pPr>
                      <a:r>
                        <a:rPr lang="en"/>
                        <a:t>Yes</a:t>
                      </a:r>
                      <a:endParaRPr/>
                    </a:p>
                  </a:txBody>
                  <a:tcPr marT="91425" marB="91425" marR="91425" marL="91425"/>
                </a:tc>
              </a:tr>
            </a:tbl>
          </a:graphicData>
        </a:graphic>
      </p:graphicFrame>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 name="Shape 66"/>
        <p:cNvGrpSpPr/>
        <p:nvPr/>
      </p:nvGrpSpPr>
      <p:grpSpPr>
        <a:xfrm>
          <a:off x="0" y="0"/>
          <a:ext cx="0" cy="0"/>
          <a:chOff x="0" y="0"/>
          <a:chExt cx="0" cy="0"/>
        </a:xfrm>
      </p:grpSpPr>
      <p:sp>
        <p:nvSpPr>
          <p:cNvPr id="67" name="Google Shape;67;p15"/>
          <p:cNvSpPr txBox="1"/>
          <p:nvPr>
            <p:ph type="title"/>
          </p:nvPr>
        </p:nvSpPr>
        <p:spPr>
          <a:xfrm>
            <a:off x="-34025" y="0"/>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Mini Update #1- Data Profile (Continued)</a:t>
            </a:r>
            <a:endParaRPr/>
          </a:p>
        </p:txBody>
      </p:sp>
      <p:sp>
        <p:nvSpPr>
          <p:cNvPr id="68" name="Google Shape;68;p15"/>
          <p:cNvSpPr txBox="1"/>
          <p:nvPr>
            <p:ph idx="1" type="body"/>
          </p:nvPr>
        </p:nvSpPr>
        <p:spPr>
          <a:xfrm>
            <a:off x="0" y="429225"/>
            <a:ext cx="8520600" cy="765900"/>
          </a:xfrm>
          <a:prstGeom prst="rect">
            <a:avLst/>
          </a:prstGeom>
        </p:spPr>
        <p:txBody>
          <a:bodyPr anchorCtr="0" anchor="t" bIns="91425" lIns="91425" spcFirstLastPara="1" rIns="91425" wrap="square" tIns="91425">
            <a:normAutofit fontScale="85000"/>
          </a:bodyPr>
          <a:lstStyle/>
          <a:p>
            <a:pPr indent="0" lvl="0" marL="0" rtl="0" algn="l">
              <a:spcBef>
                <a:spcPts val="0"/>
              </a:spcBef>
              <a:spcAft>
                <a:spcPts val="1200"/>
              </a:spcAft>
              <a:buNone/>
            </a:pPr>
            <a:r>
              <a:rPr lang="en">
                <a:latin typeface="Times New Roman"/>
                <a:ea typeface="Times New Roman"/>
                <a:cs typeface="Times New Roman"/>
                <a:sym typeface="Times New Roman"/>
              </a:rPr>
              <a:t>There are two datasets for the project: </a:t>
            </a:r>
            <a:r>
              <a:rPr lang="en">
                <a:solidFill>
                  <a:srgbClr val="FF0000"/>
                </a:solidFill>
                <a:latin typeface="Times New Roman"/>
                <a:ea typeface="Times New Roman"/>
                <a:cs typeface="Times New Roman"/>
                <a:sym typeface="Times New Roman"/>
              </a:rPr>
              <a:t>All_Recipes</a:t>
            </a:r>
            <a:r>
              <a:rPr lang="en">
                <a:latin typeface="Times New Roman"/>
                <a:ea typeface="Times New Roman"/>
                <a:cs typeface="Times New Roman"/>
                <a:sym typeface="Times New Roman"/>
              </a:rPr>
              <a:t> and </a:t>
            </a:r>
            <a:r>
              <a:rPr lang="en">
                <a:solidFill>
                  <a:srgbClr val="0000FF"/>
                </a:solidFill>
                <a:latin typeface="Times New Roman"/>
                <a:ea typeface="Times New Roman"/>
                <a:cs typeface="Times New Roman"/>
                <a:sym typeface="Times New Roman"/>
              </a:rPr>
              <a:t>Cuisines</a:t>
            </a:r>
            <a:r>
              <a:rPr lang="en">
                <a:latin typeface="Times New Roman"/>
                <a:ea typeface="Times New Roman"/>
                <a:cs typeface="Times New Roman"/>
                <a:sym typeface="Times New Roman"/>
              </a:rPr>
              <a:t>. All_Recipes (first table) includes 14426 rows and 16 columns. Cuisines (second table) includes 2218 rows and 17 columns.</a:t>
            </a:r>
            <a:endParaRPr>
              <a:latin typeface="Times New Roman"/>
              <a:ea typeface="Times New Roman"/>
              <a:cs typeface="Times New Roman"/>
              <a:sym typeface="Times New Roman"/>
            </a:endParaRPr>
          </a:p>
        </p:txBody>
      </p:sp>
      <p:graphicFrame>
        <p:nvGraphicFramePr>
          <p:cNvPr id="69" name="Google Shape;69;p15"/>
          <p:cNvGraphicFramePr/>
          <p:nvPr/>
        </p:nvGraphicFramePr>
        <p:xfrm>
          <a:off x="-50" y="1195113"/>
          <a:ext cx="3000000" cy="3000000"/>
        </p:xfrm>
        <a:graphic>
          <a:graphicData uri="http://schemas.openxmlformats.org/drawingml/2006/table">
            <a:tbl>
              <a:tblPr>
                <a:noFill/>
                <a:tableStyleId>{278EB9FF-654E-4C98-B2A5-D283D16CF18D}</a:tableStyleId>
              </a:tblPr>
              <a:tblGrid>
                <a:gridCol w="1828800"/>
                <a:gridCol w="1828800"/>
                <a:gridCol w="1828800"/>
                <a:gridCol w="1828800"/>
                <a:gridCol w="1828800"/>
              </a:tblGrid>
              <a:tr h="887850">
                <a:tc>
                  <a:txBody>
                    <a:bodyPr/>
                    <a:lstStyle/>
                    <a:p>
                      <a:pPr indent="0" lvl="0" marL="0" rtl="0" algn="l">
                        <a:spcBef>
                          <a:spcPts val="0"/>
                        </a:spcBef>
                        <a:spcAft>
                          <a:spcPts val="0"/>
                        </a:spcAft>
                        <a:buNone/>
                      </a:pPr>
                      <a:r>
                        <a:rPr lang="en"/>
                        <a:t>Column Name</a:t>
                      </a:r>
                      <a:endParaRPr/>
                    </a:p>
                  </a:txBody>
                  <a:tcPr marT="91425" marB="91425" marR="91425" marL="91425"/>
                </a:tc>
                <a:tc>
                  <a:txBody>
                    <a:bodyPr/>
                    <a:lstStyle/>
                    <a:p>
                      <a:pPr indent="0" lvl="0" marL="0" rtl="0" algn="l">
                        <a:spcBef>
                          <a:spcPts val="0"/>
                        </a:spcBef>
                        <a:spcAft>
                          <a:spcPts val="0"/>
                        </a:spcAft>
                        <a:buNone/>
                      </a:pPr>
                      <a:r>
                        <a:rPr lang="en"/>
                        <a:t>Has missing value?</a:t>
                      </a:r>
                      <a:endParaRPr/>
                    </a:p>
                  </a:txBody>
                  <a:tcPr marT="91425" marB="91425" marR="91425" marL="91425"/>
                </a:tc>
                <a:tc>
                  <a:txBody>
                    <a:bodyPr/>
                    <a:lstStyle/>
                    <a:p>
                      <a:pPr indent="0" lvl="0" marL="0" rtl="0" algn="l">
                        <a:spcBef>
                          <a:spcPts val="0"/>
                        </a:spcBef>
                        <a:spcAft>
                          <a:spcPts val="0"/>
                        </a:spcAft>
                        <a:buNone/>
                      </a:pPr>
                      <a:r>
                        <a:rPr lang="en"/>
                        <a:t>Data Type (Discrete or numeric or free text)</a:t>
                      </a:r>
                      <a:endParaRPr/>
                    </a:p>
                  </a:txBody>
                  <a:tcPr marT="91425" marB="91425" marR="91425" marL="91425"/>
                </a:tc>
                <a:tc>
                  <a:txBody>
                    <a:bodyPr/>
                    <a:lstStyle/>
                    <a:p>
                      <a:pPr indent="0" lvl="0" marL="0" rtl="0" algn="l">
                        <a:spcBef>
                          <a:spcPts val="0"/>
                        </a:spcBef>
                        <a:spcAft>
                          <a:spcPts val="0"/>
                        </a:spcAft>
                        <a:buNone/>
                      </a:pPr>
                      <a:r>
                        <a:rPr lang="en"/>
                        <a:t>Useful?</a:t>
                      </a:r>
                      <a:endParaRPr/>
                    </a:p>
                  </a:txBody>
                  <a:tcPr marT="91425" marB="91425" marR="91425" marL="91425"/>
                </a:tc>
                <a:tc>
                  <a:txBody>
                    <a:bodyPr/>
                    <a:lstStyle/>
                    <a:p>
                      <a:pPr indent="0" lvl="0" marL="0" rtl="0" algn="l">
                        <a:spcBef>
                          <a:spcPts val="0"/>
                        </a:spcBef>
                        <a:spcAft>
                          <a:spcPts val="0"/>
                        </a:spcAft>
                        <a:buNone/>
                      </a:pPr>
                      <a:r>
                        <a:rPr lang="en"/>
                        <a:t>Need cleaning or processing?</a:t>
                      </a:r>
                      <a:endParaRPr/>
                    </a:p>
                  </a:txBody>
                  <a:tcPr marT="91425" marB="91425" marR="91425" marL="91425"/>
                </a:tc>
              </a:tr>
              <a:tr h="464600">
                <a:tc>
                  <a:txBody>
                    <a:bodyPr/>
                    <a:lstStyle/>
                    <a:p>
                      <a:pPr indent="0" lvl="0" marL="0" rtl="0" algn="l">
                        <a:spcBef>
                          <a:spcPts val="0"/>
                        </a:spcBef>
                        <a:spcAft>
                          <a:spcPts val="0"/>
                        </a:spcAft>
                        <a:buNone/>
                      </a:pPr>
                      <a:r>
                        <a:rPr lang="en"/>
                        <a:t>Average Rating</a:t>
                      </a:r>
                      <a:endParaRPr/>
                    </a:p>
                  </a:txBody>
                  <a:tcPr marT="91425" marB="91425" marR="91425" marL="91425"/>
                </a:tc>
                <a:tc>
                  <a:txBody>
                    <a:bodyPr/>
                    <a:lstStyle/>
                    <a:p>
                      <a:pPr indent="0" lvl="0" marL="0" rtl="0" algn="l">
                        <a:spcBef>
                          <a:spcPts val="0"/>
                        </a:spcBef>
                        <a:spcAft>
                          <a:spcPts val="0"/>
                        </a:spcAft>
                        <a:buNone/>
                      </a:pPr>
                      <a:r>
                        <a:rPr lang="en"/>
                        <a:t>Yes</a:t>
                      </a:r>
                      <a:endParaRPr/>
                    </a:p>
                  </a:txBody>
                  <a:tcPr marT="91425" marB="91425" marR="91425" marL="91425"/>
                </a:tc>
                <a:tc>
                  <a:txBody>
                    <a:bodyPr/>
                    <a:lstStyle/>
                    <a:p>
                      <a:pPr indent="0" lvl="0" marL="0" rtl="0" algn="l">
                        <a:spcBef>
                          <a:spcPts val="0"/>
                        </a:spcBef>
                        <a:spcAft>
                          <a:spcPts val="0"/>
                        </a:spcAft>
                        <a:buNone/>
                      </a:pPr>
                      <a:r>
                        <a:rPr lang="en"/>
                        <a:t>Numeric</a:t>
                      </a:r>
                      <a:endParaRPr/>
                    </a:p>
                  </a:txBody>
                  <a:tcPr marT="91425" marB="91425" marR="91425" marL="91425"/>
                </a:tc>
                <a:tc>
                  <a:txBody>
                    <a:bodyPr/>
                    <a:lstStyle/>
                    <a:p>
                      <a:pPr indent="0" lvl="0" marL="0" rtl="0" algn="l">
                        <a:spcBef>
                          <a:spcPts val="0"/>
                        </a:spcBef>
                        <a:spcAft>
                          <a:spcPts val="0"/>
                        </a:spcAft>
                        <a:buNone/>
                      </a:pPr>
                      <a:r>
                        <a:rPr lang="en"/>
                        <a:t>Yes</a:t>
                      </a:r>
                      <a:endParaRPr/>
                    </a:p>
                  </a:txBody>
                  <a:tcPr marT="91425" marB="91425" marR="91425" marL="91425"/>
                </a:tc>
                <a:tc>
                  <a:txBody>
                    <a:bodyPr/>
                    <a:lstStyle/>
                    <a:p>
                      <a:pPr indent="0" lvl="0" marL="0" rtl="0" algn="l">
                        <a:spcBef>
                          <a:spcPts val="0"/>
                        </a:spcBef>
                        <a:spcAft>
                          <a:spcPts val="0"/>
                        </a:spcAft>
                        <a:buNone/>
                      </a:pPr>
                      <a:r>
                        <a:rPr lang="en"/>
                        <a:t>Yes</a:t>
                      </a:r>
                      <a:endParaRPr/>
                    </a:p>
                  </a:txBody>
                  <a:tcPr marT="91425" marB="91425" marR="91425" marL="91425"/>
                </a:tc>
              </a:tr>
              <a:tr h="311725">
                <a:tc>
                  <a:txBody>
                    <a:bodyPr/>
                    <a:lstStyle/>
                    <a:p>
                      <a:pPr indent="0" lvl="0" marL="0" rtl="0" algn="l">
                        <a:spcBef>
                          <a:spcPts val="0"/>
                        </a:spcBef>
                        <a:spcAft>
                          <a:spcPts val="0"/>
                        </a:spcAft>
                        <a:buNone/>
                      </a:pPr>
                      <a:r>
                        <a:rPr lang="en"/>
                        <a:t>Total Rating</a:t>
                      </a:r>
                      <a:endParaRPr/>
                    </a:p>
                  </a:txBody>
                  <a:tcPr marT="91425" marB="91425" marR="91425" marL="91425"/>
                </a:tc>
                <a:tc>
                  <a:txBody>
                    <a:bodyPr/>
                    <a:lstStyle/>
                    <a:p>
                      <a:pPr indent="0" lvl="0" marL="0" rtl="0" algn="l">
                        <a:spcBef>
                          <a:spcPts val="0"/>
                        </a:spcBef>
                        <a:spcAft>
                          <a:spcPts val="0"/>
                        </a:spcAft>
                        <a:buNone/>
                      </a:pPr>
                      <a:r>
                        <a:rPr lang="en"/>
                        <a:t>Yes</a:t>
                      </a:r>
                      <a:endParaRPr/>
                    </a:p>
                  </a:txBody>
                  <a:tcPr marT="91425" marB="91425" marR="91425" marL="91425"/>
                </a:tc>
                <a:tc>
                  <a:txBody>
                    <a:bodyPr/>
                    <a:lstStyle/>
                    <a:p>
                      <a:pPr indent="0" lvl="0" marL="0" rtl="0" algn="l">
                        <a:spcBef>
                          <a:spcPts val="0"/>
                        </a:spcBef>
                        <a:spcAft>
                          <a:spcPts val="0"/>
                        </a:spcAft>
                        <a:buNone/>
                      </a:pPr>
                      <a:r>
                        <a:rPr lang="en"/>
                        <a:t>Discrete</a:t>
                      </a:r>
                      <a:endParaRPr/>
                    </a:p>
                  </a:txBody>
                  <a:tcPr marT="91425" marB="91425" marR="91425" marL="91425"/>
                </a:tc>
                <a:tc>
                  <a:txBody>
                    <a:bodyPr/>
                    <a:lstStyle/>
                    <a:p>
                      <a:pPr indent="0" lvl="0" marL="0" rtl="0" algn="l">
                        <a:spcBef>
                          <a:spcPts val="0"/>
                        </a:spcBef>
                        <a:spcAft>
                          <a:spcPts val="0"/>
                        </a:spcAft>
                        <a:buNone/>
                      </a:pPr>
                      <a:r>
                        <a:rPr lang="en"/>
                        <a:t>Yes</a:t>
                      </a:r>
                      <a:endParaRPr/>
                    </a:p>
                  </a:txBody>
                  <a:tcPr marT="91425" marB="91425" marR="91425" marL="91425"/>
                </a:tc>
                <a:tc>
                  <a:txBody>
                    <a:bodyPr/>
                    <a:lstStyle/>
                    <a:p>
                      <a:pPr indent="0" lvl="0" marL="0" rtl="0" algn="l">
                        <a:spcBef>
                          <a:spcPts val="0"/>
                        </a:spcBef>
                        <a:spcAft>
                          <a:spcPts val="0"/>
                        </a:spcAft>
                        <a:buNone/>
                      </a:pPr>
                      <a:r>
                        <a:rPr lang="en"/>
                        <a:t>Yes</a:t>
                      </a:r>
                      <a:endParaRPr/>
                    </a:p>
                  </a:txBody>
                  <a:tcPr marT="91425" marB="91425" marR="91425" marL="91425"/>
                </a:tc>
              </a:tr>
              <a:tr h="311725">
                <a:tc>
                  <a:txBody>
                    <a:bodyPr/>
                    <a:lstStyle/>
                    <a:p>
                      <a:pPr indent="0" lvl="0" marL="0" rtl="0" algn="l">
                        <a:spcBef>
                          <a:spcPts val="0"/>
                        </a:spcBef>
                        <a:spcAft>
                          <a:spcPts val="0"/>
                        </a:spcAft>
                        <a:buNone/>
                      </a:pPr>
                      <a:r>
                        <a:rPr lang="en"/>
                        <a:t>Reviews</a:t>
                      </a:r>
                      <a:endParaRPr/>
                    </a:p>
                  </a:txBody>
                  <a:tcPr marT="91425" marB="91425" marR="91425" marL="91425"/>
                </a:tc>
                <a:tc>
                  <a:txBody>
                    <a:bodyPr/>
                    <a:lstStyle/>
                    <a:p>
                      <a:pPr indent="0" lvl="0" marL="0" rtl="0" algn="l">
                        <a:spcBef>
                          <a:spcPts val="0"/>
                        </a:spcBef>
                        <a:spcAft>
                          <a:spcPts val="0"/>
                        </a:spcAft>
                        <a:buNone/>
                      </a:pPr>
                      <a:r>
                        <a:rPr lang="en"/>
                        <a:t>Yes</a:t>
                      </a:r>
                      <a:endParaRPr/>
                    </a:p>
                  </a:txBody>
                  <a:tcPr marT="91425" marB="91425" marR="91425" marL="91425"/>
                </a:tc>
                <a:tc>
                  <a:txBody>
                    <a:bodyPr/>
                    <a:lstStyle/>
                    <a:p>
                      <a:pPr indent="0" lvl="0" marL="0" rtl="0" algn="l">
                        <a:spcBef>
                          <a:spcPts val="0"/>
                        </a:spcBef>
                        <a:spcAft>
                          <a:spcPts val="0"/>
                        </a:spcAft>
                        <a:buNone/>
                      </a:pPr>
                      <a:r>
                        <a:rPr lang="en"/>
                        <a:t>Discrete</a:t>
                      </a:r>
                      <a:endParaRPr/>
                    </a:p>
                  </a:txBody>
                  <a:tcPr marT="91425" marB="91425" marR="91425" marL="91425"/>
                </a:tc>
                <a:tc>
                  <a:txBody>
                    <a:bodyPr/>
                    <a:lstStyle/>
                    <a:p>
                      <a:pPr indent="0" lvl="0" marL="0" rtl="0" algn="l">
                        <a:spcBef>
                          <a:spcPts val="0"/>
                        </a:spcBef>
                        <a:spcAft>
                          <a:spcPts val="0"/>
                        </a:spcAft>
                        <a:buNone/>
                      </a:pPr>
                      <a:r>
                        <a:rPr lang="en"/>
                        <a:t>Yes</a:t>
                      </a:r>
                      <a:endParaRPr/>
                    </a:p>
                  </a:txBody>
                  <a:tcPr marT="91425" marB="91425" marR="91425" marL="91425"/>
                </a:tc>
                <a:tc>
                  <a:txBody>
                    <a:bodyPr/>
                    <a:lstStyle/>
                    <a:p>
                      <a:pPr indent="0" lvl="0" marL="0" rtl="0" algn="l">
                        <a:spcBef>
                          <a:spcPts val="0"/>
                        </a:spcBef>
                        <a:spcAft>
                          <a:spcPts val="0"/>
                        </a:spcAft>
                        <a:buNone/>
                      </a:pPr>
                      <a:r>
                        <a:rPr lang="en"/>
                        <a:t>Yes</a:t>
                      </a:r>
                      <a:endParaRPr/>
                    </a:p>
                  </a:txBody>
                  <a:tcPr marT="91425" marB="91425" marR="91425" marL="91425"/>
                </a:tc>
              </a:tr>
              <a:tr h="311725">
                <a:tc>
                  <a:txBody>
                    <a:bodyPr/>
                    <a:lstStyle/>
                    <a:p>
                      <a:pPr indent="0" lvl="0" marL="0" rtl="0" algn="l">
                        <a:spcBef>
                          <a:spcPts val="0"/>
                        </a:spcBef>
                        <a:spcAft>
                          <a:spcPts val="0"/>
                        </a:spcAft>
                        <a:buNone/>
                      </a:pPr>
                      <a:r>
                        <a:rPr lang="en"/>
                        <a:t>Prep Time/Cook Time/Total TIme</a:t>
                      </a:r>
                      <a:endParaRPr/>
                    </a:p>
                  </a:txBody>
                  <a:tcPr marT="91425" marB="91425" marR="91425" marL="91425"/>
                </a:tc>
                <a:tc>
                  <a:txBody>
                    <a:bodyPr/>
                    <a:lstStyle/>
                    <a:p>
                      <a:pPr indent="0" lvl="0" marL="0" rtl="0" algn="l">
                        <a:spcBef>
                          <a:spcPts val="0"/>
                        </a:spcBef>
                        <a:spcAft>
                          <a:spcPts val="0"/>
                        </a:spcAft>
                        <a:buNone/>
                      </a:pPr>
                      <a:r>
                        <a:rPr lang="en"/>
                        <a:t>No</a:t>
                      </a:r>
                      <a:endParaRPr/>
                    </a:p>
                  </a:txBody>
                  <a:tcPr marT="91425" marB="91425" marR="91425" marL="91425"/>
                </a:tc>
                <a:tc>
                  <a:txBody>
                    <a:bodyPr/>
                    <a:lstStyle/>
                    <a:p>
                      <a:pPr indent="0" lvl="0" marL="0" rtl="0" algn="l">
                        <a:spcBef>
                          <a:spcPts val="0"/>
                        </a:spcBef>
                        <a:spcAft>
                          <a:spcPts val="0"/>
                        </a:spcAft>
                        <a:buNone/>
                      </a:pPr>
                      <a:r>
                        <a:rPr lang="en"/>
                        <a:t>Discrete</a:t>
                      </a:r>
                      <a:endParaRPr/>
                    </a:p>
                  </a:txBody>
                  <a:tcPr marT="91425" marB="91425" marR="91425" marL="91425"/>
                </a:tc>
                <a:tc>
                  <a:txBody>
                    <a:bodyPr/>
                    <a:lstStyle/>
                    <a:p>
                      <a:pPr indent="0" lvl="0" marL="0" rtl="0" algn="l">
                        <a:spcBef>
                          <a:spcPts val="0"/>
                        </a:spcBef>
                        <a:spcAft>
                          <a:spcPts val="0"/>
                        </a:spcAft>
                        <a:buNone/>
                      </a:pPr>
                      <a:r>
                        <a:rPr lang="en"/>
                        <a:t>Yes</a:t>
                      </a:r>
                      <a:endParaRPr/>
                    </a:p>
                  </a:txBody>
                  <a:tcPr marT="91425" marB="91425" marR="91425" marL="91425"/>
                </a:tc>
                <a:tc>
                  <a:txBody>
                    <a:bodyPr/>
                    <a:lstStyle/>
                    <a:p>
                      <a:pPr indent="0" lvl="0" marL="0" rtl="0" algn="l">
                        <a:spcBef>
                          <a:spcPts val="0"/>
                        </a:spcBef>
                        <a:spcAft>
                          <a:spcPts val="0"/>
                        </a:spcAft>
                        <a:buNone/>
                      </a:pPr>
                      <a:r>
                        <a:rPr lang="en"/>
                        <a:t>No</a:t>
                      </a:r>
                      <a:endParaRPr/>
                    </a:p>
                  </a:txBody>
                  <a:tcPr marT="91425" marB="91425" marR="91425" marL="91425"/>
                </a:tc>
              </a:tr>
              <a:tr h="311725">
                <a:tc>
                  <a:txBody>
                    <a:bodyPr/>
                    <a:lstStyle/>
                    <a:p>
                      <a:pPr indent="0" lvl="0" marL="0" rtl="0" algn="l">
                        <a:spcBef>
                          <a:spcPts val="0"/>
                        </a:spcBef>
                        <a:spcAft>
                          <a:spcPts val="0"/>
                        </a:spcAft>
                        <a:buNone/>
                      </a:pPr>
                      <a:r>
                        <a:rPr lang="en"/>
                        <a:t>Servings</a:t>
                      </a:r>
                      <a:endParaRPr/>
                    </a:p>
                  </a:txBody>
                  <a:tcPr marT="91425" marB="91425" marR="91425" marL="91425"/>
                </a:tc>
                <a:tc>
                  <a:txBody>
                    <a:bodyPr/>
                    <a:lstStyle/>
                    <a:p>
                      <a:pPr indent="0" lvl="0" marL="0" rtl="0" algn="l">
                        <a:spcBef>
                          <a:spcPts val="0"/>
                        </a:spcBef>
                        <a:spcAft>
                          <a:spcPts val="0"/>
                        </a:spcAft>
                        <a:buNone/>
                      </a:pPr>
                      <a:r>
                        <a:rPr lang="en"/>
                        <a:t>No</a:t>
                      </a:r>
                      <a:endParaRPr/>
                    </a:p>
                  </a:txBody>
                  <a:tcPr marT="91425" marB="91425" marR="91425" marL="91425"/>
                </a:tc>
                <a:tc>
                  <a:txBody>
                    <a:bodyPr/>
                    <a:lstStyle/>
                    <a:p>
                      <a:pPr indent="0" lvl="0" marL="0" rtl="0" algn="l">
                        <a:spcBef>
                          <a:spcPts val="0"/>
                        </a:spcBef>
                        <a:spcAft>
                          <a:spcPts val="0"/>
                        </a:spcAft>
                        <a:buNone/>
                      </a:pPr>
                      <a:r>
                        <a:rPr lang="en"/>
                        <a:t>Discrete</a:t>
                      </a:r>
                      <a:endParaRPr/>
                    </a:p>
                  </a:txBody>
                  <a:tcPr marT="91425" marB="91425" marR="91425" marL="91425"/>
                </a:tc>
                <a:tc>
                  <a:txBody>
                    <a:bodyPr/>
                    <a:lstStyle/>
                    <a:p>
                      <a:pPr indent="0" lvl="0" marL="0" rtl="0" algn="l">
                        <a:spcBef>
                          <a:spcPts val="0"/>
                        </a:spcBef>
                        <a:spcAft>
                          <a:spcPts val="0"/>
                        </a:spcAft>
                        <a:buNone/>
                      </a:pPr>
                      <a:r>
                        <a:rPr lang="en"/>
                        <a:t>Yes</a:t>
                      </a:r>
                      <a:endParaRPr/>
                    </a:p>
                  </a:txBody>
                  <a:tcPr marT="91425" marB="91425" marR="91425" marL="91425"/>
                </a:tc>
                <a:tc>
                  <a:txBody>
                    <a:bodyPr/>
                    <a:lstStyle/>
                    <a:p>
                      <a:pPr indent="0" lvl="0" marL="0" rtl="0" algn="l">
                        <a:spcBef>
                          <a:spcPts val="0"/>
                        </a:spcBef>
                        <a:spcAft>
                          <a:spcPts val="0"/>
                        </a:spcAft>
                        <a:buNone/>
                      </a:pPr>
                      <a:r>
                        <a:rPr lang="en"/>
                        <a:t>No</a:t>
                      </a:r>
                      <a:endParaRPr/>
                    </a:p>
                  </a:txBody>
                  <a:tcPr marT="91425" marB="91425" marR="91425" marL="91425"/>
                </a:tc>
              </a:tr>
              <a:tr h="311725">
                <a:tc>
                  <a:txBody>
                    <a:bodyPr/>
                    <a:lstStyle/>
                    <a:p>
                      <a:pPr indent="0" lvl="0" marL="0" rtl="0" algn="l">
                        <a:spcBef>
                          <a:spcPts val="0"/>
                        </a:spcBef>
                        <a:spcAft>
                          <a:spcPts val="0"/>
                        </a:spcAft>
                        <a:buNone/>
                      </a:pPr>
                      <a:r>
                        <a:rPr lang="en">
                          <a:solidFill>
                            <a:srgbClr val="0000FF"/>
                          </a:solidFill>
                        </a:rPr>
                        <a:t>Country</a:t>
                      </a:r>
                      <a:endParaRPr>
                        <a:solidFill>
                          <a:srgbClr val="0000FF"/>
                        </a:solidFill>
                      </a:endParaRPr>
                    </a:p>
                  </a:txBody>
                  <a:tcPr marT="91425" marB="91425" marR="91425" marL="91425"/>
                </a:tc>
                <a:tc>
                  <a:txBody>
                    <a:bodyPr/>
                    <a:lstStyle/>
                    <a:p>
                      <a:pPr indent="0" lvl="0" marL="0" rtl="0" algn="l">
                        <a:spcBef>
                          <a:spcPts val="0"/>
                        </a:spcBef>
                        <a:spcAft>
                          <a:spcPts val="0"/>
                        </a:spcAft>
                        <a:buNone/>
                      </a:pPr>
                      <a:r>
                        <a:rPr lang="en"/>
                        <a:t>No</a:t>
                      </a:r>
                      <a:endParaRPr/>
                    </a:p>
                  </a:txBody>
                  <a:tcPr marT="91425" marB="91425" marR="91425" marL="91425"/>
                </a:tc>
                <a:tc>
                  <a:txBody>
                    <a:bodyPr/>
                    <a:lstStyle/>
                    <a:p>
                      <a:pPr indent="0" lvl="0" marL="0" rtl="0" algn="l">
                        <a:spcBef>
                          <a:spcPts val="0"/>
                        </a:spcBef>
                        <a:spcAft>
                          <a:spcPts val="0"/>
                        </a:spcAft>
                        <a:buNone/>
                      </a:pPr>
                      <a:r>
                        <a:rPr lang="en"/>
                        <a:t>Free Text</a:t>
                      </a:r>
                      <a:endParaRPr/>
                    </a:p>
                  </a:txBody>
                  <a:tcPr marT="91425" marB="91425" marR="91425" marL="91425"/>
                </a:tc>
                <a:tc>
                  <a:txBody>
                    <a:bodyPr/>
                    <a:lstStyle/>
                    <a:p>
                      <a:pPr indent="0" lvl="0" marL="0" rtl="0" algn="l">
                        <a:spcBef>
                          <a:spcPts val="0"/>
                        </a:spcBef>
                        <a:spcAft>
                          <a:spcPts val="0"/>
                        </a:spcAft>
                        <a:buNone/>
                      </a:pPr>
                      <a:r>
                        <a:rPr lang="en"/>
                        <a:t>Yes</a:t>
                      </a:r>
                      <a:endParaRPr/>
                    </a:p>
                  </a:txBody>
                  <a:tcPr marT="91425" marB="91425" marR="91425" marL="91425"/>
                </a:tc>
                <a:tc>
                  <a:txBody>
                    <a:bodyPr/>
                    <a:lstStyle/>
                    <a:p>
                      <a:pPr indent="0" lvl="0" marL="0" rtl="0" algn="l">
                        <a:spcBef>
                          <a:spcPts val="0"/>
                        </a:spcBef>
                        <a:spcAft>
                          <a:spcPts val="0"/>
                        </a:spcAft>
                        <a:buNone/>
                      </a:pPr>
                      <a:r>
                        <a:rPr lang="en"/>
                        <a:t>No</a:t>
                      </a:r>
                      <a:endParaRPr/>
                    </a:p>
                  </a:txBody>
                  <a:tcPr marT="91425" marB="91425" marR="91425" marL="91425"/>
                </a:tc>
              </a:tr>
            </a:tbl>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 name="Shape 73"/>
        <p:cNvGrpSpPr/>
        <p:nvPr/>
      </p:nvGrpSpPr>
      <p:grpSpPr>
        <a:xfrm>
          <a:off x="0" y="0"/>
          <a:ext cx="0" cy="0"/>
          <a:chOff x="0" y="0"/>
          <a:chExt cx="0" cy="0"/>
        </a:xfrm>
      </p:grpSpPr>
      <p:sp>
        <p:nvSpPr>
          <p:cNvPr id="74" name="Google Shape;74;p1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Mini Update #1 - Curious Questions</a:t>
            </a:r>
            <a:endParaRPr/>
          </a:p>
        </p:txBody>
      </p:sp>
      <p:sp>
        <p:nvSpPr>
          <p:cNvPr id="75" name="Google Shape;75;p16"/>
          <p:cNvSpPr txBox="1"/>
          <p:nvPr>
            <p:ph idx="1" type="body"/>
          </p:nvPr>
        </p:nvSpPr>
        <p:spPr>
          <a:xfrm>
            <a:off x="311700" y="1152475"/>
            <a:ext cx="8520600" cy="3416400"/>
          </a:xfrm>
          <a:prstGeom prst="rect">
            <a:avLst/>
          </a:prstGeom>
        </p:spPr>
        <p:txBody>
          <a:bodyPr anchorCtr="0" anchor="t" bIns="91425" lIns="91425" spcFirstLastPara="1" rIns="91425" wrap="square" tIns="91425">
            <a:normAutofit fontScale="92500" lnSpcReduction="20000"/>
          </a:bodyPr>
          <a:lstStyle/>
          <a:p>
            <a:pPr indent="0" lvl="0" marL="0" rtl="0" algn="l">
              <a:spcBef>
                <a:spcPts val="0"/>
              </a:spcBef>
              <a:spcAft>
                <a:spcPts val="0"/>
              </a:spcAft>
              <a:buNone/>
            </a:pPr>
            <a:r>
              <a:rPr lang="en">
                <a:latin typeface="Times New Roman"/>
                <a:ea typeface="Times New Roman"/>
                <a:cs typeface="Times New Roman"/>
                <a:sym typeface="Times New Roman"/>
              </a:rPr>
              <a:t>Curious Questions:</a:t>
            </a:r>
            <a:endParaRPr>
              <a:latin typeface="Times New Roman"/>
              <a:ea typeface="Times New Roman"/>
              <a:cs typeface="Times New Roman"/>
              <a:sym typeface="Times New Roman"/>
            </a:endParaRPr>
          </a:p>
          <a:p>
            <a:pPr indent="-334328" lvl="0" marL="457200" rtl="0" algn="l">
              <a:spcBef>
                <a:spcPts val="1200"/>
              </a:spcBef>
              <a:spcAft>
                <a:spcPts val="0"/>
              </a:spcAft>
              <a:buSzPct val="100000"/>
              <a:buFont typeface="Times New Roman"/>
              <a:buChar char="-"/>
            </a:pPr>
            <a:r>
              <a:rPr lang="en">
                <a:latin typeface="Times New Roman"/>
                <a:ea typeface="Times New Roman"/>
                <a:cs typeface="Times New Roman"/>
                <a:sym typeface="Times New Roman"/>
              </a:rPr>
              <a:t>Which recipe has the highest _____ or lowest _____?</a:t>
            </a:r>
            <a:endParaRPr>
              <a:latin typeface="Times New Roman"/>
              <a:ea typeface="Times New Roman"/>
              <a:cs typeface="Times New Roman"/>
              <a:sym typeface="Times New Roman"/>
            </a:endParaRPr>
          </a:p>
          <a:p>
            <a:pPr indent="-334328" lvl="0" marL="457200" rtl="0" algn="l">
              <a:spcBef>
                <a:spcPts val="0"/>
              </a:spcBef>
              <a:spcAft>
                <a:spcPts val="0"/>
              </a:spcAft>
              <a:buSzPct val="100000"/>
              <a:buFont typeface="Times New Roman"/>
              <a:buChar char="-"/>
            </a:pPr>
            <a:r>
              <a:rPr lang="en">
                <a:latin typeface="Times New Roman"/>
                <a:ea typeface="Times New Roman"/>
                <a:cs typeface="Times New Roman"/>
                <a:sym typeface="Times New Roman"/>
              </a:rPr>
              <a:t>Are there any recipes with low calories but high protein?</a:t>
            </a:r>
            <a:endParaRPr>
              <a:latin typeface="Times New Roman"/>
              <a:ea typeface="Times New Roman"/>
              <a:cs typeface="Times New Roman"/>
              <a:sym typeface="Times New Roman"/>
            </a:endParaRPr>
          </a:p>
          <a:p>
            <a:pPr indent="-334328" lvl="0" marL="457200" rtl="0" algn="l">
              <a:spcBef>
                <a:spcPts val="0"/>
              </a:spcBef>
              <a:spcAft>
                <a:spcPts val="0"/>
              </a:spcAft>
              <a:buSzPct val="100000"/>
              <a:buFont typeface="Times New Roman"/>
              <a:buChar char="-"/>
            </a:pPr>
            <a:r>
              <a:rPr lang="en">
                <a:latin typeface="Times New Roman"/>
                <a:ea typeface="Times New Roman"/>
                <a:cs typeface="Times New Roman"/>
                <a:sym typeface="Times New Roman"/>
              </a:rPr>
              <a:t>Is there any recipes with high ratings but a low number of ratings? (and vice versa)</a:t>
            </a:r>
            <a:endParaRPr>
              <a:latin typeface="Times New Roman"/>
              <a:ea typeface="Times New Roman"/>
              <a:cs typeface="Times New Roman"/>
              <a:sym typeface="Times New Roman"/>
            </a:endParaRPr>
          </a:p>
          <a:p>
            <a:pPr indent="-334328" lvl="0" marL="457200" rtl="0" algn="l">
              <a:spcBef>
                <a:spcPts val="0"/>
              </a:spcBef>
              <a:spcAft>
                <a:spcPts val="0"/>
              </a:spcAft>
              <a:buSzPct val="100000"/>
              <a:buFont typeface="Times New Roman"/>
              <a:buChar char="-"/>
            </a:pPr>
            <a:r>
              <a:rPr lang="en">
                <a:latin typeface="Times New Roman"/>
                <a:ea typeface="Times New Roman"/>
                <a:cs typeface="Times New Roman"/>
                <a:sym typeface="Times New Roman"/>
              </a:rPr>
              <a:t>Could </a:t>
            </a:r>
            <a:r>
              <a:rPr lang="en">
                <a:latin typeface="Times New Roman"/>
                <a:ea typeface="Times New Roman"/>
                <a:cs typeface="Times New Roman"/>
                <a:sym typeface="Times New Roman"/>
              </a:rPr>
              <a:t>nutritional</a:t>
            </a:r>
            <a:r>
              <a:rPr lang="en">
                <a:latin typeface="Times New Roman"/>
                <a:ea typeface="Times New Roman"/>
                <a:cs typeface="Times New Roman"/>
                <a:sym typeface="Times New Roman"/>
              </a:rPr>
              <a:t> values in recipes influence the ratings? (whether that would be average, total, number, or a combination)</a:t>
            </a:r>
            <a:endParaRPr>
              <a:latin typeface="Times New Roman"/>
              <a:ea typeface="Times New Roman"/>
              <a:cs typeface="Times New Roman"/>
              <a:sym typeface="Times New Roman"/>
            </a:endParaRPr>
          </a:p>
          <a:p>
            <a:pPr indent="0" lvl="0" marL="0" rtl="0" algn="l">
              <a:spcBef>
                <a:spcPts val="1200"/>
              </a:spcBef>
              <a:spcAft>
                <a:spcPts val="0"/>
              </a:spcAft>
              <a:buNone/>
            </a:pPr>
            <a:r>
              <a:rPr lang="en">
                <a:latin typeface="Times New Roman"/>
                <a:ea typeface="Times New Roman"/>
                <a:cs typeface="Times New Roman"/>
                <a:sym typeface="Times New Roman"/>
              </a:rPr>
              <a:t>Audience - </a:t>
            </a:r>
            <a:r>
              <a:rPr lang="en">
                <a:latin typeface="Times New Roman"/>
                <a:ea typeface="Times New Roman"/>
                <a:cs typeface="Times New Roman"/>
                <a:sym typeface="Times New Roman"/>
              </a:rPr>
              <a:t>Generally, these datasets can cater to anyone and everyone, to </a:t>
            </a:r>
            <a:r>
              <a:rPr lang="en">
                <a:latin typeface="Times New Roman"/>
                <a:ea typeface="Times New Roman"/>
                <a:cs typeface="Times New Roman"/>
                <a:sym typeface="Times New Roman"/>
              </a:rPr>
              <a:t>bakers and chefs to non-bakers and non-chefs.</a:t>
            </a:r>
            <a:endParaRPr>
              <a:latin typeface="Times New Roman"/>
              <a:ea typeface="Times New Roman"/>
              <a:cs typeface="Times New Roman"/>
              <a:sym typeface="Times New Roman"/>
            </a:endParaRPr>
          </a:p>
          <a:p>
            <a:pPr indent="0" lvl="0" marL="0" rtl="0" algn="l">
              <a:spcBef>
                <a:spcPts val="1200"/>
              </a:spcBef>
              <a:spcAft>
                <a:spcPts val="1200"/>
              </a:spcAft>
              <a:buNone/>
            </a:pPr>
            <a:r>
              <a:rPr lang="en">
                <a:latin typeface="Times New Roman"/>
                <a:ea typeface="Times New Roman"/>
                <a:cs typeface="Times New Roman"/>
                <a:sym typeface="Times New Roman"/>
              </a:rPr>
              <a:t>Communication Goal - The main goal with these datasets is to i</a:t>
            </a:r>
            <a:r>
              <a:rPr lang="en">
                <a:latin typeface="Times New Roman"/>
                <a:ea typeface="Times New Roman"/>
                <a:cs typeface="Times New Roman"/>
                <a:sym typeface="Times New Roman"/>
              </a:rPr>
              <a:t>mprove understanding. </a:t>
            </a:r>
            <a:r>
              <a:rPr lang="en">
                <a:latin typeface="Times New Roman"/>
                <a:ea typeface="Times New Roman"/>
                <a:cs typeface="Times New Roman"/>
                <a:sym typeface="Times New Roman"/>
              </a:rPr>
              <a:t>A possible additional goal could be to </a:t>
            </a:r>
            <a:r>
              <a:rPr lang="en">
                <a:latin typeface="Times New Roman"/>
                <a:ea typeface="Times New Roman"/>
                <a:cs typeface="Times New Roman"/>
                <a:sym typeface="Times New Roman"/>
              </a:rPr>
              <a:t>induce action to see if these datasets could possibly influence someone to try out one of these recipes? (Or to begin cooking/baking in general)</a:t>
            </a:r>
            <a:endParaRPr>
              <a:latin typeface="Times New Roman"/>
              <a:ea typeface="Times New Roman"/>
              <a:cs typeface="Times New Roman"/>
              <a:sym typeface="Times New Roman"/>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 name="Shape 79"/>
        <p:cNvGrpSpPr/>
        <p:nvPr/>
      </p:nvGrpSpPr>
      <p:grpSpPr>
        <a:xfrm>
          <a:off x="0" y="0"/>
          <a:ext cx="0" cy="0"/>
          <a:chOff x="0" y="0"/>
          <a:chExt cx="0" cy="0"/>
        </a:xfrm>
      </p:grpSpPr>
      <p:sp>
        <p:nvSpPr>
          <p:cNvPr id="80" name="Google Shape;80;p17"/>
          <p:cNvSpPr txBox="1"/>
          <p:nvPr>
            <p:ph type="title"/>
          </p:nvPr>
        </p:nvSpPr>
        <p:spPr>
          <a:xfrm>
            <a:off x="0" y="0"/>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Mini Update #2 - Data Insight #1</a:t>
            </a:r>
            <a:endParaRPr/>
          </a:p>
        </p:txBody>
      </p:sp>
      <p:sp>
        <p:nvSpPr>
          <p:cNvPr id="81" name="Google Shape;81;p17"/>
          <p:cNvSpPr txBox="1"/>
          <p:nvPr>
            <p:ph idx="1" type="body"/>
          </p:nvPr>
        </p:nvSpPr>
        <p:spPr>
          <a:xfrm>
            <a:off x="0" y="473275"/>
            <a:ext cx="8520600" cy="890700"/>
          </a:xfrm>
          <a:prstGeom prst="rect">
            <a:avLst/>
          </a:prstGeom>
        </p:spPr>
        <p:txBody>
          <a:bodyPr anchorCtr="0" anchor="t" bIns="91425" lIns="91425" spcFirstLastPara="1" rIns="91425" wrap="square" tIns="91425">
            <a:normAutofit fontScale="55000" lnSpcReduction="20000"/>
          </a:bodyPr>
          <a:lstStyle/>
          <a:p>
            <a:pPr indent="0" lvl="0" marL="0" rtl="0" algn="l">
              <a:spcBef>
                <a:spcPts val="0"/>
              </a:spcBef>
              <a:spcAft>
                <a:spcPts val="0"/>
              </a:spcAft>
              <a:buNone/>
            </a:pPr>
            <a:r>
              <a:rPr lang="en" sz="2550"/>
              <a:t>Because I have two datasets, I decided to split each dataset into one slide. This slide will be centered around the </a:t>
            </a:r>
            <a:r>
              <a:rPr lang="en" sz="2550">
                <a:solidFill>
                  <a:srgbClr val="FF0000"/>
                </a:solidFill>
              </a:rPr>
              <a:t>All_Recipes</a:t>
            </a:r>
            <a:r>
              <a:rPr lang="en" sz="2550"/>
              <a:t> dataset.</a:t>
            </a:r>
            <a:endParaRPr sz="2550"/>
          </a:p>
          <a:p>
            <a:pPr indent="0" lvl="0" marL="0" rtl="0" algn="l">
              <a:spcBef>
                <a:spcPts val="1200"/>
              </a:spcBef>
              <a:spcAft>
                <a:spcPts val="1200"/>
              </a:spcAft>
              <a:buNone/>
            </a:pPr>
            <a:r>
              <a:t/>
            </a:r>
            <a:endParaRPr/>
          </a:p>
        </p:txBody>
      </p:sp>
      <p:graphicFrame>
        <p:nvGraphicFramePr>
          <p:cNvPr id="82" name="Google Shape;82;p17"/>
          <p:cNvGraphicFramePr/>
          <p:nvPr/>
        </p:nvGraphicFramePr>
        <p:xfrm>
          <a:off x="952500" y="1619250"/>
          <a:ext cx="3000000" cy="3000000"/>
        </p:xfrm>
        <a:graphic>
          <a:graphicData uri="http://schemas.openxmlformats.org/drawingml/2006/table">
            <a:tbl>
              <a:tblPr>
                <a:noFill/>
                <a:tableStyleId>{278EB9FF-654E-4C98-B2A5-D283D16CF18D}</a:tableStyleId>
              </a:tblPr>
              <a:tblGrid>
                <a:gridCol w="2413000"/>
                <a:gridCol w="2413000"/>
                <a:gridCol w="2413000"/>
              </a:tblGrid>
              <a:tr h="381000">
                <a:tc>
                  <a:txBody>
                    <a:bodyPr/>
                    <a:lstStyle/>
                    <a:p>
                      <a:pPr indent="0" lvl="0" marL="0" rtl="0" algn="l">
                        <a:spcBef>
                          <a:spcPts val="0"/>
                        </a:spcBef>
                        <a:spcAft>
                          <a:spcPts val="0"/>
                        </a:spcAft>
                        <a:buNone/>
                      </a:pPr>
                      <a:r>
                        <a:t/>
                      </a:r>
                      <a:endParaRPr b="1"/>
                    </a:p>
                  </a:txBody>
                  <a:tcPr marT="91425" marB="91425" marR="91425" marL="91425"/>
                </a:tc>
                <a:tc>
                  <a:txBody>
                    <a:bodyPr/>
                    <a:lstStyle/>
                    <a:p>
                      <a:pPr indent="0" lvl="0" marL="0" rtl="0" algn="l">
                        <a:spcBef>
                          <a:spcPts val="0"/>
                        </a:spcBef>
                        <a:spcAft>
                          <a:spcPts val="0"/>
                        </a:spcAft>
                        <a:buNone/>
                      </a:pPr>
                      <a:r>
                        <a:rPr lang="en"/>
                        <a:t>Lowest</a:t>
                      </a:r>
                      <a:endParaRPr/>
                    </a:p>
                  </a:txBody>
                  <a:tcPr marT="91425" marB="91425" marR="91425" marL="91425"/>
                </a:tc>
                <a:tc>
                  <a:txBody>
                    <a:bodyPr/>
                    <a:lstStyle/>
                    <a:p>
                      <a:pPr indent="0" lvl="0" marL="0" rtl="0" algn="l">
                        <a:spcBef>
                          <a:spcPts val="0"/>
                        </a:spcBef>
                        <a:spcAft>
                          <a:spcPts val="0"/>
                        </a:spcAft>
                        <a:buNone/>
                      </a:pPr>
                      <a:r>
                        <a:rPr lang="en"/>
                        <a:t>Highest</a:t>
                      </a:r>
                      <a:endParaRPr/>
                    </a:p>
                  </a:txBody>
                  <a:tcPr marT="91425" marB="91425" marR="91425" marL="91425"/>
                </a:tc>
              </a:tr>
              <a:tr h="381000">
                <a:tc>
                  <a:txBody>
                    <a:bodyPr/>
                    <a:lstStyle/>
                    <a:p>
                      <a:pPr indent="0" lvl="0" marL="0" rtl="0" algn="l">
                        <a:spcBef>
                          <a:spcPts val="0"/>
                        </a:spcBef>
                        <a:spcAft>
                          <a:spcPts val="0"/>
                        </a:spcAft>
                        <a:buNone/>
                      </a:pPr>
                      <a:r>
                        <a:rPr lang="en"/>
                        <a:t>Calories</a:t>
                      </a:r>
                      <a:endParaRPr/>
                    </a:p>
                  </a:txBody>
                  <a:tcPr marT="91425" marB="91425" marR="91425" marL="91425"/>
                </a:tc>
                <a:tc>
                  <a:txBody>
                    <a:bodyPr/>
                    <a:lstStyle/>
                    <a:p>
                      <a:pPr indent="0" lvl="0" marL="0" rtl="0" algn="l">
                        <a:spcBef>
                          <a:spcPts val="0"/>
                        </a:spcBef>
                        <a:spcAft>
                          <a:spcPts val="0"/>
                        </a:spcAft>
                        <a:buNone/>
                      </a:pPr>
                      <a:r>
                        <a:rPr lang="en"/>
                        <a:t>1</a:t>
                      </a:r>
                      <a:endParaRPr/>
                    </a:p>
                  </a:txBody>
                  <a:tcPr marT="91425" marB="91425" marR="91425" marL="91425"/>
                </a:tc>
                <a:tc>
                  <a:txBody>
                    <a:bodyPr/>
                    <a:lstStyle/>
                    <a:p>
                      <a:pPr indent="0" lvl="0" marL="0" rtl="0" algn="l">
                        <a:spcBef>
                          <a:spcPts val="0"/>
                        </a:spcBef>
                        <a:spcAft>
                          <a:spcPts val="0"/>
                        </a:spcAft>
                        <a:buNone/>
                      </a:pPr>
                      <a:r>
                        <a:rPr lang="en"/>
                        <a:t>9538</a:t>
                      </a:r>
                      <a:endParaRPr/>
                    </a:p>
                  </a:txBody>
                  <a:tcPr marT="91425" marB="91425" marR="91425" marL="91425"/>
                </a:tc>
              </a:tr>
              <a:tr h="381000">
                <a:tc>
                  <a:txBody>
                    <a:bodyPr/>
                    <a:lstStyle/>
                    <a:p>
                      <a:pPr indent="0" lvl="0" marL="0" rtl="0" algn="l">
                        <a:spcBef>
                          <a:spcPts val="0"/>
                        </a:spcBef>
                        <a:spcAft>
                          <a:spcPts val="0"/>
                        </a:spcAft>
                        <a:buNone/>
                      </a:pPr>
                      <a:r>
                        <a:rPr lang="en"/>
                        <a:t>Fat</a:t>
                      </a:r>
                      <a:endParaRPr/>
                    </a:p>
                  </a:txBody>
                  <a:tcPr marT="91425" marB="91425" marR="91425" marL="91425"/>
                </a:tc>
                <a:tc>
                  <a:txBody>
                    <a:bodyPr/>
                    <a:lstStyle/>
                    <a:p>
                      <a:pPr indent="0" lvl="0" marL="0" rtl="0" algn="l">
                        <a:spcBef>
                          <a:spcPts val="0"/>
                        </a:spcBef>
                        <a:spcAft>
                          <a:spcPts val="0"/>
                        </a:spcAft>
                        <a:buNone/>
                      </a:pPr>
                      <a:r>
                        <a:rPr lang="en"/>
                        <a:t>0</a:t>
                      </a:r>
                      <a:endParaRPr/>
                    </a:p>
                  </a:txBody>
                  <a:tcPr marT="91425" marB="91425" marR="91425" marL="91425"/>
                </a:tc>
                <a:tc>
                  <a:txBody>
                    <a:bodyPr/>
                    <a:lstStyle/>
                    <a:p>
                      <a:pPr indent="0" lvl="0" marL="0" rtl="0" algn="l">
                        <a:spcBef>
                          <a:spcPts val="0"/>
                        </a:spcBef>
                        <a:spcAft>
                          <a:spcPts val="0"/>
                        </a:spcAft>
                        <a:buNone/>
                      </a:pPr>
                      <a:r>
                        <a:rPr lang="en"/>
                        <a:t>612</a:t>
                      </a:r>
                      <a:endParaRPr/>
                    </a:p>
                  </a:txBody>
                  <a:tcPr marT="91425" marB="91425" marR="91425" marL="91425"/>
                </a:tc>
              </a:tr>
              <a:tr h="381000">
                <a:tc>
                  <a:txBody>
                    <a:bodyPr/>
                    <a:lstStyle/>
                    <a:p>
                      <a:pPr indent="0" lvl="0" marL="0" rtl="0" algn="l">
                        <a:spcBef>
                          <a:spcPts val="0"/>
                        </a:spcBef>
                        <a:spcAft>
                          <a:spcPts val="0"/>
                        </a:spcAft>
                        <a:buNone/>
                      </a:pPr>
                      <a:r>
                        <a:rPr lang="en"/>
                        <a:t>Carbs</a:t>
                      </a:r>
                      <a:endParaRPr/>
                    </a:p>
                  </a:txBody>
                  <a:tcPr marT="91425" marB="91425" marR="91425" marL="91425"/>
                </a:tc>
                <a:tc>
                  <a:txBody>
                    <a:bodyPr/>
                    <a:lstStyle/>
                    <a:p>
                      <a:pPr indent="0" lvl="0" marL="0" rtl="0" algn="l">
                        <a:spcBef>
                          <a:spcPts val="0"/>
                        </a:spcBef>
                        <a:spcAft>
                          <a:spcPts val="0"/>
                        </a:spcAft>
                        <a:buNone/>
                      </a:pPr>
                      <a:r>
                        <a:rPr lang="en"/>
                        <a:t>0</a:t>
                      </a:r>
                      <a:endParaRPr/>
                    </a:p>
                  </a:txBody>
                  <a:tcPr marT="91425" marB="91425" marR="91425" marL="91425"/>
                </a:tc>
                <a:tc>
                  <a:txBody>
                    <a:bodyPr/>
                    <a:lstStyle/>
                    <a:p>
                      <a:pPr indent="0" lvl="0" marL="0" rtl="0" algn="l">
                        <a:spcBef>
                          <a:spcPts val="0"/>
                        </a:spcBef>
                        <a:spcAft>
                          <a:spcPts val="0"/>
                        </a:spcAft>
                        <a:buNone/>
                      </a:pPr>
                      <a:r>
                        <a:rPr lang="en"/>
                        <a:t>746</a:t>
                      </a:r>
                      <a:endParaRPr/>
                    </a:p>
                  </a:txBody>
                  <a:tcPr marT="91425" marB="91425" marR="91425" marL="91425"/>
                </a:tc>
              </a:tr>
              <a:tr h="381000">
                <a:tc>
                  <a:txBody>
                    <a:bodyPr/>
                    <a:lstStyle/>
                    <a:p>
                      <a:pPr indent="0" lvl="0" marL="0" rtl="0" algn="l">
                        <a:spcBef>
                          <a:spcPts val="0"/>
                        </a:spcBef>
                        <a:spcAft>
                          <a:spcPts val="0"/>
                        </a:spcAft>
                        <a:buNone/>
                      </a:pPr>
                      <a:r>
                        <a:rPr lang="en"/>
                        <a:t>Protein</a:t>
                      </a:r>
                      <a:endParaRPr/>
                    </a:p>
                  </a:txBody>
                  <a:tcPr marT="91425" marB="91425" marR="91425" marL="91425"/>
                </a:tc>
                <a:tc>
                  <a:txBody>
                    <a:bodyPr/>
                    <a:lstStyle/>
                    <a:p>
                      <a:pPr indent="0" lvl="0" marL="0" rtl="0" algn="l">
                        <a:spcBef>
                          <a:spcPts val="0"/>
                        </a:spcBef>
                        <a:spcAft>
                          <a:spcPts val="0"/>
                        </a:spcAft>
                        <a:buNone/>
                      </a:pPr>
                      <a:r>
                        <a:rPr lang="en"/>
                        <a:t>0</a:t>
                      </a:r>
                      <a:endParaRPr/>
                    </a:p>
                  </a:txBody>
                  <a:tcPr marT="91425" marB="91425" marR="91425" marL="91425"/>
                </a:tc>
                <a:tc>
                  <a:txBody>
                    <a:bodyPr/>
                    <a:lstStyle/>
                    <a:p>
                      <a:pPr indent="0" lvl="0" marL="0" rtl="0" algn="l">
                        <a:spcBef>
                          <a:spcPts val="0"/>
                        </a:spcBef>
                        <a:spcAft>
                          <a:spcPts val="0"/>
                        </a:spcAft>
                        <a:buNone/>
                      </a:pPr>
                      <a:r>
                        <a:rPr lang="en"/>
                        <a:t>939</a:t>
                      </a:r>
                      <a:endParaRPr/>
                    </a:p>
                  </a:txBody>
                  <a:tcPr marT="91425" marB="91425" marR="91425" marL="91425"/>
                </a:tc>
              </a:tr>
            </a:tbl>
          </a:graphicData>
        </a:graphic>
      </p:graphicFrame>
      <p:sp>
        <p:nvSpPr>
          <p:cNvPr id="83" name="Google Shape;83;p17"/>
          <p:cNvSpPr txBox="1"/>
          <p:nvPr/>
        </p:nvSpPr>
        <p:spPr>
          <a:xfrm>
            <a:off x="211875" y="3825575"/>
            <a:ext cx="8609700" cy="1039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2"/>
                </a:solidFill>
              </a:rPr>
              <a:t>The recipe with the highest calories also had the highest fat and protein. However, it accumulated a two star rating from only one review. With the recipe that had the highest amount of carbs, it also had a high amount of calories. It accumulated an average rating of 4.3 from 3 reviews in total.</a:t>
            </a:r>
            <a:endParaRPr>
              <a:solidFill>
                <a:schemeClr val="dk2"/>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 name="Shape 87"/>
        <p:cNvGrpSpPr/>
        <p:nvPr/>
      </p:nvGrpSpPr>
      <p:grpSpPr>
        <a:xfrm>
          <a:off x="0" y="0"/>
          <a:ext cx="0" cy="0"/>
          <a:chOff x="0" y="0"/>
          <a:chExt cx="0" cy="0"/>
        </a:xfrm>
      </p:grpSpPr>
      <p:sp>
        <p:nvSpPr>
          <p:cNvPr id="88" name="Google Shape;88;p18"/>
          <p:cNvSpPr txBox="1"/>
          <p:nvPr>
            <p:ph type="title"/>
          </p:nvPr>
        </p:nvSpPr>
        <p:spPr>
          <a:xfrm>
            <a:off x="0" y="0"/>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Mini Update #2 - Data Insight #2</a:t>
            </a:r>
            <a:endParaRPr/>
          </a:p>
        </p:txBody>
      </p:sp>
      <p:sp>
        <p:nvSpPr>
          <p:cNvPr id="89" name="Google Shape;89;p18"/>
          <p:cNvSpPr txBox="1"/>
          <p:nvPr>
            <p:ph idx="1" type="body"/>
          </p:nvPr>
        </p:nvSpPr>
        <p:spPr>
          <a:xfrm>
            <a:off x="0" y="422525"/>
            <a:ext cx="8520600" cy="638400"/>
          </a:xfrm>
          <a:prstGeom prst="rect">
            <a:avLst/>
          </a:prstGeom>
        </p:spPr>
        <p:txBody>
          <a:bodyPr anchorCtr="0" anchor="t" bIns="91425" lIns="91425" spcFirstLastPara="1" rIns="91425" wrap="square" tIns="91425">
            <a:normAutofit fontScale="25000" lnSpcReduction="20000"/>
          </a:bodyPr>
          <a:lstStyle/>
          <a:p>
            <a:pPr indent="0" lvl="0" marL="0" rtl="0" algn="l">
              <a:spcBef>
                <a:spcPts val="0"/>
              </a:spcBef>
              <a:spcAft>
                <a:spcPts val="0"/>
              </a:spcAft>
              <a:buNone/>
            </a:pPr>
            <a:r>
              <a:rPr lang="en" sz="7200"/>
              <a:t>Because I have two datasets, I decided to split each dataset into one slide. This slide will be centered around the </a:t>
            </a:r>
            <a:r>
              <a:rPr lang="en" sz="7200">
                <a:solidFill>
                  <a:srgbClr val="0000FF"/>
                </a:solidFill>
              </a:rPr>
              <a:t>Cuisines</a:t>
            </a:r>
            <a:r>
              <a:rPr lang="en" sz="7200"/>
              <a:t> dataset.</a:t>
            </a:r>
            <a:endParaRPr sz="7200"/>
          </a:p>
          <a:p>
            <a:pPr indent="0" lvl="0" marL="0" rtl="0" algn="l">
              <a:spcBef>
                <a:spcPts val="1200"/>
              </a:spcBef>
              <a:spcAft>
                <a:spcPts val="0"/>
              </a:spcAft>
              <a:buNone/>
            </a:pPr>
            <a:r>
              <a:t/>
            </a:r>
            <a:endParaRPr/>
          </a:p>
          <a:p>
            <a:pPr indent="0" lvl="0" marL="0" rtl="0" algn="l">
              <a:spcBef>
                <a:spcPts val="1200"/>
              </a:spcBef>
              <a:spcAft>
                <a:spcPts val="0"/>
              </a:spcAft>
              <a:buNone/>
            </a:pPr>
            <a:r>
              <a:t/>
            </a:r>
            <a:endParaRPr/>
          </a:p>
          <a:p>
            <a:pPr indent="0" lvl="0" marL="0" rtl="0" algn="l">
              <a:spcBef>
                <a:spcPts val="1200"/>
              </a:spcBef>
              <a:spcAft>
                <a:spcPts val="1200"/>
              </a:spcAft>
              <a:buClr>
                <a:schemeClr val="dk1"/>
              </a:buClr>
              <a:buSzPct val="61111"/>
              <a:buFont typeface="Arial"/>
              <a:buNone/>
            </a:pPr>
            <a:r>
              <a:t/>
            </a:r>
            <a:endParaRPr/>
          </a:p>
        </p:txBody>
      </p:sp>
      <p:graphicFrame>
        <p:nvGraphicFramePr>
          <p:cNvPr id="90" name="Google Shape;90;p18"/>
          <p:cNvGraphicFramePr/>
          <p:nvPr/>
        </p:nvGraphicFramePr>
        <p:xfrm>
          <a:off x="222650" y="1433725"/>
          <a:ext cx="3000000" cy="3000000"/>
        </p:xfrm>
        <a:graphic>
          <a:graphicData uri="http://schemas.openxmlformats.org/drawingml/2006/table">
            <a:tbl>
              <a:tblPr>
                <a:noFill/>
                <a:tableStyleId>{278EB9FF-654E-4C98-B2A5-D283D16CF18D}</a:tableStyleId>
              </a:tblPr>
              <a:tblGrid>
                <a:gridCol w="2413000"/>
                <a:gridCol w="2413000"/>
                <a:gridCol w="2413000"/>
              </a:tblGrid>
              <a:tr h="381000">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rPr lang="en"/>
                        <a:t>Lowest</a:t>
                      </a:r>
                      <a:endParaRPr/>
                    </a:p>
                  </a:txBody>
                  <a:tcPr marT="91425" marB="91425" marR="91425" marL="91425"/>
                </a:tc>
                <a:tc>
                  <a:txBody>
                    <a:bodyPr/>
                    <a:lstStyle/>
                    <a:p>
                      <a:pPr indent="0" lvl="0" marL="0" rtl="0" algn="l">
                        <a:spcBef>
                          <a:spcPts val="0"/>
                        </a:spcBef>
                        <a:spcAft>
                          <a:spcPts val="0"/>
                        </a:spcAft>
                        <a:buNone/>
                      </a:pPr>
                      <a:r>
                        <a:rPr lang="en"/>
                        <a:t>Highest</a:t>
                      </a:r>
                      <a:endParaRPr/>
                    </a:p>
                  </a:txBody>
                  <a:tcPr marT="91425" marB="91425" marR="91425" marL="91425"/>
                </a:tc>
              </a:tr>
              <a:tr h="381000">
                <a:tc>
                  <a:txBody>
                    <a:bodyPr/>
                    <a:lstStyle/>
                    <a:p>
                      <a:pPr indent="0" lvl="0" marL="0" rtl="0" algn="l">
                        <a:spcBef>
                          <a:spcPts val="0"/>
                        </a:spcBef>
                        <a:spcAft>
                          <a:spcPts val="0"/>
                        </a:spcAft>
                        <a:buNone/>
                      </a:pPr>
                      <a:r>
                        <a:rPr lang="en"/>
                        <a:t>Calories</a:t>
                      </a:r>
                      <a:endParaRPr/>
                    </a:p>
                  </a:txBody>
                  <a:tcPr marT="91425" marB="91425" marR="91425" marL="91425"/>
                </a:tc>
                <a:tc>
                  <a:txBody>
                    <a:bodyPr/>
                    <a:lstStyle/>
                    <a:p>
                      <a:pPr indent="0" lvl="0" marL="0" rtl="0" algn="l">
                        <a:spcBef>
                          <a:spcPts val="0"/>
                        </a:spcBef>
                        <a:spcAft>
                          <a:spcPts val="0"/>
                        </a:spcAft>
                        <a:buNone/>
                      </a:pPr>
                      <a:r>
                        <a:rPr lang="en"/>
                        <a:t>3</a:t>
                      </a:r>
                      <a:endParaRPr/>
                    </a:p>
                  </a:txBody>
                  <a:tcPr marT="91425" marB="91425" marR="91425" marL="91425"/>
                </a:tc>
                <a:tc>
                  <a:txBody>
                    <a:bodyPr/>
                    <a:lstStyle/>
                    <a:p>
                      <a:pPr indent="0" lvl="0" marL="0" rtl="0" algn="l">
                        <a:spcBef>
                          <a:spcPts val="0"/>
                        </a:spcBef>
                        <a:spcAft>
                          <a:spcPts val="0"/>
                        </a:spcAft>
                        <a:buNone/>
                      </a:pPr>
                      <a:r>
                        <a:rPr lang="en"/>
                        <a:t>2266</a:t>
                      </a:r>
                      <a:endParaRPr/>
                    </a:p>
                  </a:txBody>
                  <a:tcPr marT="91425" marB="91425" marR="91425" marL="91425"/>
                </a:tc>
              </a:tr>
              <a:tr h="381000">
                <a:tc>
                  <a:txBody>
                    <a:bodyPr/>
                    <a:lstStyle/>
                    <a:p>
                      <a:pPr indent="0" lvl="0" marL="0" rtl="0" algn="l">
                        <a:spcBef>
                          <a:spcPts val="0"/>
                        </a:spcBef>
                        <a:spcAft>
                          <a:spcPts val="0"/>
                        </a:spcAft>
                        <a:buNone/>
                      </a:pPr>
                      <a:r>
                        <a:rPr lang="en"/>
                        <a:t>Fat</a:t>
                      </a:r>
                      <a:endParaRPr/>
                    </a:p>
                  </a:txBody>
                  <a:tcPr marT="91425" marB="91425" marR="91425" marL="91425"/>
                </a:tc>
                <a:tc>
                  <a:txBody>
                    <a:bodyPr/>
                    <a:lstStyle/>
                    <a:p>
                      <a:pPr indent="0" lvl="0" marL="0" rtl="0" algn="l">
                        <a:spcBef>
                          <a:spcPts val="0"/>
                        </a:spcBef>
                        <a:spcAft>
                          <a:spcPts val="0"/>
                        </a:spcAft>
                        <a:buNone/>
                      </a:pPr>
                      <a:r>
                        <a:rPr lang="en"/>
                        <a:t>0</a:t>
                      </a:r>
                      <a:endParaRPr/>
                    </a:p>
                  </a:txBody>
                  <a:tcPr marT="91425" marB="91425" marR="91425" marL="91425"/>
                </a:tc>
                <a:tc>
                  <a:txBody>
                    <a:bodyPr/>
                    <a:lstStyle/>
                    <a:p>
                      <a:pPr indent="0" lvl="0" marL="0" rtl="0" algn="l">
                        <a:spcBef>
                          <a:spcPts val="0"/>
                        </a:spcBef>
                        <a:spcAft>
                          <a:spcPts val="0"/>
                        </a:spcAft>
                        <a:buNone/>
                      </a:pPr>
                      <a:r>
                        <a:rPr lang="en"/>
                        <a:t>225</a:t>
                      </a:r>
                      <a:endParaRPr/>
                    </a:p>
                  </a:txBody>
                  <a:tcPr marT="91425" marB="91425" marR="91425" marL="91425"/>
                </a:tc>
              </a:tr>
              <a:tr h="381000">
                <a:tc>
                  <a:txBody>
                    <a:bodyPr/>
                    <a:lstStyle/>
                    <a:p>
                      <a:pPr indent="0" lvl="0" marL="0" rtl="0" algn="l">
                        <a:spcBef>
                          <a:spcPts val="0"/>
                        </a:spcBef>
                        <a:spcAft>
                          <a:spcPts val="0"/>
                        </a:spcAft>
                        <a:buNone/>
                      </a:pPr>
                      <a:r>
                        <a:rPr lang="en"/>
                        <a:t>Carbs</a:t>
                      </a:r>
                      <a:endParaRPr/>
                    </a:p>
                  </a:txBody>
                  <a:tcPr marT="91425" marB="91425" marR="91425" marL="91425"/>
                </a:tc>
                <a:tc>
                  <a:txBody>
                    <a:bodyPr/>
                    <a:lstStyle/>
                    <a:p>
                      <a:pPr indent="0" lvl="0" marL="0" rtl="0" algn="l">
                        <a:spcBef>
                          <a:spcPts val="0"/>
                        </a:spcBef>
                        <a:spcAft>
                          <a:spcPts val="0"/>
                        </a:spcAft>
                        <a:buNone/>
                      </a:pPr>
                      <a:r>
                        <a:rPr lang="en"/>
                        <a:t>1</a:t>
                      </a:r>
                      <a:endParaRPr/>
                    </a:p>
                  </a:txBody>
                  <a:tcPr marT="91425" marB="91425" marR="91425" marL="91425"/>
                </a:tc>
                <a:tc>
                  <a:txBody>
                    <a:bodyPr/>
                    <a:lstStyle/>
                    <a:p>
                      <a:pPr indent="0" lvl="0" marL="0" rtl="0" algn="l">
                        <a:spcBef>
                          <a:spcPts val="0"/>
                        </a:spcBef>
                        <a:spcAft>
                          <a:spcPts val="0"/>
                        </a:spcAft>
                        <a:buNone/>
                      </a:pPr>
                      <a:r>
                        <a:rPr lang="en"/>
                        <a:t>264</a:t>
                      </a:r>
                      <a:endParaRPr/>
                    </a:p>
                  </a:txBody>
                  <a:tcPr marT="91425" marB="91425" marR="91425" marL="91425"/>
                </a:tc>
              </a:tr>
              <a:tr h="381000">
                <a:tc>
                  <a:txBody>
                    <a:bodyPr/>
                    <a:lstStyle/>
                    <a:p>
                      <a:pPr indent="0" lvl="0" marL="0" rtl="0" algn="l">
                        <a:spcBef>
                          <a:spcPts val="0"/>
                        </a:spcBef>
                        <a:spcAft>
                          <a:spcPts val="0"/>
                        </a:spcAft>
                        <a:buNone/>
                      </a:pPr>
                      <a:r>
                        <a:rPr lang="en"/>
                        <a:t>Protein</a:t>
                      </a:r>
                      <a:endParaRPr/>
                    </a:p>
                  </a:txBody>
                  <a:tcPr marT="91425" marB="91425" marR="91425" marL="91425"/>
                </a:tc>
                <a:tc>
                  <a:txBody>
                    <a:bodyPr/>
                    <a:lstStyle/>
                    <a:p>
                      <a:pPr indent="0" lvl="0" marL="0" rtl="0" algn="l">
                        <a:spcBef>
                          <a:spcPts val="0"/>
                        </a:spcBef>
                        <a:spcAft>
                          <a:spcPts val="0"/>
                        </a:spcAft>
                        <a:buNone/>
                      </a:pPr>
                      <a:r>
                        <a:rPr lang="en"/>
                        <a:t>0</a:t>
                      </a:r>
                      <a:endParaRPr/>
                    </a:p>
                  </a:txBody>
                  <a:tcPr marT="91425" marB="91425" marR="91425" marL="91425"/>
                </a:tc>
                <a:tc>
                  <a:txBody>
                    <a:bodyPr/>
                    <a:lstStyle/>
                    <a:p>
                      <a:pPr indent="0" lvl="0" marL="0" rtl="0" algn="l">
                        <a:spcBef>
                          <a:spcPts val="0"/>
                        </a:spcBef>
                        <a:spcAft>
                          <a:spcPts val="0"/>
                        </a:spcAft>
                        <a:buNone/>
                      </a:pPr>
                      <a:r>
                        <a:rPr lang="en"/>
                        <a:t>159</a:t>
                      </a:r>
                      <a:endParaRPr/>
                    </a:p>
                  </a:txBody>
                  <a:tcPr marT="91425" marB="91425" marR="91425" marL="91425"/>
                </a:tc>
              </a:tr>
            </a:tbl>
          </a:graphicData>
        </a:graphic>
      </p:graphicFrame>
      <p:sp>
        <p:nvSpPr>
          <p:cNvPr id="91" name="Google Shape;91;p18"/>
          <p:cNvSpPr txBox="1"/>
          <p:nvPr/>
        </p:nvSpPr>
        <p:spPr>
          <a:xfrm>
            <a:off x="270275" y="3708575"/>
            <a:ext cx="7288200" cy="1337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2"/>
                </a:solidFill>
              </a:rPr>
              <a:t>The recipe with the highest calories was associated with a high total time (for cooking). It also accumulated an average of 4.6 for ratings and 22 reviews overall. The recipe with the highest fat had a high amount of calories but did not have any reviews and ratings. The recipe with the highest carbs also had a high amount of calories but only had one review. As for the recipe with the highest protein, it had a relatively moderate amount of calories and it accumulated an average of 4.4 as well as 61 reviews.</a:t>
            </a:r>
            <a:endParaRPr>
              <a:solidFill>
                <a:schemeClr val="dk2"/>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 name="Shape 95"/>
        <p:cNvGrpSpPr/>
        <p:nvPr/>
      </p:nvGrpSpPr>
      <p:grpSpPr>
        <a:xfrm>
          <a:off x="0" y="0"/>
          <a:ext cx="0" cy="0"/>
          <a:chOff x="0" y="0"/>
          <a:chExt cx="0" cy="0"/>
        </a:xfrm>
      </p:grpSpPr>
      <p:sp>
        <p:nvSpPr>
          <p:cNvPr id="96" name="Google Shape;96;p1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Mini Update #2 - Progress Check</a:t>
            </a:r>
            <a:endParaRPr/>
          </a:p>
        </p:txBody>
      </p:sp>
      <p:sp>
        <p:nvSpPr>
          <p:cNvPr id="97" name="Google Shape;97;p19"/>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I have accomplished thoroughly looking through the two datasets. I hope to be able to accomplish making at least one narrative of a data insight as well as an analysis.</a:t>
            </a:r>
            <a:endParaRPr/>
          </a:p>
          <a:p>
            <a:pPr indent="-342900" lvl="0" marL="457200" rtl="0" algn="l">
              <a:spcBef>
                <a:spcPts val="0"/>
              </a:spcBef>
              <a:spcAft>
                <a:spcPts val="0"/>
              </a:spcAft>
              <a:buSzPts val="1800"/>
              <a:buChar char="-"/>
            </a:pPr>
            <a:r>
              <a:rPr lang="en"/>
              <a:t>Because these datasets revolve around cooking/baking, </a:t>
            </a:r>
            <a:r>
              <a:rPr lang="en"/>
              <a:t>I find it to be hard to connect with it as I am unfamiliar with it. Although I chose these datasets to learn because choosing an easier dataset won’t give me a </a:t>
            </a:r>
            <a:r>
              <a:rPr lang="en"/>
              <a:t>challenge. </a:t>
            </a:r>
            <a:endParaRPr/>
          </a:p>
          <a:p>
            <a:pPr indent="-342900" lvl="0" marL="457200" rtl="0" algn="l">
              <a:spcBef>
                <a:spcPts val="0"/>
              </a:spcBef>
              <a:spcAft>
                <a:spcPts val="0"/>
              </a:spcAft>
              <a:buSzPts val="1800"/>
              <a:buChar char="-"/>
            </a:pPr>
            <a:r>
              <a:rPr lang="en"/>
              <a:t>I have only use JupyterLab so far. </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 name="Shape 101"/>
        <p:cNvGrpSpPr/>
        <p:nvPr/>
      </p:nvGrpSpPr>
      <p:grpSpPr>
        <a:xfrm>
          <a:off x="0" y="0"/>
          <a:ext cx="0" cy="0"/>
          <a:chOff x="0" y="0"/>
          <a:chExt cx="0" cy="0"/>
        </a:xfrm>
      </p:grpSpPr>
      <p:sp>
        <p:nvSpPr>
          <p:cNvPr id="102" name="Google Shape;102;p2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Mini Update # 2 - Feedback</a:t>
            </a:r>
            <a:endParaRPr/>
          </a:p>
        </p:txBody>
      </p:sp>
      <p:sp>
        <p:nvSpPr>
          <p:cNvPr id="103" name="Google Shape;103;p20"/>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AutoNum type="arabicPeriod"/>
            </a:pPr>
            <a:r>
              <a:rPr lang="en"/>
              <a:t>Feedback from Update #1 was mostly directed towards revising the data profile as well who my audience is and the communication goal.</a:t>
            </a:r>
            <a:endParaRPr/>
          </a:p>
          <a:p>
            <a:pPr indent="-342900" lvl="0" marL="457200" rtl="0" algn="l">
              <a:spcBef>
                <a:spcPts val="0"/>
              </a:spcBef>
              <a:spcAft>
                <a:spcPts val="0"/>
              </a:spcAft>
              <a:buSzPts val="1800"/>
              <a:buAutoNum type="arabicPeriod"/>
            </a:pPr>
            <a:r>
              <a:rPr lang="en"/>
              <a:t>I plan to address this feedback through doing a bit more background research on my data as well as the subject of my data. </a:t>
            </a:r>
            <a:endParaRPr/>
          </a:p>
          <a:p>
            <a:pPr indent="-342900" lvl="0" marL="457200" rtl="0" algn="l">
              <a:spcBef>
                <a:spcPts val="0"/>
              </a:spcBef>
              <a:spcAft>
                <a:spcPts val="0"/>
              </a:spcAft>
              <a:buSzPts val="1800"/>
              <a:buAutoNum type="arabicPeriod"/>
            </a:pPr>
            <a:r>
              <a:rPr lang="en"/>
              <a:t>I do think the feedback is useful. I saw that I did not specify on some parts and it is clear that my target audience is not fully developed yet.</a:t>
            </a:r>
            <a:endParaRPr/>
          </a:p>
          <a:p>
            <a:pPr indent="-342900" lvl="0" marL="457200" rtl="0" algn="l">
              <a:spcBef>
                <a:spcPts val="0"/>
              </a:spcBef>
              <a:spcAft>
                <a:spcPts val="0"/>
              </a:spcAft>
              <a:buSzPts val="1800"/>
              <a:buAutoNum type="arabicPeriod"/>
            </a:pPr>
            <a:r>
              <a:rPr lang="en"/>
              <a:t>I do seek feedback on whether what I have so far makes sense or is clear</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 name="Shape 107"/>
        <p:cNvGrpSpPr/>
        <p:nvPr/>
      </p:nvGrpSpPr>
      <p:grpSpPr>
        <a:xfrm>
          <a:off x="0" y="0"/>
          <a:ext cx="0" cy="0"/>
          <a:chOff x="0" y="0"/>
          <a:chExt cx="0" cy="0"/>
        </a:xfrm>
      </p:grpSpPr>
      <p:sp>
        <p:nvSpPr>
          <p:cNvPr id="108" name="Google Shape;108;p21"/>
          <p:cNvSpPr txBox="1"/>
          <p:nvPr>
            <p:ph type="title"/>
          </p:nvPr>
        </p:nvSpPr>
        <p:spPr>
          <a:xfrm>
            <a:off x="28850" y="0"/>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Mini Update #3 - Data Insight</a:t>
            </a:r>
            <a:endParaRPr/>
          </a:p>
        </p:txBody>
      </p:sp>
      <p:sp>
        <p:nvSpPr>
          <p:cNvPr id="109" name="Google Shape;109;p21"/>
          <p:cNvSpPr txBox="1"/>
          <p:nvPr>
            <p:ph idx="1" type="body"/>
          </p:nvPr>
        </p:nvSpPr>
        <p:spPr>
          <a:xfrm>
            <a:off x="28850" y="426400"/>
            <a:ext cx="8520600" cy="809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Clr>
                <a:schemeClr val="dk1"/>
              </a:buClr>
              <a:buSzPts val="1100"/>
              <a:buFont typeface="Arial"/>
              <a:buNone/>
            </a:pPr>
            <a:r>
              <a:rPr lang="en"/>
              <a:t>Because I have two datasets, I decided to split each dataset into one slide. </a:t>
            </a:r>
            <a:r>
              <a:rPr lang="en"/>
              <a:t>This</a:t>
            </a:r>
            <a:r>
              <a:rPr lang="en"/>
              <a:t> slide will be centered around the </a:t>
            </a:r>
            <a:r>
              <a:rPr lang="en">
                <a:solidFill>
                  <a:srgbClr val="FF0000"/>
                </a:solidFill>
              </a:rPr>
              <a:t>All_Recipes</a:t>
            </a:r>
            <a:r>
              <a:rPr lang="en"/>
              <a:t> dataset.</a:t>
            </a:r>
            <a:endParaRPr/>
          </a:p>
        </p:txBody>
      </p:sp>
      <p:pic>
        <p:nvPicPr>
          <p:cNvPr id="110" name="Google Shape;110;p21"/>
          <p:cNvPicPr preferRelativeResize="0"/>
          <p:nvPr/>
        </p:nvPicPr>
        <p:blipFill>
          <a:blip r:embed="rId4">
            <a:alphaModFix/>
          </a:blip>
          <a:stretch>
            <a:fillRect/>
          </a:stretch>
        </p:blipFill>
        <p:spPr>
          <a:xfrm>
            <a:off x="145450" y="1151800"/>
            <a:ext cx="3344750" cy="2473376"/>
          </a:xfrm>
          <a:prstGeom prst="rect">
            <a:avLst/>
          </a:prstGeom>
          <a:noFill/>
          <a:ln>
            <a:noFill/>
          </a:ln>
        </p:spPr>
      </p:pic>
      <p:pic>
        <p:nvPicPr>
          <p:cNvPr id="111" name="Google Shape;111;p21"/>
          <p:cNvPicPr preferRelativeResize="0"/>
          <p:nvPr/>
        </p:nvPicPr>
        <p:blipFill>
          <a:blip r:embed="rId5">
            <a:alphaModFix/>
          </a:blip>
          <a:stretch>
            <a:fillRect/>
          </a:stretch>
        </p:blipFill>
        <p:spPr>
          <a:xfrm>
            <a:off x="5345975" y="1177688"/>
            <a:ext cx="3344750" cy="2421603"/>
          </a:xfrm>
          <a:prstGeom prst="rect">
            <a:avLst/>
          </a:prstGeom>
          <a:noFill/>
          <a:ln>
            <a:noFill/>
          </a:ln>
        </p:spPr>
      </p:pic>
      <p:sp>
        <p:nvSpPr>
          <p:cNvPr id="112" name="Google Shape;112;p21"/>
          <p:cNvSpPr txBox="1"/>
          <p:nvPr/>
        </p:nvSpPr>
        <p:spPr>
          <a:xfrm>
            <a:off x="180800" y="3749350"/>
            <a:ext cx="3309300" cy="1394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2"/>
                </a:solidFill>
              </a:rPr>
              <a:t>Here, this table demonstrates rows of recipes that contain the highest total times. Through these high total times, the average ratings seemed to be relatively high.</a:t>
            </a:r>
            <a:endParaRPr sz="1200">
              <a:solidFill>
                <a:schemeClr val="dk2"/>
              </a:solidFill>
            </a:endParaRPr>
          </a:p>
        </p:txBody>
      </p:sp>
      <p:sp>
        <p:nvSpPr>
          <p:cNvPr id="113" name="Google Shape;113;p21"/>
          <p:cNvSpPr txBox="1"/>
          <p:nvPr/>
        </p:nvSpPr>
        <p:spPr>
          <a:xfrm>
            <a:off x="5405400" y="3668000"/>
            <a:ext cx="3309300" cy="1394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2"/>
                </a:solidFill>
              </a:rPr>
              <a:t>Here, this table demonstrates rows of recipes that contain the lowest average rating. These recipes seem to be influenced through their low total ratings and reviews. In comparison to the other table, these total times are much lower.</a:t>
            </a:r>
            <a:endParaRPr sz="1200">
              <a:solidFill>
                <a:schemeClr val="dk2"/>
              </a:solidFill>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 name="Shape 117"/>
        <p:cNvGrpSpPr/>
        <p:nvPr/>
      </p:nvGrpSpPr>
      <p:grpSpPr>
        <a:xfrm>
          <a:off x="0" y="0"/>
          <a:ext cx="0" cy="0"/>
          <a:chOff x="0" y="0"/>
          <a:chExt cx="0" cy="0"/>
        </a:xfrm>
      </p:grpSpPr>
      <p:sp>
        <p:nvSpPr>
          <p:cNvPr id="118" name="Google Shape;118;p22"/>
          <p:cNvSpPr txBox="1"/>
          <p:nvPr>
            <p:ph type="title"/>
          </p:nvPr>
        </p:nvSpPr>
        <p:spPr>
          <a:xfrm>
            <a:off x="0" y="0"/>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Mini Update #3 - Data Insight</a:t>
            </a:r>
            <a:endParaRPr/>
          </a:p>
        </p:txBody>
      </p:sp>
      <p:sp>
        <p:nvSpPr>
          <p:cNvPr id="119" name="Google Shape;119;p22"/>
          <p:cNvSpPr txBox="1"/>
          <p:nvPr>
            <p:ph idx="1" type="body"/>
          </p:nvPr>
        </p:nvSpPr>
        <p:spPr>
          <a:xfrm>
            <a:off x="0" y="4164375"/>
            <a:ext cx="8520600" cy="947400"/>
          </a:xfrm>
          <a:prstGeom prst="rect">
            <a:avLst/>
          </a:prstGeom>
        </p:spPr>
        <p:txBody>
          <a:bodyPr anchorCtr="0" anchor="t" bIns="91425" lIns="91425" spcFirstLastPara="1" rIns="91425" wrap="square" tIns="91425">
            <a:normAutofit fontScale="85000" lnSpcReduction="10000"/>
          </a:bodyPr>
          <a:lstStyle/>
          <a:p>
            <a:pPr indent="0" lvl="0" marL="0" rtl="0" algn="l">
              <a:spcBef>
                <a:spcPts val="0"/>
              </a:spcBef>
              <a:spcAft>
                <a:spcPts val="1200"/>
              </a:spcAft>
              <a:buNone/>
            </a:pPr>
            <a:r>
              <a:rPr lang="en" sz="1100"/>
              <a:t>As there is many common ingredients in cooking/baking, I decided to scale it down to three ingredients: flour, salt, and sugar. Using these three ingredients, I sectioned the cuisines that had each ingredients and grouped together the countries. Through this process, it can be determined that certain countries dominate in having more of one ingredient than another. With flour, mostly European countries dominate in having flour in their cuisines while Asian and Latino countries have less. </a:t>
            </a:r>
            <a:r>
              <a:rPr lang="en" sz="1100"/>
              <a:t>With salt, European countries along with a few other countries dominate in having salt whilst a mix of countries lack cuisines with salt as an ingredient. And with sugar, mostly Asian countries contain cuisines with sugar as an ingredient while a mix of european and latino countries lack of it.</a:t>
            </a:r>
            <a:endParaRPr sz="1100"/>
          </a:p>
        </p:txBody>
      </p:sp>
      <p:sp>
        <p:nvSpPr>
          <p:cNvPr id="120" name="Google Shape;120;p22"/>
          <p:cNvSpPr txBox="1"/>
          <p:nvPr>
            <p:ph idx="1" type="body"/>
          </p:nvPr>
        </p:nvSpPr>
        <p:spPr>
          <a:xfrm>
            <a:off x="0" y="416425"/>
            <a:ext cx="8520600" cy="638400"/>
          </a:xfrm>
          <a:prstGeom prst="rect">
            <a:avLst/>
          </a:prstGeom>
        </p:spPr>
        <p:txBody>
          <a:bodyPr anchorCtr="0" anchor="t" bIns="91425" lIns="91425" spcFirstLastPara="1" rIns="91425" wrap="square" tIns="91425">
            <a:normAutofit fontScale="25000" lnSpcReduction="20000"/>
          </a:bodyPr>
          <a:lstStyle/>
          <a:p>
            <a:pPr indent="0" lvl="0" marL="0" rtl="0" algn="l">
              <a:spcBef>
                <a:spcPts val="0"/>
              </a:spcBef>
              <a:spcAft>
                <a:spcPts val="0"/>
              </a:spcAft>
              <a:buNone/>
            </a:pPr>
            <a:r>
              <a:rPr lang="en" sz="7200"/>
              <a:t>Because I have two datasets, I decided to split each dataset into one slide. This slide will be centered around the </a:t>
            </a:r>
            <a:r>
              <a:rPr lang="en" sz="7200">
                <a:solidFill>
                  <a:srgbClr val="0000FF"/>
                </a:solidFill>
              </a:rPr>
              <a:t>Cuisines</a:t>
            </a:r>
            <a:r>
              <a:rPr lang="en" sz="7200"/>
              <a:t> dataset.</a:t>
            </a:r>
            <a:endParaRPr sz="7200"/>
          </a:p>
          <a:p>
            <a:pPr indent="0" lvl="0" marL="0" rtl="0" algn="l">
              <a:spcBef>
                <a:spcPts val="1200"/>
              </a:spcBef>
              <a:spcAft>
                <a:spcPts val="0"/>
              </a:spcAft>
              <a:buNone/>
            </a:pPr>
            <a:r>
              <a:t/>
            </a:r>
            <a:endParaRPr/>
          </a:p>
          <a:p>
            <a:pPr indent="0" lvl="0" marL="0" rtl="0" algn="l">
              <a:spcBef>
                <a:spcPts val="1200"/>
              </a:spcBef>
              <a:spcAft>
                <a:spcPts val="0"/>
              </a:spcAft>
              <a:buNone/>
            </a:pPr>
            <a:r>
              <a:t/>
            </a:r>
            <a:endParaRPr/>
          </a:p>
          <a:p>
            <a:pPr indent="0" lvl="0" marL="0" rtl="0" algn="l">
              <a:spcBef>
                <a:spcPts val="1200"/>
              </a:spcBef>
              <a:spcAft>
                <a:spcPts val="1200"/>
              </a:spcAft>
              <a:buClr>
                <a:schemeClr val="dk1"/>
              </a:buClr>
              <a:buSzPct val="61111"/>
              <a:buFont typeface="Arial"/>
              <a:buNone/>
            </a:pPr>
            <a:r>
              <a:t/>
            </a:r>
            <a:endParaRPr/>
          </a:p>
        </p:txBody>
      </p:sp>
      <p:pic>
        <p:nvPicPr>
          <p:cNvPr id="121" name="Google Shape;121;p22"/>
          <p:cNvPicPr preferRelativeResize="0"/>
          <p:nvPr/>
        </p:nvPicPr>
        <p:blipFill>
          <a:blip r:embed="rId3">
            <a:alphaModFix/>
          </a:blip>
          <a:stretch>
            <a:fillRect/>
          </a:stretch>
        </p:blipFill>
        <p:spPr>
          <a:xfrm>
            <a:off x="0" y="1123912"/>
            <a:ext cx="1356075" cy="1946350"/>
          </a:xfrm>
          <a:prstGeom prst="rect">
            <a:avLst/>
          </a:prstGeom>
          <a:noFill/>
          <a:ln>
            <a:noFill/>
          </a:ln>
        </p:spPr>
      </p:pic>
      <p:pic>
        <p:nvPicPr>
          <p:cNvPr id="122" name="Google Shape;122;p22"/>
          <p:cNvPicPr preferRelativeResize="0"/>
          <p:nvPr/>
        </p:nvPicPr>
        <p:blipFill>
          <a:blip r:embed="rId4">
            <a:alphaModFix/>
          </a:blip>
          <a:stretch>
            <a:fillRect/>
          </a:stretch>
        </p:blipFill>
        <p:spPr>
          <a:xfrm>
            <a:off x="1384925" y="1106687"/>
            <a:ext cx="828535" cy="1980800"/>
          </a:xfrm>
          <a:prstGeom prst="rect">
            <a:avLst/>
          </a:prstGeom>
          <a:noFill/>
          <a:ln>
            <a:noFill/>
          </a:ln>
        </p:spPr>
      </p:pic>
      <p:sp>
        <p:nvSpPr>
          <p:cNvPr id="123" name="Google Shape;123;p22"/>
          <p:cNvSpPr txBox="1"/>
          <p:nvPr/>
        </p:nvSpPr>
        <p:spPr>
          <a:xfrm>
            <a:off x="331050" y="3139350"/>
            <a:ext cx="2141700" cy="665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2"/>
                </a:solidFill>
              </a:rPr>
              <a:t>Countries per cuisines that contain ‘flour’ as an ingredient.</a:t>
            </a:r>
            <a:endParaRPr sz="1200">
              <a:solidFill>
                <a:schemeClr val="dk2"/>
              </a:solidFill>
            </a:endParaRPr>
          </a:p>
        </p:txBody>
      </p:sp>
      <p:pic>
        <p:nvPicPr>
          <p:cNvPr id="124" name="Google Shape;124;p22"/>
          <p:cNvPicPr preferRelativeResize="0"/>
          <p:nvPr/>
        </p:nvPicPr>
        <p:blipFill>
          <a:blip r:embed="rId5">
            <a:alphaModFix/>
          </a:blip>
          <a:stretch>
            <a:fillRect/>
          </a:stretch>
        </p:blipFill>
        <p:spPr>
          <a:xfrm>
            <a:off x="6879574" y="1324999"/>
            <a:ext cx="776200" cy="1814351"/>
          </a:xfrm>
          <a:prstGeom prst="rect">
            <a:avLst/>
          </a:prstGeom>
          <a:noFill/>
          <a:ln>
            <a:noFill/>
          </a:ln>
        </p:spPr>
      </p:pic>
      <p:pic>
        <p:nvPicPr>
          <p:cNvPr id="125" name="Google Shape;125;p22"/>
          <p:cNvPicPr preferRelativeResize="0"/>
          <p:nvPr/>
        </p:nvPicPr>
        <p:blipFill>
          <a:blip r:embed="rId6">
            <a:alphaModFix/>
          </a:blip>
          <a:stretch>
            <a:fillRect/>
          </a:stretch>
        </p:blipFill>
        <p:spPr>
          <a:xfrm>
            <a:off x="7655777" y="1172650"/>
            <a:ext cx="1486671" cy="2031775"/>
          </a:xfrm>
          <a:prstGeom prst="rect">
            <a:avLst/>
          </a:prstGeom>
          <a:noFill/>
          <a:ln>
            <a:noFill/>
          </a:ln>
        </p:spPr>
      </p:pic>
      <p:sp>
        <p:nvSpPr>
          <p:cNvPr id="126" name="Google Shape;126;p22"/>
          <p:cNvSpPr txBox="1"/>
          <p:nvPr/>
        </p:nvSpPr>
        <p:spPr>
          <a:xfrm>
            <a:off x="7128850" y="3204425"/>
            <a:ext cx="2013600" cy="280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2"/>
                </a:solidFill>
              </a:rPr>
              <a:t>Overall counts of each cuisines per country</a:t>
            </a:r>
            <a:endParaRPr sz="1200">
              <a:solidFill>
                <a:schemeClr val="dk2"/>
              </a:solidFill>
            </a:endParaRPr>
          </a:p>
        </p:txBody>
      </p:sp>
      <p:pic>
        <p:nvPicPr>
          <p:cNvPr id="127" name="Google Shape;127;p22"/>
          <p:cNvPicPr preferRelativeResize="0"/>
          <p:nvPr/>
        </p:nvPicPr>
        <p:blipFill>
          <a:blip r:embed="rId7">
            <a:alphaModFix/>
          </a:blip>
          <a:stretch>
            <a:fillRect/>
          </a:stretch>
        </p:blipFill>
        <p:spPr>
          <a:xfrm>
            <a:off x="3392275" y="1004775"/>
            <a:ext cx="889015" cy="2056175"/>
          </a:xfrm>
          <a:prstGeom prst="rect">
            <a:avLst/>
          </a:prstGeom>
          <a:noFill/>
          <a:ln>
            <a:noFill/>
          </a:ln>
        </p:spPr>
      </p:pic>
      <p:pic>
        <p:nvPicPr>
          <p:cNvPr id="128" name="Google Shape;128;p22"/>
          <p:cNvPicPr preferRelativeResize="0"/>
          <p:nvPr/>
        </p:nvPicPr>
        <p:blipFill>
          <a:blip r:embed="rId8">
            <a:alphaModFix/>
          </a:blip>
          <a:stretch>
            <a:fillRect/>
          </a:stretch>
        </p:blipFill>
        <p:spPr>
          <a:xfrm>
            <a:off x="2318976" y="1123913"/>
            <a:ext cx="1115210" cy="1946350"/>
          </a:xfrm>
          <a:prstGeom prst="rect">
            <a:avLst/>
          </a:prstGeom>
          <a:noFill/>
          <a:ln>
            <a:noFill/>
          </a:ln>
        </p:spPr>
      </p:pic>
      <p:pic>
        <p:nvPicPr>
          <p:cNvPr id="129" name="Google Shape;129;p22"/>
          <p:cNvPicPr preferRelativeResize="0"/>
          <p:nvPr/>
        </p:nvPicPr>
        <p:blipFill>
          <a:blip r:embed="rId9">
            <a:alphaModFix/>
          </a:blip>
          <a:stretch>
            <a:fillRect/>
          </a:stretch>
        </p:blipFill>
        <p:spPr>
          <a:xfrm>
            <a:off x="4397074" y="1135188"/>
            <a:ext cx="1356075" cy="1887166"/>
          </a:xfrm>
          <a:prstGeom prst="rect">
            <a:avLst/>
          </a:prstGeom>
          <a:noFill/>
          <a:ln>
            <a:noFill/>
          </a:ln>
        </p:spPr>
      </p:pic>
      <p:pic>
        <p:nvPicPr>
          <p:cNvPr id="130" name="Google Shape;130;p22"/>
          <p:cNvPicPr preferRelativeResize="0"/>
          <p:nvPr/>
        </p:nvPicPr>
        <p:blipFill>
          <a:blip r:embed="rId10">
            <a:alphaModFix/>
          </a:blip>
          <a:stretch>
            <a:fillRect/>
          </a:stretch>
        </p:blipFill>
        <p:spPr>
          <a:xfrm>
            <a:off x="5753142" y="1268455"/>
            <a:ext cx="889025" cy="1753907"/>
          </a:xfrm>
          <a:prstGeom prst="rect">
            <a:avLst/>
          </a:prstGeom>
          <a:noFill/>
          <a:ln>
            <a:noFill/>
          </a:ln>
        </p:spPr>
      </p:pic>
      <p:sp>
        <p:nvSpPr>
          <p:cNvPr id="131" name="Google Shape;131;p22"/>
          <p:cNvSpPr txBox="1"/>
          <p:nvPr/>
        </p:nvSpPr>
        <p:spPr>
          <a:xfrm>
            <a:off x="2538075" y="3087475"/>
            <a:ext cx="1618500" cy="923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200">
                <a:solidFill>
                  <a:schemeClr val="dk2"/>
                </a:solidFill>
              </a:rPr>
              <a:t>Countries per cuisines that contain ‘salt’ as an ingredient.</a:t>
            </a:r>
            <a:endParaRPr/>
          </a:p>
        </p:txBody>
      </p:sp>
      <p:sp>
        <p:nvSpPr>
          <p:cNvPr id="132" name="Google Shape;132;p22"/>
          <p:cNvSpPr txBox="1"/>
          <p:nvPr/>
        </p:nvSpPr>
        <p:spPr>
          <a:xfrm>
            <a:off x="4771175" y="3010200"/>
            <a:ext cx="1618500" cy="923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200">
                <a:solidFill>
                  <a:schemeClr val="dk2"/>
                </a:solidFill>
              </a:rPr>
              <a:t>Countries per cuisines that contain ‘sugar’ as an ingredient.</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6" name="Shape 136"/>
        <p:cNvGrpSpPr/>
        <p:nvPr/>
      </p:nvGrpSpPr>
      <p:grpSpPr>
        <a:xfrm>
          <a:off x="0" y="0"/>
          <a:ext cx="0" cy="0"/>
          <a:chOff x="0" y="0"/>
          <a:chExt cx="0" cy="0"/>
        </a:xfrm>
      </p:grpSpPr>
      <p:sp>
        <p:nvSpPr>
          <p:cNvPr id="137" name="Google Shape;137;p2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Mini Update #3 - Progress Check</a:t>
            </a:r>
            <a:endParaRPr/>
          </a:p>
        </p:txBody>
      </p:sp>
      <p:sp>
        <p:nvSpPr>
          <p:cNvPr id="138" name="Google Shape;138;p23"/>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I went through each dataset, </a:t>
            </a:r>
            <a:r>
              <a:rPr lang="en"/>
              <a:t>trying</a:t>
            </a:r>
            <a:r>
              <a:rPr lang="en"/>
              <a:t> to pick out general patterns from each one. During skimming through each one, I did some background research, focusing particularly on what ingredients commonly show up and if there was any factors to recipes having higher ratings/reviews than others.</a:t>
            </a:r>
            <a:endParaRPr/>
          </a:p>
          <a:p>
            <a:pPr indent="-342900" lvl="0" marL="457200" rtl="0" algn="l">
              <a:spcBef>
                <a:spcPts val="0"/>
              </a:spcBef>
              <a:spcAft>
                <a:spcPts val="0"/>
              </a:spcAft>
              <a:buSzPts val="1800"/>
              <a:buChar char="-"/>
            </a:pPr>
            <a:r>
              <a:rPr lang="en" u="sng"/>
              <a:t>Additional</a:t>
            </a:r>
            <a:r>
              <a:rPr lang="en"/>
              <a:t> data insights is needed for the next mini update as that update will be the last for insights</a:t>
            </a:r>
            <a:endParaRPr/>
          </a:p>
          <a:p>
            <a:pPr indent="-342900" lvl="0" marL="457200" rtl="0" algn="l">
              <a:spcBef>
                <a:spcPts val="0"/>
              </a:spcBef>
              <a:spcAft>
                <a:spcPts val="0"/>
              </a:spcAft>
              <a:buSzPts val="1800"/>
              <a:buChar char="-"/>
            </a:pPr>
            <a:r>
              <a:rPr lang="en"/>
              <a:t>JuypterHub is the only one of use but there is a chance for Story Studio to be used in the next update</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2" name="Shape 142"/>
        <p:cNvGrpSpPr/>
        <p:nvPr/>
      </p:nvGrpSpPr>
      <p:grpSpPr>
        <a:xfrm>
          <a:off x="0" y="0"/>
          <a:ext cx="0" cy="0"/>
          <a:chOff x="0" y="0"/>
          <a:chExt cx="0" cy="0"/>
        </a:xfrm>
      </p:grpSpPr>
      <p:sp>
        <p:nvSpPr>
          <p:cNvPr id="143" name="Google Shape;143;p2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Mini Update #3 - Feedback</a:t>
            </a:r>
            <a:endParaRPr/>
          </a:p>
        </p:txBody>
      </p:sp>
      <p:sp>
        <p:nvSpPr>
          <p:cNvPr id="144" name="Google Shape;144;p2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Feedback from last update focused more on trying to form data insights gathered from the two datasets</a:t>
            </a:r>
            <a:endParaRPr/>
          </a:p>
          <a:p>
            <a:pPr indent="-342900" lvl="0" marL="457200" rtl="0" algn="l">
              <a:spcBef>
                <a:spcPts val="0"/>
              </a:spcBef>
              <a:spcAft>
                <a:spcPts val="0"/>
              </a:spcAft>
              <a:buSzPts val="1800"/>
              <a:buChar char="-"/>
            </a:pPr>
            <a:r>
              <a:rPr lang="en"/>
              <a:t>Background Research is still needed in order for me to truly confirm possible/potential narratives for my data insights</a:t>
            </a:r>
            <a:endParaRPr/>
          </a:p>
          <a:p>
            <a:pPr indent="-342900" lvl="0" marL="457200" rtl="0" algn="l">
              <a:spcBef>
                <a:spcPts val="0"/>
              </a:spcBef>
              <a:spcAft>
                <a:spcPts val="0"/>
              </a:spcAft>
              <a:buSzPts val="1800"/>
              <a:buChar char="-"/>
            </a:pPr>
            <a:r>
              <a:rPr lang="en"/>
              <a:t>Feedback is useful as the data insights definitely could be improved</a:t>
            </a:r>
            <a:endParaRPr/>
          </a:p>
          <a:p>
            <a:pPr indent="-342900" lvl="0" marL="457200" rtl="0" algn="l">
              <a:spcBef>
                <a:spcPts val="0"/>
              </a:spcBef>
              <a:spcAft>
                <a:spcPts val="0"/>
              </a:spcAft>
              <a:buSzPts val="1800"/>
              <a:buChar char="-"/>
            </a:pPr>
            <a:r>
              <a:rPr lang="en"/>
              <a:t>I still do seek feedback on whether everything makes sense and if there is potential for a narrative to be formed</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8" name="Shape 148"/>
        <p:cNvGrpSpPr/>
        <p:nvPr/>
      </p:nvGrpSpPr>
      <p:grpSpPr>
        <a:xfrm>
          <a:off x="0" y="0"/>
          <a:ext cx="0" cy="0"/>
          <a:chOff x="0" y="0"/>
          <a:chExt cx="0" cy="0"/>
        </a:xfrm>
      </p:grpSpPr>
      <p:sp>
        <p:nvSpPr>
          <p:cNvPr id="149" name="Google Shape;149;p2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Mini Update #4 - Data Insight (</a:t>
            </a:r>
            <a:r>
              <a:rPr lang="en">
                <a:solidFill>
                  <a:srgbClr val="FF0000"/>
                </a:solidFill>
              </a:rPr>
              <a:t>All_Recipes)</a:t>
            </a:r>
            <a:endParaRPr>
              <a:solidFill>
                <a:srgbClr val="FF0000"/>
              </a:solidFill>
            </a:endParaRPr>
          </a:p>
        </p:txBody>
      </p:sp>
      <p:sp>
        <p:nvSpPr>
          <p:cNvPr id="150" name="Google Shape;150;p25"/>
          <p:cNvSpPr txBox="1"/>
          <p:nvPr>
            <p:ph idx="1" type="body"/>
          </p:nvPr>
        </p:nvSpPr>
        <p:spPr>
          <a:xfrm>
            <a:off x="136450" y="3165400"/>
            <a:ext cx="2543100" cy="1813800"/>
          </a:xfrm>
          <a:prstGeom prst="rect">
            <a:avLst/>
          </a:prstGeom>
        </p:spPr>
        <p:txBody>
          <a:bodyPr anchorCtr="0" anchor="t" bIns="91425" lIns="91425" spcFirstLastPara="1" rIns="91425" wrap="square" tIns="91425">
            <a:normAutofit lnSpcReduction="10000"/>
          </a:bodyPr>
          <a:lstStyle/>
          <a:p>
            <a:pPr indent="0" lvl="0" marL="0" rtl="0" algn="l">
              <a:spcBef>
                <a:spcPts val="0"/>
              </a:spcBef>
              <a:spcAft>
                <a:spcPts val="1200"/>
              </a:spcAft>
              <a:buNone/>
            </a:pPr>
            <a:r>
              <a:rPr lang="en" sz="1200"/>
              <a:t>The graph above shows the average ratings when it comes to their associated total times. As most of the average ratings are 3-5 and most of them lie below </a:t>
            </a:r>
            <a:r>
              <a:rPr lang="en" sz="1200"/>
              <a:t>10000 minutes or 6 days</a:t>
            </a:r>
            <a:r>
              <a:rPr lang="en" sz="1200"/>
              <a:t>, this shows that there is little effect in total time towards average ratings. </a:t>
            </a:r>
            <a:endParaRPr sz="1200"/>
          </a:p>
        </p:txBody>
      </p:sp>
      <p:pic>
        <p:nvPicPr>
          <p:cNvPr id="151" name="Google Shape;151;p25"/>
          <p:cNvPicPr preferRelativeResize="0"/>
          <p:nvPr/>
        </p:nvPicPr>
        <p:blipFill>
          <a:blip r:embed="rId4">
            <a:alphaModFix/>
          </a:blip>
          <a:stretch>
            <a:fillRect/>
          </a:stretch>
        </p:blipFill>
        <p:spPr>
          <a:xfrm>
            <a:off x="136450" y="920625"/>
            <a:ext cx="2543126" cy="2211225"/>
          </a:xfrm>
          <a:prstGeom prst="rect">
            <a:avLst/>
          </a:prstGeom>
          <a:noFill/>
          <a:ln>
            <a:noFill/>
          </a:ln>
        </p:spPr>
      </p:pic>
      <p:pic>
        <p:nvPicPr>
          <p:cNvPr id="152" name="Google Shape;152;p25"/>
          <p:cNvPicPr preferRelativeResize="0"/>
          <p:nvPr/>
        </p:nvPicPr>
        <p:blipFill>
          <a:blip r:embed="rId5">
            <a:alphaModFix/>
          </a:blip>
          <a:stretch>
            <a:fillRect/>
          </a:stretch>
        </p:blipFill>
        <p:spPr>
          <a:xfrm>
            <a:off x="6237525" y="893550"/>
            <a:ext cx="2454049" cy="2211225"/>
          </a:xfrm>
          <a:prstGeom prst="rect">
            <a:avLst/>
          </a:prstGeom>
          <a:noFill/>
          <a:ln>
            <a:noFill/>
          </a:ln>
        </p:spPr>
      </p:pic>
      <p:pic>
        <p:nvPicPr>
          <p:cNvPr id="153" name="Google Shape;153;p25"/>
          <p:cNvPicPr preferRelativeResize="0"/>
          <p:nvPr/>
        </p:nvPicPr>
        <p:blipFill>
          <a:blip r:embed="rId6">
            <a:alphaModFix/>
          </a:blip>
          <a:stretch>
            <a:fillRect/>
          </a:stretch>
        </p:blipFill>
        <p:spPr>
          <a:xfrm>
            <a:off x="3231513" y="920625"/>
            <a:ext cx="2454051" cy="2157093"/>
          </a:xfrm>
          <a:prstGeom prst="rect">
            <a:avLst/>
          </a:prstGeom>
          <a:noFill/>
          <a:ln>
            <a:noFill/>
          </a:ln>
        </p:spPr>
      </p:pic>
      <p:sp>
        <p:nvSpPr>
          <p:cNvPr id="154" name="Google Shape;154;p25"/>
          <p:cNvSpPr txBox="1"/>
          <p:nvPr>
            <p:ph idx="1" type="body"/>
          </p:nvPr>
        </p:nvSpPr>
        <p:spPr>
          <a:xfrm>
            <a:off x="3142475" y="3252550"/>
            <a:ext cx="2543100" cy="1813800"/>
          </a:xfrm>
          <a:prstGeom prst="rect">
            <a:avLst/>
          </a:prstGeom>
        </p:spPr>
        <p:txBody>
          <a:bodyPr anchorCtr="0" anchor="t" bIns="91425" lIns="91425" spcFirstLastPara="1" rIns="91425" wrap="square" tIns="91425">
            <a:normAutofit fontScale="92500" lnSpcReduction="20000"/>
          </a:bodyPr>
          <a:lstStyle/>
          <a:p>
            <a:pPr indent="0" lvl="0" marL="0" rtl="0" algn="l">
              <a:spcBef>
                <a:spcPts val="0"/>
              </a:spcBef>
              <a:spcAft>
                <a:spcPts val="1200"/>
              </a:spcAft>
              <a:buNone/>
            </a:pPr>
            <a:r>
              <a:rPr lang="en" sz="1200"/>
              <a:t>The graph above shows the average ratings when it comes to their associated calories. As most of the average ratings are 3-5 and most of them lie below 2000 calories, it can be assumed that there is little effect that calories can have on average ratings. Although, recipes with higher calories than the rest does appear to have high average ratings.</a:t>
            </a:r>
            <a:endParaRPr sz="1200"/>
          </a:p>
        </p:txBody>
      </p:sp>
      <p:sp>
        <p:nvSpPr>
          <p:cNvPr id="155" name="Google Shape;155;p25"/>
          <p:cNvSpPr txBox="1"/>
          <p:nvPr>
            <p:ph idx="1" type="body"/>
          </p:nvPr>
        </p:nvSpPr>
        <p:spPr>
          <a:xfrm>
            <a:off x="6237525" y="3252550"/>
            <a:ext cx="2543100" cy="1813800"/>
          </a:xfrm>
          <a:prstGeom prst="rect">
            <a:avLst/>
          </a:prstGeom>
        </p:spPr>
        <p:txBody>
          <a:bodyPr anchorCtr="0" anchor="t" bIns="91425" lIns="91425" spcFirstLastPara="1" rIns="91425" wrap="square" tIns="91425">
            <a:normAutofit fontScale="92500" lnSpcReduction="20000"/>
          </a:bodyPr>
          <a:lstStyle/>
          <a:p>
            <a:pPr indent="0" lvl="0" marL="0" rtl="0" algn="l">
              <a:spcBef>
                <a:spcPts val="0"/>
              </a:spcBef>
              <a:spcAft>
                <a:spcPts val="1200"/>
              </a:spcAft>
              <a:buNone/>
            </a:pPr>
            <a:r>
              <a:rPr lang="en" sz="1200"/>
              <a:t>The graph above shows the average ratings when it comes to their associated serving sizes. Most of these recipes falls below 50 servings with some outliers being above 50. Because of this, it can be assumed that there is little effect that serving sizes has on ratings. But, higher serving sizes does seem to have high average ratings. </a:t>
            </a:r>
            <a:endParaRPr sz="1200"/>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9" name="Shape 159"/>
        <p:cNvGrpSpPr/>
        <p:nvPr/>
      </p:nvGrpSpPr>
      <p:grpSpPr>
        <a:xfrm>
          <a:off x="0" y="0"/>
          <a:ext cx="0" cy="0"/>
          <a:chOff x="0" y="0"/>
          <a:chExt cx="0" cy="0"/>
        </a:xfrm>
      </p:grpSpPr>
      <p:sp>
        <p:nvSpPr>
          <p:cNvPr id="160" name="Google Shape;160;p2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Mini Update #4 - Data Insight (</a:t>
            </a:r>
            <a:r>
              <a:rPr lang="en">
                <a:solidFill>
                  <a:srgbClr val="0000FF"/>
                </a:solidFill>
              </a:rPr>
              <a:t>Cuisines</a:t>
            </a:r>
            <a:r>
              <a:rPr lang="en"/>
              <a:t>)</a:t>
            </a:r>
            <a:endParaRPr/>
          </a:p>
        </p:txBody>
      </p:sp>
      <p:sp>
        <p:nvSpPr>
          <p:cNvPr id="161" name="Google Shape;161;p26"/>
          <p:cNvSpPr txBox="1"/>
          <p:nvPr>
            <p:ph idx="1" type="body"/>
          </p:nvPr>
        </p:nvSpPr>
        <p:spPr>
          <a:xfrm>
            <a:off x="220125" y="3420500"/>
            <a:ext cx="2719500" cy="1610400"/>
          </a:xfrm>
          <a:prstGeom prst="rect">
            <a:avLst/>
          </a:prstGeom>
        </p:spPr>
        <p:txBody>
          <a:bodyPr anchorCtr="0" anchor="t" bIns="91425" lIns="91425" spcFirstLastPara="1" rIns="91425" wrap="square" tIns="91425">
            <a:normAutofit fontScale="85000" lnSpcReduction="20000"/>
          </a:bodyPr>
          <a:lstStyle/>
          <a:p>
            <a:pPr indent="0" lvl="0" marL="0" rtl="0" algn="l">
              <a:spcBef>
                <a:spcPts val="0"/>
              </a:spcBef>
              <a:spcAft>
                <a:spcPts val="1200"/>
              </a:spcAft>
              <a:buNone/>
            </a:pPr>
            <a:r>
              <a:rPr lang="en" sz="1200"/>
              <a:t>The graph aboves shows the average ratings when it comes to their associated total times. Most of the average ratings lies between 3 and 5. Alongside, most of the total times lies below 2000 minutes or approximately 33 hours. Because most of the ratings lies around each other, this means that there is no affect of total times to the average ratings to cuisine recipes. </a:t>
            </a:r>
            <a:endParaRPr sz="1200"/>
          </a:p>
        </p:txBody>
      </p:sp>
      <p:pic>
        <p:nvPicPr>
          <p:cNvPr id="162" name="Google Shape;162;p26"/>
          <p:cNvPicPr preferRelativeResize="0"/>
          <p:nvPr/>
        </p:nvPicPr>
        <p:blipFill>
          <a:blip r:embed="rId4">
            <a:alphaModFix/>
          </a:blip>
          <a:stretch>
            <a:fillRect/>
          </a:stretch>
        </p:blipFill>
        <p:spPr>
          <a:xfrm>
            <a:off x="220225" y="967151"/>
            <a:ext cx="2719575" cy="2374449"/>
          </a:xfrm>
          <a:prstGeom prst="rect">
            <a:avLst/>
          </a:prstGeom>
          <a:noFill/>
          <a:ln>
            <a:noFill/>
          </a:ln>
        </p:spPr>
      </p:pic>
      <p:pic>
        <p:nvPicPr>
          <p:cNvPr id="163" name="Google Shape;163;p26"/>
          <p:cNvPicPr preferRelativeResize="0"/>
          <p:nvPr/>
        </p:nvPicPr>
        <p:blipFill>
          <a:blip r:embed="rId5">
            <a:alphaModFix/>
          </a:blip>
          <a:stretch>
            <a:fillRect/>
          </a:stretch>
        </p:blipFill>
        <p:spPr>
          <a:xfrm>
            <a:off x="3086375" y="967150"/>
            <a:ext cx="2626073" cy="2374451"/>
          </a:xfrm>
          <a:prstGeom prst="rect">
            <a:avLst/>
          </a:prstGeom>
          <a:noFill/>
          <a:ln>
            <a:noFill/>
          </a:ln>
        </p:spPr>
      </p:pic>
      <p:sp>
        <p:nvSpPr>
          <p:cNvPr id="164" name="Google Shape;164;p26"/>
          <p:cNvSpPr txBox="1"/>
          <p:nvPr>
            <p:ph idx="1" type="body"/>
          </p:nvPr>
        </p:nvSpPr>
        <p:spPr>
          <a:xfrm>
            <a:off x="3039663" y="3502775"/>
            <a:ext cx="2719500" cy="1610400"/>
          </a:xfrm>
          <a:prstGeom prst="rect">
            <a:avLst/>
          </a:prstGeom>
        </p:spPr>
        <p:txBody>
          <a:bodyPr anchorCtr="0" anchor="t" bIns="91425" lIns="91425" spcFirstLastPara="1" rIns="91425" wrap="square" tIns="91425">
            <a:normAutofit lnSpcReduction="10000"/>
          </a:bodyPr>
          <a:lstStyle/>
          <a:p>
            <a:pPr indent="0" lvl="0" marL="0" rtl="0" algn="l">
              <a:spcBef>
                <a:spcPts val="0"/>
              </a:spcBef>
              <a:spcAft>
                <a:spcPts val="1200"/>
              </a:spcAft>
              <a:buNone/>
            </a:pPr>
            <a:r>
              <a:rPr lang="en" sz="1200"/>
              <a:t>The graph aboves shows the average ratings when it comes to their associated calories. Most of the associated calories fall just below of 1000 calories. Because of this, it can be determined that calories does not have an affect on average ratings.</a:t>
            </a:r>
            <a:endParaRPr sz="1200"/>
          </a:p>
        </p:txBody>
      </p:sp>
      <p:pic>
        <p:nvPicPr>
          <p:cNvPr id="165" name="Google Shape;165;p26"/>
          <p:cNvPicPr preferRelativeResize="0"/>
          <p:nvPr/>
        </p:nvPicPr>
        <p:blipFill>
          <a:blip r:embed="rId6">
            <a:alphaModFix/>
          </a:blip>
          <a:stretch>
            <a:fillRect/>
          </a:stretch>
        </p:blipFill>
        <p:spPr>
          <a:xfrm>
            <a:off x="5826750" y="967151"/>
            <a:ext cx="2598173" cy="2374450"/>
          </a:xfrm>
          <a:prstGeom prst="rect">
            <a:avLst/>
          </a:prstGeom>
          <a:noFill/>
          <a:ln>
            <a:noFill/>
          </a:ln>
        </p:spPr>
      </p:pic>
      <p:sp>
        <p:nvSpPr>
          <p:cNvPr id="166" name="Google Shape;166;p26"/>
          <p:cNvSpPr txBox="1"/>
          <p:nvPr>
            <p:ph idx="1" type="body"/>
          </p:nvPr>
        </p:nvSpPr>
        <p:spPr>
          <a:xfrm>
            <a:off x="5826738" y="3533100"/>
            <a:ext cx="2719500" cy="1610400"/>
          </a:xfrm>
          <a:prstGeom prst="rect">
            <a:avLst/>
          </a:prstGeom>
        </p:spPr>
        <p:txBody>
          <a:bodyPr anchorCtr="0" anchor="t" bIns="91425" lIns="91425" spcFirstLastPara="1" rIns="91425" wrap="square" tIns="91425">
            <a:normAutofit lnSpcReduction="10000"/>
          </a:bodyPr>
          <a:lstStyle/>
          <a:p>
            <a:pPr indent="0" lvl="0" marL="0" rtl="0" algn="l">
              <a:spcBef>
                <a:spcPts val="0"/>
              </a:spcBef>
              <a:spcAft>
                <a:spcPts val="1200"/>
              </a:spcAft>
              <a:buNone/>
            </a:pPr>
            <a:r>
              <a:rPr lang="en" sz="1200"/>
              <a:t>The graph aboves shows the average ratings when it comes to their serving size. As the serving size for most of these recipes fall below 50 serving size, this can mean that serving sizes has no effect on the ratings.</a:t>
            </a:r>
            <a:endParaRPr sz="1200"/>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0" name="Shape 170"/>
        <p:cNvGrpSpPr/>
        <p:nvPr/>
      </p:nvGrpSpPr>
      <p:grpSpPr>
        <a:xfrm>
          <a:off x="0" y="0"/>
          <a:ext cx="0" cy="0"/>
          <a:chOff x="0" y="0"/>
          <a:chExt cx="0" cy="0"/>
        </a:xfrm>
      </p:grpSpPr>
      <p:sp>
        <p:nvSpPr>
          <p:cNvPr id="171" name="Google Shape;171;p2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Mini Update #4 - Progress Check</a:t>
            </a:r>
            <a:endParaRPr/>
          </a:p>
        </p:txBody>
      </p:sp>
      <p:sp>
        <p:nvSpPr>
          <p:cNvPr id="172" name="Google Shape;172;p27"/>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I did more of a deep dive through each datasets.</a:t>
            </a:r>
            <a:r>
              <a:rPr lang="en"/>
              <a:t> I wanted to do more but I did not know how exactly to code it (s</a:t>
            </a:r>
            <a:r>
              <a:rPr lang="en"/>
              <a:t>uch as coding the mean of the average ratings for each country in the </a:t>
            </a:r>
            <a:r>
              <a:rPr lang="en">
                <a:solidFill>
                  <a:srgbClr val="0000FF"/>
                </a:solidFill>
              </a:rPr>
              <a:t>cuisine</a:t>
            </a:r>
            <a:r>
              <a:rPr lang="en">
                <a:solidFill>
                  <a:schemeClr val="dk1"/>
                </a:solidFill>
              </a:rPr>
              <a:t> dataset).</a:t>
            </a:r>
            <a:endParaRPr>
              <a:solidFill>
                <a:schemeClr val="dk1"/>
              </a:solidFill>
            </a:endParaRPr>
          </a:p>
          <a:p>
            <a:pPr indent="-342900" lvl="0" marL="457200" rtl="0" algn="l">
              <a:spcBef>
                <a:spcPts val="0"/>
              </a:spcBef>
              <a:spcAft>
                <a:spcPts val="0"/>
              </a:spcAft>
              <a:buSzPts val="1800"/>
              <a:buChar char="-"/>
            </a:pPr>
            <a:r>
              <a:rPr lang="en"/>
              <a:t>I’m considering using just one dataset instead of the both of them</a:t>
            </a:r>
            <a:endParaRPr/>
          </a:p>
          <a:p>
            <a:pPr indent="-342900" lvl="0" marL="457200" rtl="0" algn="l">
              <a:spcBef>
                <a:spcPts val="0"/>
              </a:spcBef>
              <a:spcAft>
                <a:spcPts val="0"/>
              </a:spcAft>
              <a:buSzPts val="1800"/>
              <a:buChar char="-"/>
            </a:pPr>
            <a:r>
              <a:rPr lang="en"/>
              <a:t>I did try my best to attempt using Story Studio with this update alongside JupyterHub.</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6" name="Shape 176"/>
        <p:cNvGrpSpPr/>
        <p:nvPr/>
      </p:nvGrpSpPr>
      <p:grpSpPr>
        <a:xfrm>
          <a:off x="0" y="0"/>
          <a:ext cx="0" cy="0"/>
          <a:chOff x="0" y="0"/>
          <a:chExt cx="0" cy="0"/>
        </a:xfrm>
      </p:grpSpPr>
      <p:sp>
        <p:nvSpPr>
          <p:cNvPr id="177" name="Google Shape;177;p2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Mini Update #4 - Feedback</a:t>
            </a:r>
            <a:endParaRPr/>
          </a:p>
        </p:txBody>
      </p:sp>
      <p:sp>
        <p:nvSpPr>
          <p:cNvPr id="178" name="Google Shape;178;p28"/>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There was little feedback but it reminded me that I needed to do more than just providing tables for these updates.</a:t>
            </a:r>
            <a:endParaRPr/>
          </a:p>
          <a:p>
            <a:pPr indent="-342900" lvl="0" marL="457200" rtl="0" algn="l">
              <a:spcBef>
                <a:spcPts val="0"/>
              </a:spcBef>
              <a:spcAft>
                <a:spcPts val="0"/>
              </a:spcAft>
              <a:buSzPts val="1800"/>
              <a:buChar char="-"/>
            </a:pPr>
            <a:r>
              <a:rPr lang="en"/>
              <a:t>I don’t necessarily seek any specific type of feedback</a:t>
            </a:r>
            <a:endParaRPr/>
          </a:p>
          <a:p>
            <a:pPr indent="-342900" lvl="0" marL="457200" rtl="0" algn="l">
              <a:spcBef>
                <a:spcPts val="0"/>
              </a:spcBef>
              <a:spcAft>
                <a:spcPts val="0"/>
              </a:spcAft>
              <a:buSzPts val="1800"/>
              <a:buChar char="-"/>
            </a:pPr>
            <a:r>
              <a:rPr lang="en"/>
              <a:t>The feedback is useful (reasoning in first statement)</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2" name="Shape 182"/>
        <p:cNvGrpSpPr/>
        <p:nvPr/>
      </p:nvGrpSpPr>
      <p:grpSpPr>
        <a:xfrm>
          <a:off x="0" y="0"/>
          <a:ext cx="0" cy="0"/>
          <a:chOff x="0" y="0"/>
          <a:chExt cx="0" cy="0"/>
        </a:xfrm>
      </p:grpSpPr>
      <p:sp>
        <p:nvSpPr>
          <p:cNvPr id="183" name="Google Shape;183;p2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Mini Update #5</a:t>
            </a:r>
            <a:endParaRPr/>
          </a:p>
        </p:txBody>
      </p:sp>
      <p:sp>
        <p:nvSpPr>
          <p:cNvPr id="184" name="Google Shape;184;p29"/>
          <p:cNvSpPr txBox="1"/>
          <p:nvPr>
            <p:ph idx="1" type="body"/>
          </p:nvPr>
        </p:nvSpPr>
        <p:spPr>
          <a:xfrm>
            <a:off x="3998000" y="1152475"/>
            <a:ext cx="48342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sz="1200"/>
              <a:t>As this update required a storyboard, I decided to pivot towards doing a question and answer as the narrative structure. Through this update, I decided to create a few more data insights by creating line plots rather than the past scatter plots. </a:t>
            </a:r>
            <a:endParaRPr sz="1200"/>
          </a:p>
          <a:p>
            <a:pPr indent="0" lvl="0" marL="0" rtl="0" algn="l">
              <a:spcBef>
                <a:spcPts val="1200"/>
              </a:spcBef>
              <a:spcAft>
                <a:spcPts val="1200"/>
              </a:spcAft>
              <a:buNone/>
            </a:pPr>
            <a:r>
              <a:rPr lang="en" sz="1200"/>
              <a:t>My Question here could be developed into a storyline if I could decide which data insights could also fit inside the answer side. </a:t>
            </a:r>
            <a:endParaRPr sz="1200"/>
          </a:p>
        </p:txBody>
      </p:sp>
      <p:pic>
        <p:nvPicPr>
          <p:cNvPr id="185" name="Google Shape;185;p29"/>
          <p:cNvPicPr preferRelativeResize="0"/>
          <p:nvPr/>
        </p:nvPicPr>
        <p:blipFill>
          <a:blip r:embed="rId3">
            <a:alphaModFix/>
          </a:blip>
          <a:stretch>
            <a:fillRect/>
          </a:stretch>
        </p:blipFill>
        <p:spPr>
          <a:xfrm>
            <a:off x="98099" y="1017725"/>
            <a:ext cx="3533824" cy="2686549"/>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9" name="Shape 189"/>
        <p:cNvGrpSpPr/>
        <p:nvPr/>
      </p:nvGrpSpPr>
      <p:grpSpPr>
        <a:xfrm>
          <a:off x="0" y="0"/>
          <a:ext cx="0" cy="0"/>
          <a:chOff x="0" y="0"/>
          <a:chExt cx="0" cy="0"/>
        </a:xfrm>
      </p:grpSpPr>
      <p:sp>
        <p:nvSpPr>
          <p:cNvPr id="190" name="Google Shape;190;p3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Mini Update #5 - Progress Check</a:t>
            </a:r>
            <a:endParaRPr/>
          </a:p>
        </p:txBody>
      </p:sp>
      <p:sp>
        <p:nvSpPr>
          <p:cNvPr id="191" name="Google Shape;191;p30"/>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Storyboard is beginning to be developed. A storyline is in the works of being developed if the right data insights are picked to cater to it.</a:t>
            </a:r>
            <a:endParaRPr/>
          </a:p>
          <a:p>
            <a:pPr indent="-342900" lvl="0" marL="457200" rtl="0" algn="l">
              <a:spcBef>
                <a:spcPts val="0"/>
              </a:spcBef>
              <a:spcAft>
                <a:spcPts val="0"/>
              </a:spcAft>
              <a:buSzPts val="1800"/>
              <a:buChar char="-"/>
            </a:pPr>
            <a:r>
              <a:rPr lang="en"/>
              <a:t>No obstacles as of right now</a:t>
            </a:r>
            <a:endParaRPr/>
          </a:p>
          <a:p>
            <a:pPr indent="-342900" lvl="0" marL="457200" rtl="0" algn="l">
              <a:spcBef>
                <a:spcPts val="0"/>
              </a:spcBef>
              <a:spcAft>
                <a:spcPts val="0"/>
              </a:spcAft>
              <a:buSzPts val="1800"/>
              <a:buChar char="-"/>
            </a:pPr>
            <a:r>
              <a:rPr lang="en"/>
              <a:t>Story Studio and JuypterHub was used</a:t>
            </a:r>
            <a:endParaRPr/>
          </a:p>
          <a:p>
            <a:pPr indent="0" lvl="0" marL="457200" rtl="0" algn="l">
              <a:spcBef>
                <a:spcPts val="1200"/>
              </a:spcBef>
              <a:spcAft>
                <a:spcPts val="1200"/>
              </a:spcAft>
              <a:buNone/>
            </a:pPr>
            <a:r>
              <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5" name="Shape 195"/>
        <p:cNvGrpSpPr/>
        <p:nvPr/>
      </p:nvGrpSpPr>
      <p:grpSpPr>
        <a:xfrm>
          <a:off x="0" y="0"/>
          <a:ext cx="0" cy="0"/>
          <a:chOff x="0" y="0"/>
          <a:chExt cx="0" cy="0"/>
        </a:xfrm>
      </p:grpSpPr>
      <p:sp>
        <p:nvSpPr>
          <p:cNvPr id="196" name="Google Shape;196;p3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Mini Update #5 - Feedback</a:t>
            </a:r>
            <a:endParaRPr/>
          </a:p>
        </p:txBody>
      </p:sp>
      <p:sp>
        <p:nvSpPr>
          <p:cNvPr id="197" name="Google Shape;197;p31"/>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The feedback relied mostly on the scatter plots I generated.</a:t>
            </a:r>
            <a:endParaRPr/>
          </a:p>
          <a:p>
            <a:pPr indent="-342900" lvl="0" marL="457200" rtl="0" algn="l">
              <a:spcBef>
                <a:spcPts val="0"/>
              </a:spcBef>
              <a:spcAft>
                <a:spcPts val="0"/>
              </a:spcAft>
              <a:buSzPts val="1800"/>
              <a:buChar char="-"/>
            </a:pPr>
            <a:r>
              <a:rPr lang="en"/>
              <a:t>Through this feedback, it pointed outliers and non-optimal plots. As this is a result of trying to data clean (through replacing nan values with 0), I could try again through deleting rows that include nan values. </a:t>
            </a:r>
            <a:endParaRPr/>
          </a:p>
          <a:p>
            <a:pPr indent="-342900" lvl="0" marL="457200" rtl="0" algn="l">
              <a:spcBef>
                <a:spcPts val="0"/>
              </a:spcBef>
              <a:spcAft>
                <a:spcPts val="0"/>
              </a:spcAft>
              <a:buSzPts val="1800"/>
              <a:buChar char="-"/>
            </a:pPr>
            <a:r>
              <a:rPr lang="en"/>
              <a:t>Feedback is useful as it pointed out how odd it was to have many values crowded at 0.</a:t>
            </a:r>
            <a:endParaRPr/>
          </a:p>
          <a:p>
            <a:pPr indent="-342900" lvl="0" marL="457200" rtl="0" algn="l">
              <a:spcBef>
                <a:spcPts val="0"/>
              </a:spcBef>
              <a:spcAft>
                <a:spcPts val="0"/>
              </a:spcAft>
              <a:buSzPts val="1800"/>
              <a:buChar char="-"/>
            </a:pPr>
            <a:r>
              <a:rPr lang="en"/>
              <a:t>No specific feedback is sought for</a:t>
            </a:r>
            <a:endParaRPr/>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