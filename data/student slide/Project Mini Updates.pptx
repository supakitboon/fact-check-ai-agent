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y="5143500" cx="9144000"/>
  <p:notesSz cx="6858000" cy="9144000"/>
  <p:embeddedFontLst>
    <p:embeddedFont>
      <p:font typeface="Raleway"/>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D84FDD4-0F73-4D01-A2C7-801075311E5E}">
  <a:tblStyle styleId="{3D84FDD4-0F73-4D01-A2C7-801075311E5E}"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Raleway-regular.fntdata"/><Relationship Id="rId25" Type="http://schemas.openxmlformats.org/officeDocument/2006/relationships/slide" Target="slides/slide18.xml"/><Relationship Id="rId28" Type="http://schemas.openxmlformats.org/officeDocument/2006/relationships/font" Target="fonts/Raleway-italic.fntdata"/><Relationship Id="rId27" Type="http://schemas.openxmlformats.org/officeDocument/2006/relationships/font" Target="fonts/Raleway-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Raleway-boldItalic.fntdata"/><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d8c7f4fb49_1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 name="Google Shape;101;g3d8c7f4fb49_1_3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d8c7f4fb49_1_3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 name="Google Shape;107;g3d8c7f4fb49_1_3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d8c7f4fb49_1_3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 name="Google Shape;114;g3d8c7f4fb49_1_3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d8c7f4fb49_1_3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 name="Google Shape;120;g3d8c7f4fb49_1_3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d8c7f4fb49_1_3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g3d8c7f4fb49_1_3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d8c7f4fb49_1_3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g3d8c7f4fb49_1_3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d8c7f4fb49_1_3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g3d8c7f4fb49_1_3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d8c7f4fb49_1_3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g3d8c7f4fb49_1_3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d8c7f4fb49_1_3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g3d8c7f4fb49_1_39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d8c7f4fb49_1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g3d8c7f4fb49_1_39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d8c7f4fb49_1_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g3d8c7f4fb49_1_40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d8c7f4fb49_1_4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d8c7f4fb49_1_4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d8c7f4fb49_1_4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g3d8c7f4fb49_1_4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d8c7f4fb49_1_4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g3d8c7f4fb49_1_4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d8c7f4fb49_1_4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g3d8c7f4fb49_1_4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d8c7f4fb49_1_4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g3d8c7f4fb49_1_4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d8c7f4fb49_1_4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d8c7f4fb49_1_4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d8c7f4fb49_1_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d8c7f4fb49_1_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4"/>
          <p:cNvSpPr txBox="1"/>
          <p:nvPr>
            <p:ph type="ctrTitle"/>
          </p:nvPr>
        </p:nvSpPr>
        <p:spPr>
          <a:xfrm>
            <a:off x="485875" y="264475"/>
            <a:ext cx="8183700" cy="14736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57" name="Google Shape;57;p14"/>
          <p:cNvSpPr txBox="1"/>
          <p:nvPr>
            <p:ph idx="1" type="subTitle"/>
          </p:nvPr>
        </p:nvSpPr>
        <p:spPr>
          <a:xfrm>
            <a:off x="485875" y="1738075"/>
            <a:ext cx="8183700" cy="861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2400"/>
              <a:buNone/>
              <a:defRPr sz="2400"/>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p:txBody>
      </p:sp>
      <p:sp>
        <p:nvSpPr>
          <p:cNvPr id="58" name="Google Shape;58;p1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9" name="Shape 59"/>
        <p:cNvGrpSpPr/>
        <p:nvPr/>
      </p:nvGrpSpPr>
      <p:grpSpPr>
        <a:xfrm>
          <a:off x="0" y="0"/>
          <a:ext cx="0" cy="0"/>
          <a:chOff x="0" y="0"/>
          <a:chExt cx="0" cy="0"/>
        </a:xfrm>
      </p:grpSpPr>
      <p:sp>
        <p:nvSpPr>
          <p:cNvPr id="60" name="Google Shape;60;p15"/>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5"/>
          <p:cNvSpPr txBox="1"/>
          <p:nvPr>
            <p:ph type="title"/>
          </p:nvPr>
        </p:nvSpPr>
        <p:spPr>
          <a:xfrm>
            <a:off x="485875" y="1714500"/>
            <a:ext cx="8183700" cy="785700"/>
          </a:xfrm>
          <a:prstGeom prst="rect">
            <a:avLst/>
          </a:prstGeom>
        </p:spPr>
        <p:txBody>
          <a:bodyPr anchorCtr="0" anchor="b"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62" name="Google Shape;62;p1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3" name="Shape 63"/>
        <p:cNvGrpSpPr/>
        <p:nvPr/>
      </p:nvGrpSpPr>
      <p:grpSpPr>
        <a:xfrm>
          <a:off x="0" y="0"/>
          <a:ext cx="0" cy="0"/>
          <a:chOff x="0" y="0"/>
          <a:chExt cx="0" cy="0"/>
        </a:xfrm>
      </p:grpSpPr>
      <p:sp>
        <p:nvSpPr>
          <p:cNvPr id="64" name="Google Shape;64;p16"/>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65" name="Google Shape;65;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6" name="Google Shape;66;p1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7" name="Shape 67"/>
        <p:cNvGrpSpPr/>
        <p:nvPr/>
      </p:nvGrpSpPr>
      <p:grpSpPr>
        <a:xfrm>
          <a:off x="0" y="0"/>
          <a:ext cx="0" cy="0"/>
          <a:chOff x="0" y="0"/>
          <a:chExt cx="0" cy="0"/>
        </a:xfrm>
      </p:grpSpPr>
      <p:sp>
        <p:nvSpPr>
          <p:cNvPr id="68" name="Google Shape;68;p17"/>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69" name="Google Shape;69;p1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0" name="Google Shape;70;p1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1" name="Google Shape;71;p17"/>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2" name="Shape 72"/>
        <p:cNvGrpSpPr/>
        <p:nvPr/>
      </p:nvGrpSpPr>
      <p:grpSpPr>
        <a:xfrm>
          <a:off x="0" y="0"/>
          <a:ext cx="0" cy="0"/>
          <a:chOff x="0" y="0"/>
          <a:chExt cx="0" cy="0"/>
        </a:xfrm>
      </p:grpSpPr>
      <p:sp>
        <p:nvSpPr>
          <p:cNvPr id="73" name="Google Shape;73;p18"/>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4" name="Google Shape;74;p18"/>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5" name="Shape 75"/>
        <p:cNvGrpSpPr/>
        <p:nvPr/>
      </p:nvGrpSpPr>
      <p:grpSpPr>
        <a:xfrm>
          <a:off x="0" y="0"/>
          <a:ext cx="0" cy="0"/>
          <a:chOff x="0" y="0"/>
          <a:chExt cx="0" cy="0"/>
        </a:xfrm>
      </p:grpSpPr>
      <p:sp>
        <p:nvSpPr>
          <p:cNvPr id="76" name="Google Shape;76;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7" name="Google Shape;77;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8" name="Google Shape;78;p19"/>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2"/>
        </a:solidFill>
      </p:bgPr>
    </p:bg>
    <p:spTree>
      <p:nvGrpSpPr>
        <p:cNvPr id="79" name="Shape 79"/>
        <p:cNvGrpSpPr/>
        <p:nvPr/>
      </p:nvGrpSpPr>
      <p:grpSpPr>
        <a:xfrm>
          <a:off x="0" y="0"/>
          <a:ext cx="0" cy="0"/>
          <a:chOff x="0" y="0"/>
          <a:chExt cx="0" cy="0"/>
        </a:xfrm>
      </p:grpSpPr>
      <p:sp>
        <p:nvSpPr>
          <p:cNvPr id="80" name="Google Shape;80;p20"/>
          <p:cNvSpPr txBox="1"/>
          <p:nvPr>
            <p:ph type="title"/>
          </p:nvPr>
        </p:nvSpPr>
        <p:spPr>
          <a:xfrm>
            <a:off x="490250" y="526350"/>
            <a:ext cx="56040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81" name="Google Shape;81;p20"/>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2" name="Shape 82"/>
        <p:cNvGrpSpPr/>
        <p:nvPr/>
      </p:nvGrpSpPr>
      <p:grpSpPr>
        <a:xfrm>
          <a:off x="0" y="0"/>
          <a:ext cx="0" cy="0"/>
          <a:chOff x="0" y="0"/>
          <a:chExt cx="0" cy="0"/>
        </a:xfrm>
      </p:grpSpPr>
      <p:sp>
        <p:nvSpPr>
          <p:cNvPr id="83" name="Google Shape;83;p21"/>
          <p:cNvSpPr/>
          <p:nvPr/>
        </p:nvSpPr>
        <p:spPr>
          <a:xfrm>
            <a:off x="4636800" y="80700"/>
            <a:ext cx="4426500" cy="4982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4" name="Google Shape;84;p21"/>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85" name="Google Shape;85;p21"/>
          <p:cNvSpPr txBox="1"/>
          <p:nvPr>
            <p:ph type="title"/>
          </p:nvPr>
        </p:nvSpPr>
        <p:spPr>
          <a:xfrm>
            <a:off x="265500" y="1181700"/>
            <a:ext cx="4045200" cy="15336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86" name="Google Shape;86;p21"/>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7" name="Google Shape;87;p21"/>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88" name="Google Shape;88;p21"/>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9" name="Shape 89"/>
        <p:cNvGrpSpPr/>
        <p:nvPr/>
      </p:nvGrpSpPr>
      <p:grpSpPr>
        <a:xfrm>
          <a:off x="0" y="0"/>
          <a:ext cx="0" cy="0"/>
          <a:chOff x="0" y="0"/>
          <a:chExt cx="0" cy="0"/>
        </a:xfrm>
      </p:grpSpPr>
      <p:sp>
        <p:nvSpPr>
          <p:cNvPr id="90" name="Google Shape;90;p2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91" name="Google Shape;91;p2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2" name="Shape 92"/>
        <p:cNvGrpSpPr/>
        <p:nvPr/>
      </p:nvGrpSpPr>
      <p:grpSpPr>
        <a:xfrm>
          <a:off x="0" y="0"/>
          <a:ext cx="0" cy="0"/>
          <a:chOff x="0" y="0"/>
          <a:chExt cx="0" cy="0"/>
        </a:xfrm>
      </p:grpSpPr>
      <p:sp>
        <p:nvSpPr>
          <p:cNvPr id="93" name="Google Shape;93;p23"/>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3"/>
          <p:cNvSpPr txBox="1"/>
          <p:nvPr>
            <p:ph hasCustomPrompt="1" type="title"/>
          </p:nvPr>
        </p:nvSpPr>
        <p:spPr>
          <a:xfrm>
            <a:off x="311700" y="743001"/>
            <a:ext cx="8520600" cy="200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Font typeface="Source Sans Pro"/>
              <a:buNone/>
              <a:defRPr sz="12000">
                <a:latin typeface="Source Sans Pro"/>
                <a:ea typeface="Source Sans Pro"/>
                <a:cs typeface="Source Sans Pro"/>
                <a:sym typeface="Source Sans Pro"/>
              </a:defRPr>
            </a:lvl1pPr>
            <a:lvl2pPr lvl="1" algn="ctr">
              <a:spcBef>
                <a:spcPts val="0"/>
              </a:spcBef>
              <a:spcAft>
                <a:spcPts val="0"/>
              </a:spcAft>
              <a:buSzPts val="12000"/>
              <a:buFont typeface="Source Sans Pro"/>
              <a:buNone/>
              <a:defRPr sz="12000">
                <a:latin typeface="Source Sans Pro"/>
                <a:ea typeface="Source Sans Pro"/>
                <a:cs typeface="Source Sans Pro"/>
                <a:sym typeface="Source Sans Pro"/>
              </a:defRPr>
            </a:lvl2pPr>
            <a:lvl3pPr lvl="2" algn="ctr">
              <a:spcBef>
                <a:spcPts val="0"/>
              </a:spcBef>
              <a:spcAft>
                <a:spcPts val="0"/>
              </a:spcAft>
              <a:buSzPts val="12000"/>
              <a:buFont typeface="Source Sans Pro"/>
              <a:buNone/>
              <a:defRPr sz="12000">
                <a:latin typeface="Source Sans Pro"/>
                <a:ea typeface="Source Sans Pro"/>
                <a:cs typeface="Source Sans Pro"/>
                <a:sym typeface="Source Sans Pro"/>
              </a:defRPr>
            </a:lvl3pPr>
            <a:lvl4pPr lvl="3" algn="ctr">
              <a:spcBef>
                <a:spcPts val="0"/>
              </a:spcBef>
              <a:spcAft>
                <a:spcPts val="0"/>
              </a:spcAft>
              <a:buSzPts val="12000"/>
              <a:buFont typeface="Source Sans Pro"/>
              <a:buNone/>
              <a:defRPr sz="12000">
                <a:latin typeface="Source Sans Pro"/>
                <a:ea typeface="Source Sans Pro"/>
                <a:cs typeface="Source Sans Pro"/>
                <a:sym typeface="Source Sans Pro"/>
              </a:defRPr>
            </a:lvl4pPr>
            <a:lvl5pPr lvl="4" algn="ctr">
              <a:spcBef>
                <a:spcPts val="0"/>
              </a:spcBef>
              <a:spcAft>
                <a:spcPts val="0"/>
              </a:spcAft>
              <a:buSzPts val="12000"/>
              <a:buFont typeface="Source Sans Pro"/>
              <a:buNone/>
              <a:defRPr sz="12000">
                <a:latin typeface="Source Sans Pro"/>
                <a:ea typeface="Source Sans Pro"/>
                <a:cs typeface="Source Sans Pro"/>
                <a:sym typeface="Source Sans Pro"/>
              </a:defRPr>
            </a:lvl5pPr>
            <a:lvl6pPr lvl="5" algn="ctr">
              <a:spcBef>
                <a:spcPts val="0"/>
              </a:spcBef>
              <a:spcAft>
                <a:spcPts val="0"/>
              </a:spcAft>
              <a:buSzPts val="12000"/>
              <a:buFont typeface="Source Sans Pro"/>
              <a:buNone/>
              <a:defRPr sz="12000">
                <a:latin typeface="Source Sans Pro"/>
                <a:ea typeface="Source Sans Pro"/>
                <a:cs typeface="Source Sans Pro"/>
                <a:sym typeface="Source Sans Pro"/>
              </a:defRPr>
            </a:lvl6pPr>
            <a:lvl7pPr lvl="6" algn="ctr">
              <a:spcBef>
                <a:spcPts val="0"/>
              </a:spcBef>
              <a:spcAft>
                <a:spcPts val="0"/>
              </a:spcAft>
              <a:buSzPts val="12000"/>
              <a:buFont typeface="Source Sans Pro"/>
              <a:buNone/>
              <a:defRPr sz="12000">
                <a:latin typeface="Source Sans Pro"/>
                <a:ea typeface="Source Sans Pro"/>
                <a:cs typeface="Source Sans Pro"/>
                <a:sym typeface="Source Sans Pro"/>
              </a:defRPr>
            </a:lvl7pPr>
            <a:lvl8pPr lvl="7" algn="ctr">
              <a:spcBef>
                <a:spcPts val="0"/>
              </a:spcBef>
              <a:spcAft>
                <a:spcPts val="0"/>
              </a:spcAft>
              <a:buSzPts val="12000"/>
              <a:buFont typeface="Source Sans Pro"/>
              <a:buNone/>
              <a:defRPr sz="12000">
                <a:latin typeface="Source Sans Pro"/>
                <a:ea typeface="Source Sans Pro"/>
                <a:cs typeface="Source Sans Pro"/>
                <a:sym typeface="Source Sans Pro"/>
              </a:defRPr>
            </a:lvl8pPr>
            <a:lvl9pPr lvl="8" algn="ctr">
              <a:spcBef>
                <a:spcPts val="0"/>
              </a:spcBef>
              <a:spcAft>
                <a:spcPts val="0"/>
              </a:spcAft>
              <a:buSzPts val="12000"/>
              <a:buFont typeface="Source Sans Pro"/>
              <a:buNone/>
              <a:defRPr sz="12000">
                <a:latin typeface="Source Sans Pro"/>
                <a:ea typeface="Source Sans Pro"/>
                <a:cs typeface="Source Sans Pro"/>
                <a:sym typeface="Source Sans Pro"/>
              </a:defRPr>
            </a:lvl9pPr>
          </a:lstStyle>
          <a:p>
            <a:r>
              <a:t>xx%</a:t>
            </a:r>
          </a:p>
        </p:txBody>
      </p:sp>
      <p:sp>
        <p:nvSpPr>
          <p:cNvPr id="95" name="Google Shape;95;p23"/>
          <p:cNvSpPr txBox="1"/>
          <p:nvPr>
            <p:ph idx="1" type="body"/>
          </p:nvPr>
        </p:nvSpPr>
        <p:spPr>
          <a:xfrm>
            <a:off x="311700" y="2845182"/>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96" name="Google Shape;96;p2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7" name="Shape 97"/>
        <p:cNvGrpSpPr/>
        <p:nvPr/>
      </p:nvGrpSpPr>
      <p:grpSpPr>
        <a:xfrm>
          <a:off x="0" y="0"/>
          <a:ext cx="0" cy="0"/>
          <a:chOff x="0" y="0"/>
          <a:chExt cx="0" cy="0"/>
        </a:xfrm>
      </p:grpSpPr>
      <p:sp>
        <p:nvSpPr>
          <p:cNvPr id="98" name="Google Shape;98;p2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lum">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623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Source Sans Pro"/>
              <a:buChar char="●"/>
              <a:defRPr sz="1800">
                <a:solidFill>
                  <a:schemeClr val="lt2"/>
                </a:solidFill>
                <a:latin typeface="Source Sans Pro"/>
                <a:ea typeface="Source Sans Pro"/>
                <a:cs typeface="Source Sans Pro"/>
                <a:sym typeface="Source Sans Pro"/>
              </a:defRPr>
            </a:lvl1pPr>
            <a:lvl2pPr indent="-317500" lvl="1" marL="9144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2pPr>
            <a:lvl3pPr indent="-317500" lvl="2" marL="13716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3pPr>
            <a:lvl4pPr indent="-317500" lvl="3" marL="18288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4pPr>
            <a:lvl5pPr indent="-317500" lvl="4" marL="22860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5pPr>
            <a:lvl6pPr indent="-317500" lvl="5" marL="27432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6pPr>
            <a:lvl7pPr indent="-317500" lvl="6" marL="32004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7pPr>
            <a:lvl8pPr indent="-317500" lvl="7" marL="36576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8pPr>
            <a:lvl9pPr indent="-317500" lvl="8" marL="41148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9pPr>
          </a:lstStyle>
          <a:p/>
        </p:txBody>
      </p:sp>
      <p:sp>
        <p:nvSpPr>
          <p:cNvPr id="53" name="Google Shape;53;p13"/>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Source Sans Pro"/>
                <a:ea typeface="Source Sans Pro"/>
                <a:cs typeface="Source Sans Pro"/>
                <a:sym typeface="Source Sans Pro"/>
              </a:defRPr>
            </a:lvl1pPr>
            <a:lvl2pPr lvl="1" algn="r">
              <a:buNone/>
              <a:defRPr sz="1000">
                <a:solidFill>
                  <a:schemeClr val="lt2"/>
                </a:solidFill>
                <a:latin typeface="Source Sans Pro"/>
                <a:ea typeface="Source Sans Pro"/>
                <a:cs typeface="Source Sans Pro"/>
                <a:sym typeface="Source Sans Pro"/>
              </a:defRPr>
            </a:lvl2pPr>
            <a:lvl3pPr lvl="2" algn="r">
              <a:buNone/>
              <a:defRPr sz="1000">
                <a:solidFill>
                  <a:schemeClr val="lt2"/>
                </a:solidFill>
                <a:latin typeface="Source Sans Pro"/>
                <a:ea typeface="Source Sans Pro"/>
                <a:cs typeface="Source Sans Pro"/>
                <a:sym typeface="Source Sans Pro"/>
              </a:defRPr>
            </a:lvl3pPr>
            <a:lvl4pPr lvl="3" algn="r">
              <a:buNone/>
              <a:defRPr sz="1000">
                <a:solidFill>
                  <a:schemeClr val="lt2"/>
                </a:solidFill>
                <a:latin typeface="Source Sans Pro"/>
                <a:ea typeface="Source Sans Pro"/>
                <a:cs typeface="Source Sans Pro"/>
                <a:sym typeface="Source Sans Pro"/>
              </a:defRPr>
            </a:lvl4pPr>
            <a:lvl5pPr lvl="4" algn="r">
              <a:buNone/>
              <a:defRPr sz="1000">
                <a:solidFill>
                  <a:schemeClr val="lt2"/>
                </a:solidFill>
                <a:latin typeface="Source Sans Pro"/>
                <a:ea typeface="Source Sans Pro"/>
                <a:cs typeface="Source Sans Pro"/>
                <a:sym typeface="Source Sans Pro"/>
              </a:defRPr>
            </a:lvl5pPr>
            <a:lvl6pPr lvl="5" algn="r">
              <a:buNone/>
              <a:defRPr sz="1000">
                <a:solidFill>
                  <a:schemeClr val="lt2"/>
                </a:solidFill>
                <a:latin typeface="Source Sans Pro"/>
                <a:ea typeface="Source Sans Pro"/>
                <a:cs typeface="Source Sans Pro"/>
                <a:sym typeface="Source Sans Pro"/>
              </a:defRPr>
            </a:lvl6pPr>
            <a:lvl7pPr lvl="6" algn="r">
              <a:buNone/>
              <a:defRPr sz="1000">
                <a:solidFill>
                  <a:schemeClr val="lt2"/>
                </a:solidFill>
                <a:latin typeface="Source Sans Pro"/>
                <a:ea typeface="Source Sans Pro"/>
                <a:cs typeface="Source Sans Pro"/>
                <a:sym typeface="Source Sans Pro"/>
              </a:defRPr>
            </a:lvl7pPr>
            <a:lvl8pPr lvl="7" algn="r">
              <a:buNone/>
              <a:defRPr sz="1000">
                <a:solidFill>
                  <a:schemeClr val="lt2"/>
                </a:solidFill>
                <a:latin typeface="Source Sans Pro"/>
                <a:ea typeface="Source Sans Pro"/>
                <a:cs typeface="Source Sans Pro"/>
                <a:sym typeface="Source Sans Pro"/>
              </a:defRPr>
            </a:lvl8pPr>
            <a:lvl9pPr lvl="8" algn="r">
              <a:buNone/>
              <a:defRPr sz="1000">
                <a:solidFill>
                  <a:schemeClr val="lt2"/>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5"/>
          <p:cNvSpPr txBox="1"/>
          <p:nvPr>
            <p:ph type="ctrTitle"/>
          </p:nvPr>
        </p:nvSpPr>
        <p:spPr>
          <a:xfrm>
            <a:off x="485875" y="264475"/>
            <a:ext cx="8183700" cy="1473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400"/>
              <a:buNone/>
            </a:pPr>
            <a:r>
              <a:rPr lang="en"/>
              <a:t>Project Mini Updates</a:t>
            </a:r>
            <a:endParaRPr/>
          </a:p>
        </p:txBody>
      </p:sp>
      <p:sp>
        <p:nvSpPr>
          <p:cNvPr id="104" name="Google Shape;104;p25"/>
          <p:cNvSpPr txBox="1"/>
          <p:nvPr>
            <p:ph idx="1" type="subTitle"/>
          </p:nvPr>
        </p:nvSpPr>
        <p:spPr>
          <a:xfrm>
            <a:off x="485875" y="3162875"/>
            <a:ext cx="8183700" cy="861000"/>
          </a:xfrm>
          <a:prstGeom prst="rect">
            <a:avLst/>
          </a:prstGeom>
          <a:noFill/>
          <a:ln>
            <a:noFill/>
          </a:ln>
        </p:spPr>
        <p:txBody>
          <a:bodyPr anchorCtr="0" anchor="t" bIns="91425" lIns="91425" spcFirstLastPara="1" rIns="91425" wrap="square" tIns="91425">
            <a:normAutofit lnSpcReduction="10000"/>
          </a:bodyPr>
          <a:lstStyle/>
          <a:p>
            <a:pPr indent="0" lvl="0" marL="0" rtl="0" algn="ctr">
              <a:lnSpc>
                <a:spcPct val="100000"/>
              </a:lnSpc>
              <a:spcBef>
                <a:spcPts val="0"/>
              </a:spcBef>
              <a:spcAft>
                <a:spcPts val="0"/>
              </a:spcAft>
              <a:buSzPts val="2400"/>
              <a:buNone/>
            </a:pPr>
            <a:r>
              <a:rPr lang="en"/>
              <a:t>Yonathan &amp; Maanas</a:t>
            </a:r>
            <a:endParaRPr/>
          </a:p>
          <a:p>
            <a:pPr indent="0" lvl="0" marL="0" rtl="0" algn="ctr">
              <a:lnSpc>
                <a:spcPct val="100000"/>
              </a:lnSpc>
              <a:spcBef>
                <a:spcPts val="0"/>
              </a:spcBef>
              <a:spcAft>
                <a:spcPts val="0"/>
              </a:spcAft>
              <a:buSzPts val="2400"/>
              <a:buNone/>
            </a:pPr>
            <a:r>
              <a:rPr lang="en"/>
              <a:t>T2: NBA Stats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6"/>
          <p:cNvSpPr txBox="1"/>
          <p:nvPr>
            <p:ph type="title"/>
          </p:nvPr>
        </p:nvSpPr>
        <p:spPr>
          <a:xfrm>
            <a:off x="311700" y="445025"/>
            <a:ext cx="8520600" cy="623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33333"/>
              <a:buNone/>
            </a:pPr>
            <a:r>
              <a:rPr lang="en">
                <a:solidFill>
                  <a:schemeClr val="dk1"/>
                </a:solidFill>
                <a:latin typeface="Source Sans Pro"/>
                <a:ea typeface="Source Sans Pro"/>
                <a:cs typeface="Source Sans Pro"/>
                <a:sym typeface="Source Sans Pro"/>
              </a:rPr>
              <a:t>Mini Update #1 - Data Profile (Fixed)</a:t>
            </a:r>
            <a:endParaRPr>
              <a:solidFill>
                <a:schemeClr val="dk1"/>
              </a:solidFill>
              <a:latin typeface="Source Sans Pro"/>
              <a:ea typeface="Source Sans Pro"/>
              <a:cs typeface="Source Sans Pro"/>
              <a:sym typeface="Source Sans Pro"/>
            </a:endParaRPr>
          </a:p>
        </p:txBody>
      </p:sp>
      <p:sp>
        <p:nvSpPr>
          <p:cNvPr id="110" name="Google Shape;110;p26"/>
          <p:cNvSpPr txBox="1"/>
          <p:nvPr>
            <p:ph idx="1" type="body"/>
          </p:nvPr>
        </p:nvSpPr>
        <p:spPr>
          <a:xfrm>
            <a:off x="50475" y="1017725"/>
            <a:ext cx="8935500" cy="789000"/>
          </a:xfrm>
          <a:prstGeom prst="rect">
            <a:avLst/>
          </a:prstGeom>
          <a:noFill/>
          <a:ln>
            <a:noFill/>
          </a:ln>
        </p:spPr>
        <p:txBody>
          <a:bodyPr anchorCtr="0" anchor="t" bIns="91425" lIns="91425" spcFirstLastPara="1" rIns="91425" wrap="square" tIns="91425">
            <a:normAutofit fontScale="32500"/>
          </a:bodyPr>
          <a:lstStyle/>
          <a:p>
            <a:pPr indent="0" lvl="0" marL="0" rtl="0" algn="l">
              <a:lnSpc>
                <a:spcPct val="100000"/>
              </a:lnSpc>
              <a:spcBef>
                <a:spcPts val="0"/>
              </a:spcBef>
              <a:spcAft>
                <a:spcPts val="0"/>
              </a:spcAft>
              <a:buSzPct val="76897"/>
              <a:buNone/>
            </a:pPr>
            <a:r>
              <a:rPr lang="en" sz="4256">
                <a:solidFill>
                  <a:srgbClr val="000000"/>
                </a:solidFill>
              </a:rPr>
              <a:t>                   Dataset: 217 rows, 30 columns. All 30 columns listed below (grouped by type). No missing values. </a:t>
            </a:r>
            <a:endParaRPr sz="4256">
              <a:solidFill>
                <a:srgbClr val="000000"/>
              </a:solidFill>
            </a:endParaRPr>
          </a:p>
          <a:p>
            <a:pPr indent="0" lvl="0" marL="1371600" rtl="0" algn="l">
              <a:lnSpc>
                <a:spcPct val="100000"/>
              </a:lnSpc>
              <a:spcBef>
                <a:spcPts val="0"/>
              </a:spcBef>
              <a:spcAft>
                <a:spcPts val="0"/>
              </a:spcAft>
              <a:buSzPct val="142293"/>
              <a:buNone/>
            </a:pPr>
            <a:r>
              <a:t/>
            </a:r>
            <a:endParaRPr sz="2300">
              <a:solidFill>
                <a:srgbClr val="000000"/>
              </a:solidFill>
            </a:endParaRPr>
          </a:p>
          <a:p>
            <a:pPr indent="0" lvl="0" marL="0" rtl="0" algn="l">
              <a:lnSpc>
                <a:spcPct val="115000"/>
              </a:lnSpc>
              <a:spcBef>
                <a:spcPts val="0"/>
              </a:spcBef>
              <a:spcAft>
                <a:spcPts val="1200"/>
              </a:spcAft>
              <a:buSzPct val="181818"/>
              <a:buNone/>
            </a:pPr>
            <a:r>
              <a:t/>
            </a:r>
            <a:endParaRPr/>
          </a:p>
        </p:txBody>
      </p:sp>
      <p:graphicFrame>
        <p:nvGraphicFramePr>
          <p:cNvPr id="111" name="Google Shape;111;p26"/>
          <p:cNvGraphicFramePr/>
          <p:nvPr/>
        </p:nvGraphicFramePr>
        <p:xfrm>
          <a:off x="68225" y="1642250"/>
          <a:ext cx="3000000" cy="3000000"/>
        </p:xfrm>
        <a:graphic>
          <a:graphicData uri="http://schemas.openxmlformats.org/drawingml/2006/table">
            <a:tbl>
              <a:tblPr>
                <a:noFill/>
                <a:tableStyleId>{3D84FDD4-0F73-4D01-A2C7-801075311E5E}</a:tableStyleId>
              </a:tblPr>
              <a:tblGrid>
                <a:gridCol w="1800000"/>
                <a:gridCol w="900000"/>
                <a:gridCol w="1400000"/>
                <a:gridCol w="2800000"/>
                <a:gridCol w="2000000"/>
              </a:tblGrid>
              <a:tr h="380000">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t>Column(s)</a:t>
                      </a:r>
                      <a:endParaRPr/>
                    </a:p>
                  </a:txBody>
                  <a:tcPr marT="45000" marB="45000" marR="60000" marL="60000"/>
                </a:tc>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t>Missing?</a:t>
                      </a:r>
                      <a:endParaRPr/>
                    </a:p>
                  </a:txBody>
                  <a:tcPr marT="45000" marB="45000" marR="60000" marL="60000"/>
                </a:tc>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t>Data Type</a:t>
                      </a:r>
                      <a:endParaRPr/>
                    </a:p>
                  </a:txBody>
                  <a:tcPr marT="45000" marB="45000" marR="60000" marL="60000"/>
                </a:tc>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t>Useful?</a:t>
                      </a:r>
                      <a:endParaRPr/>
                    </a:p>
                  </a:txBody>
                  <a:tcPr marT="45000" marB="45000" marR="60000" marL="60000"/>
                </a:tc>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t>Need Cleaning?</a:t>
                      </a:r>
                      <a:endParaRPr/>
                    </a:p>
                  </a:txBody>
                  <a:tcPr marT="45000" marB="45000" marR="60000" marL="60000"/>
                </a:tc>
              </a:tr>
              <a:tr h="480000">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Player, Pos, Tm, Age</a:t>
                      </a:r>
                      <a:endParaRPr/>
                    </a:p>
                  </a:txBody>
                  <a:tcPr marT="45000" marB="45000" marR="60000" marL="60000"/>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No</a:t>
                      </a:r>
                      <a:endParaRPr/>
                    </a:p>
                  </a:txBody>
                  <a:tcPr marT="45000" marB="45000" marR="60000" marL="60000"/>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Categorical</a:t>
                      </a:r>
                      <a:r>
                        <a:rPr lang="en" sz="900"/>
                        <a:t>/Text</a:t>
                      </a:r>
                      <a:endParaRPr/>
                    </a:p>
                  </a:txBody>
                  <a:tcPr marT="45000" marB="45000" marR="60000" marL="60000"/>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Yes - identifies each player, their position, team, and age</a:t>
                      </a:r>
                      <a:endParaRPr/>
                    </a:p>
                  </a:txBody>
                  <a:tcPr marT="45000" marB="45000" marR="60000" marL="60000"/>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Pos may need filtering (TOT = multi-team duplicate rows)</a:t>
                      </a:r>
                      <a:endParaRPr/>
                    </a:p>
                  </a:txBody>
                  <a:tcPr marT="45000" marB="45000" marR="60000" marL="60000"/>
                </a:tc>
              </a:tr>
              <a:tr h="480000">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G, GS, MP</a:t>
                      </a:r>
                      <a:endParaRPr/>
                    </a:p>
                  </a:txBody>
                  <a:tcPr marT="45000" marB="45000" marR="60000" marL="60000"/>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No</a:t>
                      </a:r>
                      <a:endParaRPr/>
                    </a:p>
                  </a:txBody>
                  <a:tcPr marT="45000" marB="45000" marR="60000" marL="60000"/>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Numeric </a:t>
                      </a:r>
                      <a:endParaRPr/>
                    </a:p>
                  </a:txBody>
                  <a:tcPr marT="45000" marB="45000" marR="60000" marL="60000"/>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Yes - games played, games started, total minutes needed for per-minute analysis</a:t>
                      </a:r>
                      <a:endParaRPr/>
                    </a:p>
                  </a:txBody>
                  <a:tcPr marT="45000" marB="45000" marR="60000" marL="60000"/>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No</a:t>
                      </a:r>
                      <a:endParaRPr/>
                    </a:p>
                  </a:txBody>
                  <a:tcPr marT="45000" marB="45000" marR="60000" marL="60000"/>
                </a:tc>
              </a:tr>
              <a:tr h="480000">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FG, FGA, FG%, 2P, 2PA, 2P%, eFG%</a:t>
                      </a:r>
                      <a:endParaRPr/>
                    </a:p>
                  </a:txBody>
                  <a:tcPr marT="45000" marB="45000" marR="60000" marL="60000"/>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No</a:t>
                      </a:r>
                      <a:endParaRPr/>
                    </a:p>
                  </a:txBody>
                  <a:tcPr marT="45000" marB="45000" marR="60000" marL="60000"/>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Numeric </a:t>
                      </a:r>
                      <a:endParaRPr/>
                    </a:p>
                  </a:txBody>
                  <a:tcPr marT="45000" marB="45000" marR="60000" marL="60000"/>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Yes - overall and 2</a:t>
                      </a:r>
                      <a:r>
                        <a:rPr lang="en" sz="900"/>
                        <a:t> </a:t>
                      </a:r>
                      <a:r>
                        <a:rPr lang="en" sz="900" u="none" cap="none" strike="noStrike"/>
                        <a:t>pt field goal volume and efficiency</a:t>
                      </a:r>
                      <a:endParaRPr/>
                    </a:p>
                  </a:txBody>
                  <a:tcPr marT="45000" marB="45000" marR="60000" marL="60000"/>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No</a:t>
                      </a:r>
                      <a:endParaRPr/>
                    </a:p>
                  </a:txBody>
                  <a:tcPr marT="45000" marB="45000" marR="60000" marL="60000"/>
                </a:tc>
              </a:tr>
              <a:tr h="480000">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3P, 3PA, 3P%, FT, FTA, FT%</a:t>
                      </a:r>
                      <a:endParaRPr/>
                    </a:p>
                  </a:txBody>
                  <a:tcPr marT="45000" marB="45000" marR="60000" marL="60000"/>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No</a:t>
                      </a:r>
                      <a:endParaRPr/>
                    </a:p>
                  </a:txBody>
                  <a:tcPr marT="45000" marB="45000" marR="60000" marL="60000"/>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Numeric </a:t>
                      </a:r>
                      <a:endParaRPr/>
                    </a:p>
                  </a:txBody>
                  <a:tcPr marT="45000" marB="45000" marR="60000" marL="60000"/>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Yes - 3</a:t>
                      </a:r>
                      <a:r>
                        <a:rPr lang="en" sz="900"/>
                        <a:t> </a:t>
                      </a:r>
                      <a:r>
                        <a:rPr lang="en" sz="900" u="none" cap="none" strike="noStrike"/>
                        <a:t>point and free throw shooting volume and efficiency</a:t>
                      </a:r>
                      <a:endParaRPr/>
                    </a:p>
                  </a:txBody>
                  <a:tcPr marT="45000" marB="45000" marR="60000" marL="60000"/>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No</a:t>
                      </a:r>
                      <a:endParaRPr/>
                    </a:p>
                  </a:txBody>
                  <a:tcPr marT="45000" marB="45000" marR="60000" marL="60000"/>
                </a:tc>
              </a:tr>
              <a:tr h="480000">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ORB, DRB, TRB</a:t>
                      </a:r>
                      <a:endParaRPr/>
                    </a:p>
                  </a:txBody>
                  <a:tcPr marT="45000" marB="45000" marR="60000" marL="60000"/>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No</a:t>
                      </a:r>
                      <a:endParaRPr/>
                    </a:p>
                  </a:txBody>
                  <a:tcPr marT="45000" marB="45000" marR="60000" marL="60000"/>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Numeric </a:t>
                      </a:r>
                      <a:endParaRPr/>
                    </a:p>
                  </a:txBody>
                  <a:tcPr marT="45000" marB="45000" marR="60000" marL="60000"/>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Yes - offensive, defensive, and total rebounds per player</a:t>
                      </a:r>
                      <a:endParaRPr/>
                    </a:p>
                  </a:txBody>
                  <a:tcPr marT="45000" marB="45000" marR="60000" marL="60000"/>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No</a:t>
                      </a:r>
                      <a:endParaRPr/>
                    </a:p>
                  </a:txBody>
                  <a:tcPr marT="45000" marB="45000" marR="60000" marL="60000"/>
                </a:tc>
              </a:tr>
              <a:tr h="480000">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AST, STL, BLK, TOV, PF, PTS</a:t>
                      </a:r>
                      <a:endParaRPr/>
                    </a:p>
                  </a:txBody>
                  <a:tcPr marT="45000" marB="45000" marR="60000" marL="60000"/>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No</a:t>
                      </a:r>
                      <a:endParaRPr/>
                    </a:p>
                  </a:txBody>
                  <a:tcPr marT="45000" marB="45000" marR="60000" marL="60000"/>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Numeric </a:t>
                      </a:r>
                      <a:endParaRPr/>
                    </a:p>
                  </a:txBody>
                  <a:tcPr marT="45000" marB="45000" marR="60000" marL="60000"/>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Yes - key stats</a:t>
                      </a:r>
                      <a:r>
                        <a:rPr lang="en" sz="900"/>
                        <a:t>, </a:t>
                      </a:r>
                      <a:r>
                        <a:rPr lang="en" sz="900" u="none" cap="none" strike="noStrike"/>
                        <a:t>PTS is the primary outcome variable for our analysis</a:t>
                      </a:r>
                      <a:endParaRPr/>
                    </a:p>
                  </a:txBody>
                  <a:tcPr marT="45000" marB="45000" marR="60000" marL="60000"/>
                </a:tc>
                <a:tc>
                  <a:txBody>
                    <a:bodyPr/>
                    <a:lstStyle/>
                    <a:p>
                      <a:pPr indent="0" lvl="0" marL="0" marR="0" rtl="0" algn="l">
                        <a:lnSpc>
                          <a:spcPct val="100000"/>
                        </a:lnSpc>
                        <a:spcBef>
                          <a:spcPts val="0"/>
                        </a:spcBef>
                        <a:spcAft>
                          <a:spcPts val="0"/>
                        </a:spcAft>
                        <a:buClr>
                          <a:srgbClr val="000000"/>
                        </a:buClr>
                        <a:buSzPts val="900"/>
                        <a:buFont typeface="Arial"/>
                        <a:buNone/>
                      </a:pPr>
                      <a:r>
                        <a:rPr lang="en" sz="900" u="none" cap="none" strike="noStrike"/>
                        <a:t>No</a:t>
                      </a:r>
                      <a:endParaRPr/>
                    </a:p>
                  </a:txBody>
                  <a:tcPr marT="45000" marB="45000" marR="60000" marL="60000"/>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7"/>
          <p:cNvSpPr txBox="1"/>
          <p:nvPr>
            <p:ph type="title"/>
          </p:nvPr>
        </p:nvSpPr>
        <p:spPr>
          <a:xfrm>
            <a:off x="184800" y="1206900"/>
            <a:ext cx="8774400" cy="3832500"/>
          </a:xfrm>
          <a:prstGeom prst="rect">
            <a:avLst/>
          </a:prstGeom>
          <a:noFill/>
          <a:ln>
            <a:noFill/>
          </a:ln>
        </p:spPr>
        <p:txBody>
          <a:bodyPr anchorCtr="0" anchor="t" bIns="91425" lIns="91425" spcFirstLastPara="1" rIns="91425" wrap="square" tIns="91425">
            <a:noAutofit/>
          </a:bodyPr>
          <a:lstStyle/>
          <a:p>
            <a:pPr indent="-342900" lvl="0" marL="457200" rtl="0" algn="l">
              <a:lnSpc>
                <a:spcPct val="100000"/>
              </a:lnSpc>
              <a:spcBef>
                <a:spcPts val="0"/>
              </a:spcBef>
              <a:spcAft>
                <a:spcPts val="0"/>
              </a:spcAft>
              <a:buClr>
                <a:srgbClr val="000000"/>
              </a:buClr>
              <a:buSzPts val="1800"/>
              <a:buChar char="●"/>
            </a:pPr>
            <a:r>
              <a:rPr b="0" lang="en" sz="1800">
                <a:solidFill>
                  <a:srgbClr val="000000"/>
                </a:solidFill>
              </a:rPr>
              <a:t>Which players score the most points in the 2022-2023 playoffs?</a:t>
            </a:r>
            <a:endParaRPr b="0" sz="1800">
              <a:solidFill>
                <a:srgbClr val="000000"/>
              </a:solidFill>
            </a:endParaRPr>
          </a:p>
          <a:p>
            <a:pPr indent="-342900" lvl="0" marL="457200" rtl="0" algn="l">
              <a:lnSpc>
                <a:spcPct val="100000"/>
              </a:lnSpc>
              <a:spcBef>
                <a:spcPts val="0"/>
              </a:spcBef>
              <a:spcAft>
                <a:spcPts val="0"/>
              </a:spcAft>
              <a:buClr>
                <a:srgbClr val="000000"/>
              </a:buClr>
              <a:buSzPts val="1800"/>
              <a:buChar char="●"/>
            </a:pPr>
            <a:r>
              <a:rPr b="0" lang="en" sz="1800">
                <a:solidFill>
                  <a:srgbClr val="000000"/>
                </a:solidFill>
              </a:rPr>
              <a:t>Does more playing time (MP) lead to higher scoring (PTS)?</a:t>
            </a:r>
            <a:endParaRPr b="0" sz="1800">
              <a:solidFill>
                <a:srgbClr val="000000"/>
              </a:solidFill>
            </a:endParaRPr>
          </a:p>
          <a:p>
            <a:pPr indent="-342900" lvl="0" marL="457200" rtl="0" algn="l">
              <a:lnSpc>
                <a:spcPct val="100000"/>
              </a:lnSpc>
              <a:spcBef>
                <a:spcPts val="0"/>
              </a:spcBef>
              <a:spcAft>
                <a:spcPts val="0"/>
              </a:spcAft>
              <a:buClr>
                <a:srgbClr val="000000"/>
              </a:buClr>
              <a:buSzPts val="1800"/>
              <a:buChar char="●"/>
            </a:pPr>
            <a:r>
              <a:rPr b="0" lang="en" sz="1800">
                <a:solidFill>
                  <a:srgbClr val="000000"/>
                </a:solidFill>
              </a:rPr>
              <a:t>Which position (PG, SG, SF, PF, C) performs best overall?</a:t>
            </a:r>
            <a:endParaRPr b="0" sz="1800">
              <a:solidFill>
                <a:srgbClr val="000000"/>
              </a:solidFill>
            </a:endParaRPr>
          </a:p>
          <a:p>
            <a:pPr indent="-342900" lvl="0" marL="457200" rtl="0" algn="l">
              <a:lnSpc>
                <a:spcPct val="100000"/>
              </a:lnSpc>
              <a:spcBef>
                <a:spcPts val="0"/>
              </a:spcBef>
              <a:spcAft>
                <a:spcPts val="0"/>
              </a:spcAft>
              <a:buClr>
                <a:srgbClr val="000000"/>
              </a:buClr>
              <a:buSzPts val="1800"/>
              <a:buChar char="●"/>
            </a:pPr>
            <a:r>
              <a:rPr b="0" lang="en" sz="1800">
                <a:solidFill>
                  <a:srgbClr val="000000"/>
                </a:solidFill>
              </a:rPr>
              <a:t>Do higher shooting percentages (FG%, 3P%) lead to more points scored?</a:t>
            </a:r>
            <a:endParaRPr b="0" sz="1800">
              <a:solidFill>
                <a:srgbClr val="000000"/>
              </a:solidFill>
            </a:endParaRPr>
          </a:p>
          <a:p>
            <a:pPr indent="-342900" lvl="0" marL="457200" rtl="0" algn="l">
              <a:lnSpc>
                <a:spcPct val="100000"/>
              </a:lnSpc>
              <a:spcBef>
                <a:spcPts val="0"/>
              </a:spcBef>
              <a:spcAft>
                <a:spcPts val="0"/>
              </a:spcAft>
              <a:buClr>
                <a:srgbClr val="000000"/>
              </a:buClr>
              <a:buSzPts val="1800"/>
              <a:buChar char="●"/>
            </a:pPr>
            <a:r>
              <a:rPr b="0" lang="en" sz="1800">
                <a:solidFill>
                  <a:srgbClr val="000000"/>
                </a:solidFill>
              </a:rPr>
              <a:t>Which players contribute most across rebounds, assists, and points combined?</a:t>
            </a:r>
            <a:endParaRPr b="0" sz="1800">
              <a:solidFill>
                <a:srgbClr val="000000"/>
              </a:solidFill>
            </a:endParaRPr>
          </a:p>
          <a:p>
            <a:pPr indent="0" lvl="0" marL="0" rtl="0" algn="l">
              <a:lnSpc>
                <a:spcPct val="100000"/>
              </a:lnSpc>
              <a:spcBef>
                <a:spcPts val="1200"/>
              </a:spcBef>
              <a:spcAft>
                <a:spcPts val="0"/>
              </a:spcAft>
              <a:buSzPts val="3600"/>
              <a:buNone/>
            </a:pPr>
            <a:r>
              <a:rPr b="0" lang="en" sz="1800">
                <a:solidFill>
                  <a:srgbClr val="000000"/>
                </a:solidFill>
              </a:rPr>
              <a:t>Audience:</a:t>
            </a:r>
            <a:endParaRPr b="0" sz="1800">
              <a:solidFill>
                <a:srgbClr val="000000"/>
              </a:solidFill>
            </a:endParaRPr>
          </a:p>
          <a:p>
            <a:pPr indent="-342900" lvl="0" marL="457200" rtl="0" algn="l">
              <a:lnSpc>
                <a:spcPct val="100000"/>
              </a:lnSpc>
              <a:spcBef>
                <a:spcPts val="600"/>
              </a:spcBef>
              <a:spcAft>
                <a:spcPts val="0"/>
              </a:spcAft>
              <a:buClr>
                <a:srgbClr val="000000"/>
              </a:buClr>
              <a:buSzPts val="1800"/>
              <a:buChar char="●"/>
            </a:pPr>
            <a:r>
              <a:rPr b="0" lang="en" sz="1800">
                <a:solidFill>
                  <a:srgbClr val="000000"/>
                </a:solidFill>
              </a:rPr>
              <a:t>Basketball fans, fantasy players, and sports analysts</a:t>
            </a:r>
            <a:endParaRPr b="0" sz="1800">
              <a:solidFill>
                <a:srgbClr val="000000"/>
              </a:solidFill>
            </a:endParaRPr>
          </a:p>
          <a:p>
            <a:pPr indent="-342900" lvl="0" marL="457200" rtl="0" algn="l">
              <a:lnSpc>
                <a:spcPct val="100000"/>
              </a:lnSpc>
              <a:spcBef>
                <a:spcPts val="0"/>
              </a:spcBef>
              <a:spcAft>
                <a:spcPts val="0"/>
              </a:spcAft>
              <a:buClr>
                <a:srgbClr val="000000"/>
              </a:buClr>
              <a:buSzPts val="1800"/>
              <a:buChar char="●"/>
            </a:pPr>
            <a:r>
              <a:rPr b="0" lang="en" sz="1800">
                <a:solidFill>
                  <a:srgbClr val="000000"/>
                </a:solidFill>
              </a:rPr>
              <a:t>Classmates and instructor</a:t>
            </a:r>
            <a:endParaRPr b="0" sz="1800">
              <a:solidFill>
                <a:srgbClr val="000000"/>
              </a:solidFill>
            </a:endParaRPr>
          </a:p>
        </p:txBody>
      </p:sp>
      <p:sp>
        <p:nvSpPr>
          <p:cNvPr id="117" name="Google Shape;117;p27"/>
          <p:cNvSpPr txBox="1"/>
          <p:nvPr/>
        </p:nvSpPr>
        <p:spPr>
          <a:xfrm>
            <a:off x="444875" y="285550"/>
            <a:ext cx="7611000" cy="77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700">
                <a:solidFill>
                  <a:schemeClr val="dk1"/>
                </a:solidFill>
                <a:latin typeface="Source Sans Pro"/>
                <a:ea typeface="Source Sans Pro"/>
                <a:cs typeface="Source Sans Pro"/>
                <a:sym typeface="Source Sans Pro"/>
              </a:rPr>
              <a:t>Mini Update 1 Curious Questions</a:t>
            </a:r>
            <a:endParaRPr b="1" sz="2700">
              <a:solidFill>
                <a:schemeClr val="dk1"/>
              </a:solidFill>
              <a:latin typeface="Source Sans Pro"/>
              <a:ea typeface="Source Sans Pro"/>
              <a:cs typeface="Source Sans Pro"/>
              <a:sym typeface="Source Sans Pr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8"/>
          <p:cNvSpPr txBox="1"/>
          <p:nvPr>
            <p:ph type="title"/>
          </p:nvPr>
        </p:nvSpPr>
        <p:spPr>
          <a:xfrm>
            <a:off x="311700" y="445025"/>
            <a:ext cx="8520600" cy="623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40869"/>
              <a:buNone/>
            </a:pPr>
            <a:r>
              <a:rPr lang="en">
                <a:solidFill>
                  <a:schemeClr val="dk1"/>
                </a:solidFill>
                <a:latin typeface="Source Sans Pro"/>
                <a:ea typeface="Source Sans Pro"/>
                <a:cs typeface="Source Sans Pro"/>
                <a:sym typeface="Source Sans Pro"/>
              </a:rPr>
              <a:t>Mini Update #1 Audience/Communication Goals:</a:t>
            </a:r>
            <a:endParaRPr b="0" sz="2556">
              <a:solidFill>
                <a:schemeClr val="dk1"/>
              </a:solidFill>
              <a:latin typeface="Source Sans Pro"/>
              <a:ea typeface="Source Sans Pro"/>
              <a:cs typeface="Source Sans Pro"/>
              <a:sym typeface="Source Sans Pro"/>
            </a:endParaRPr>
          </a:p>
        </p:txBody>
      </p:sp>
      <p:sp>
        <p:nvSpPr>
          <p:cNvPr id="123" name="Google Shape;123;p28"/>
          <p:cNvSpPr txBox="1"/>
          <p:nvPr/>
        </p:nvSpPr>
        <p:spPr>
          <a:xfrm>
            <a:off x="311700" y="1270400"/>
            <a:ext cx="8343600" cy="3668100"/>
          </a:xfrm>
          <a:prstGeom prst="rect">
            <a:avLst/>
          </a:prstGeom>
          <a:noFill/>
          <a:ln>
            <a:noFill/>
          </a:ln>
        </p:spPr>
        <p:txBody>
          <a:bodyPr anchorCtr="0" anchor="t" bIns="91425" lIns="91425" spcFirstLastPara="1" rIns="91425" wrap="square" tIns="91425">
            <a:noAutofit/>
          </a:bodyPr>
          <a:lstStyle/>
          <a:p>
            <a:pPr indent="-314678" lvl="0" marL="457200" rtl="0" algn="l">
              <a:spcBef>
                <a:spcPts val="600"/>
              </a:spcBef>
              <a:spcAft>
                <a:spcPts val="0"/>
              </a:spcAft>
              <a:buClr>
                <a:schemeClr val="dk2"/>
              </a:buClr>
              <a:buSzPts val="1356"/>
              <a:buFont typeface="Raleway"/>
              <a:buChar char="●"/>
            </a:pPr>
            <a:r>
              <a:rPr lang="en" sz="2556">
                <a:solidFill>
                  <a:schemeClr val="dk2"/>
                </a:solidFill>
                <a:latin typeface="Raleway"/>
                <a:ea typeface="Raleway"/>
                <a:cs typeface="Raleway"/>
                <a:sym typeface="Raleway"/>
              </a:rPr>
              <a:t>Identify key performance patterns and trends in the 2022-2023 NBA playoffs</a:t>
            </a:r>
            <a:endParaRPr sz="2556">
              <a:solidFill>
                <a:schemeClr val="dk2"/>
              </a:solidFill>
              <a:latin typeface="Raleway"/>
              <a:ea typeface="Raleway"/>
              <a:cs typeface="Raleway"/>
              <a:sym typeface="Raleway"/>
            </a:endParaRPr>
          </a:p>
          <a:p>
            <a:pPr indent="-314678" lvl="0" marL="457200" rtl="0" algn="l">
              <a:spcBef>
                <a:spcPts val="0"/>
              </a:spcBef>
              <a:spcAft>
                <a:spcPts val="0"/>
              </a:spcAft>
              <a:buClr>
                <a:schemeClr val="dk2"/>
              </a:buClr>
              <a:buSzPts val="1356"/>
              <a:buFont typeface="Raleway"/>
              <a:buChar char="●"/>
            </a:pPr>
            <a:r>
              <a:rPr lang="en" sz="2556">
                <a:solidFill>
                  <a:schemeClr val="dk2"/>
                </a:solidFill>
                <a:latin typeface="Raleway"/>
                <a:ea typeface="Raleway"/>
                <a:cs typeface="Raleway"/>
                <a:sym typeface="Raleway"/>
              </a:rPr>
              <a:t>Compare player performance across positions using clear visualizations</a:t>
            </a:r>
            <a:endParaRPr sz="2556">
              <a:solidFill>
                <a:schemeClr val="dk2"/>
              </a:solidFill>
              <a:latin typeface="Raleway"/>
              <a:ea typeface="Raleway"/>
              <a:cs typeface="Raleway"/>
              <a:sym typeface="Raleway"/>
            </a:endParaRPr>
          </a:p>
          <a:p>
            <a:pPr indent="-314678" lvl="0" marL="457200" rtl="0" algn="l">
              <a:spcBef>
                <a:spcPts val="0"/>
              </a:spcBef>
              <a:spcAft>
                <a:spcPts val="0"/>
              </a:spcAft>
              <a:buClr>
                <a:schemeClr val="dk2"/>
              </a:buClr>
              <a:buSzPts val="1356"/>
              <a:buFont typeface="Raleway"/>
              <a:buChar char="●"/>
            </a:pPr>
            <a:r>
              <a:rPr lang="en" sz="2556">
                <a:solidFill>
                  <a:schemeClr val="dk2"/>
                </a:solidFill>
                <a:latin typeface="Raleway"/>
                <a:ea typeface="Raleway"/>
                <a:cs typeface="Raleway"/>
                <a:sym typeface="Raleway"/>
              </a:rPr>
              <a:t>Show that top players contribute beyond just scoring, and highlighting well rounded performance</a:t>
            </a:r>
            <a:endParaRPr sz="2556">
              <a:solidFill>
                <a:schemeClr val="dk2"/>
              </a:solidFill>
              <a:latin typeface="Raleway"/>
              <a:ea typeface="Raleway"/>
              <a:cs typeface="Raleway"/>
              <a:sym typeface="Raleway"/>
            </a:endParaRPr>
          </a:p>
          <a:p>
            <a:pPr indent="-314678" lvl="0" marL="457200" rtl="0" algn="l">
              <a:spcBef>
                <a:spcPts val="0"/>
              </a:spcBef>
              <a:spcAft>
                <a:spcPts val="0"/>
              </a:spcAft>
              <a:buClr>
                <a:schemeClr val="dk2"/>
              </a:buClr>
              <a:buSzPts val="1356"/>
              <a:buFont typeface="Raleway"/>
              <a:buChar char="●"/>
            </a:pPr>
            <a:r>
              <a:rPr lang="en" sz="2556">
                <a:solidFill>
                  <a:schemeClr val="dk2"/>
                </a:solidFill>
                <a:latin typeface="Raleway"/>
                <a:ea typeface="Raleway"/>
                <a:cs typeface="Raleway"/>
                <a:sym typeface="Raleway"/>
              </a:rPr>
              <a:t>Give audience insight into niche stats they may not typically consider (for example, eFG%, ORB rate)</a:t>
            </a:r>
            <a:endParaRPr sz="1800">
              <a:solidFill>
                <a:schemeClr val="lt2"/>
              </a:solidFill>
              <a:latin typeface="Source Sans Pro"/>
              <a:ea typeface="Source Sans Pro"/>
              <a:cs typeface="Source Sans Pro"/>
              <a:sym typeface="Source Sans Pr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9"/>
          <p:cNvSpPr txBox="1"/>
          <p:nvPr/>
        </p:nvSpPr>
        <p:spPr>
          <a:xfrm>
            <a:off x="457200" y="274320"/>
            <a:ext cx="8229600" cy="36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400" u="none" cap="none" strike="noStrike">
                <a:solidFill>
                  <a:srgbClr val="6A1BB5"/>
                </a:solidFill>
                <a:latin typeface="Calibri"/>
                <a:ea typeface="Calibri"/>
                <a:cs typeface="Calibri"/>
                <a:sym typeface="Calibri"/>
              </a:rPr>
              <a:t>Insight 1: Who Were the Top Scorers? (Maanas)</a:t>
            </a:r>
            <a:endParaRPr/>
          </a:p>
        </p:txBody>
      </p:sp>
      <p:pic>
        <p:nvPicPr>
          <p:cNvPr descr="chart1_top_scorers.png" id="129" name="Google Shape;129;p29"/>
          <p:cNvPicPr preferRelativeResize="0"/>
          <p:nvPr/>
        </p:nvPicPr>
        <p:blipFill rotWithShape="1">
          <a:blip r:embed="rId3">
            <a:alphaModFix/>
          </a:blip>
          <a:srcRect b="0" l="0" r="0" t="0"/>
          <a:stretch/>
        </p:blipFill>
        <p:spPr>
          <a:xfrm>
            <a:off x="320040" y="1143000"/>
            <a:ext cx="4937760" cy="3057039"/>
          </a:xfrm>
          <a:prstGeom prst="rect">
            <a:avLst/>
          </a:prstGeom>
          <a:noFill/>
          <a:ln>
            <a:noFill/>
          </a:ln>
        </p:spPr>
      </p:pic>
      <p:sp>
        <p:nvSpPr>
          <p:cNvPr id="130" name="Google Shape;130;p29"/>
          <p:cNvSpPr txBox="1"/>
          <p:nvPr/>
        </p:nvSpPr>
        <p:spPr>
          <a:xfrm>
            <a:off x="5486400" y="1234440"/>
            <a:ext cx="3520500" cy="21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300" u="none" cap="none" strike="noStrike">
                <a:solidFill>
                  <a:schemeClr val="dk2"/>
                </a:solidFill>
                <a:latin typeface="Calibri"/>
                <a:ea typeface="Calibri"/>
                <a:cs typeface="Calibri"/>
                <a:sym typeface="Calibri"/>
              </a:rPr>
              <a:t>●  Nikola Jokic led the 2022-2023 playoffs with 600 total points, closely followed by Jimmy Butler (592).</a:t>
            </a:r>
            <a:endParaRPr>
              <a:solidFill>
                <a:schemeClr val="dk2"/>
              </a:solidFill>
            </a:endParaRPr>
          </a:p>
          <a:p>
            <a:pPr indent="0" lvl="0" marL="0" marR="0" rtl="0" algn="l">
              <a:spcBef>
                <a:spcPts val="1000"/>
              </a:spcBef>
              <a:spcAft>
                <a:spcPts val="0"/>
              </a:spcAft>
              <a:buNone/>
            </a:pPr>
            <a:r>
              <a:rPr b="0" i="0" lang="en" sz="1300" u="none" cap="none" strike="noStrike">
                <a:solidFill>
                  <a:schemeClr val="dk2"/>
                </a:solidFill>
                <a:latin typeface="Calibri"/>
                <a:ea typeface="Calibri"/>
                <a:cs typeface="Calibri"/>
                <a:sym typeface="Calibri"/>
              </a:rPr>
              <a:t>●  A small group of elite players dominates the top 4 all scored 500+ while #10 Anthony Davis had 361.</a:t>
            </a:r>
            <a:endParaRPr>
              <a:solidFill>
                <a:schemeClr val="dk2"/>
              </a:solidFill>
            </a:endParaRPr>
          </a:p>
          <a:p>
            <a:pPr indent="0" lvl="0" marL="0" marR="0" rtl="0" algn="l">
              <a:spcBef>
                <a:spcPts val="1000"/>
              </a:spcBef>
              <a:spcAft>
                <a:spcPts val="0"/>
              </a:spcAft>
              <a:buNone/>
            </a:pPr>
            <a:r>
              <a:rPr b="0" i="0" lang="en" sz="1300" u="none" cap="none" strike="noStrike">
                <a:solidFill>
                  <a:schemeClr val="dk2"/>
                </a:solidFill>
                <a:latin typeface="Calibri"/>
                <a:ea typeface="Calibri"/>
                <a:cs typeface="Calibri"/>
                <a:sym typeface="Calibri"/>
              </a:rPr>
              <a:t>●  Guards and forwards appear most often, reflecting their higher</a:t>
            </a:r>
            <a:r>
              <a:rPr lang="en" sz="1300">
                <a:solidFill>
                  <a:schemeClr val="dk2"/>
                </a:solidFill>
                <a:latin typeface="Calibri"/>
                <a:ea typeface="Calibri"/>
                <a:cs typeface="Calibri"/>
                <a:sym typeface="Calibri"/>
              </a:rPr>
              <a:t> </a:t>
            </a:r>
            <a:r>
              <a:rPr b="0" i="0" lang="en" sz="1300" u="none" cap="none" strike="noStrike">
                <a:solidFill>
                  <a:schemeClr val="dk2"/>
                </a:solidFill>
                <a:latin typeface="Calibri"/>
                <a:ea typeface="Calibri"/>
                <a:cs typeface="Calibri"/>
                <a:sym typeface="Calibri"/>
              </a:rPr>
              <a:t>usage scoring roles.</a:t>
            </a:r>
            <a:endParaRPr>
              <a:solidFill>
                <a:schemeClr val="dk2"/>
              </a:solidFill>
            </a:endParaRPr>
          </a:p>
          <a:p>
            <a:pPr indent="0" lvl="0" marL="0" marR="0" rtl="0" algn="l">
              <a:spcBef>
                <a:spcPts val="1000"/>
              </a:spcBef>
              <a:spcAft>
                <a:spcPts val="0"/>
              </a:spcAft>
              <a:buNone/>
            </a:pPr>
            <a:r>
              <a:rPr b="0" i="0" lang="en" sz="1300" u="none" cap="none" strike="noStrike">
                <a:solidFill>
                  <a:schemeClr val="dk2"/>
                </a:solidFill>
                <a:latin typeface="Calibri"/>
                <a:ea typeface="Calibri"/>
                <a:cs typeface="Calibri"/>
                <a:sym typeface="Calibri"/>
              </a:rPr>
              <a:t>●  This supports the idea of star concentration</a:t>
            </a:r>
            <a:r>
              <a:rPr lang="en" sz="1300">
                <a:solidFill>
                  <a:schemeClr val="dk2"/>
                </a:solidFill>
                <a:latin typeface="Calibri"/>
                <a:ea typeface="Calibri"/>
                <a:cs typeface="Calibri"/>
                <a:sym typeface="Calibri"/>
              </a:rPr>
              <a:t>,</a:t>
            </a:r>
            <a:r>
              <a:rPr b="0" i="0" lang="en" sz="1300" u="none" cap="none" strike="noStrike">
                <a:solidFill>
                  <a:schemeClr val="dk2"/>
                </a:solidFill>
                <a:latin typeface="Calibri"/>
                <a:ea typeface="Calibri"/>
                <a:cs typeface="Calibri"/>
                <a:sym typeface="Calibri"/>
              </a:rPr>
              <a:t>a few players carry most of their team's offensive load deep in the playoffs.</a:t>
            </a:r>
            <a:endParaRPr>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30"/>
          <p:cNvSpPr txBox="1"/>
          <p:nvPr/>
        </p:nvSpPr>
        <p:spPr>
          <a:xfrm>
            <a:off x="457200" y="274320"/>
            <a:ext cx="8229600" cy="36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400" u="none" cap="none" strike="noStrike">
                <a:solidFill>
                  <a:srgbClr val="6A1BB5"/>
                </a:solidFill>
                <a:latin typeface="Calibri"/>
                <a:ea typeface="Calibri"/>
                <a:cs typeface="Calibri"/>
                <a:sym typeface="Calibri"/>
              </a:rPr>
              <a:t>Insight 2: Does More Playing Time Mean More Points? (Maanas)</a:t>
            </a:r>
            <a:endParaRPr/>
          </a:p>
        </p:txBody>
      </p:sp>
      <p:pic>
        <p:nvPicPr>
          <p:cNvPr descr="chart2_mp_vs_pts.png" id="136" name="Google Shape;136;p30"/>
          <p:cNvPicPr preferRelativeResize="0"/>
          <p:nvPr/>
        </p:nvPicPr>
        <p:blipFill rotWithShape="1">
          <a:blip r:embed="rId3">
            <a:alphaModFix/>
          </a:blip>
          <a:srcRect b="0" l="0" r="0" t="0"/>
          <a:stretch/>
        </p:blipFill>
        <p:spPr>
          <a:xfrm>
            <a:off x="320040" y="1143000"/>
            <a:ext cx="4937760" cy="3069983"/>
          </a:xfrm>
          <a:prstGeom prst="rect">
            <a:avLst/>
          </a:prstGeom>
          <a:noFill/>
          <a:ln>
            <a:noFill/>
          </a:ln>
        </p:spPr>
      </p:pic>
      <p:sp>
        <p:nvSpPr>
          <p:cNvPr id="137" name="Google Shape;137;p30"/>
          <p:cNvSpPr txBox="1"/>
          <p:nvPr/>
        </p:nvSpPr>
        <p:spPr>
          <a:xfrm>
            <a:off x="5486400" y="1234440"/>
            <a:ext cx="3520500" cy="2586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300" u="none" cap="none" strike="noStrike">
                <a:solidFill>
                  <a:schemeClr val="dk2"/>
                </a:solidFill>
                <a:latin typeface="Calibri"/>
                <a:ea typeface="Calibri"/>
                <a:cs typeface="Calibri"/>
                <a:sym typeface="Calibri"/>
              </a:rPr>
              <a:t>●  There is a clear positive relationship between minutes played and total points scored (slope </a:t>
            </a:r>
            <a:r>
              <a:rPr lang="en" sz="1300">
                <a:solidFill>
                  <a:schemeClr val="dk2"/>
                </a:solidFill>
                <a:latin typeface="Calibri"/>
                <a:ea typeface="Calibri"/>
                <a:cs typeface="Calibri"/>
                <a:sym typeface="Calibri"/>
              </a:rPr>
              <a:t>is around</a:t>
            </a:r>
            <a:r>
              <a:rPr b="0" i="0" lang="en" sz="1300" u="none" cap="none" strike="noStrike">
                <a:solidFill>
                  <a:schemeClr val="dk2"/>
                </a:solidFill>
                <a:latin typeface="Calibri"/>
                <a:ea typeface="Calibri"/>
                <a:cs typeface="Calibri"/>
                <a:sym typeface="Calibri"/>
              </a:rPr>
              <a:t> 0.5 PTS per MP).</a:t>
            </a:r>
            <a:endParaRPr>
              <a:solidFill>
                <a:schemeClr val="dk2"/>
              </a:solidFill>
            </a:endParaRPr>
          </a:p>
          <a:p>
            <a:pPr indent="0" lvl="0" marL="0" marR="0" rtl="0" algn="l">
              <a:spcBef>
                <a:spcPts val="1000"/>
              </a:spcBef>
              <a:spcAft>
                <a:spcPts val="0"/>
              </a:spcAft>
              <a:buNone/>
            </a:pPr>
            <a:r>
              <a:rPr b="0" i="0" lang="en" sz="1300" u="none" cap="none" strike="noStrike">
                <a:solidFill>
                  <a:schemeClr val="dk2"/>
                </a:solidFill>
                <a:latin typeface="Calibri"/>
                <a:ea typeface="Calibri"/>
                <a:cs typeface="Calibri"/>
                <a:sym typeface="Calibri"/>
              </a:rPr>
              <a:t>●  Stars like Curry and Booker sit well above the trend they played fewer games but scored very efficiently.</a:t>
            </a:r>
            <a:endParaRPr>
              <a:solidFill>
                <a:schemeClr val="dk2"/>
              </a:solidFill>
            </a:endParaRPr>
          </a:p>
          <a:p>
            <a:pPr indent="0" lvl="0" marL="0" marR="0" rtl="0" algn="l">
              <a:spcBef>
                <a:spcPts val="1000"/>
              </a:spcBef>
              <a:spcAft>
                <a:spcPts val="0"/>
              </a:spcAft>
              <a:buNone/>
            </a:pPr>
            <a:r>
              <a:rPr b="0" i="0" lang="en" sz="1300" u="none" cap="none" strike="noStrike">
                <a:solidFill>
                  <a:schemeClr val="dk2"/>
                </a:solidFill>
                <a:latin typeface="Calibri"/>
                <a:ea typeface="Calibri"/>
                <a:cs typeface="Calibri"/>
                <a:sym typeface="Calibri"/>
              </a:rPr>
              <a:t>●  Some high</a:t>
            </a:r>
            <a:r>
              <a:rPr lang="en" sz="1300">
                <a:solidFill>
                  <a:schemeClr val="dk2"/>
                </a:solidFill>
                <a:latin typeface="Calibri"/>
                <a:ea typeface="Calibri"/>
                <a:cs typeface="Calibri"/>
                <a:sym typeface="Calibri"/>
              </a:rPr>
              <a:t> </a:t>
            </a:r>
            <a:r>
              <a:rPr b="0" i="0" lang="en" sz="1300" u="none" cap="none" strike="noStrike">
                <a:solidFill>
                  <a:schemeClr val="dk2"/>
                </a:solidFill>
                <a:latin typeface="Calibri"/>
                <a:ea typeface="Calibri"/>
                <a:cs typeface="Calibri"/>
                <a:sym typeface="Calibri"/>
              </a:rPr>
              <a:t>MP players fall below the line (</a:t>
            </a:r>
            <a:r>
              <a:rPr lang="en" sz="1300">
                <a:solidFill>
                  <a:schemeClr val="dk2"/>
                </a:solidFill>
                <a:latin typeface="Calibri"/>
                <a:ea typeface="Calibri"/>
                <a:cs typeface="Calibri"/>
                <a:sym typeface="Calibri"/>
              </a:rPr>
              <a:t>for example, </a:t>
            </a:r>
            <a:r>
              <a:rPr b="0" i="0" lang="en" sz="1300" u="none" cap="none" strike="noStrike">
                <a:solidFill>
                  <a:schemeClr val="dk2"/>
                </a:solidFill>
                <a:latin typeface="Calibri"/>
                <a:ea typeface="Calibri"/>
                <a:cs typeface="Calibri"/>
                <a:sym typeface="Calibri"/>
              </a:rPr>
              <a:t>Adebayo), suggesting role differences like defense and playmaking.</a:t>
            </a:r>
            <a:endParaRPr>
              <a:solidFill>
                <a:schemeClr val="dk2"/>
              </a:solidFill>
            </a:endParaRPr>
          </a:p>
          <a:p>
            <a:pPr indent="0" lvl="0" marL="0" marR="0" rtl="0" algn="l">
              <a:spcBef>
                <a:spcPts val="1000"/>
              </a:spcBef>
              <a:spcAft>
                <a:spcPts val="0"/>
              </a:spcAft>
              <a:buNone/>
            </a:pPr>
            <a:r>
              <a:rPr b="0" i="0" lang="en" sz="1300" u="none" cap="none" strike="noStrike">
                <a:solidFill>
                  <a:schemeClr val="dk2"/>
                </a:solidFill>
                <a:latin typeface="Calibri"/>
                <a:ea typeface="Calibri"/>
                <a:cs typeface="Calibri"/>
                <a:sym typeface="Calibri"/>
              </a:rPr>
              <a:t>●  Minutes alone don't explain scoring usage rate and role also matter.</a:t>
            </a:r>
            <a:endParaRPr>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31"/>
          <p:cNvSpPr txBox="1"/>
          <p:nvPr>
            <p:ph type="title"/>
          </p:nvPr>
        </p:nvSpPr>
        <p:spPr>
          <a:xfrm>
            <a:off x="311700" y="445025"/>
            <a:ext cx="8520600" cy="623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33333"/>
              <a:buNone/>
            </a:pPr>
            <a:r>
              <a:rPr lang="en">
                <a:solidFill>
                  <a:schemeClr val="dk1"/>
                </a:solidFill>
              </a:rPr>
              <a:t>Insight 4: Which Position Scores and Contributes Most? (Yonathan)</a:t>
            </a:r>
            <a:endParaRPr>
              <a:solidFill>
                <a:schemeClr val="dk1"/>
              </a:solidFill>
            </a:endParaRPr>
          </a:p>
        </p:txBody>
      </p:sp>
      <p:sp>
        <p:nvSpPr>
          <p:cNvPr id="143" name="Google Shape;143;p31"/>
          <p:cNvSpPr txBox="1"/>
          <p:nvPr>
            <p:ph idx="1" type="body"/>
          </p:nvPr>
        </p:nvSpPr>
        <p:spPr>
          <a:xfrm>
            <a:off x="4572000" y="1364850"/>
            <a:ext cx="4260300" cy="32040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1200"/>
              </a:spcBef>
              <a:spcAft>
                <a:spcPts val="0"/>
              </a:spcAft>
              <a:buSzPts val="1800"/>
              <a:buChar char="●"/>
            </a:pPr>
            <a:r>
              <a:rPr lang="en"/>
              <a:t>Guards (PG, SG) lead in scoring and assists on average, consistent with their ball-handling roles</a:t>
            </a:r>
            <a:endParaRPr/>
          </a:p>
          <a:p>
            <a:pPr indent="-342900" lvl="0" marL="457200" rtl="0" algn="l">
              <a:lnSpc>
                <a:spcPct val="115000"/>
              </a:lnSpc>
              <a:spcBef>
                <a:spcPts val="0"/>
              </a:spcBef>
              <a:spcAft>
                <a:spcPts val="0"/>
              </a:spcAft>
              <a:buSzPts val="1800"/>
              <a:buChar char="●"/>
            </a:pPr>
            <a:r>
              <a:rPr lang="en"/>
              <a:t>Centers (C) dominate in rebounds, reflecting their positioning near the basket</a:t>
            </a:r>
            <a:endParaRPr/>
          </a:p>
          <a:p>
            <a:pPr indent="-342900" lvl="0" marL="457200" rtl="0" algn="l">
              <a:lnSpc>
                <a:spcPct val="115000"/>
              </a:lnSpc>
              <a:spcBef>
                <a:spcPts val="0"/>
              </a:spcBef>
              <a:spcAft>
                <a:spcPts val="0"/>
              </a:spcAft>
              <a:buSzPts val="1800"/>
              <a:buChar char="●"/>
            </a:pPr>
            <a:r>
              <a:rPr lang="en"/>
              <a:t>No single position dominates all three stats and each position has a distinct contribution profile</a:t>
            </a:r>
            <a:endParaRPr/>
          </a:p>
        </p:txBody>
      </p:sp>
      <p:sp>
        <p:nvSpPr>
          <p:cNvPr id="144" name="Google Shape;144;p31"/>
          <p:cNvSpPr txBox="1"/>
          <p:nvPr/>
        </p:nvSpPr>
        <p:spPr>
          <a:xfrm>
            <a:off x="233900" y="1408250"/>
            <a:ext cx="4051200" cy="3204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2"/>
              </a:buClr>
              <a:buSzPts val="1800"/>
              <a:buFont typeface="Arial"/>
              <a:buNone/>
            </a:pPr>
            <a:r>
              <a:t/>
            </a:r>
            <a:endParaRPr sz="1800">
              <a:solidFill>
                <a:schemeClr val="lt2"/>
              </a:solidFill>
              <a:latin typeface="Source Sans Pro"/>
              <a:ea typeface="Source Sans Pro"/>
              <a:cs typeface="Source Sans Pro"/>
              <a:sym typeface="Source Sans Pro"/>
            </a:endParaRPr>
          </a:p>
        </p:txBody>
      </p:sp>
      <p:pic>
        <p:nvPicPr>
          <p:cNvPr id="145" name="Google Shape;145;p31" title="Screenshot 2026-04-10 at 6.37.00 PM.png"/>
          <p:cNvPicPr preferRelativeResize="0"/>
          <p:nvPr/>
        </p:nvPicPr>
        <p:blipFill>
          <a:blip r:embed="rId3">
            <a:alphaModFix/>
          </a:blip>
          <a:stretch>
            <a:fillRect/>
          </a:stretch>
        </p:blipFill>
        <p:spPr>
          <a:xfrm>
            <a:off x="0" y="1512075"/>
            <a:ext cx="4759277" cy="32967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32"/>
          <p:cNvSpPr txBox="1"/>
          <p:nvPr>
            <p:ph type="title"/>
          </p:nvPr>
        </p:nvSpPr>
        <p:spPr>
          <a:xfrm>
            <a:off x="311700" y="445025"/>
            <a:ext cx="8520600" cy="623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33333"/>
              <a:buNone/>
            </a:pPr>
            <a:r>
              <a:rPr lang="en">
                <a:solidFill>
                  <a:schemeClr val="dk1"/>
                </a:solidFill>
              </a:rPr>
              <a:t>Insight 5: Does Shooting Efficiency Drive Scoring? (Yonathan)</a:t>
            </a:r>
            <a:endParaRPr>
              <a:solidFill>
                <a:schemeClr val="dk1"/>
              </a:solidFill>
            </a:endParaRPr>
          </a:p>
        </p:txBody>
      </p:sp>
      <p:sp>
        <p:nvSpPr>
          <p:cNvPr id="151" name="Google Shape;151;p32"/>
          <p:cNvSpPr txBox="1"/>
          <p:nvPr>
            <p:ph idx="1" type="body"/>
          </p:nvPr>
        </p:nvSpPr>
        <p:spPr>
          <a:xfrm>
            <a:off x="4572000" y="1531225"/>
            <a:ext cx="4260300" cy="3037800"/>
          </a:xfrm>
          <a:prstGeom prst="rect">
            <a:avLst/>
          </a:prstGeom>
          <a:noFill/>
          <a:ln>
            <a:noFill/>
          </a:ln>
        </p:spPr>
        <p:txBody>
          <a:bodyPr anchorCtr="0" anchor="t" bIns="91425" lIns="91425" spcFirstLastPara="1" rIns="91425" wrap="square" tIns="91425">
            <a:normAutofit lnSpcReduction="20000"/>
          </a:bodyPr>
          <a:lstStyle/>
          <a:p>
            <a:pPr indent="-342900" lvl="0" marL="457200" rtl="0" algn="l">
              <a:lnSpc>
                <a:spcPct val="115000"/>
              </a:lnSpc>
              <a:spcBef>
                <a:spcPts val="1200"/>
              </a:spcBef>
              <a:spcAft>
                <a:spcPts val="0"/>
              </a:spcAft>
              <a:buSzPts val="1800"/>
              <a:buChar char="●"/>
            </a:pPr>
            <a:r>
              <a:rPr lang="en"/>
              <a:t>Higher FG% does not always mean more points, sometimes high volume shooters can outscore efficient low volume ones</a:t>
            </a:r>
            <a:endParaRPr/>
          </a:p>
          <a:p>
            <a:pPr indent="-342900" lvl="0" marL="457200" rtl="0" algn="l">
              <a:lnSpc>
                <a:spcPct val="115000"/>
              </a:lnSpc>
              <a:spcBef>
                <a:spcPts val="0"/>
              </a:spcBef>
              <a:spcAft>
                <a:spcPts val="0"/>
              </a:spcAft>
              <a:buSzPts val="1800"/>
              <a:buChar char="●"/>
            </a:pPr>
            <a:r>
              <a:rPr lang="en"/>
              <a:t>Top scorers tend to combine high FGA with above average FG%, showing true elite two-way ability</a:t>
            </a:r>
            <a:endParaRPr/>
          </a:p>
          <a:p>
            <a:pPr indent="-342900" lvl="0" marL="457200" rtl="0" algn="l">
              <a:lnSpc>
                <a:spcPct val="115000"/>
              </a:lnSpc>
              <a:spcBef>
                <a:spcPts val="0"/>
              </a:spcBef>
              <a:spcAft>
                <a:spcPts val="0"/>
              </a:spcAft>
              <a:buSzPts val="1800"/>
              <a:buChar char="●"/>
            </a:pPr>
            <a:r>
              <a:rPr lang="en"/>
              <a:t>Shot volume (FGA) is a stronger predictor of total points than shooting efficiency alone</a:t>
            </a:r>
            <a:endParaRPr/>
          </a:p>
        </p:txBody>
      </p:sp>
      <p:pic>
        <p:nvPicPr>
          <p:cNvPr id="152" name="Google Shape;152;p32" title="Screenshot 2026-04-10 at 6.40.58 PM.png"/>
          <p:cNvPicPr preferRelativeResize="0"/>
          <p:nvPr/>
        </p:nvPicPr>
        <p:blipFill>
          <a:blip r:embed="rId3">
            <a:alphaModFix/>
          </a:blip>
          <a:stretch>
            <a:fillRect/>
          </a:stretch>
        </p:blipFill>
        <p:spPr>
          <a:xfrm>
            <a:off x="200150" y="1531230"/>
            <a:ext cx="4435200" cy="320396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33"/>
          <p:cNvSpPr/>
          <p:nvPr/>
        </p:nvSpPr>
        <p:spPr>
          <a:xfrm>
            <a:off x="4023360" y="2971800"/>
            <a:ext cx="1097400" cy="54900"/>
          </a:xfrm>
          <a:prstGeom prst="rect">
            <a:avLst/>
          </a:prstGeom>
          <a:solidFill>
            <a:srgbClr val="6A1BB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8" name="Google Shape;158;p33"/>
          <p:cNvSpPr txBox="1"/>
          <p:nvPr/>
        </p:nvSpPr>
        <p:spPr>
          <a:xfrm>
            <a:off x="457200" y="2103120"/>
            <a:ext cx="8229600" cy="738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4800" u="none" cap="none" strike="noStrike">
                <a:solidFill>
                  <a:srgbClr val="6A1BB5"/>
                </a:solidFill>
                <a:latin typeface="Calibri"/>
                <a:ea typeface="Calibri"/>
                <a:cs typeface="Calibri"/>
                <a:sym typeface="Calibri"/>
              </a:rPr>
              <a:t>Mini Update #2</a:t>
            </a:r>
            <a:endParaRPr/>
          </a:p>
        </p:txBody>
      </p:sp>
      <p:sp>
        <p:nvSpPr>
          <p:cNvPr id="159" name="Google Shape;159;p33"/>
          <p:cNvSpPr txBox="1"/>
          <p:nvPr/>
        </p:nvSpPr>
        <p:spPr>
          <a:xfrm>
            <a:off x="457200" y="3154680"/>
            <a:ext cx="8229600" cy="215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1" lang="en" sz="1400" u="none" cap="none" strike="noStrike">
                <a:solidFill>
                  <a:srgbClr val="6B6B6B"/>
                </a:solidFill>
                <a:latin typeface="Calibri"/>
                <a:ea typeface="Calibri"/>
                <a:cs typeface="Calibri"/>
                <a:sym typeface="Calibri"/>
              </a:rPr>
              <a:t>T2: NBA Stats  |  Yonathan &amp; Maanas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4"/>
          <p:cNvSpPr txBox="1"/>
          <p:nvPr/>
        </p:nvSpPr>
        <p:spPr>
          <a:xfrm>
            <a:off x="457200" y="274320"/>
            <a:ext cx="8229600" cy="400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600" u="none" cap="none" strike="noStrike">
                <a:solidFill>
                  <a:srgbClr val="6A1BB5"/>
                </a:solidFill>
                <a:latin typeface="Calibri"/>
                <a:ea typeface="Calibri"/>
                <a:cs typeface="Calibri"/>
                <a:sym typeface="Calibri"/>
              </a:rPr>
              <a:t>Project Progress Check for Update 2 (Maanas)</a:t>
            </a:r>
            <a:endParaRPr/>
          </a:p>
        </p:txBody>
      </p:sp>
      <p:sp>
        <p:nvSpPr>
          <p:cNvPr id="165" name="Google Shape;165;p34"/>
          <p:cNvSpPr txBox="1"/>
          <p:nvPr/>
        </p:nvSpPr>
        <p:spPr>
          <a:xfrm>
            <a:off x="502920" y="1234440"/>
            <a:ext cx="38406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200" u="none" cap="none" strike="noStrike">
                <a:solidFill>
                  <a:srgbClr val="6A1BB5"/>
                </a:solidFill>
                <a:latin typeface="Calibri"/>
                <a:ea typeface="Calibri"/>
                <a:cs typeface="Calibri"/>
                <a:sym typeface="Calibri"/>
              </a:rPr>
              <a:t>WHAT I WORKED ON THIS WEEK</a:t>
            </a:r>
            <a:endParaRPr/>
          </a:p>
        </p:txBody>
      </p:sp>
      <p:sp>
        <p:nvSpPr>
          <p:cNvPr id="166" name="Google Shape;166;p34"/>
          <p:cNvSpPr txBox="1"/>
          <p:nvPr/>
        </p:nvSpPr>
        <p:spPr>
          <a:xfrm>
            <a:off x="502920" y="1600200"/>
            <a:ext cx="3931800" cy="1549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400" u="none" cap="none" strike="noStrike">
                <a:solidFill>
                  <a:srgbClr val="6B6B6B"/>
                </a:solidFill>
                <a:latin typeface="Calibri"/>
                <a:ea typeface="Calibri"/>
                <a:cs typeface="Calibri"/>
                <a:sym typeface="Calibri"/>
              </a:rPr>
              <a:t>●  Started building my bar chart of the top 10 playoff scorers by total PTS</a:t>
            </a:r>
            <a:endParaRPr/>
          </a:p>
          <a:p>
            <a:pPr indent="0" lvl="0" marL="0" marR="0" rtl="0" algn="l">
              <a:spcBef>
                <a:spcPts val="1000"/>
              </a:spcBef>
              <a:spcAft>
                <a:spcPts val="0"/>
              </a:spcAft>
              <a:buNone/>
            </a:pPr>
            <a:r>
              <a:rPr b="0" i="0" lang="en" sz="1400" u="none" cap="none" strike="noStrike">
                <a:solidFill>
                  <a:srgbClr val="6B6B6B"/>
                </a:solidFill>
                <a:latin typeface="Calibri"/>
                <a:ea typeface="Calibri"/>
                <a:cs typeface="Calibri"/>
                <a:sym typeface="Calibri"/>
              </a:rPr>
              <a:t>●  Began working on the MP vs PTS scatter plot to see if more minutes means more points</a:t>
            </a:r>
            <a:endParaRPr/>
          </a:p>
          <a:p>
            <a:pPr indent="0" lvl="0" marL="0" marR="0" rtl="0" algn="l">
              <a:spcBef>
                <a:spcPts val="1000"/>
              </a:spcBef>
              <a:spcAft>
                <a:spcPts val="0"/>
              </a:spcAft>
              <a:buNone/>
            </a:pPr>
            <a:r>
              <a:rPr b="0" i="0" lang="en" sz="1400" u="none" cap="none" strike="noStrike">
                <a:solidFill>
                  <a:srgbClr val="6B6B6B"/>
                </a:solidFill>
                <a:latin typeface="Calibri"/>
                <a:ea typeface="Calibri"/>
                <a:cs typeface="Calibri"/>
                <a:sym typeface="Calibri"/>
              </a:rPr>
              <a:t>●  Helped clean up TOT rows so players who switched teams mid</a:t>
            </a:r>
            <a:r>
              <a:rPr lang="en">
                <a:solidFill>
                  <a:srgbClr val="6B6B6B"/>
                </a:solidFill>
                <a:latin typeface="Calibri"/>
                <a:ea typeface="Calibri"/>
                <a:cs typeface="Calibri"/>
                <a:sym typeface="Calibri"/>
              </a:rPr>
              <a:t> s</a:t>
            </a:r>
            <a:r>
              <a:rPr b="0" i="0" lang="en" sz="1400" u="none" cap="none" strike="noStrike">
                <a:solidFill>
                  <a:srgbClr val="6B6B6B"/>
                </a:solidFill>
                <a:latin typeface="Calibri"/>
                <a:ea typeface="Calibri"/>
                <a:cs typeface="Calibri"/>
                <a:sym typeface="Calibri"/>
              </a:rPr>
              <a:t>eason aren't double counted</a:t>
            </a:r>
            <a:endParaRPr/>
          </a:p>
        </p:txBody>
      </p:sp>
      <p:sp>
        <p:nvSpPr>
          <p:cNvPr id="167" name="Google Shape;167;p34"/>
          <p:cNvSpPr txBox="1"/>
          <p:nvPr/>
        </p:nvSpPr>
        <p:spPr>
          <a:xfrm>
            <a:off x="4800600" y="1234440"/>
            <a:ext cx="38406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200" u="none" cap="none" strike="noStrike">
                <a:solidFill>
                  <a:srgbClr val="6A1BB5"/>
                </a:solidFill>
                <a:latin typeface="Calibri"/>
                <a:ea typeface="Calibri"/>
                <a:cs typeface="Calibri"/>
                <a:sym typeface="Calibri"/>
              </a:rPr>
              <a:t>OBSTACLES</a:t>
            </a:r>
            <a:endParaRPr/>
          </a:p>
        </p:txBody>
      </p:sp>
      <p:sp>
        <p:nvSpPr>
          <p:cNvPr id="168" name="Google Shape;168;p34"/>
          <p:cNvSpPr txBox="1"/>
          <p:nvPr/>
        </p:nvSpPr>
        <p:spPr>
          <a:xfrm>
            <a:off x="4800600" y="1600200"/>
            <a:ext cx="3840600" cy="800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300" u="none" cap="none" strike="noStrike">
                <a:solidFill>
                  <a:srgbClr val="6B6B6B"/>
                </a:solidFill>
                <a:latin typeface="Calibri"/>
                <a:ea typeface="Calibri"/>
                <a:cs typeface="Calibri"/>
                <a:sym typeface="Calibri"/>
              </a:rPr>
              <a:t>The duplicate TOT rows were the biggest issue. Players who were traded mid</a:t>
            </a:r>
            <a:r>
              <a:rPr lang="en" sz="1300">
                <a:solidFill>
                  <a:srgbClr val="6B6B6B"/>
                </a:solidFill>
                <a:latin typeface="Calibri"/>
                <a:ea typeface="Calibri"/>
                <a:cs typeface="Calibri"/>
                <a:sym typeface="Calibri"/>
              </a:rPr>
              <a:t> </a:t>
            </a:r>
            <a:r>
              <a:rPr b="0" i="0" lang="en" sz="1300" u="none" cap="none" strike="noStrike">
                <a:solidFill>
                  <a:srgbClr val="6B6B6B"/>
                </a:solidFill>
                <a:latin typeface="Calibri"/>
                <a:ea typeface="Calibri"/>
                <a:cs typeface="Calibri"/>
                <a:sym typeface="Calibri"/>
              </a:rPr>
              <a:t>season appear multiple times in the dataset, so I had to figure out how to filter them out without losing real data.</a:t>
            </a:r>
            <a:endParaRPr/>
          </a:p>
        </p:txBody>
      </p:sp>
      <p:sp>
        <p:nvSpPr>
          <p:cNvPr id="169" name="Google Shape;169;p34"/>
          <p:cNvSpPr txBox="1"/>
          <p:nvPr/>
        </p:nvSpPr>
        <p:spPr>
          <a:xfrm>
            <a:off x="4800600" y="3154680"/>
            <a:ext cx="38406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200" u="none" cap="none" strike="noStrike">
                <a:solidFill>
                  <a:srgbClr val="6A1BB5"/>
                </a:solidFill>
                <a:latin typeface="Calibri"/>
                <a:ea typeface="Calibri"/>
                <a:cs typeface="Calibri"/>
                <a:sym typeface="Calibri"/>
              </a:rPr>
              <a:t>RESOURCES USED</a:t>
            </a:r>
            <a:endParaRPr/>
          </a:p>
        </p:txBody>
      </p:sp>
      <p:sp>
        <p:nvSpPr>
          <p:cNvPr id="170" name="Google Shape;170;p34"/>
          <p:cNvSpPr txBox="1"/>
          <p:nvPr/>
        </p:nvSpPr>
        <p:spPr>
          <a:xfrm>
            <a:off x="4800600" y="3520440"/>
            <a:ext cx="3840600" cy="6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300" u="none" cap="none" strike="noStrike">
                <a:solidFill>
                  <a:srgbClr val="6B6B6B"/>
                </a:solidFill>
                <a:latin typeface="Calibri"/>
                <a:ea typeface="Calibri"/>
                <a:cs typeface="Calibri"/>
                <a:sym typeface="Calibri"/>
              </a:rPr>
              <a:t>JupyterHub Python Notebook </a:t>
            </a:r>
            <a:endParaRPr b="0" i="0" sz="1300" u="none" cap="none" strike="noStrike">
              <a:solidFill>
                <a:srgbClr val="6B6B6B"/>
              </a:solidFill>
              <a:latin typeface="Calibri"/>
              <a:ea typeface="Calibri"/>
              <a:cs typeface="Calibri"/>
              <a:sym typeface="Calibri"/>
            </a:endParaRPr>
          </a:p>
          <a:p>
            <a:pPr indent="0" lvl="0" marL="0" marR="0" rtl="0" algn="l">
              <a:spcBef>
                <a:spcPts val="0"/>
              </a:spcBef>
              <a:spcAft>
                <a:spcPts val="0"/>
              </a:spcAft>
              <a:buNone/>
            </a:pPr>
            <a:r>
              <a:t/>
            </a:r>
            <a:endParaRPr sz="1300">
              <a:solidFill>
                <a:srgbClr val="6B6B6B"/>
              </a:solidFill>
              <a:latin typeface="Calibri"/>
              <a:ea typeface="Calibri"/>
              <a:cs typeface="Calibri"/>
              <a:sym typeface="Calibri"/>
            </a:endParaRPr>
          </a:p>
          <a:p>
            <a:pPr indent="0" lvl="0" marL="0" marR="0" rtl="0" algn="l">
              <a:spcBef>
                <a:spcPts val="0"/>
              </a:spcBef>
              <a:spcAft>
                <a:spcPts val="0"/>
              </a:spcAft>
              <a:buNone/>
            </a:pPr>
            <a:r>
              <a:rPr lang="en" sz="1300">
                <a:solidFill>
                  <a:srgbClr val="6B6B6B"/>
                </a:solidFill>
                <a:latin typeface="Calibri"/>
                <a:ea typeface="Calibri"/>
                <a:cs typeface="Calibri"/>
                <a:sym typeface="Calibri"/>
              </a:rPr>
              <a:t>VScode was also used due to familiarity with it.</a:t>
            </a:r>
            <a:endParaRPr sz="1300">
              <a:solidFill>
                <a:srgbClr val="6B6B6B"/>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5"/>
          <p:cNvSpPr txBox="1"/>
          <p:nvPr/>
        </p:nvSpPr>
        <p:spPr>
          <a:xfrm>
            <a:off x="457200" y="274320"/>
            <a:ext cx="8229600" cy="400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600" u="none" cap="none" strike="noStrike">
                <a:solidFill>
                  <a:srgbClr val="6A1BB5"/>
                </a:solidFill>
                <a:latin typeface="Calibri"/>
                <a:ea typeface="Calibri"/>
                <a:cs typeface="Calibri"/>
                <a:sym typeface="Calibri"/>
              </a:rPr>
              <a:t>Response to Feedback from Mini Update #1 (Maanas)</a:t>
            </a:r>
            <a:endParaRPr/>
          </a:p>
        </p:txBody>
      </p:sp>
      <p:sp>
        <p:nvSpPr>
          <p:cNvPr id="176" name="Google Shape;176;p35"/>
          <p:cNvSpPr txBox="1"/>
          <p:nvPr/>
        </p:nvSpPr>
        <p:spPr>
          <a:xfrm>
            <a:off x="502920" y="1234440"/>
            <a:ext cx="38406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200" u="none" cap="none" strike="noStrike">
                <a:solidFill>
                  <a:srgbClr val="6A1BB5"/>
                </a:solidFill>
                <a:latin typeface="Calibri"/>
                <a:ea typeface="Calibri"/>
                <a:cs typeface="Calibri"/>
                <a:sym typeface="Calibri"/>
              </a:rPr>
              <a:t>FEEDBACK FROM DR. CHEN</a:t>
            </a:r>
            <a:endParaRPr/>
          </a:p>
        </p:txBody>
      </p:sp>
      <p:sp>
        <p:nvSpPr>
          <p:cNvPr id="177" name="Google Shape;177;p35"/>
          <p:cNvSpPr txBox="1"/>
          <p:nvPr/>
        </p:nvSpPr>
        <p:spPr>
          <a:xfrm>
            <a:off x="502920" y="1600200"/>
            <a:ext cx="39318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a:solidFill>
                  <a:srgbClr val="6B6B6B"/>
                </a:solidFill>
                <a:latin typeface="Calibri"/>
                <a:ea typeface="Calibri"/>
                <a:cs typeface="Calibri"/>
                <a:sym typeface="Calibri"/>
              </a:rPr>
              <a:t>N/A</a:t>
            </a:r>
            <a:endParaRPr/>
          </a:p>
        </p:txBody>
      </p:sp>
      <p:sp>
        <p:nvSpPr>
          <p:cNvPr id="178" name="Google Shape;178;p35"/>
          <p:cNvSpPr txBox="1"/>
          <p:nvPr/>
        </p:nvSpPr>
        <p:spPr>
          <a:xfrm>
            <a:off x="4800600" y="1234440"/>
            <a:ext cx="38406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200" u="none" cap="none" strike="noStrike">
                <a:solidFill>
                  <a:srgbClr val="6A1BB5"/>
                </a:solidFill>
                <a:latin typeface="Calibri"/>
                <a:ea typeface="Calibri"/>
                <a:cs typeface="Calibri"/>
                <a:sym typeface="Calibri"/>
              </a:rPr>
              <a:t>HOW WE ADDRESSED IT</a:t>
            </a:r>
            <a:endParaRPr/>
          </a:p>
        </p:txBody>
      </p:sp>
      <p:sp>
        <p:nvSpPr>
          <p:cNvPr id="179" name="Google Shape;179;p35"/>
          <p:cNvSpPr txBox="1"/>
          <p:nvPr/>
        </p:nvSpPr>
        <p:spPr>
          <a:xfrm>
            <a:off x="4800600" y="1600200"/>
            <a:ext cx="38406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a:solidFill>
                  <a:srgbClr val="6B6B6B"/>
                </a:solidFill>
                <a:latin typeface="Calibri"/>
                <a:ea typeface="Calibri"/>
                <a:cs typeface="Calibri"/>
                <a:sym typeface="Calibri"/>
              </a:rPr>
              <a:t>N/A</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6"/>
          <p:cNvSpPr txBox="1"/>
          <p:nvPr/>
        </p:nvSpPr>
        <p:spPr>
          <a:xfrm>
            <a:off x="322250" y="235475"/>
            <a:ext cx="8539500" cy="468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2"/>
              </a:buClr>
              <a:buSzPts val="1100"/>
              <a:buFont typeface="Arial"/>
              <a:buNone/>
            </a:pPr>
            <a:r>
              <a:rPr b="1" lang="en" sz="1100">
                <a:solidFill>
                  <a:schemeClr val="dk1"/>
                </a:solidFill>
              </a:rPr>
              <a:t>                                                               </a:t>
            </a:r>
            <a:r>
              <a:rPr b="1" lang="en">
                <a:solidFill>
                  <a:schemeClr val="dk1"/>
                </a:solidFill>
              </a:rPr>
              <a:t>PROJECT PROGRESS CHECK FOR UPDATE 2 (YONATHAN)</a:t>
            </a:r>
            <a:endParaRPr b="1">
              <a:solidFill>
                <a:schemeClr val="dk1"/>
              </a:solidFill>
            </a:endParaRPr>
          </a:p>
          <a:p>
            <a:pPr indent="0" lvl="0" marL="0" rtl="0" algn="l">
              <a:lnSpc>
                <a:spcPct val="115000"/>
              </a:lnSpc>
              <a:spcBef>
                <a:spcPts val="1200"/>
              </a:spcBef>
              <a:spcAft>
                <a:spcPts val="0"/>
              </a:spcAft>
              <a:buClr>
                <a:schemeClr val="dk2"/>
              </a:buClr>
              <a:buSzPts val="1100"/>
              <a:buFont typeface="Arial"/>
              <a:buNone/>
            </a:pPr>
            <a:r>
              <a:rPr b="1" lang="en">
                <a:solidFill>
                  <a:schemeClr val="dk1"/>
                </a:solidFill>
              </a:rPr>
              <a:t>WHAT I WORKED ON THIS WEEK</a:t>
            </a:r>
            <a:endParaRPr b="1">
              <a:solidFill>
                <a:schemeClr val="dk1"/>
              </a:solidFill>
            </a:endParaRPr>
          </a:p>
          <a:p>
            <a:pPr indent="0" lvl="0" marL="0" rtl="0" algn="l">
              <a:lnSpc>
                <a:spcPct val="115000"/>
              </a:lnSpc>
              <a:spcBef>
                <a:spcPts val="1200"/>
              </a:spcBef>
              <a:spcAft>
                <a:spcPts val="0"/>
              </a:spcAft>
              <a:buClr>
                <a:schemeClr val="dk2"/>
              </a:buClr>
              <a:buSzPts val="1100"/>
              <a:buFont typeface="Arial"/>
              <a:buNone/>
            </a:pPr>
            <a:r>
              <a:rPr lang="en">
                <a:solidFill>
                  <a:schemeClr val="dk2"/>
                </a:solidFill>
              </a:rPr>
              <a:t>● Started working on a line graph to show how scoring trends change over different playoff years</a:t>
            </a:r>
            <a:br>
              <a:rPr lang="en">
                <a:solidFill>
                  <a:schemeClr val="dk2"/>
                </a:solidFill>
              </a:rPr>
            </a:br>
            <a:r>
              <a:rPr lang="en">
                <a:solidFill>
                  <a:schemeClr val="dk2"/>
                </a:solidFill>
              </a:rPr>
              <a:t>● Began analyzing the relationship between FG% and total points to see if efficiency impacts scoring</a:t>
            </a:r>
            <a:br>
              <a:rPr lang="en">
                <a:solidFill>
                  <a:schemeClr val="dk2"/>
                </a:solidFill>
              </a:rPr>
            </a:br>
            <a:r>
              <a:rPr lang="en">
                <a:solidFill>
                  <a:schemeClr val="dk2"/>
                </a:solidFill>
              </a:rPr>
              <a:t>● Helped organize the dataset by removing unnecessary columns and focusing only on key stats like PTS, MP, and FG%</a:t>
            </a:r>
            <a:endParaRPr>
              <a:solidFill>
                <a:schemeClr val="dk2"/>
              </a:solidFill>
            </a:endParaRPr>
          </a:p>
          <a:p>
            <a:pPr indent="0" lvl="0" marL="0" rtl="0" algn="l">
              <a:lnSpc>
                <a:spcPct val="115000"/>
              </a:lnSpc>
              <a:spcBef>
                <a:spcPts val="1200"/>
              </a:spcBef>
              <a:spcAft>
                <a:spcPts val="0"/>
              </a:spcAft>
              <a:buClr>
                <a:schemeClr val="dk2"/>
              </a:buClr>
              <a:buSzPts val="1100"/>
              <a:buFont typeface="Arial"/>
              <a:buNone/>
            </a:pPr>
            <a:r>
              <a:rPr b="1" lang="en">
                <a:solidFill>
                  <a:schemeClr val="dk1"/>
                </a:solidFill>
              </a:rPr>
              <a:t>OBSTACLES</a:t>
            </a:r>
            <a:endParaRPr b="1">
              <a:solidFill>
                <a:schemeClr val="dk1"/>
              </a:solidFill>
            </a:endParaRPr>
          </a:p>
          <a:p>
            <a:pPr indent="0" lvl="0" marL="0" rtl="0" algn="l">
              <a:lnSpc>
                <a:spcPct val="115000"/>
              </a:lnSpc>
              <a:spcBef>
                <a:spcPts val="1200"/>
              </a:spcBef>
              <a:spcAft>
                <a:spcPts val="0"/>
              </a:spcAft>
              <a:buClr>
                <a:schemeClr val="dk2"/>
              </a:buClr>
              <a:buSzPts val="1100"/>
              <a:buFont typeface="Arial"/>
              <a:buNone/>
            </a:pPr>
            <a:r>
              <a:rPr lang="en">
                <a:solidFill>
                  <a:schemeClr val="dk2"/>
                </a:solidFill>
              </a:rPr>
              <a:t>Understanding which stats were actually useful was a challenge at first. The dataset had a lot of extra columns, so it took time to figure out what to keep and what to remove without losing important information.</a:t>
            </a:r>
            <a:endParaRPr>
              <a:solidFill>
                <a:schemeClr val="dk2"/>
              </a:solidFill>
            </a:endParaRPr>
          </a:p>
          <a:p>
            <a:pPr indent="0" lvl="0" marL="0" rtl="0" algn="l">
              <a:lnSpc>
                <a:spcPct val="115000"/>
              </a:lnSpc>
              <a:spcBef>
                <a:spcPts val="1200"/>
              </a:spcBef>
              <a:spcAft>
                <a:spcPts val="0"/>
              </a:spcAft>
              <a:buClr>
                <a:schemeClr val="dk2"/>
              </a:buClr>
              <a:buSzPts val="1100"/>
              <a:buFont typeface="Arial"/>
              <a:buNone/>
            </a:pPr>
            <a:r>
              <a:rPr b="1" lang="en">
                <a:solidFill>
                  <a:schemeClr val="dk1"/>
                </a:solidFill>
              </a:rPr>
              <a:t>RESOURCES USED</a:t>
            </a:r>
            <a:endParaRPr b="1">
              <a:solidFill>
                <a:schemeClr val="dk1"/>
              </a:solidFill>
            </a:endParaRPr>
          </a:p>
          <a:p>
            <a:pPr indent="0" lvl="0" marL="0" rtl="0" algn="l">
              <a:lnSpc>
                <a:spcPct val="115000"/>
              </a:lnSpc>
              <a:spcBef>
                <a:spcPts val="1200"/>
              </a:spcBef>
              <a:spcAft>
                <a:spcPts val="0"/>
              </a:spcAft>
              <a:buClr>
                <a:schemeClr val="dk2"/>
              </a:buClr>
              <a:buSzPts val="1100"/>
              <a:buFont typeface="Arial"/>
              <a:buNone/>
            </a:pPr>
            <a:r>
              <a:rPr lang="en">
                <a:solidFill>
                  <a:schemeClr val="dk2"/>
                </a:solidFill>
              </a:rPr>
              <a:t>JupyterHub Python Notebook</a:t>
            </a:r>
            <a:endParaRPr>
              <a:solidFill>
                <a:schemeClr val="dk2"/>
              </a:solidFill>
            </a:endParaRPr>
          </a:p>
          <a:p>
            <a:pPr indent="0" lvl="0" marL="0" rtl="0" algn="l">
              <a:lnSpc>
                <a:spcPct val="115000"/>
              </a:lnSpc>
              <a:spcBef>
                <a:spcPts val="1200"/>
              </a:spcBef>
              <a:spcAft>
                <a:spcPts val="0"/>
              </a:spcAft>
              <a:buClr>
                <a:schemeClr val="dk2"/>
              </a:buClr>
              <a:buSzPts val="1100"/>
              <a:buFont typeface="Arial"/>
              <a:buNone/>
            </a:pPr>
            <a:r>
              <a:rPr lang="en">
                <a:solidFill>
                  <a:schemeClr val="dk2"/>
                </a:solidFill>
              </a:rPr>
              <a:t>Also used online Python documentation and class notes to better understand how to clean and organize the data</a:t>
            </a:r>
            <a:endParaRPr>
              <a:solidFill>
                <a:schemeClr val="dk2"/>
              </a:solidFill>
            </a:endParaRPr>
          </a:p>
          <a:p>
            <a:pPr indent="0" lvl="0" marL="0" rtl="0" algn="l">
              <a:spcBef>
                <a:spcPts val="1200"/>
              </a:spcBef>
              <a:spcAft>
                <a:spcPts val="0"/>
              </a:spcAft>
              <a:buNone/>
            </a:pPr>
            <a:r>
              <a:t/>
            </a:r>
            <a:endParaRPr sz="1800">
              <a:solidFill>
                <a:schemeClr val="lt2"/>
              </a:solidFill>
              <a:latin typeface="Source Sans Pro"/>
              <a:ea typeface="Source Sans Pro"/>
              <a:cs typeface="Source Sans Pro"/>
              <a:sym typeface="Source Sans Pr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7"/>
          <p:cNvSpPr/>
          <p:nvPr/>
        </p:nvSpPr>
        <p:spPr>
          <a:xfrm>
            <a:off x="4023360" y="2971800"/>
            <a:ext cx="1097400" cy="54900"/>
          </a:xfrm>
          <a:prstGeom prst="rect">
            <a:avLst/>
          </a:prstGeom>
          <a:solidFill>
            <a:srgbClr val="6A1BB5"/>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0" name="Google Shape;190;p37"/>
          <p:cNvSpPr txBox="1"/>
          <p:nvPr/>
        </p:nvSpPr>
        <p:spPr>
          <a:xfrm>
            <a:off x="457200" y="2103120"/>
            <a:ext cx="8229600" cy="738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 sz="4800" u="none" cap="none" strike="noStrike">
                <a:solidFill>
                  <a:srgbClr val="6A1BB5"/>
                </a:solidFill>
                <a:latin typeface="Calibri"/>
                <a:ea typeface="Calibri"/>
                <a:cs typeface="Calibri"/>
                <a:sym typeface="Calibri"/>
              </a:rPr>
              <a:t>Mini Update #3</a:t>
            </a:r>
            <a:endParaRPr/>
          </a:p>
        </p:txBody>
      </p:sp>
      <p:sp>
        <p:nvSpPr>
          <p:cNvPr id="191" name="Google Shape;191;p37"/>
          <p:cNvSpPr txBox="1"/>
          <p:nvPr/>
        </p:nvSpPr>
        <p:spPr>
          <a:xfrm>
            <a:off x="457200" y="3154680"/>
            <a:ext cx="8229600" cy="215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1" lang="en" sz="1400" u="none" cap="none" strike="noStrike">
                <a:solidFill>
                  <a:srgbClr val="6B6B6B"/>
                </a:solidFill>
                <a:latin typeface="Calibri"/>
                <a:ea typeface="Calibri"/>
                <a:cs typeface="Calibri"/>
                <a:sym typeface="Calibri"/>
              </a:rPr>
              <a:t>T2: NBA Stats  |  Yonathan &amp; Maanas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8"/>
          <p:cNvSpPr txBox="1"/>
          <p:nvPr/>
        </p:nvSpPr>
        <p:spPr>
          <a:xfrm>
            <a:off x="457200" y="274320"/>
            <a:ext cx="8229600" cy="36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400" u="none" cap="none" strike="noStrike">
                <a:solidFill>
                  <a:srgbClr val="6A1BB5"/>
                </a:solidFill>
                <a:latin typeface="Calibri"/>
                <a:ea typeface="Calibri"/>
                <a:cs typeface="Calibri"/>
                <a:sym typeface="Calibri"/>
              </a:rPr>
              <a:t>Insight 3: Do Top Scorers Also Lead in Assists? (Maanas)</a:t>
            </a:r>
            <a:endParaRPr/>
          </a:p>
        </p:txBody>
      </p:sp>
      <p:pic>
        <p:nvPicPr>
          <p:cNvPr descr="chart3_pts_and_ast.png" id="197" name="Google Shape;197;p38"/>
          <p:cNvPicPr preferRelativeResize="0"/>
          <p:nvPr/>
        </p:nvPicPr>
        <p:blipFill rotWithShape="1">
          <a:blip r:embed="rId3">
            <a:alphaModFix/>
          </a:blip>
          <a:srcRect b="0" l="0" r="0" t="0"/>
          <a:stretch/>
        </p:blipFill>
        <p:spPr>
          <a:xfrm>
            <a:off x="320040" y="1143000"/>
            <a:ext cx="4937760" cy="2873293"/>
          </a:xfrm>
          <a:prstGeom prst="rect">
            <a:avLst/>
          </a:prstGeom>
          <a:noFill/>
          <a:ln>
            <a:noFill/>
          </a:ln>
        </p:spPr>
      </p:pic>
      <p:sp>
        <p:nvSpPr>
          <p:cNvPr id="198" name="Google Shape;198;p38"/>
          <p:cNvSpPr txBox="1"/>
          <p:nvPr/>
        </p:nvSpPr>
        <p:spPr>
          <a:xfrm>
            <a:off x="5486400" y="1234440"/>
            <a:ext cx="3520500" cy="2586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300" u="none" cap="none" strike="noStrike">
                <a:solidFill>
                  <a:schemeClr val="dk2"/>
                </a:solidFill>
                <a:latin typeface="Calibri"/>
                <a:ea typeface="Calibri"/>
                <a:cs typeface="Calibri"/>
                <a:sym typeface="Calibri"/>
              </a:rPr>
              <a:t>●  Jokic combines elite scoring (600 PTS) with elite playmaking (190 AST) a true all</a:t>
            </a:r>
            <a:r>
              <a:rPr lang="en" sz="1300">
                <a:solidFill>
                  <a:schemeClr val="dk2"/>
                </a:solidFill>
                <a:latin typeface="Calibri"/>
                <a:ea typeface="Calibri"/>
                <a:cs typeface="Calibri"/>
                <a:sym typeface="Calibri"/>
              </a:rPr>
              <a:t> </a:t>
            </a:r>
            <a:r>
              <a:rPr b="0" i="0" lang="en" sz="1300" u="none" cap="none" strike="noStrike">
                <a:solidFill>
                  <a:schemeClr val="dk2"/>
                </a:solidFill>
                <a:latin typeface="Calibri"/>
                <a:ea typeface="Calibri"/>
                <a:cs typeface="Calibri"/>
                <a:sym typeface="Calibri"/>
              </a:rPr>
              <a:t>around MVP.</a:t>
            </a:r>
            <a:endParaRPr>
              <a:solidFill>
                <a:schemeClr val="dk2"/>
              </a:solidFill>
            </a:endParaRPr>
          </a:p>
          <a:p>
            <a:pPr indent="0" lvl="0" marL="0" marR="0" rtl="0" algn="l">
              <a:spcBef>
                <a:spcPts val="1000"/>
              </a:spcBef>
              <a:spcAft>
                <a:spcPts val="0"/>
              </a:spcAft>
              <a:buNone/>
            </a:pPr>
            <a:r>
              <a:rPr b="0" i="0" lang="en" sz="1300" u="none" cap="none" strike="noStrike">
                <a:solidFill>
                  <a:schemeClr val="dk2"/>
                </a:solidFill>
                <a:latin typeface="Calibri"/>
                <a:ea typeface="Calibri"/>
                <a:cs typeface="Calibri"/>
                <a:sym typeface="Calibri"/>
              </a:rPr>
              <a:t>●  Jamal Murray and LeBron also pair high scoring with high assists, showing well</a:t>
            </a:r>
            <a:r>
              <a:rPr lang="en" sz="1300">
                <a:solidFill>
                  <a:schemeClr val="dk2"/>
                </a:solidFill>
                <a:latin typeface="Calibri"/>
                <a:ea typeface="Calibri"/>
                <a:cs typeface="Calibri"/>
                <a:sym typeface="Calibri"/>
              </a:rPr>
              <a:t> </a:t>
            </a:r>
            <a:r>
              <a:rPr b="0" i="0" lang="en" sz="1300" u="none" cap="none" strike="noStrike">
                <a:solidFill>
                  <a:schemeClr val="dk2"/>
                </a:solidFill>
                <a:latin typeface="Calibri"/>
                <a:ea typeface="Calibri"/>
                <a:cs typeface="Calibri"/>
                <a:sym typeface="Calibri"/>
              </a:rPr>
              <a:t>rounded production.</a:t>
            </a:r>
            <a:endParaRPr>
              <a:solidFill>
                <a:schemeClr val="dk2"/>
              </a:solidFill>
            </a:endParaRPr>
          </a:p>
          <a:p>
            <a:pPr indent="0" lvl="0" marL="0" marR="0" rtl="0" algn="l">
              <a:spcBef>
                <a:spcPts val="1000"/>
              </a:spcBef>
              <a:spcAft>
                <a:spcPts val="0"/>
              </a:spcAft>
              <a:buNone/>
            </a:pPr>
            <a:r>
              <a:rPr b="0" i="0" lang="en" sz="1300" u="none" cap="none" strike="noStrike">
                <a:solidFill>
                  <a:schemeClr val="dk2"/>
                </a:solidFill>
                <a:latin typeface="Calibri"/>
                <a:ea typeface="Calibri"/>
                <a:cs typeface="Calibri"/>
                <a:sym typeface="Calibri"/>
              </a:rPr>
              <a:t>●  Pure scorers like J. Brown, Booker, and Davis show a big PTS</a:t>
            </a:r>
            <a:r>
              <a:rPr lang="en" sz="1300">
                <a:solidFill>
                  <a:schemeClr val="dk2"/>
                </a:solidFill>
                <a:latin typeface="Calibri"/>
                <a:ea typeface="Calibri"/>
                <a:cs typeface="Calibri"/>
                <a:sym typeface="Calibri"/>
              </a:rPr>
              <a:t> and </a:t>
            </a:r>
            <a:r>
              <a:rPr b="0" i="0" lang="en" sz="1300" u="none" cap="none" strike="noStrike">
                <a:solidFill>
                  <a:schemeClr val="dk2"/>
                </a:solidFill>
                <a:latin typeface="Calibri"/>
                <a:ea typeface="Calibri"/>
                <a:cs typeface="Calibri"/>
                <a:sym typeface="Calibri"/>
              </a:rPr>
              <a:t>AST gap they create points but don't create for others as much.</a:t>
            </a:r>
            <a:endParaRPr>
              <a:solidFill>
                <a:schemeClr val="dk2"/>
              </a:solidFill>
            </a:endParaRPr>
          </a:p>
          <a:p>
            <a:pPr indent="0" lvl="0" marL="0" marR="0" rtl="0" algn="l">
              <a:spcBef>
                <a:spcPts val="1000"/>
              </a:spcBef>
              <a:spcAft>
                <a:spcPts val="0"/>
              </a:spcAft>
              <a:buNone/>
            </a:pPr>
            <a:r>
              <a:rPr b="0" i="0" lang="en" sz="1300" u="none" cap="none" strike="noStrike">
                <a:solidFill>
                  <a:schemeClr val="dk2"/>
                </a:solidFill>
                <a:latin typeface="Calibri"/>
                <a:ea typeface="Calibri"/>
                <a:cs typeface="Calibri"/>
                <a:sym typeface="Calibri"/>
              </a:rPr>
              <a:t>●  This answers our Mini Update #1 curious question: top scoring DOES often come with high assists, but not always it depends on the player's role.</a:t>
            </a:r>
            <a:endParaRPr>
              <a:solidFill>
                <a:schemeClr val="dk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9"/>
          <p:cNvSpPr txBox="1"/>
          <p:nvPr/>
        </p:nvSpPr>
        <p:spPr>
          <a:xfrm>
            <a:off x="457200" y="274320"/>
            <a:ext cx="8229600" cy="400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600" u="none" cap="none" strike="noStrike">
                <a:solidFill>
                  <a:srgbClr val="6A1BB5"/>
                </a:solidFill>
                <a:latin typeface="Calibri"/>
                <a:ea typeface="Calibri"/>
                <a:cs typeface="Calibri"/>
                <a:sym typeface="Calibri"/>
              </a:rPr>
              <a:t>Project Progress Check for Update 3 (Maanas)</a:t>
            </a:r>
            <a:endParaRPr/>
          </a:p>
        </p:txBody>
      </p:sp>
      <p:sp>
        <p:nvSpPr>
          <p:cNvPr id="204" name="Google Shape;204;p39"/>
          <p:cNvSpPr txBox="1"/>
          <p:nvPr/>
        </p:nvSpPr>
        <p:spPr>
          <a:xfrm>
            <a:off x="502920" y="1234440"/>
            <a:ext cx="38406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200" u="none" cap="none" strike="noStrike">
                <a:solidFill>
                  <a:srgbClr val="6A1BB5"/>
                </a:solidFill>
                <a:latin typeface="Calibri"/>
                <a:ea typeface="Calibri"/>
                <a:cs typeface="Calibri"/>
                <a:sym typeface="Calibri"/>
              </a:rPr>
              <a:t>WHAT I WORKED ON THIS WEEK</a:t>
            </a:r>
            <a:endParaRPr/>
          </a:p>
        </p:txBody>
      </p:sp>
      <p:sp>
        <p:nvSpPr>
          <p:cNvPr id="205" name="Google Shape;205;p39"/>
          <p:cNvSpPr txBox="1"/>
          <p:nvPr/>
        </p:nvSpPr>
        <p:spPr>
          <a:xfrm>
            <a:off x="502920" y="1600200"/>
            <a:ext cx="3931800" cy="232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400" u="none" cap="none" strike="noStrike">
                <a:solidFill>
                  <a:srgbClr val="6B6B6B"/>
                </a:solidFill>
                <a:latin typeface="Calibri"/>
                <a:ea typeface="Calibri"/>
                <a:cs typeface="Calibri"/>
                <a:sym typeface="Calibri"/>
              </a:rPr>
              <a:t>●  Finalized the top 10 scorers bar chart and wrote the takeaway about star concentration</a:t>
            </a:r>
            <a:endParaRPr/>
          </a:p>
          <a:p>
            <a:pPr indent="0" lvl="0" marL="0" marR="0" rtl="0" algn="l">
              <a:spcBef>
                <a:spcPts val="1000"/>
              </a:spcBef>
              <a:spcAft>
                <a:spcPts val="0"/>
              </a:spcAft>
              <a:buNone/>
            </a:pPr>
            <a:r>
              <a:rPr b="0" i="0" lang="en" sz="1400" u="none" cap="none" strike="noStrike">
                <a:solidFill>
                  <a:srgbClr val="6B6B6B"/>
                </a:solidFill>
                <a:latin typeface="Calibri"/>
                <a:ea typeface="Calibri"/>
                <a:cs typeface="Calibri"/>
                <a:sym typeface="Calibri"/>
              </a:rPr>
              <a:t>●  Cleaned up the MP vs PTS scatter plot and noticed the role-based outliers</a:t>
            </a:r>
            <a:endParaRPr/>
          </a:p>
          <a:p>
            <a:pPr indent="0" lvl="0" marL="0" marR="0" rtl="0" algn="l">
              <a:spcBef>
                <a:spcPts val="1000"/>
              </a:spcBef>
              <a:spcAft>
                <a:spcPts val="0"/>
              </a:spcAft>
              <a:buNone/>
            </a:pPr>
            <a:r>
              <a:rPr b="0" i="0" lang="en" sz="1400" u="none" cap="none" strike="noStrike">
                <a:solidFill>
                  <a:srgbClr val="6B6B6B"/>
                </a:solidFill>
                <a:latin typeface="Calibri"/>
                <a:ea typeface="Calibri"/>
                <a:cs typeface="Calibri"/>
                <a:sym typeface="Calibri"/>
              </a:rPr>
              <a:t>●  Added a third insight comparing PTS and AST for the top 10 scorers to answer the curious question about well</a:t>
            </a:r>
            <a:r>
              <a:rPr lang="en">
                <a:solidFill>
                  <a:srgbClr val="6B6B6B"/>
                </a:solidFill>
                <a:latin typeface="Calibri"/>
                <a:ea typeface="Calibri"/>
                <a:cs typeface="Calibri"/>
                <a:sym typeface="Calibri"/>
              </a:rPr>
              <a:t> </a:t>
            </a:r>
            <a:r>
              <a:rPr b="0" i="0" lang="en" sz="1400" u="none" cap="none" strike="noStrike">
                <a:solidFill>
                  <a:srgbClr val="6B6B6B"/>
                </a:solidFill>
                <a:latin typeface="Calibri"/>
                <a:ea typeface="Calibri"/>
                <a:cs typeface="Calibri"/>
                <a:sym typeface="Calibri"/>
              </a:rPr>
              <a:t>rounded players</a:t>
            </a:r>
            <a:endParaRPr/>
          </a:p>
          <a:p>
            <a:pPr indent="0" lvl="0" marL="0" marR="0" rtl="0" algn="l">
              <a:spcBef>
                <a:spcPts val="1000"/>
              </a:spcBef>
              <a:spcAft>
                <a:spcPts val="0"/>
              </a:spcAft>
              <a:buNone/>
            </a:pPr>
            <a:r>
              <a:rPr b="0" i="0" lang="en" sz="1400" u="none" cap="none" strike="noStrike">
                <a:solidFill>
                  <a:srgbClr val="6B6B6B"/>
                </a:solidFill>
                <a:latin typeface="Calibri"/>
                <a:ea typeface="Calibri"/>
                <a:cs typeface="Calibri"/>
                <a:sym typeface="Calibri"/>
              </a:rPr>
              <a:t>●  Synced with Yonathan so my Insights 1, 2, and 3 flow with his Insights 4 and 5</a:t>
            </a:r>
            <a:endParaRPr/>
          </a:p>
        </p:txBody>
      </p:sp>
      <p:sp>
        <p:nvSpPr>
          <p:cNvPr id="206" name="Google Shape;206;p39"/>
          <p:cNvSpPr txBox="1"/>
          <p:nvPr/>
        </p:nvSpPr>
        <p:spPr>
          <a:xfrm>
            <a:off x="4800600" y="1234440"/>
            <a:ext cx="38406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200" u="none" cap="none" strike="noStrike">
                <a:solidFill>
                  <a:srgbClr val="6A1BB5"/>
                </a:solidFill>
                <a:latin typeface="Calibri"/>
                <a:ea typeface="Calibri"/>
                <a:cs typeface="Calibri"/>
                <a:sym typeface="Calibri"/>
              </a:rPr>
              <a:t>OBSTACLES</a:t>
            </a:r>
            <a:endParaRPr/>
          </a:p>
        </p:txBody>
      </p:sp>
      <p:sp>
        <p:nvSpPr>
          <p:cNvPr id="207" name="Google Shape;207;p39"/>
          <p:cNvSpPr txBox="1"/>
          <p:nvPr/>
        </p:nvSpPr>
        <p:spPr>
          <a:xfrm>
            <a:off x="4800600" y="1600200"/>
            <a:ext cx="3840600" cy="800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300" u="none" cap="none" strike="noStrike">
                <a:solidFill>
                  <a:srgbClr val="6B6B6B"/>
                </a:solidFill>
                <a:latin typeface="Calibri"/>
                <a:ea typeface="Calibri"/>
                <a:cs typeface="Calibri"/>
                <a:sym typeface="Calibri"/>
              </a:rPr>
              <a:t>On the scatter plot, the dots overlapped a lot near the lower</a:t>
            </a:r>
            <a:r>
              <a:rPr lang="en" sz="1300">
                <a:solidFill>
                  <a:srgbClr val="6B6B6B"/>
                </a:solidFill>
                <a:latin typeface="Calibri"/>
                <a:ea typeface="Calibri"/>
                <a:cs typeface="Calibri"/>
                <a:sym typeface="Calibri"/>
              </a:rPr>
              <a:t> </a:t>
            </a:r>
            <a:r>
              <a:rPr b="0" i="0" lang="en" sz="1300" u="none" cap="none" strike="noStrike">
                <a:solidFill>
                  <a:srgbClr val="6B6B6B"/>
                </a:solidFill>
                <a:latin typeface="Calibri"/>
                <a:ea typeface="Calibri"/>
                <a:cs typeface="Calibri"/>
                <a:sym typeface="Calibri"/>
              </a:rPr>
              <a:t>left corner, which made the overall trend harder to read. I had to decide whether to keep every player or filter by a minimum minutes threshold.</a:t>
            </a:r>
            <a:endParaRPr/>
          </a:p>
        </p:txBody>
      </p:sp>
      <p:sp>
        <p:nvSpPr>
          <p:cNvPr id="208" name="Google Shape;208;p39"/>
          <p:cNvSpPr txBox="1"/>
          <p:nvPr/>
        </p:nvSpPr>
        <p:spPr>
          <a:xfrm>
            <a:off x="4800600" y="3154680"/>
            <a:ext cx="38406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200" u="none" cap="none" strike="noStrike">
                <a:solidFill>
                  <a:srgbClr val="6A1BB5"/>
                </a:solidFill>
                <a:latin typeface="Calibri"/>
                <a:ea typeface="Calibri"/>
                <a:cs typeface="Calibri"/>
                <a:sym typeface="Calibri"/>
              </a:rPr>
              <a:t>NEXT STEPS</a:t>
            </a:r>
            <a:endParaRPr/>
          </a:p>
        </p:txBody>
      </p:sp>
      <p:sp>
        <p:nvSpPr>
          <p:cNvPr id="209" name="Google Shape;209;p39"/>
          <p:cNvSpPr txBox="1"/>
          <p:nvPr/>
        </p:nvSpPr>
        <p:spPr>
          <a:xfrm>
            <a:off x="4800600" y="3520440"/>
            <a:ext cx="3840600" cy="60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300" u="none" cap="none" strike="noStrike">
                <a:solidFill>
                  <a:srgbClr val="6B6B6B"/>
                </a:solidFill>
                <a:latin typeface="Calibri"/>
                <a:ea typeface="Calibri"/>
                <a:cs typeface="Calibri"/>
                <a:sym typeface="Calibri"/>
              </a:rPr>
              <a:t>Begin storyboarding (Mini Update #5) — pick the strongest two or three charts to anchor the final data story.</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40"/>
          <p:cNvSpPr txBox="1"/>
          <p:nvPr/>
        </p:nvSpPr>
        <p:spPr>
          <a:xfrm>
            <a:off x="457200" y="274320"/>
            <a:ext cx="8229600" cy="400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600" u="none" cap="none" strike="noStrike">
                <a:solidFill>
                  <a:srgbClr val="6A1BB5"/>
                </a:solidFill>
                <a:latin typeface="Calibri"/>
                <a:ea typeface="Calibri"/>
                <a:cs typeface="Calibri"/>
                <a:sym typeface="Calibri"/>
              </a:rPr>
              <a:t>Response to Feedback from Mini Update #2 (Maanas)</a:t>
            </a:r>
            <a:endParaRPr/>
          </a:p>
        </p:txBody>
      </p:sp>
      <p:sp>
        <p:nvSpPr>
          <p:cNvPr id="215" name="Google Shape;215;p40"/>
          <p:cNvSpPr txBox="1"/>
          <p:nvPr/>
        </p:nvSpPr>
        <p:spPr>
          <a:xfrm>
            <a:off x="502920" y="1234440"/>
            <a:ext cx="38406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200" u="none" cap="none" strike="noStrike">
                <a:solidFill>
                  <a:srgbClr val="6A1BB5"/>
                </a:solidFill>
                <a:latin typeface="Calibri"/>
                <a:ea typeface="Calibri"/>
                <a:cs typeface="Calibri"/>
                <a:sym typeface="Calibri"/>
              </a:rPr>
              <a:t>FEEDBACK FROM DR. CHEN</a:t>
            </a:r>
            <a:endParaRPr/>
          </a:p>
        </p:txBody>
      </p:sp>
      <p:sp>
        <p:nvSpPr>
          <p:cNvPr id="216" name="Google Shape;216;p40"/>
          <p:cNvSpPr txBox="1"/>
          <p:nvPr/>
        </p:nvSpPr>
        <p:spPr>
          <a:xfrm>
            <a:off x="502920" y="1600200"/>
            <a:ext cx="39318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a:solidFill>
                  <a:srgbClr val="6B6B6B"/>
                </a:solidFill>
                <a:latin typeface="Calibri"/>
                <a:ea typeface="Calibri"/>
                <a:cs typeface="Calibri"/>
                <a:sym typeface="Calibri"/>
              </a:rPr>
              <a:t>N/A</a:t>
            </a:r>
            <a:endParaRPr/>
          </a:p>
        </p:txBody>
      </p:sp>
      <p:sp>
        <p:nvSpPr>
          <p:cNvPr id="217" name="Google Shape;217;p40"/>
          <p:cNvSpPr txBox="1"/>
          <p:nvPr/>
        </p:nvSpPr>
        <p:spPr>
          <a:xfrm>
            <a:off x="4800600" y="1234440"/>
            <a:ext cx="38406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200" u="none" cap="none" strike="noStrike">
                <a:solidFill>
                  <a:srgbClr val="6A1BB5"/>
                </a:solidFill>
                <a:latin typeface="Calibri"/>
                <a:ea typeface="Calibri"/>
                <a:cs typeface="Calibri"/>
                <a:sym typeface="Calibri"/>
              </a:rPr>
              <a:t>HOW I ADDRESSED IT</a:t>
            </a:r>
            <a:endParaRPr/>
          </a:p>
        </p:txBody>
      </p:sp>
      <p:sp>
        <p:nvSpPr>
          <p:cNvPr id="218" name="Google Shape;218;p40"/>
          <p:cNvSpPr txBox="1"/>
          <p:nvPr/>
        </p:nvSpPr>
        <p:spPr>
          <a:xfrm>
            <a:off x="4800600" y="1600200"/>
            <a:ext cx="38406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
                <a:solidFill>
                  <a:srgbClr val="6B6B6B"/>
                </a:solidFill>
                <a:latin typeface="Calibri"/>
                <a:ea typeface="Calibri"/>
                <a:cs typeface="Calibri"/>
                <a:sym typeface="Calibri"/>
              </a:rPr>
              <a:t>N/A</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pic>
        <p:nvPicPr>
          <p:cNvPr id="223" name="Google Shape;223;p41" title="Screenshot 2026-04-20 at 6.09.01 PM.png"/>
          <p:cNvPicPr preferRelativeResize="0"/>
          <p:nvPr/>
        </p:nvPicPr>
        <p:blipFill>
          <a:blip r:embed="rId3">
            <a:alphaModFix/>
          </a:blip>
          <a:stretch>
            <a:fillRect/>
          </a:stretch>
        </p:blipFill>
        <p:spPr>
          <a:xfrm>
            <a:off x="0" y="811175"/>
            <a:ext cx="5015051" cy="2969049"/>
          </a:xfrm>
          <a:prstGeom prst="rect">
            <a:avLst/>
          </a:prstGeom>
          <a:noFill/>
          <a:ln>
            <a:noFill/>
          </a:ln>
        </p:spPr>
      </p:pic>
      <p:sp>
        <p:nvSpPr>
          <p:cNvPr id="224" name="Google Shape;224;p41"/>
          <p:cNvSpPr txBox="1"/>
          <p:nvPr/>
        </p:nvSpPr>
        <p:spPr>
          <a:xfrm>
            <a:off x="5564900" y="910950"/>
            <a:ext cx="3455700" cy="28329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2"/>
              </a:buClr>
              <a:buSzPts val="1100"/>
              <a:buChar char="●"/>
            </a:pPr>
            <a:r>
              <a:rPr lang="en" sz="1100">
                <a:solidFill>
                  <a:schemeClr val="dk2"/>
                </a:solidFill>
              </a:rPr>
              <a:t>There is a </a:t>
            </a:r>
            <a:r>
              <a:rPr b="1" lang="en" sz="1100">
                <a:solidFill>
                  <a:schemeClr val="dk2"/>
                </a:solidFill>
              </a:rPr>
              <a:t>clear positive relationship</a:t>
            </a:r>
            <a:r>
              <a:rPr lang="en" sz="1100">
                <a:solidFill>
                  <a:schemeClr val="dk2"/>
                </a:solidFill>
              </a:rPr>
              <a:t> between FG% and points scored, meaning more efficient players tend to score more.</a:t>
            </a:r>
            <a:endParaRPr sz="1100">
              <a:solidFill>
                <a:schemeClr val="dk2"/>
              </a:solidFill>
            </a:endParaRPr>
          </a:p>
          <a:p>
            <a:pPr indent="-298450" lvl="0" marL="457200" rtl="0" algn="l">
              <a:lnSpc>
                <a:spcPct val="115000"/>
              </a:lnSpc>
              <a:spcBef>
                <a:spcPts val="0"/>
              </a:spcBef>
              <a:spcAft>
                <a:spcPts val="0"/>
              </a:spcAft>
              <a:buClr>
                <a:schemeClr val="dk2"/>
              </a:buClr>
              <a:buSzPts val="1100"/>
              <a:buChar char="●"/>
            </a:pPr>
            <a:r>
              <a:rPr lang="en" sz="1100">
                <a:solidFill>
                  <a:schemeClr val="dk2"/>
                </a:solidFill>
              </a:rPr>
              <a:t>However, the relationship is </a:t>
            </a:r>
            <a:r>
              <a:rPr b="1" lang="en" sz="1100">
                <a:solidFill>
                  <a:schemeClr val="dk2"/>
                </a:solidFill>
              </a:rPr>
              <a:t>not perfectly linear</a:t>
            </a:r>
            <a:r>
              <a:rPr lang="en" sz="1100">
                <a:solidFill>
                  <a:schemeClr val="dk2"/>
                </a:solidFill>
              </a:rPr>
              <a:t>, as players with similar FG% can have different scoring outputs.</a:t>
            </a:r>
            <a:endParaRPr sz="1100">
              <a:solidFill>
                <a:schemeClr val="dk2"/>
              </a:solidFill>
            </a:endParaRPr>
          </a:p>
          <a:p>
            <a:pPr indent="-298450" lvl="0" marL="457200" rtl="0" algn="l">
              <a:lnSpc>
                <a:spcPct val="115000"/>
              </a:lnSpc>
              <a:spcBef>
                <a:spcPts val="0"/>
              </a:spcBef>
              <a:spcAft>
                <a:spcPts val="0"/>
              </a:spcAft>
              <a:buClr>
                <a:schemeClr val="dk2"/>
              </a:buClr>
              <a:buSzPts val="1100"/>
              <a:buChar char="●"/>
            </a:pPr>
            <a:r>
              <a:rPr lang="en" sz="1100">
                <a:solidFill>
                  <a:schemeClr val="dk2"/>
                </a:solidFill>
              </a:rPr>
              <a:t>This suggests that </a:t>
            </a:r>
            <a:r>
              <a:rPr b="1" lang="en" sz="1100">
                <a:solidFill>
                  <a:schemeClr val="dk2"/>
                </a:solidFill>
              </a:rPr>
              <a:t>shot volume and player role</a:t>
            </a:r>
            <a:r>
              <a:rPr lang="en" sz="1100">
                <a:solidFill>
                  <a:schemeClr val="dk2"/>
                </a:solidFill>
              </a:rPr>
              <a:t> play a major role alongside efficiency.</a:t>
            </a:r>
            <a:endParaRPr sz="1100">
              <a:solidFill>
                <a:schemeClr val="dk2"/>
              </a:solidFill>
            </a:endParaRPr>
          </a:p>
          <a:p>
            <a:pPr indent="-298450" lvl="0" marL="457200" rtl="0" algn="l">
              <a:lnSpc>
                <a:spcPct val="115000"/>
              </a:lnSpc>
              <a:spcBef>
                <a:spcPts val="0"/>
              </a:spcBef>
              <a:spcAft>
                <a:spcPts val="0"/>
              </a:spcAft>
              <a:buClr>
                <a:schemeClr val="dk2"/>
              </a:buClr>
              <a:buSzPts val="1100"/>
              <a:buChar char="●"/>
            </a:pPr>
            <a:r>
              <a:rPr lang="en" sz="1100">
                <a:solidFill>
                  <a:schemeClr val="dk2"/>
                </a:solidFill>
              </a:rPr>
              <a:t>Some high-scoring players combine </a:t>
            </a:r>
            <a:r>
              <a:rPr b="1" lang="en" sz="1100">
                <a:solidFill>
                  <a:schemeClr val="dk2"/>
                </a:solidFill>
              </a:rPr>
              <a:t>both high FG% and high shot attempts</a:t>
            </a:r>
            <a:r>
              <a:rPr lang="en" sz="1100">
                <a:solidFill>
                  <a:schemeClr val="dk2"/>
                </a:solidFill>
              </a:rPr>
              <a:t>, making them the most impactful offensively.</a:t>
            </a:r>
            <a:endParaRPr sz="1100">
              <a:solidFill>
                <a:schemeClr val="dk2"/>
              </a:solidFill>
            </a:endParaRPr>
          </a:p>
          <a:p>
            <a:pPr indent="-298450" lvl="0" marL="457200" rtl="0" algn="l">
              <a:lnSpc>
                <a:spcPct val="115000"/>
              </a:lnSpc>
              <a:spcBef>
                <a:spcPts val="0"/>
              </a:spcBef>
              <a:spcAft>
                <a:spcPts val="0"/>
              </a:spcAft>
              <a:buClr>
                <a:schemeClr val="dk2"/>
              </a:buClr>
              <a:buSzPts val="1100"/>
              <a:buChar char="●"/>
            </a:pPr>
            <a:r>
              <a:rPr lang="en" sz="1100">
                <a:solidFill>
                  <a:schemeClr val="dk2"/>
                </a:solidFill>
              </a:rPr>
              <a:t>Overall, </a:t>
            </a:r>
            <a:r>
              <a:rPr b="1" lang="en" sz="1100">
                <a:solidFill>
                  <a:schemeClr val="dk2"/>
                </a:solidFill>
              </a:rPr>
              <a:t>FG% contributes to scoring, but it is not the only driver</a:t>
            </a:r>
            <a:r>
              <a:rPr lang="en" sz="1100">
                <a:solidFill>
                  <a:schemeClr val="dk2"/>
                </a:solidFill>
              </a:rPr>
              <a:t> — volume and usage must also be considered.</a:t>
            </a:r>
            <a:endParaRPr sz="1100">
              <a:solidFill>
                <a:schemeClr val="dk2"/>
              </a:solidFill>
            </a:endParaRPr>
          </a:p>
          <a:p>
            <a:pPr indent="0" lvl="0" marL="0" rtl="0" algn="l">
              <a:lnSpc>
                <a:spcPct val="115000"/>
              </a:lnSpc>
              <a:spcBef>
                <a:spcPts val="1200"/>
              </a:spcBef>
              <a:spcAft>
                <a:spcPts val="0"/>
              </a:spcAft>
              <a:buClr>
                <a:schemeClr val="dk2"/>
              </a:buClr>
              <a:buSzPts val="1100"/>
              <a:buFont typeface="Arial"/>
              <a:buNone/>
            </a:pPr>
            <a:r>
              <a:t/>
            </a:r>
            <a:endParaRPr sz="1100">
              <a:solidFill>
                <a:schemeClr val="dk2"/>
              </a:solidFill>
            </a:endParaRPr>
          </a:p>
          <a:p>
            <a:pPr indent="0" lvl="0" marL="0" rtl="0" algn="l">
              <a:lnSpc>
                <a:spcPct val="115000"/>
              </a:lnSpc>
              <a:spcBef>
                <a:spcPts val="1200"/>
              </a:spcBef>
              <a:spcAft>
                <a:spcPts val="0"/>
              </a:spcAft>
              <a:buClr>
                <a:schemeClr val="dk2"/>
              </a:buClr>
              <a:buSzPts val="1100"/>
              <a:buFont typeface="Arial"/>
              <a:buNone/>
            </a:pPr>
            <a:r>
              <a:t/>
            </a:r>
            <a:endParaRPr b="1" sz="1100">
              <a:solidFill>
                <a:schemeClr val="dk2"/>
              </a:solidFill>
            </a:endParaRPr>
          </a:p>
          <a:p>
            <a:pPr indent="0" lvl="0" marL="0" rtl="0" algn="l">
              <a:spcBef>
                <a:spcPts val="1200"/>
              </a:spcBef>
              <a:spcAft>
                <a:spcPts val="0"/>
              </a:spcAft>
              <a:buNone/>
            </a:pPr>
            <a:r>
              <a:t/>
            </a:r>
            <a:endParaRPr sz="1800">
              <a:solidFill>
                <a:schemeClr val="lt2"/>
              </a:solidFill>
              <a:latin typeface="Source Sans Pro"/>
              <a:ea typeface="Source Sans Pro"/>
              <a:cs typeface="Source Sans Pro"/>
              <a:sym typeface="Source Sans Pro"/>
            </a:endParaRPr>
          </a:p>
        </p:txBody>
      </p:sp>
      <p:sp>
        <p:nvSpPr>
          <p:cNvPr id="225" name="Google Shape;225;p41"/>
          <p:cNvSpPr txBox="1"/>
          <p:nvPr/>
        </p:nvSpPr>
        <p:spPr>
          <a:xfrm>
            <a:off x="1623600" y="0"/>
            <a:ext cx="5850000" cy="57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b="1" lang="en" sz="2100">
                <a:solidFill>
                  <a:schemeClr val="dk1"/>
                </a:solidFill>
                <a:latin typeface="Source Sans Pro"/>
                <a:ea typeface="Source Sans Pro"/>
                <a:cs typeface="Source Sans Pro"/>
                <a:sym typeface="Source Sans Pro"/>
              </a:rPr>
              <a:t>How strong is the FG% to Scoring Relationship (YONATHAN)</a:t>
            </a:r>
            <a:endParaRPr b="1" sz="21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t/>
            </a:r>
            <a:endParaRPr sz="1800">
              <a:solidFill>
                <a:schemeClr val="lt2"/>
              </a:solidFill>
              <a:latin typeface="Source Sans Pro"/>
              <a:ea typeface="Source Sans Pro"/>
              <a:cs typeface="Source Sans Pro"/>
              <a:sym typeface="Source Sans Pr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42"/>
          <p:cNvSpPr txBox="1"/>
          <p:nvPr/>
        </p:nvSpPr>
        <p:spPr>
          <a:xfrm>
            <a:off x="878550" y="74375"/>
            <a:ext cx="7386900" cy="59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2"/>
              </a:buClr>
              <a:buFont typeface="Arial"/>
              <a:buNone/>
            </a:pPr>
            <a:r>
              <a:rPr b="1" lang="en" sz="2600">
                <a:solidFill>
                  <a:srgbClr val="6A1BB5"/>
                </a:solidFill>
                <a:latin typeface="Calibri"/>
                <a:ea typeface="Calibri"/>
                <a:cs typeface="Calibri"/>
                <a:sym typeface="Calibri"/>
              </a:rPr>
              <a:t>Project Progress Check for Update 3 (YONATHAN)</a:t>
            </a:r>
            <a:endParaRPr>
              <a:solidFill>
                <a:schemeClr val="dk2"/>
              </a:solidFill>
            </a:endParaRPr>
          </a:p>
          <a:p>
            <a:pPr indent="0" lvl="0" marL="0" rtl="0" algn="l">
              <a:spcBef>
                <a:spcPts val="0"/>
              </a:spcBef>
              <a:spcAft>
                <a:spcPts val="0"/>
              </a:spcAft>
              <a:buNone/>
            </a:pPr>
            <a:r>
              <a:t/>
            </a:r>
            <a:endParaRPr sz="1800">
              <a:solidFill>
                <a:schemeClr val="lt2"/>
              </a:solidFill>
              <a:latin typeface="Source Sans Pro"/>
              <a:ea typeface="Source Sans Pro"/>
              <a:cs typeface="Source Sans Pro"/>
              <a:sym typeface="Source Sans Pro"/>
            </a:endParaRPr>
          </a:p>
        </p:txBody>
      </p:sp>
      <p:sp>
        <p:nvSpPr>
          <p:cNvPr id="231" name="Google Shape;231;p42"/>
          <p:cNvSpPr txBox="1"/>
          <p:nvPr/>
        </p:nvSpPr>
        <p:spPr>
          <a:xfrm>
            <a:off x="0" y="2116350"/>
            <a:ext cx="5019600" cy="29553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accent1"/>
              </a:buClr>
              <a:buSzPts val="1800"/>
              <a:buFont typeface="Source Sans Pro"/>
              <a:buChar char="●"/>
            </a:pPr>
            <a:r>
              <a:rPr lang="en" sz="1800">
                <a:solidFill>
                  <a:schemeClr val="accent1"/>
                </a:solidFill>
                <a:latin typeface="Source Sans Pro"/>
                <a:ea typeface="Source Sans Pro"/>
                <a:cs typeface="Source Sans Pro"/>
                <a:sym typeface="Source Sans Pro"/>
              </a:rPr>
              <a:t>There is a clear positive relationship between FG% and points per game.</a:t>
            </a:r>
            <a:endParaRPr sz="1800">
              <a:solidFill>
                <a:schemeClr val="accent1"/>
              </a:solidFill>
              <a:latin typeface="Source Sans Pro"/>
              <a:ea typeface="Source Sans Pro"/>
              <a:cs typeface="Source Sans Pro"/>
              <a:sym typeface="Source Sans Pro"/>
            </a:endParaRPr>
          </a:p>
          <a:p>
            <a:pPr indent="-342900" lvl="0" marL="457200" rtl="0" algn="l">
              <a:spcBef>
                <a:spcPts val="0"/>
              </a:spcBef>
              <a:spcAft>
                <a:spcPts val="0"/>
              </a:spcAft>
              <a:buClr>
                <a:schemeClr val="accent1"/>
              </a:buClr>
              <a:buSzPts val="1800"/>
              <a:buFont typeface="Source Sans Pro"/>
              <a:buChar char="●"/>
            </a:pPr>
            <a:r>
              <a:rPr lang="en" sz="1800">
                <a:solidFill>
                  <a:schemeClr val="accent1"/>
                </a:solidFill>
                <a:latin typeface="Source Sans Pro"/>
                <a:ea typeface="Source Sans Pro"/>
                <a:cs typeface="Source Sans Pro"/>
                <a:sym typeface="Source Sans Pro"/>
              </a:rPr>
              <a:t>Players with better shooting efficiency generally score more, but the relationship is not perfect.</a:t>
            </a:r>
            <a:endParaRPr sz="1800">
              <a:solidFill>
                <a:schemeClr val="accent1"/>
              </a:solidFill>
              <a:latin typeface="Source Sans Pro"/>
              <a:ea typeface="Source Sans Pro"/>
              <a:cs typeface="Source Sans Pro"/>
              <a:sym typeface="Source Sans Pro"/>
            </a:endParaRPr>
          </a:p>
          <a:p>
            <a:pPr indent="-342900" lvl="0" marL="457200" rtl="0" algn="l">
              <a:spcBef>
                <a:spcPts val="0"/>
              </a:spcBef>
              <a:spcAft>
                <a:spcPts val="0"/>
              </a:spcAft>
              <a:buClr>
                <a:schemeClr val="accent1"/>
              </a:buClr>
              <a:buSzPts val="1800"/>
              <a:buFont typeface="Source Sans Pro"/>
              <a:buChar char="●"/>
            </a:pPr>
            <a:r>
              <a:rPr lang="en" sz="1800">
                <a:solidFill>
                  <a:schemeClr val="accent1"/>
                </a:solidFill>
                <a:latin typeface="Source Sans Pro"/>
                <a:ea typeface="Source Sans Pro"/>
                <a:cs typeface="Source Sans Pro"/>
                <a:sym typeface="Source Sans Pro"/>
              </a:rPr>
              <a:t>Some players score less efficiently, which suggests shot volume and role also matter.</a:t>
            </a:r>
            <a:endParaRPr sz="1800">
              <a:solidFill>
                <a:schemeClr val="accent1"/>
              </a:solidFill>
              <a:latin typeface="Source Sans Pro"/>
              <a:ea typeface="Source Sans Pro"/>
              <a:cs typeface="Source Sans Pro"/>
              <a:sym typeface="Source Sans Pro"/>
            </a:endParaRPr>
          </a:p>
          <a:p>
            <a:pPr indent="-342900" lvl="0" marL="457200" rtl="0" algn="l">
              <a:spcBef>
                <a:spcPts val="0"/>
              </a:spcBef>
              <a:spcAft>
                <a:spcPts val="0"/>
              </a:spcAft>
              <a:buClr>
                <a:schemeClr val="accent1"/>
              </a:buClr>
              <a:buSzPts val="1800"/>
              <a:buFont typeface="Source Sans Pro"/>
              <a:buChar char="●"/>
            </a:pPr>
            <a:r>
              <a:rPr lang="en" sz="1800">
                <a:solidFill>
                  <a:schemeClr val="accent1"/>
                </a:solidFill>
                <a:latin typeface="Source Sans Pro"/>
                <a:ea typeface="Source Sans Pro"/>
                <a:cs typeface="Source Sans Pro"/>
                <a:sym typeface="Source Sans Pro"/>
              </a:rPr>
              <a:t>This supports our earlier finding that efficiency helps scoring, but it is not the only driver.</a:t>
            </a:r>
            <a:endParaRPr sz="1800">
              <a:solidFill>
                <a:schemeClr val="accent1"/>
              </a:solidFill>
              <a:latin typeface="Source Sans Pro"/>
              <a:ea typeface="Source Sans Pro"/>
              <a:cs typeface="Source Sans Pro"/>
              <a:sym typeface="Source Sans Pro"/>
            </a:endParaRPr>
          </a:p>
        </p:txBody>
      </p:sp>
      <p:sp>
        <p:nvSpPr>
          <p:cNvPr id="232" name="Google Shape;232;p42"/>
          <p:cNvSpPr txBox="1"/>
          <p:nvPr/>
        </p:nvSpPr>
        <p:spPr>
          <a:xfrm>
            <a:off x="0" y="1127850"/>
            <a:ext cx="7138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lt2"/>
              </a:solidFill>
              <a:latin typeface="Source Sans Pro"/>
              <a:ea typeface="Source Sans Pro"/>
              <a:cs typeface="Source Sans Pro"/>
              <a:sym typeface="Source Sans Pro"/>
            </a:endParaRPr>
          </a:p>
        </p:txBody>
      </p:sp>
      <p:sp>
        <p:nvSpPr>
          <p:cNvPr id="233" name="Google Shape;233;p42"/>
          <p:cNvSpPr txBox="1"/>
          <p:nvPr/>
        </p:nvSpPr>
        <p:spPr>
          <a:xfrm>
            <a:off x="1784725" y="731250"/>
            <a:ext cx="58623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latin typeface="Source Sans Pro"/>
                <a:ea typeface="Source Sans Pro"/>
                <a:cs typeface="Source Sans Pro"/>
                <a:sym typeface="Source Sans Pro"/>
              </a:rPr>
              <a:t>How strong is the FG% to Scoring Relationship</a:t>
            </a:r>
            <a:endParaRPr sz="1800">
              <a:solidFill>
                <a:schemeClr val="lt2"/>
              </a:solidFill>
              <a:latin typeface="Source Sans Pro"/>
              <a:ea typeface="Source Sans Pro"/>
              <a:cs typeface="Source Sans Pro"/>
              <a:sym typeface="Source Sans Pro"/>
            </a:endParaRPr>
          </a:p>
        </p:txBody>
      </p:sp>
      <p:sp>
        <p:nvSpPr>
          <p:cNvPr id="234" name="Google Shape;234;p42"/>
          <p:cNvSpPr txBox="1"/>
          <p:nvPr/>
        </p:nvSpPr>
        <p:spPr>
          <a:xfrm>
            <a:off x="5263625" y="1516200"/>
            <a:ext cx="39822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2"/>
                </a:solidFill>
                <a:latin typeface="Source Sans Pro"/>
                <a:ea typeface="Source Sans Pro"/>
                <a:cs typeface="Source Sans Pro"/>
                <a:sym typeface="Source Sans Pro"/>
              </a:rPr>
              <a:t>In the FG% vs scoring analysis, the relationship was not perfectly clear since some players with high efficiency did not score as much, making the trend harder to interpret. It was also difficult to separate the impact of shooting efficiency from shot volume and player roles.</a:t>
            </a:r>
            <a:endParaRPr sz="1500">
              <a:solidFill>
                <a:schemeClr val="dk2"/>
              </a:solidFill>
              <a:latin typeface="Source Sans Pro"/>
              <a:ea typeface="Source Sans Pro"/>
              <a:cs typeface="Source Sans Pro"/>
              <a:sym typeface="Source Sans Pro"/>
            </a:endParaRPr>
          </a:p>
        </p:txBody>
      </p:sp>
      <p:sp>
        <p:nvSpPr>
          <p:cNvPr id="235" name="Google Shape;235;p42"/>
          <p:cNvSpPr txBox="1"/>
          <p:nvPr/>
        </p:nvSpPr>
        <p:spPr>
          <a:xfrm>
            <a:off x="5713625" y="1127850"/>
            <a:ext cx="3036600" cy="31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Source Sans Pro"/>
                <a:ea typeface="Source Sans Pro"/>
                <a:cs typeface="Source Sans Pro"/>
                <a:sym typeface="Source Sans Pro"/>
              </a:rPr>
              <a:t>Obstacles</a:t>
            </a:r>
            <a:endParaRPr sz="1800">
              <a:solidFill>
                <a:schemeClr val="dk1"/>
              </a:solidFill>
              <a:latin typeface="Source Sans Pro"/>
              <a:ea typeface="Source Sans Pro"/>
              <a:cs typeface="Source Sans Pro"/>
              <a:sym typeface="Source Sans Pro"/>
            </a:endParaRPr>
          </a:p>
        </p:txBody>
      </p:sp>
      <p:sp>
        <p:nvSpPr>
          <p:cNvPr id="236" name="Google Shape;236;p42"/>
          <p:cNvSpPr txBox="1"/>
          <p:nvPr/>
        </p:nvSpPr>
        <p:spPr>
          <a:xfrm>
            <a:off x="148725" y="1301375"/>
            <a:ext cx="3433200" cy="59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Source Sans Pro"/>
                <a:ea typeface="Source Sans Pro"/>
                <a:cs typeface="Source Sans Pro"/>
                <a:sym typeface="Source Sans Pro"/>
              </a:rPr>
              <a:t>What i worked on this week</a:t>
            </a:r>
            <a:endParaRPr sz="1800">
              <a:solidFill>
                <a:schemeClr val="dk1"/>
              </a:solidFill>
              <a:latin typeface="Source Sans Pro"/>
              <a:ea typeface="Source Sans Pro"/>
              <a:cs typeface="Source Sans Pro"/>
              <a:sym typeface="Source Sans Pro"/>
            </a:endParaRPr>
          </a:p>
        </p:txBody>
      </p:sp>
      <p:sp>
        <p:nvSpPr>
          <p:cNvPr id="237" name="Google Shape;237;p42"/>
          <p:cNvSpPr txBox="1"/>
          <p:nvPr/>
        </p:nvSpPr>
        <p:spPr>
          <a:xfrm flipH="1" rot="10800000">
            <a:off x="4744275" y="4441386"/>
            <a:ext cx="4399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lt2"/>
              </a:solidFill>
              <a:latin typeface="Source Sans Pro"/>
              <a:ea typeface="Source Sans Pro"/>
              <a:cs typeface="Source Sans Pro"/>
              <a:sym typeface="Source Sans Pro"/>
            </a:endParaRPr>
          </a:p>
        </p:txBody>
      </p:sp>
      <p:sp>
        <p:nvSpPr>
          <p:cNvPr id="238" name="Google Shape;238;p42"/>
          <p:cNvSpPr txBox="1"/>
          <p:nvPr/>
        </p:nvSpPr>
        <p:spPr>
          <a:xfrm>
            <a:off x="5341800" y="3474453"/>
            <a:ext cx="3649200" cy="149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dk2"/>
                </a:solidFill>
                <a:latin typeface="Source Sans Pro"/>
                <a:ea typeface="Source Sans Pro"/>
                <a:cs typeface="Source Sans Pro"/>
                <a:sym typeface="Source Sans Pro"/>
              </a:rPr>
              <a:t>Build on the FG% vs scoring analysis by adding variables like shot attempts (FGA) or True Shooting % to better explain how efficiency and volume together impact scoring.</a:t>
            </a:r>
            <a:endParaRPr sz="1700">
              <a:solidFill>
                <a:schemeClr val="dk2"/>
              </a:solidFill>
              <a:latin typeface="Source Sans Pro"/>
              <a:ea typeface="Source Sans Pro"/>
              <a:cs typeface="Source Sans Pro"/>
              <a:sym typeface="Source Sans Pro"/>
            </a:endParaRPr>
          </a:p>
        </p:txBody>
      </p:sp>
      <p:sp>
        <p:nvSpPr>
          <p:cNvPr id="239" name="Google Shape;239;p42"/>
          <p:cNvSpPr txBox="1"/>
          <p:nvPr/>
        </p:nvSpPr>
        <p:spPr>
          <a:xfrm>
            <a:off x="5552500" y="3098500"/>
            <a:ext cx="29745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Source Sans Pro"/>
                <a:ea typeface="Source Sans Pro"/>
                <a:cs typeface="Source Sans Pro"/>
                <a:sym typeface="Source Sans Pro"/>
              </a:rPr>
              <a:t>Next steps</a:t>
            </a:r>
            <a:endParaRPr sz="1800">
              <a:solidFill>
                <a:schemeClr val="dk1"/>
              </a:solidFill>
              <a:latin typeface="Source Sans Pro"/>
              <a:ea typeface="Source Sans Pro"/>
              <a:cs typeface="Source Sans Pro"/>
              <a:sym typeface="Source Sans Pr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lum">
  <a:themeElements>
    <a:clrScheme name="Plum">
      <a:dk1>
        <a:srgbClr val="611BB8"/>
      </a:dk1>
      <a:lt1>
        <a:srgbClr val="FFFFFF"/>
      </a:lt1>
      <a:dk2>
        <a:srgbClr val="000000"/>
      </a:dk2>
      <a:lt2>
        <a:srgbClr val="7F7F7F"/>
      </a:lt2>
      <a:accent1>
        <a:srgbClr val="333333"/>
      </a:accent1>
      <a:accent2>
        <a:srgbClr val="5E2B97"/>
      </a:accent2>
      <a:accent3>
        <a:srgbClr val="7E57C2"/>
      </a:accent3>
      <a:accent4>
        <a:srgbClr val="C77025"/>
      </a:accent4>
      <a:accent5>
        <a:srgbClr val="009688"/>
      </a:accent5>
      <a:accent6>
        <a:srgbClr val="FFD600"/>
      </a:accent6>
      <a:hlink>
        <a:srgbClr val="009688"/>
      </a:hlink>
      <a:folHlink>
        <a:srgbClr val="00968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