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9A2251-5CFB-4168-A527-364E10DBA056}">
  <a:tblStyle styleId="{4A9A2251-5CFB-4168-A527-364E10DBA05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1T05:13:15.420">
    <p:pos x="335" y="775"/>
    <p:text>this question is too simple, try to go beyond ranking</p:text>
  </p:cm>
  <p:cm authorId="0" idx="2" dt="2026-04-21T05:13:59.794">
    <p:pos x="335" y="875"/>
    <p:text>this is a more interesting question</p:text>
  </p:cm>
  <p:cm authorId="0" idx="3" dt="2026-04-21T05:14:36.845">
    <p:pos x="335" y="975"/>
    <p:text>please rewrite this slide to clearly separate audience and curious questions list in 1, 2, 3</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1T05:19:16.693">
    <p:pos x="196" y="1727"/>
    <p:text>@azewdu1@umbc.edu this is interesting, can you find a way to label those data points by the genre names?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28T23:33:05.639">
    <p:pos x="196" y="725"/>
    <p:text>so this is a normalized score, good idea</p:text>
  </p:cm>
  <p:cm authorId="0" idx="6" dt="2026-04-28T23:33:28.191">
    <p:pos x="3272" y="1620"/>
    <p:text>cosmetic issues, consider increase the font size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820f06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820f06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820f065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820f065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820f065e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820f065e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820f065e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820f065e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820f065e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820f065e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820f065e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820f065e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820f065e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820f065e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820f065ee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820f065ee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820f065ee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820f065ee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820f065ee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820f065ee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820f065ee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820f065ee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820f065ee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820f065ee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820f065ee_3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820f065ee_3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820f065ee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820f065ee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820f065ee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820f065ee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820f065ee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820f065ee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9ca9c46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9ca9c46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9ca9c46e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9ca9c46e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9ca9c46e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9ca9c46e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9ca9c46e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9ca9c46e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9ca9c46e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9ca9c46e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c106c18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c106c18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c106c18d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c106c18d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c106c18d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c106c18d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c106c18d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dc106c18d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S5 Weekly Deliverables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Azaria Zewdu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78325" y="19343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5000"/>
              <a:t>Week 1</a:t>
            </a:r>
            <a:endParaRPr b="1" sz="5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6" name="Google Shape;66;p15"/>
          <p:cNvSpPr txBox="1"/>
          <p:nvPr>
            <p:ph idx="1" type="body"/>
          </p:nvPr>
        </p:nvSpPr>
        <p:spPr>
          <a:xfrm>
            <a:off x="531900" y="1231096"/>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a:t>One question I will be trying to find an answer on throughout this entire project is </a:t>
            </a:r>
            <a:r>
              <a:rPr lang="en"/>
              <a:t>which anime genres have the highest average ratings.</a:t>
            </a:r>
            <a:r>
              <a:rPr lang="en"/>
              <a:t> As an anime watcher myself this is a question </a:t>
            </a:r>
            <a:r>
              <a:rPr lang="en"/>
              <a:t>I often think about and wanted to see if theres a </a:t>
            </a:r>
            <a:r>
              <a:rPr lang="en"/>
              <a:t>correlation</a:t>
            </a:r>
            <a:r>
              <a:rPr lang="en"/>
              <a:t> to an animes performance being based on the genre aswell</a:t>
            </a:r>
            <a:r>
              <a:rPr lang="en"/>
              <a:t>. Each genre offers a different type of feel for viewers, which can influence how much people enjoy and rate a show. </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Throughout this </a:t>
            </a:r>
            <a:r>
              <a:rPr lang="en"/>
              <a:t>project</a:t>
            </a:r>
            <a:r>
              <a:rPr lang="en"/>
              <a:t> I will try to find an answer to this question and use the data </a:t>
            </a:r>
            <a:r>
              <a:rPr lang="en"/>
              <a:t>available</a:t>
            </a:r>
            <a:r>
              <a:rPr lang="en"/>
              <a:t> to me to create a data story.</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174525" y="129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a:t>
            </a:r>
            <a:endParaRPr/>
          </a:p>
        </p:txBody>
      </p:sp>
      <p:graphicFrame>
        <p:nvGraphicFramePr>
          <p:cNvPr id="72" name="Google Shape;72;p16"/>
          <p:cNvGraphicFramePr/>
          <p:nvPr/>
        </p:nvGraphicFramePr>
        <p:xfrm>
          <a:off x="307850" y="1104125"/>
          <a:ext cx="3000000" cy="3000000"/>
        </p:xfrm>
        <a:graphic>
          <a:graphicData uri="http://schemas.openxmlformats.org/drawingml/2006/table">
            <a:tbl>
              <a:tblPr>
                <a:noFill/>
                <a:tableStyleId>{4A9A2251-5CFB-4168-A527-364E10DBA056}</a:tableStyleId>
              </a:tblPr>
              <a:tblGrid>
                <a:gridCol w="1447800"/>
                <a:gridCol w="1447800"/>
                <a:gridCol w="1447800"/>
                <a:gridCol w="1447800"/>
                <a:gridCol w="1447800"/>
              </a:tblGrid>
              <a:tr h="30955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Missing Values</a:t>
                      </a:r>
                      <a:endParaRPr/>
                    </a:p>
                  </a:txBody>
                  <a:tcPr marT="91425" marB="91425" marR="91425" marL="91425"/>
                </a:tc>
                <a:tc>
                  <a:txBody>
                    <a:bodyPr/>
                    <a:lstStyle/>
                    <a:p>
                      <a:pPr indent="0" lvl="0" marL="0" rtl="0" algn="l">
                        <a:spcBef>
                          <a:spcPts val="0"/>
                        </a:spcBef>
                        <a:spcAft>
                          <a:spcPts val="0"/>
                        </a:spcAft>
                        <a:buNone/>
                      </a:pPr>
                      <a:r>
                        <a:rPr lang="en"/>
                        <a:t>Data Type</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Needs Cleaning</a:t>
                      </a:r>
                      <a:endParaRPr/>
                    </a:p>
                  </a:txBody>
                  <a:tcPr marT="91425" marB="91425" marR="91425" marL="91425"/>
                </a:tc>
              </a:tr>
              <a:tr h="309550">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9550">
                <a:tc>
                  <a:txBody>
                    <a:bodyPr/>
                    <a:lstStyle/>
                    <a:p>
                      <a:pPr indent="0" lvl="0" marL="0" rtl="0" algn="l">
                        <a:spcBef>
                          <a:spcPts val="0"/>
                        </a:spcBef>
                        <a:spcAft>
                          <a:spcPts val="0"/>
                        </a:spcAft>
                        <a:buNone/>
                      </a:pPr>
                      <a:r>
                        <a:rPr lang="en"/>
                        <a:t>Score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9550">
                <a:tc>
                  <a:txBody>
                    <a:bodyPr/>
                    <a:lstStyle/>
                    <a:p>
                      <a:pPr indent="0" lvl="0" marL="0" rtl="0" algn="l">
                        <a:spcBef>
                          <a:spcPts val="0"/>
                        </a:spcBef>
                        <a:spcAft>
                          <a:spcPts val="0"/>
                        </a:spcAft>
                        <a:buNone/>
                      </a:pPr>
                      <a:r>
                        <a:rPr lang="en"/>
                        <a:t>Genres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297675">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Maybe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297675">
                <a:tc>
                  <a:txBody>
                    <a:bodyPr/>
                    <a:lstStyle/>
                    <a:p>
                      <a:pPr indent="0" lvl="0" marL="0" rtl="0" algn="l">
                        <a:spcBef>
                          <a:spcPts val="0"/>
                        </a:spcBef>
                        <a:spcAft>
                          <a:spcPts val="0"/>
                        </a:spcAft>
                        <a:buNone/>
                      </a:pPr>
                      <a:r>
                        <a:rPr lang="en"/>
                        <a:t>Episodes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Maybe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297675">
                <a:tc>
                  <a:txBody>
                    <a:bodyPr/>
                    <a:lstStyle/>
                    <a:p>
                      <a:pPr indent="0" lvl="0" marL="0" rtl="0" algn="l">
                        <a:spcBef>
                          <a:spcPts val="0"/>
                        </a:spcBef>
                        <a:spcAft>
                          <a:spcPts val="0"/>
                        </a:spcAft>
                        <a:buNone/>
                      </a:pPr>
                      <a:r>
                        <a:rPr lang="en"/>
                        <a:t>Source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281775">
                <a:tc>
                  <a:txBody>
                    <a:bodyPr/>
                    <a:lstStyle/>
                    <a:p>
                      <a:pPr indent="0" lvl="0" marL="0" rtl="0" algn="l">
                        <a:spcBef>
                          <a:spcPts val="0"/>
                        </a:spcBef>
                        <a:spcAft>
                          <a:spcPts val="0"/>
                        </a:spcAft>
                        <a:buNone/>
                      </a:pPr>
                      <a:r>
                        <a:rPr lang="en"/>
                        <a:t>duration</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09550">
                <a:tc>
                  <a:txBody>
                    <a:bodyPr/>
                    <a:lstStyle/>
                    <a:p>
                      <a:pPr indent="0" lvl="0" marL="0" rtl="0" algn="l">
                        <a:spcBef>
                          <a:spcPts val="0"/>
                        </a:spcBef>
                        <a:spcAft>
                          <a:spcPts val="0"/>
                        </a:spcAft>
                        <a:buNone/>
                      </a:pPr>
                      <a:r>
                        <a:rPr lang="en"/>
                        <a:t>popularity</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
        <p:nvSpPr>
          <p:cNvPr id="73" name="Google Shape;73;p16"/>
          <p:cNvSpPr txBox="1"/>
          <p:nvPr/>
        </p:nvSpPr>
        <p:spPr>
          <a:xfrm>
            <a:off x="1193950" y="615575"/>
            <a:ext cx="62094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dataset has 15,000 rows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Profile</a:t>
            </a:r>
            <a:endParaRPr/>
          </a:p>
        </p:txBody>
      </p:sp>
      <p:graphicFrame>
        <p:nvGraphicFramePr>
          <p:cNvPr id="79" name="Google Shape;79;p17"/>
          <p:cNvGraphicFramePr/>
          <p:nvPr/>
        </p:nvGraphicFramePr>
        <p:xfrm>
          <a:off x="311700" y="1475125"/>
          <a:ext cx="3000000" cy="3000000"/>
        </p:xfrm>
        <a:graphic>
          <a:graphicData uri="http://schemas.openxmlformats.org/drawingml/2006/table">
            <a:tbl>
              <a:tblPr>
                <a:noFill/>
                <a:tableStyleId>{4A9A2251-5CFB-4168-A527-364E10DBA056}</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Missing Values</a:t>
                      </a:r>
                      <a:endParaRPr/>
                    </a:p>
                  </a:txBody>
                  <a:tcPr marT="91425" marB="91425" marR="91425" marL="91425"/>
                </a:tc>
                <a:tc>
                  <a:txBody>
                    <a:bodyPr/>
                    <a:lstStyle/>
                    <a:p>
                      <a:pPr indent="0" lvl="0" marL="0" rtl="0" algn="l">
                        <a:spcBef>
                          <a:spcPts val="0"/>
                        </a:spcBef>
                        <a:spcAft>
                          <a:spcPts val="0"/>
                        </a:spcAft>
                        <a:buNone/>
                      </a:pPr>
                      <a:r>
                        <a:rPr lang="en"/>
                        <a:t>Data Type</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Needs Cleaning</a:t>
                      </a:r>
                      <a:endParaRPr/>
                    </a:p>
                  </a:txBody>
                  <a:tcPr marT="91425" marB="91425" marR="91425" marL="91425"/>
                </a:tc>
              </a:tr>
              <a:tr h="381000">
                <a:tc>
                  <a:txBody>
                    <a:bodyPr/>
                    <a:lstStyle/>
                    <a:p>
                      <a:pPr indent="0" lvl="0" marL="0" rtl="0" algn="l">
                        <a:spcBef>
                          <a:spcPts val="0"/>
                        </a:spcBef>
                        <a:spcAft>
                          <a:spcPts val="0"/>
                        </a:spcAft>
                        <a:buNone/>
                      </a:pPr>
                      <a:r>
                        <a:rPr lang="en"/>
                        <a:t>members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Maybe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381000">
                <a:tc>
                  <a:txBody>
                    <a:bodyPr/>
                    <a:lstStyle/>
                    <a:p>
                      <a:pPr indent="0" lvl="0" marL="0" rtl="0" algn="l">
                        <a:spcBef>
                          <a:spcPts val="0"/>
                        </a:spcBef>
                        <a:spcAft>
                          <a:spcPts val="0"/>
                        </a:spcAft>
                        <a:buNone/>
                      </a:pPr>
                      <a:r>
                        <a:rPr lang="en"/>
                        <a:t>rating</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381000">
                <a:tc>
                  <a:txBody>
                    <a:bodyPr/>
                    <a:lstStyle/>
                    <a:p>
                      <a:pPr indent="0" lvl="0" marL="0" rtl="0" algn="l">
                        <a:spcBef>
                          <a:spcPts val="0"/>
                        </a:spcBef>
                        <a:spcAft>
                          <a:spcPts val="0"/>
                        </a:spcAft>
                        <a:buNone/>
                      </a:pPr>
                      <a:r>
                        <a:rPr lang="en"/>
                        <a:t>rank</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Curious Questions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sz="2000">
                <a:solidFill>
                  <a:schemeClr val="dk1"/>
                </a:solidFill>
              </a:rPr>
              <a:t>Do certain genres consistently have higher ratings than others?</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Are niche genres rated higher than popular genres like action?</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Do anime with multiple genres have higher average ratings than single-genre anime?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Is there a genre that is very popular but not highly rated?</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Are highly rated genres also the most common in the dataset?</a:t>
            </a:r>
            <a:endParaRPr sz="2000">
              <a:solidFill>
                <a:schemeClr val="dk1"/>
              </a:solidFill>
            </a:endParaRPr>
          </a:p>
          <a:p>
            <a:pPr indent="-342900" lvl="0" marL="457200" rtl="0" algn="l">
              <a:spcBef>
                <a:spcPts val="0"/>
              </a:spcBef>
              <a:spcAft>
                <a:spcPts val="0"/>
              </a:spcAft>
              <a:buSzPts val="1800"/>
              <a:buChar char="●"/>
            </a:pPr>
            <a:r>
              <a:rPr lang="en" sz="2000">
                <a:solidFill>
                  <a:schemeClr val="dk1"/>
                </a:solidFill>
              </a:rPr>
              <a:t>Do genres with fewer anime tend to have higher or lower ratings</a:t>
            </a:r>
            <a:r>
              <a:rPr lang="en" sz="2200"/>
              <a:t>?</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Audience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
                <a:solidFill>
                  <a:schemeClr val="dk1"/>
                </a:solidFill>
              </a:rPr>
              <a:t>Anime Watchers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discover which genres have the highest ratings and find new anime they are more likely to enjoy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better understand trends in what types of anime are considered high quality </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Manga Writers/Anime Producers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Help them find out which genres tend to perform best, helping guide story and genre choices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use audience rating trends to create content that is more likely to succeed and appeal to viewers </a:t>
            </a:r>
            <a:endParaRPr>
              <a:solidFill>
                <a:schemeClr val="dk1"/>
              </a:solidFill>
            </a:endParaRPr>
          </a:p>
          <a:p>
            <a:pPr indent="0" lvl="0" marL="0" rtl="0" algn="l">
              <a:spcBef>
                <a:spcPts val="1200"/>
              </a:spcBef>
              <a:spcAft>
                <a:spcPts val="0"/>
              </a:spcAft>
              <a:buNone/>
            </a:pPr>
            <a:r>
              <a:t/>
            </a:r>
            <a:endParaRPr/>
          </a:p>
          <a:p>
            <a:pPr indent="0" lvl="0" marL="457200" rtl="0" algn="l">
              <a:spcBef>
                <a:spcPts val="1200"/>
              </a:spcBef>
              <a:spcAft>
                <a:spcPts val="1200"/>
              </a:spcAft>
              <a:buNone/>
            </a:pP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Goals</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goal of this project  is to identify which anime genres have the highest average ratings and help the audience better understand the story behind the data. This allows anime fans to discover high-quality content and helps manga writers make better decisions about which genres are most successful.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2530225" y="1586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000"/>
              <a:t>Week 2</a:t>
            </a:r>
            <a:endParaRPr sz="4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55000"/>
              <a:buFont typeface="Arial"/>
              <a:buNone/>
            </a:pPr>
            <a:r>
              <a:rPr lang="en" sz="2000"/>
              <a:t>Top Anime Genres by Average Rating</a:t>
            </a:r>
            <a:endParaRPr sz="2000"/>
          </a:p>
          <a:p>
            <a:pPr indent="0" lvl="0" marL="0" rtl="0" algn="l">
              <a:spcBef>
                <a:spcPts val="1200"/>
              </a:spcBef>
              <a:spcAft>
                <a:spcPts val="0"/>
              </a:spcAft>
              <a:buNone/>
            </a:pPr>
            <a:r>
              <a:t/>
            </a:r>
            <a:endParaRPr/>
          </a:p>
        </p:txBody>
      </p:sp>
      <p:pic>
        <p:nvPicPr>
          <p:cNvPr id="108" name="Google Shape;108;p22" title="Screenshot 2026-04-20 164833.png"/>
          <p:cNvPicPr preferRelativeResize="0"/>
          <p:nvPr/>
        </p:nvPicPr>
        <p:blipFill>
          <a:blip r:embed="rId3">
            <a:alphaModFix/>
          </a:blip>
          <a:stretch>
            <a:fillRect/>
          </a:stretch>
        </p:blipFill>
        <p:spPr>
          <a:xfrm>
            <a:off x="5497825" y="1780600"/>
            <a:ext cx="3334475" cy="2788275"/>
          </a:xfrm>
          <a:prstGeom prst="rect">
            <a:avLst/>
          </a:prstGeom>
          <a:noFill/>
          <a:ln>
            <a:noFill/>
          </a:ln>
        </p:spPr>
      </p:pic>
      <p:sp>
        <p:nvSpPr>
          <p:cNvPr id="109" name="Google Shape;109;p22"/>
          <p:cNvSpPr txBox="1"/>
          <p:nvPr/>
        </p:nvSpPr>
        <p:spPr>
          <a:xfrm>
            <a:off x="0" y="830950"/>
            <a:ext cx="4883100" cy="29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graph below illustrates the 10 most popular anime genres according to average rating scores. Every bar corresponds to a particular genre while its height is determined by the corresponding rating score.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The graph shows that award-winning anime, suspense, and mystery are usually highly appreciated and scored higher than other anime. Consequently, one may conclude that audiences prefer more sophisticated anime with a compelling story line. Overall, the use of a graph helps me to analyze the performance of anime genres in terms of their rating scores.</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 far, I have been making good progress with my data project by loading, cleaning, and performing initial analysis on the data set using JupyterHub, according to the instructions given, where I am working on processing the genre column, creating a bar chart of the top genres based on the average rating. It has allowed me to start exploring data and observing some patterns in data; however, further analysis of the data needs to be done next week. The most significant problem I had was managing my time since I am </a:t>
            </a:r>
            <a:r>
              <a:rPr lang="en"/>
              <a:t>taking 19</a:t>
            </a:r>
            <a:r>
              <a:rPr lang="en"/>
              <a:t> credits.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 Response</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nvSpPr>
        <p:spPr>
          <a:xfrm>
            <a:off x="3135425" y="1889000"/>
            <a:ext cx="6082500" cy="12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dk2"/>
                </a:solidFill>
              </a:rPr>
              <a:t>Week 3</a:t>
            </a:r>
            <a:endParaRPr sz="35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Genre Size vs Average Anime Rating </a:t>
            </a:r>
            <a:endParaRPr/>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Each point represents a genre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X-axis shows number of anime in each genre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Y-axis shows average rating for that genre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Helps analyze relationship between popularity and quality</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pic>
        <p:nvPicPr>
          <p:cNvPr id="133" name="Google Shape;133;p26" title="Screenshot 2026-04-20 171325.png"/>
          <p:cNvPicPr preferRelativeResize="0"/>
          <p:nvPr/>
        </p:nvPicPr>
        <p:blipFill>
          <a:blip r:embed="rId4">
            <a:alphaModFix/>
          </a:blip>
          <a:stretch>
            <a:fillRect/>
          </a:stretch>
        </p:blipFill>
        <p:spPr>
          <a:xfrm>
            <a:off x="5494650" y="2356250"/>
            <a:ext cx="3833399" cy="2787250"/>
          </a:xfrm>
          <a:prstGeom prst="rect">
            <a:avLst/>
          </a:prstGeom>
          <a:noFill/>
          <a:ln>
            <a:noFill/>
          </a:ln>
        </p:spPr>
      </p:pic>
      <p:sp>
        <p:nvSpPr>
          <p:cNvPr id="134" name="Google Shape;134;p26"/>
          <p:cNvSpPr txBox="1"/>
          <p:nvPr/>
        </p:nvSpPr>
        <p:spPr>
          <a:xfrm>
            <a:off x="311700" y="2742275"/>
            <a:ext cx="4877100" cy="15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This scatter plot demonstrates the relationship between the number of anime per genre and their ratings.</a:t>
            </a:r>
            <a:r>
              <a:rPr lang="en" sz="1600">
                <a:solidFill>
                  <a:schemeClr val="dk1"/>
                </a:solidFill>
              </a:rPr>
              <a:t> This will help me establish whether popular genres have better ratings. </a:t>
            </a:r>
            <a:r>
              <a:rPr lang="en" sz="1600">
                <a:solidFill>
                  <a:schemeClr val="dk1"/>
                </a:solidFill>
              </a:rPr>
              <a:t>The scatter plot will also help in identifying whether popularity affects the quality of anime or whether smaller genres do better.</a:t>
            </a:r>
            <a:endParaRPr sz="1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Average Rating by Anime Type </a:t>
            </a:r>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Compares ratings across anime formats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Includes types like TV, Movie, OVA, and Special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Shows how format may impact ratings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Adds another factor beyond genre</a:t>
            </a:r>
            <a:endParaRPr>
              <a:solidFill>
                <a:srgbClr val="000000"/>
              </a:solidFill>
            </a:endParaRPr>
          </a:p>
          <a:p>
            <a:pPr indent="0" lvl="0" marL="0" rtl="0" algn="l">
              <a:spcBef>
                <a:spcPts val="1200"/>
              </a:spcBef>
              <a:spcAft>
                <a:spcPts val="1200"/>
              </a:spcAft>
              <a:buNone/>
            </a:pPr>
            <a:r>
              <a:t/>
            </a:r>
            <a:endParaRPr/>
          </a:p>
        </p:txBody>
      </p:sp>
      <p:pic>
        <p:nvPicPr>
          <p:cNvPr id="141" name="Google Shape;141;p27" title="Screenshot 2026-04-20 171334.png"/>
          <p:cNvPicPr preferRelativeResize="0"/>
          <p:nvPr/>
        </p:nvPicPr>
        <p:blipFill>
          <a:blip r:embed="rId3">
            <a:alphaModFix/>
          </a:blip>
          <a:stretch>
            <a:fillRect/>
          </a:stretch>
        </p:blipFill>
        <p:spPr>
          <a:xfrm>
            <a:off x="5260300" y="2474675"/>
            <a:ext cx="3696975" cy="2734225"/>
          </a:xfrm>
          <a:prstGeom prst="rect">
            <a:avLst/>
          </a:prstGeom>
          <a:noFill/>
          <a:ln>
            <a:noFill/>
          </a:ln>
        </p:spPr>
      </p:pic>
      <p:sp>
        <p:nvSpPr>
          <p:cNvPr id="142" name="Google Shape;142;p27"/>
          <p:cNvSpPr txBox="1"/>
          <p:nvPr/>
        </p:nvSpPr>
        <p:spPr>
          <a:xfrm>
            <a:off x="383075" y="3036575"/>
            <a:ext cx="4050300" cy="25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bar graph below shows the comparison between the average ratings of various anime categories such as TV series, movies, and OVAs. This will assist in determining whether particular anime categories are more likely to be rated highly compared to other anime categories.</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 far, I have been able to move forward with my project through the creation of a scatter plot and another bar graph that will aid in analyzing the data. The scatter plot allows for me to identify the relationship between the amount of anime per genre and their average ratings, helping me understand whether the popular genres receive better ratings. With the bar graph that compares the average ratings based on anime format, I can determine how the format may influence ratings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 Response </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nvSpPr>
        <p:spPr>
          <a:xfrm>
            <a:off x="2606275" y="1824000"/>
            <a:ext cx="7408500" cy="37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dk2"/>
                </a:solidFill>
              </a:rPr>
              <a:t>Week 4</a:t>
            </a:r>
            <a:endParaRPr sz="45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Genre Size vs Average Rating</a:t>
            </a:r>
            <a:endParaRPr/>
          </a:p>
        </p:txBody>
      </p:sp>
      <p:sp>
        <p:nvSpPr>
          <p:cNvPr id="165" name="Google Shape;16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rPr>
              <a:t>This scatter plot provides insights on whether the genre of an anime affects its popularity based on the ratio of the</a:t>
            </a:r>
            <a:r>
              <a:rPr lang="en" sz="1500">
                <a:solidFill>
                  <a:schemeClr val="dk1"/>
                </a:solidFill>
              </a:rPr>
              <a:t> size of the genre against the mean score. </a:t>
            </a:r>
            <a:r>
              <a:rPr lang="en" sz="1500">
                <a:solidFill>
                  <a:schemeClr val="dk1"/>
                </a:solidFill>
              </a:rPr>
              <a:t>Every point on the scatter plot corresponds to a specific genre where the number of anime entries within a genre is plotted along the x-axis and the mean score along the y-axis. Through the analysis of the positioning of the points on the graph, one can determine whether genres containing larger numbers of anime entries perform better or vice versa.</a:t>
            </a:r>
            <a:endParaRPr sz="1500">
              <a:solidFill>
                <a:schemeClr val="dk1"/>
              </a:solidFill>
            </a:endParaRPr>
          </a:p>
        </p:txBody>
      </p:sp>
      <p:pic>
        <p:nvPicPr>
          <p:cNvPr id="166" name="Google Shape;166;p31"/>
          <p:cNvPicPr preferRelativeResize="0"/>
          <p:nvPr/>
        </p:nvPicPr>
        <p:blipFill>
          <a:blip r:embed="rId4">
            <a:alphaModFix/>
          </a:blip>
          <a:stretch>
            <a:fillRect/>
          </a:stretch>
        </p:blipFill>
        <p:spPr>
          <a:xfrm>
            <a:off x="5194675" y="2571750"/>
            <a:ext cx="3949324" cy="25717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10 Most Common Anime Genres</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solidFill>
                  <a:schemeClr val="dk1"/>
                </a:solidFill>
              </a:rPr>
              <a:t>The bar graph llustrates the 10 best-selling genres that have the largest number of anime series in the data set. Every bar is a representation of a certain genre, whereas the height of each bar illustrates the total number of anime in that specific genre. With the help of this visual representation, one can easily determine the most popular genres in the anime industry and the number of anime produced for them.</a:t>
            </a:r>
            <a:endParaRPr sz="1700">
              <a:solidFill>
                <a:schemeClr val="dk1"/>
              </a:solidFill>
            </a:endParaRPr>
          </a:p>
        </p:txBody>
      </p:sp>
      <p:pic>
        <p:nvPicPr>
          <p:cNvPr id="173" name="Google Shape;173;p32"/>
          <p:cNvPicPr preferRelativeResize="0"/>
          <p:nvPr/>
        </p:nvPicPr>
        <p:blipFill>
          <a:blip r:embed="rId3">
            <a:alphaModFix/>
          </a:blip>
          <a:stretch>
            <a:fillRect/>
          </a:stretch>
        </p:blipFill>
        <p:spPr>
          <a:xfrm>
            <a:off x="5683550" y="2668750"/>
            <a:ext cx="3148751" cy="2359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 Response</a:t>
            </a:r>
            <a:endParaRPr/>
          </a:p>
        </p:txBody>
      </p:sp>
      <p:sp>
        <p:nvSpPr>
          <p:cNvPr id="179" name="Google Shape;17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a:solidFill>
                  <a:schemeClr val="dk1"/>
                </a:solidFill>
              </a:rPr>
              <a:t>Taking the feedbackinto account from last week, I made several changes that will help improve my project. First of all, I created two extra data points one scatter plot indicating the connection between the size of the genre and its average score, and another one, which is a bar chart listing the 10 most represented anime genres. These two extra data points allowed me to dig deeper into the issue and answer questions that were not covered in my initial inquiry. In addition, I decided to label the names of genres in my graphs.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185" name="Google Shape;18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I have progressed in my research in terms of cleaning and analyzing the dataset for anime by using JupyterHub and making several different visualizations. Apart from the original bar chart which compares the mean rating of different genres, I created two more visualizations, one was a scatter plot and the other a bar chart. These graphs helped me understand the data. I would say that my future steps will include analysis of the data and then making some meaningful conclusions based on the trends that were observed in the graphs.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nvSpPr>
        <p:spPr>
          <a:xfrm>
            <a:off x="3276900" y="1903825"/>
            <a:ext cx="58671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dk2"/>
                </a:solidFill>
              </a:rPr>
              <a:t>Week 5</a:t>
            </a:r>
            <a:endParaRPr sz="45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215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Storyboard </a:t>
            </a:r>
            <a:endParaRPr/>
          </a:p>
        </p:txBody>
      </p:sp>
      <p:sp>
        <p:nvSpPr>
          <p:cNvPr id="196" name="Google Shape;19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36" title="Screenshot 2026-05-04 161352.png"/>
          <p:cNvPicPr preferRelativeResize="0"/>
          <p:nvPr/>
        </p:nvPicPr>
        <p:blipFill>
          <a:blip r:embed="rId3">
            <a:alphaModFix/>
          </a:blip>
          <a:stretch>
            <a:fillRect/>
          </a:stretch>
        </p:blipFill>
        <p:spPr>
          <a:xfrm>
            <a:off x="0" y="594146"/>
            <a:ext cx="9144000" cy="398264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 Response</a:t>
            </a:r>
            <a:endParaRPr/>
          </a:p>
        </p:txBody>
      </p:sp>
      <p:sp>
        <p:nvSpPr>
          <p:cNvPr id="203" name="Google Shape;20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following</a:t>
            </a:r>
            <a:r>
              <a:rPr lang="en"/>
              <a:t> the comments I received, I concentrated on increasing the quality of my insights from the data and improving the clarity of my visuals.  In addition, I included an enhanced scatter plot showing the relationship between performance and consistency, providing additional insight beyond simple averages., I refined my labeling techniques for clarity and making it more </a:t>
            </a:r>
            <a:r>
              <a:rPr lang="en"/>
              <a:t>visible</a:t>
            </a:r>
            <a:r>
              <a:rPr lang="en"/>
              <a:t>. All of these changes have been very helpful in enhancing my analysis. Going forward, I will continue working on my explanations, emphasizing my findings and how they relate to the data.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209" name="Google Shape;20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This week, I was able to make great progress not just by broadening my analysis but also by structuring my results into a data story. I was able to create a storyboard to structure my visuals into groups, beginning with comparing genres before  going deep into their performance. I was able also to craft a micro data story that would help me better communicate how the graphs relate to my research questions. I also crafted several new visualizations such as scatterplots that explore the correlations between genre sizes and the mean ratings as well as their performance versus consistency. This allowed me to shift away from just comparing data and focus more on identifying patterns in the data.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