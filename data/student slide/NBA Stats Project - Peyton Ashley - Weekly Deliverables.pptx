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Nunito"/>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5.xml"/><Relationship Id="rId33" Type="http://schemas.openxmlformats.org/officeDocument/2006/relationships/font" Target="fonts/OpenSans-regular.fntdata"/><Relationship Id="rId10" Type="http://schemas.openxmlformats.org/officeDocument/2006/relationships/slide" Target="slides/slide4.xml"/><Relationship Id="rId32" Type="http://schemas.openxmlformats.org/officeDocument/2006/relationships/font" Target="fonts/Nunito-boldItalic.fntdata"/><Relationship Id="rId13" Type="http://schemas.openxmlformats.org/officeDocument/2006/relationships/slide" Target="slides/slide7.xml"/><Relationship Id="rId35" Type="http://schemas.openxmlformats.org/officeDocument/2006/relationships/font" Target="fonts/OpenSans-italic.fntdata"/><Relationship Id="rId12" Type="http://schemas.openxmlformats.org/officeDocument/2006/relationships/slide" Target="slides/slide6.xml"/><Relationship Id="rId34" Type="http://schemas.openxmlformats.org/officeDocument/2006/relationships/font" Target="fonts/Open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mofocus.io/" TargetMode="External"/><Relationship Id="rId3" Type="http://schemas.openxmlformats.org/officeDocument/2006/relationships/hyperlink" Target="https://forms.gle/9xYEqFERCLTdtTCV7" TargetMode="External"/><Relationship Id="rId4" Type="http://schemas.openxmlformats.org/officeDocument/2006/relationships/hyperlink" Target="https://forms.gle/F5EgHbQG2WYVuppb7"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8e49c049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8e49c049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b="1" lang="en" sz="1760">
                <a:solidFill>
                  <a:srgbClr val="233A44"/>
                </a:solidFill>
                <a:latin typeface="Calibri"/>
                <a:ea typeface="Calibri"/>
                <a:cs typeface="Calibri"/>
                <a:sym typeface="Calibri"/>
              </a:rPr>
              <a:t>Project Diary</a:t>
            </a:r>
            <a:endParaRPr b="1" sz="1760">
              <a:solidFill>
                <a:srgbClr val="233A44"/>
              </a:solidFill>
              <a:latin typeface="Calibri"/>
              <a:ea typeface="Calibri"/>
              <a:cs typeface="Calibri"/>
              <a:sym typeface="Calibri"/>
            </a:endParaRPr>
          </a:p>
          <a:p>
            <a:pPr indent="-340360" lvl="0" marL="457200" rtl="0" algn="l">
              <a:lnSpc>
                <a:spcPct val="95000"/>
              </a:lnSpc>
              <a:spcBef>
                <a:spcPts val="1200"/>
              </a:spcBef>
              <a:spcAft>
                <a:spcPts val="0"/>
              </a:spcAft>
              <a:buClr>
                <a:srgbClr val="233A44"/>
              </a:buClr>
              <a:buSzPts val="1760"/>
              <a:buFont typeface="Calibri"/>
              <a:buChar char="●"/>
            </a:pPr>
            <a:r>
              <a:rPr lang="en" sz="1760">
                <a:solidFill>
                  <a:srgbClr val="233A44"/>
                </a:solidFill>
                <a:latin typeface="Calibri"/>
                <a:ea typeface="Calibri"/>
                <a:cs typeface="Calibri"/>
                <a:sym typeface="Calibri"/>
              </a:rPr>
              <a:t>During the week, work on the tasks as it fits into your schedule</a:t>
            </a:r>
            <a:endParaRPr sz="1760">
              <a:solidFill>
                <a:srgbClr val="233A44"/>
              </a:solidFill>
              <a:latin typeface="Calibri"/>
              <a:ea typeface="Calibri"/>
              <a:cs typeface="Calibri"/>
              <a:sym typeface="Calibri"/>
            </a:endParaRPr>
          </a:p>
          <a:p>
            <a:pPr indent="-340360" lvl="0" marL="457200" rtl="0" algn="l">
              <a:lnSpc>
                <a:spcPct val="95000"/>
              </a:lnSpc>
              <a:spcBef>
                <a:spcPts val="0"/>
              </a:spcBef>
              <a:spcAft>
                <a:spcPts val="0"/>
              </a:spcAft>
              <a:buClr>
                <a:srgbClr val="233A44"/>
              </a:buClr>
              <a:buSzPts val="1760"/>
              <a:buFont typeface="Calibri"/>
              <a:buChar char="●"/>
            </a:pPr>
            <a:r>
              <a:rPr lang="en" sz="1760">
                <a:solidFill>
                  <a:srgbClr val="233A44"/>
                </a:solidFill>
                <a:latin typeface="Calibri"/>
                <a:ea typeface="Calibri"/>
                <a:cs typeface="Calibri"/>
                <a:sym typeface="Calibri"/>
              </a:rPr>
              <a:t>Suggest using </a:t>
            </a:r>
            <a:r>
              <a:rPr lang="en" sz="1760" u="sng">
                <a:solidFill>
                  <a:srgbClr val="3D4594"/>
                </a:solidFill>
                <a:latin typeface="Calibri"/>
                <a:ea typeface="Calibri"/>
                <a:cs typeface="Calibri"/>
                <a:sym typeface="Calibri"/>
                <a:hlinkClick r:id="rId2">
                  <a:extLst>
                    <a:ext uri="{A12FA001-AC4F-418D-AE19-62706E023703}">
                      <ahyp:hlinkClr val="tx"/>
                    </a:ext>
                  </a:extLst>
                </a:hlinkClick>
              </a:rPr>
              <a:t>pomodoro timer </a:t>
            </a:r>
            <a:r>
              <a:rPr lang="en" sz="1760">
                <a:solidFill>
                  <a:srgbClr val="233A44"/>
                </a:solidFill>
                <a:latin typeface="Calibri"/>
                <a:ea typeface="Calibri"/>
                <a:cs typeface="Calibri"/>
                <a:sym typeface="Calibri"/>
              </a:rPr>
              <a:t>(25 min, 5 min break)</a:t>
            </a:r>
            <a:endParaRPr sz="1760">
              <a:solidFill>
                <a:srgbClr val="233A44"/>
              </a:solidFill>
              <a:latin typeface="Calibri"/>
              <a:ea typeface="Calibri"/>
              <a:cs typeface="Calibri"/>
              <a:sym typeface="Calibri"/>
            </a:endParaRPr>
          </a:p>
          <a:p>
            <a:pPr indent="-340360" lvl="0" marL="457200" rtl="0" algn="l">
              <a:lnSpc>
                <a:spcPct val="95000"/>
              </a:lnSpc>
              <a:spcBef>
                <a:spcPts val="0"/>
              </a:spcBef>
              <a:spcAft>
                <a:spcPts val="0"/>
              </a:spcAft>
              <a:buClr>
                <a:srgbClr val="233A44"/>
              </a:buClr>
              <a:buSzPts val="1760"/>
              <a:buFont typeface="Calibri"/>
              <a:buChar char="●"/>
            </a:pPr>
            <a:r>
              <a:rPr lang="en" sz="1760">
                <a:solidFill>
                  <a:srgbClr val="233A44"/>
                </a:solidFill>
                <a:latin typeface="Calibri"/>
                <a:ea typeface="Calibri"/>
                <a:cs typeface="Calibri"/>
                <a:sym typeface="Calibri"/>
              </a:rPr>
              <a:t>At the end of each day you work on the project, complete this </a:t>
            </a:r>
            <a:r>
              <a:rPr lang="en" sz="1760" u="sng">
                <a:solidFill>
                  <a:srgbClr val="3D4594"/>
                </a:solidFill>
                <a:latin typeface="Calibri"/>
                <a:ea typeface="Calibri"/>
                <a:cs typeface="Calibri"/>
                <a:sym typeface="Calibri"/>
                <a:hlinkClick r:id="rId3">
                  <a:extLst>
                    <a:ext uri="{A12FA001-AC4F-418D-AE19-62706E023703}">
                      <ahyp:hlinkClr val="tx"/>
                    </a:ext>
                  </a:extLst>
                </a:hlinkClick>
              </a:rPr>
              <a:t>short reflection</a:t>
            </a:r>
            <a:r>
              <a:rPr lang="en" sz="1760">
                <a:solidFill>
                  <a:srgbClr val="233A44"/>
                </a:solidFill>
                <a:latin typeface="Calibri"/>
                <a:ea typeface="Calibri"/>
                <a:cs typeface="Calibri"/>
                <a:sym typeface="Calibri"/>
              </a:rPr>
              <a:t>.</a:t>
            </a:r>
            <a:endParaRPr sz="1760">
              <a:solidFill>
                <a:srgbClr val="233A44"/>
              </a:solidFill>
              <a:latin typeface="Calibri"/>
              <a:ea typeface="Calibri"/>
              <a:cs typeface="Calibri"/>
              <a:sym typeface="Calibri"/>
            </a:endParaRPr>
          </a:p>
          <a:p>
            <a:pPr indent="0" lvl="0" marL="0" rtl="0" algn="l">
              <a:lnSpc>
                <a:spcPct val="95000"/>
              </a:lnSpc>
              <a:spcBef>
                <a:spcPts val="1200"/>
              </a:spcBef>
              <a:spcAft>
                <a:spcPts val="0"/>
              </a:spcAft>
              <a:buClr>
                <a:schemeClr val="dk1"/>
              </a:buClr>
              <a:buSzPts val="1100"/>
              <a:buFont typeface="Arial"/>
              <a:buNone/>
            </a:pPr>
            <a:r>
              <a:rPr b="1" lang="en" sz="1760">
                <a:solidFill>
                  <a:srgbClr val="233A44"/>
                </a:solidFill>
                <a:latin typeface="Calibri"/>
                <a:ea typeface="Calibri"/>
                <a:cs typeface="Calibri"/>
                <a:sym typeface="Calibri"/>
              </a:rPr>
              <a:t>Motivational Surveys</a:t>
            </a:r>
            <a:br>
              <a:rPr lang="en" sz="1760">
                <a:solidFill>
                  <a:srgbClr val="233A44"/>
                </a:solidFill>
                <a:latin typeface="Calibri"/>
                <a:ea typeface="Calibri"/>
                <a:cs typeface="Calibri"/>
                <a:sym typeface="Calibri"/>
              </a:rPr>
            </a:br>
            <a:r>
              <a:rPr lang="en" sz="1800">
                <a:solidFill>
                  <a:srgbClr val="233A44"/>
                </a:solidFill>
                <a:latin typeface="Calibri"/>
                <a:ea typeface="Calibri"/>
                <a:cs typeface="Calibri"/>
                <a:sym typeface="Calibri"/>
              </a:rPr>
              <a:t>Week 2, 4 and 6 - </a:t>
            </a:r>
            <a:r>
              <a:rPr lang="en" sz="1800" u="sng">
                <a:solidFill>
                  <a:srgbClr val="3D4594"/>
                </a:solidFill>
                <a:latin typeface="Calibri"/>
                <a:ea typeface="Calibri"/>
                <a:cs typeface="Calibri"/>
                <a:sym typeface="Calibri"/>
                <a:hlinkClick r:id="rId4">
                  <a:extLst>
                    <a:ext uri="{A12FA001-AC4F-418D-AE19-62706E023703}">
                      <ahyp:hlinkClr val="tx"/>
                    </a:ext>
                  </a:extLst>
                </a:hlinkClick>
              </a:rPr>
              <a:t>Motivation survey</a:t>
            </a:r>
            <a:r>
              <a:rPr lang="en" sz="1800">
                <a:solidFill>
                  <a:srgbClr val="233A44"/>
                </a:solidFill>
                <a:latin typeface="Calibri"/>
                <a:ea typeface="Calibri"/>
                <a:cs typeface="Calibri"/>
                <a:sym typeface="Calibri"/>
              </a:rPr>
              <a:t> (&lt; 5 min)</a:t>
            </a:r>
            <a:endParaRPr sz="1800">
              <a:solidFill>
                <a:srgbClr val="233A44"/>
              </a:solidFill>
              <a:latin typeface="Calibri"/>
              <a:ea typeface="Calibri"/>
              <a:cs typeface="Calibri"/>
              <a:sym typeface="Calibri"/>
            </a:endParaRPr>
          </a:p>
          <a:p>
            <a:pPr indent="-342900" lvl="0" marL="457200" rtl="0" algn="l">
              <a:lnSpc>
                <a:spcPct val="115000"/>
              </a:lnSpc>
              <a:spcBef>
                <a:spcPts val="1200"/>
              </a:spcBef>
              <a:spcAft>
                <a:spcPts val="0"/>
              </a:spcAft>
              <a:buClr>
                <a:srgbClr val="233A44"/>
              </a:buClr>
              <a:buSzPts val="1800"/>
              <a:buFont typeface="Calibri"/>
              <a:buChar char="●"/>
            </a:pPr>
            <a:r>
              <a:rPr lang="en" sz="1800">
                <a:solidFill>
                  <a:srgbClr val="233A44"/>
                </a:solidFill>
                <a:latin typeface="Calibri"/>
                <a:ea typeface="Calibri"/>
                <a:cs typeface="Calibri"/>
                <a:sym typeface="Calibri"/>
              </a:rPr>
              <a:t>Self-efficacy</a:t>
            </a:r>
            <a:endParaRPr sz="1800">
              <a:solidFill>
                <a:srgbClr val="233A44"/>
              </a:solidFill>
              <a:latin typeface="Calibri"/>
              <a:ea typeface="Calibri"/>
              <a:cs typeface="Calibri"/>
              <a:sym typeface="Calibri"/>
            </a:endParaRPr>
          </a:p>
          <a:p>
            <a:pPr indent="-342900" lvl="0" marL="457200" rtl="0" algn="l">
              <a:lnSpc>
                <a:spcPct val="115000"/>
              </a:lnSpc>
              <a:spcBef>
                <a:spcPts val="0"/>
              </a:spcBef>
              <a:spcAft>
                <a:spcPts val="0"/>
              </a:spcAft>
              <a:buClr>
                <a:srgbClr val="233A44"/>
              </a:buClr>
              <a:buSzPts val="1800"/>
              <a:buFont typeface="Calibri"/>
              <a:buChar char="●"/>
            </a:pPr>
            <a:r>
              <a:rPr lang="en" sz="1800">
                <a:solidFill>
                  <a:srgbClr val="233A44"/>
                </a:solidFill>
                <a:latin typeface="Calibri"/>
                <a:ea typeface="Calibri"/>
                <a:cs typeface="Calibri"/>
                <a:sym typeface="Calibri"/>
              </a:rPr>
              <a:t>Intrinsic or extrinsic motivation or lack of motivation</a:t>
            </a:r>
            <a:endParaRPr sz="1800">
              <a:solidFill>
                <a:srgbClr val="233A44"/>
              </a:solidFill>
              <a:latin typeface="Calibri"/>
              <a:ea typeface="Calibri"/>
              <a:cs typeface="Calibri"/>
              <a:sym typeface="Calibri"/>
            </a:endParaRPr>
          </a:p>
          <a:p>
            <a:pPr indent="-342900" lvl="0" marL="457200" rtl="0" algn="l">
              <a:lnSpc>
                <a:spcPct val="115000"/>
              </a:lnSpc>
              <a:spcBef>
                <a:spcPts val="0"/>
              </a:spcBef>
              <a:spcAft>
                <a:spcPts val="0"/>
              </a:spcAft>
              <a:buClr>
                <a:srgbClr val="233A44"/>
              </a:buClr>
              <a:buSzPts val="1800"/>
              <a:buFont typeface="Calibri"/>
              <a:buChar char="●"/>
            </a:pPr>
            <a:r>
              <a:rPr lang="en" sz="1800">
                <a:solidFill>
                  <a:srgbClr val="233A44"/>
                </a:solidFill>
                <a:latin typeface="Calibri"/>
                <a:ea typeface="Calibri"/>
                <a:cs typeface="Calibri"/>
                <a:sym typeface="Calibri"/>
              </a:rPr>
              <a:t>goal structure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8e49c0497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8e49c0497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8e49c0497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8e49c0497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595959"/>
              </a:buClr>
              <a:buSzPts val="1900"/>
              <a:buChar char="●"/>
            </a:pPr>
            <a:r>
              <a:rPr lang="en" sz="1900">
                <a:solidFill>
                  <a:srgbClr val="595959"/>
                </a:solidFill>
              </a:rPr>
              <a:t>Finalize team and topic by Monday</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Setup (in class)</a:t>
            </a:r>
            <a:endParaRPr sz="1900">
              <a:solidFill>
                <a:srgbClr val="595959"/>
              </a:solidFill>
            </a:endParaRPr>
          </a:p>
          <a:p>
            <a:pPr indent="-349250" lvl="1" marL="914400" rtl="0" algn="l">
              <a:lnSpc>
                <a:spcPct val="115000"/>
              </a:lnSpc>
              <a:spcBef>
                <a:spcPts val="0"/>
              </a:spcBef>
              <a:spcAft>
                <a:spcPts val="0"/>
              </a:spcAft>
              <a:buClr>
                <a:srgbClr val="595959"/>
              </a:buClr>
              <a:buSzPts val="1900"/>
              <a:buChar char="○"/>
            </a:pPr>
            <a:r>
              <a:rPr lang="en" sz="1900">
                <a:solidFill>
                  <a:srgbClr val="595959"/>
                </a:solidFill>
              </a:rPr>
              <a:t>Create a team folder (folder name [teamID]_[topic]) in project folder</a:t>
            </a:r>
            <a:endParaRPr sz="1900">
              <a:solidFill>
                <a:srgbClr val="595959"/>
              </a:solidFill>
            </a:endParaRPr>
          </a:p>
          <a:p>
            <a:pPr indent="-349250" lvl="1" marL="914400" rtl="0" algn="l">
              <a:lnSpc>
                <a:spcPct val="115000"/>
              </a:lnSpc>
              <a:spcBef>
                <a:spcPts val="0"/>
              </a:spcBef>
              <a:spcAft>
                <a:spcPts val="0"/>
              </a:spcAft>
              <a:buClr>
                <a:srgbClr val="595959"/>
              </a:buClr>
              <a:buSzPts val="1900"/>
              <a:buChar char="○"/>
            </a:pPr>
            <a:r>
              <a:rPr b="1" lang="en" sz="1900">
                <a:solidFill>
                  <a:srgbClr val="595959"/>
                </a:solidFill>
              </a:rPr>
              <a:t>On Jupyterhub (do not use Google Colab)</a:t>
            </a:r>
            <a:endParaRPr b="1" sz="1900">
              <a:solidFill>
                <a:srgbClr val="595959"/>
              </a:solidFill>
            </a:endParaRPr>
          </a:p>
          <a:p>
            <a:pPr indent="-349250" lvl="2" marL="1371600" rtl="0" algn="l">
              <a:lnSpc>
                <a:spcPct val="115000"/>
              </a:lnSpc>
              <a:spcBef>
                <a:spcPts val="0"/>
              </a:spcBef>
              <a:spcAft>
                <a:spcPts val="0"/>
              </a:spcAft>
              <a:buClr>
                <a:srgbClr val="595959"/>
              </a:buClr>
              <a:buSzPts val="1900"/>
              <a:buChar char="■"/>
            </a:pPr>
            <a:r>
              <a:rPr lang="en" sz="1900">
                <a:solidFill>
                  <a:srgbClr val="595959"/>
                </a:solidFill>
              </a:rPr>
              <a:t>Create a folder called “project” </a:t>
            </a:r>
            <a:endParaRPr sz="1900">
              <a:solidFill>
                <a:srgbClr val="595959"/>
              </a:solidFill>
            </a:endParaRPr>
          </a:p>
          <a:p>
            <a:pPr indent="-349250" lvl="2" marL="1371600" rtl="0" algn="l">
              <a:lnSpc>
                <a:spcPct val="115000"/>
              </a:lnSpc>
              <a:spcBef>
                <a:spcPts val="0"/>
              </a:spcBef>
              <a:spcAft>
                <a:spcPts val="0"/>
              </a:spcAft>
              <a:buClr>
                <a:srgbClr val="595959"/>
              </a:buClr>
              <a:buSzPts val="1900"/>
              <a:buChar char="■"/>
            </a:pPr>
            <a:r>
              <a:rPr lang="en" sz="1900">
                <a:solidFill>
                  <a:srgbClr val="595959"/>
                </a:solidFill>
              </a:rPr>
              <a:t>Download data from the given link and upload data into this folder </a:t>
            </a:r>
            <a:endParaRPr sz="1900">
              <a:solidFill>
                <a:srgbClr val="595959"/>
              </a:solidFill>
            </a:endParaRPr>
          </a:p>
          <a:p>
            <a:pPr indent="-349250" lvl="0" marL="457200" rtl="0" algn="l">
              <a:lnSpc>
                <a:spcPct val="115000"/>
              </a:lnSpc>
              <a:spcBef>
                <a:spcPts val="0"/>
              </a:spcBef>
              <a:spcAft>
                <a:spcPts val="0"/>
              </a:spcAft>
              <a:buClr>
                <a:srgbClr val="595959"/>
              </a:buClr>
              <a:buSzPts val="1900"/>
              <a:buChar char="●"/>
            </a:pPr>
            <a:r>
              <a:rPr lang="en" sz="1900">
                <a:solidFill>
                  <a:srgbClr val="595959"/>
                </a:solidFill>
              </a:rPr>
              <a:t>Mini update 1 (data profiling and curious questions) - see next a few slides</a:t>
            </a:r>
            <a:endParaRPr sz="1900">
              <a:solidFill>
                <a:srgbClr val="595959"/>
              </a:solidFill>
            </a:endParaRPr>
          </a:p>
          <a:p>
            <a:pPr indent="-342900" lvl="1" marL="914400" rtl="0" algn="l">
              <a:lnSpc>
                <a:spcPct val="115000"/>
              </a:lnSpc>
              <a:spcBef>
                <a:spcPts val="0"/>
              </a:spcBef>
              <a:spcAft>
                <a:spcPts val="0"/>
              </a:spcAft>
              <a:buClr>
                <a:srgbClr val="595959"/>
              </a:buClr>
              <a:buSzPts val="1800"/>
              <a:buChar char="○"/>
            </a:pPr>
            <a:r>
              <a:rPr lang="en" sz="1800">
                <a:solidFill>
                  <a:srgbClr val="595959"/>
                </a:solidFill>
              </a:rPr>
              <a:t>Data profile</a:t>
            </a:r>
            <a:endParaRPr sz="1800">
              <a:solidFill>
                <a:srgbClr val="595959"/>
              </a:solidFill>
            </a:endParaRPr>
          </a:p>
          <a:p>
            <a:pPr indent="-342900" lvl="1" marL="914400" rtl="0" algn="l">
              <a:lnSpc>
                <a:spcPct val="115000"/>
              </a:lnSpc>
              <a:spcBef>
                <a:spcPts val="0"/>
              </a:spcBef>
              <a:spcAft>
                <a:spcPts val="0"/>
              </a:spcAft>
              <a:buClr>
                <a:srgbClr val="595959"/>
              </a:buClr>
              <a:buSzPts val="1800"/>
              <a:buChar char="○"/>
            </a:pPr>
            <a:r>
              <a:rPr lang="en" sz="1800">
                <a:solidFill>
                  <a:srgbClr val="595959"/>
                </a:solidFill>
              </a:rPr>
              <a:t>Initial set of curious questions, audience and communication goals</a:t>
            </a:r>
            <a:endParaRPr sz="1800">
              <a:solidFill>
                <a:srgbClr val="595959"/>
              </a:solidFill>
            </a:endParaRPr>
          </a:p>
          <a:p>
            <a:pPr indent="0" lvl="0" marL="0" rtl="0" algn="l">
              <a:lnSpc>
                <a:spcPct val="115000"/>
              </a:lnSpc>
              <a:spcBef>
                <a:spcPts val="1200"/>
              </a:spcBef>
              <a:spcAft>
                <a:spcPts val="0"/>
              </a:spcAft>
              <a:buClr>
                <a:schemeClr val="dk1"/>
              </a:buClr>
              <a:buSzPts val="1100"/>
              <a:buFont typeface="Arial"/>
              <a:buNone/>
            </a:pPr>
            <a:r>
              <a:t/>
            </a:r>
            <a:endParaRPr sz="1900">
              <a:solidFill>
                <a:srgbClr val="595959"/>
              </a:solidFill>
            </a:endParaRPr>
          </a:p>
          <a:p>
            <a:pPr indent="0" lvl="0" marL="0" rtl="0" algn="l">
              <a:lnSpc>
                <a:spcPct val="115000"/>
              </a:lnSpc>
              <a:spcBef>
                <a:spcPts val="1200"/>
              </a:spcBef>
              <a:spcAft>
                <a:spcPts val="0"/>
              </a:spcAft>
              <a:buClr>
                <a:schemeClr val="dk1"/>
              </a:buClr>
              <a:buSzPts val="1100"/>
              <a:buFont typeface="Arial"/>
              <a:buNone/>
            </a:pPr>
            <a:r>
              <a:t/>
            </a:r>
            <a:endParaRPr sz="19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8e49c0497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8e49c0497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50">
                <a:solidFill>
                  <a:srgbClr val="262626"/>
                </a:solidFill>
                <a:highlight>
                  <a:schemeClr val="lt1"/>
                </a:highlight>
              </a:rPr>
              <a:t>For the first week, please create 1-2 slides answering the following questions pertaining to your project</a:t>
            </a:r>
            <a:endParaRPr sz="1450">
              <a:solidFill>
                <a:srgbClr val="262626"/>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rgbClr val="262626"/>
                </a:solidFill>
                <a:highlight>
                  <a:schemeClr val="lt1"/>
                </a:highlight>
              </a:rPr>
              <a:t>(1) </a:t>
            </a:r>
            <a:r>
              <a:rPr b="1" lang="en" sz="1450">
                <a:solidFill>
                  <a:srgbClr val="262626"/>
                </a:solidFill>
                <a:highlight>
                  <a:schemeClr val="lt1"/>
                </a:highlight>
              </a:rPr>
              <a:t>Curious Questions</a:t>
            </a:r>
            <a:r>
              <a:rPr lang="en" sz="1450">
                <a:solidFill>
                  <a:srgbClr val="262626"/>
                </a:solidFill>
                <a:highlight>
                  <a:schemeClr val="lt1"/>
                </a:highlight>
              </a:rPr>
              <a:t>: A </a:t>
            </a:r>
            <a:r>
              <a:rPr lang="en" sz="1450">
                <a:solidFill>
                  <a:schemeClr val="dk1"/>
                </a:solidFill>
                <a:highlight>
                  <a:schemeClr val="lt1"/>
                </a:highlight>
              </a:rPr>
              <a:t>list of burning and curious questions your project is interested in exploring. This could be based on background reading or some initial understanding of the dataset, or simply driven by your curiosity. You don't have to start exploring the dataset yet in order to come up with those questions. You will refine those questions later on. I will not hold you accountable for answering those questions within the scope of the project, you might notice that some questions cannot be answered given the limitation of the data, the limitation of your skillset, or the limitation of time. This exercise will give you an opportunity to develop "visionary thinking" as a strategic planning process - so feel free to be bold and ambitious</a:t>
            </a:r>
            <a:endParaRPr sz="145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chemeClr val="dk1"/>
                </a:solidFill>
                <a:highlight>
                  <a:schemeClr val="lt1"/>
                </a:highlight>
              </a:rPr>
              <a:t>(2) </a:t>
            </a:r>
            <a:r>
              <a:rPr b="1" lang="en" sz="1450">
                <a:solidFill>
                  <a:schemeClr val="dk1"/>
                </a:solidFill>
                <a:highlight>
                  <a:schemeClr val="lt1"/>
                </a:highlight>
              </a:rPr>
              <a:t>Audience</a:t>
            </a:r>
            <a:r>
              <a:rPr lang="en" sz="1450">
                <a:solidFill>
                  <a:schemeClr val="dk1"/>
                </a:solidFill>
                <a:highlight>
                  <a:schemeClr val="lt1"/>
                </a:highlight>
              </a:rPr>
              <a:t>: who is your intended audience for the data stories to be created? </a:t>
            </a:r>
            <a:endParaRPr sz="145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chemeClr val="dk1"/>
                </a:solidFill>
                <a:highlight>
                  <a:schemeClr val="lt1"/>
                </a:highlight>
              </a:rPr>
              <a:t>(3) </a:t>
            </a:r>
            <a:r>
              <a:rPr b="1" lang="en" sz="1450">
                <a:solidFill>
                  <a:schemeClr val="dk1"/>
                </a:solidFill>
                <a:highlight>
                  <a:schemeClr val="lt1"/>
                </a:highlight>
              </a:rPr>
              <a:t>Communication Goal:</a:t>
            </a:r>
            <a:r>
              <a:rPr lang="en" sz="1450">
                <a:solidFill>
                  <a:schemeClr val="dk1"/>
                </a:solidFill>
                <a:highlight>
                  <a:schemeClr val="lt1"/>
                </a:highlight>
              </a:rPr>
              <a:t> what is your communication goal? e.g. to change behavior, to change mindset, to change heart, to change perspective, to improve understanding, to induce action? </a:t>
            </a:r>
            <a:endParaRPr sz="1450">
              <a:solidFill>
                <a:schemeClr val="dk1"/>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8e49c0497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8e49c0497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50">
                <a:solidFill>
                  <a:srgbClr val="262626"/>
                </a:solidFill>
                <a:highlight>
                  <a:schemeClr val="lt1"/>
                </a:highlight>
              </a:rPr>
              <a:t>For the first week, please create 1-2 slides answering the following questions pertaining to your project</a:t>
            </a:r>
            <a:endParaRPr sz="1450">
              <a:solidFill>
                <a:srgbClr val="262626"/>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rgbClr val="262626"/>
                </a:solidFill>
                <a:highlight>
                  <a:schemeClr val="lt1"/>
                </a:highlight>
              </a:rPr>
              <a:t>(1) </a:t>
            </a:r>
            <a:r>
              <a:rPr b="1" lang="en" sz="1450">
                <a:solidFill>
                  <a:srgbClr val="262626"/>
                </a:solidFill>
                <a:highlight>
                  <a:schemeClr val="lt1"/>
                </a:highlight>
              </a:rPr>
              <a:t>Curious Questions</a:t>
            </a:r>
            <a:r>
              <a:rPr lang="en" sz="1450">
                <a:solidFill>
                  <a:srgbClr val="262626"/>
                </a:solidFill>
                <a:highlight>
                  <a:schemeClr val="lt1"/>
                </a:highlight>
              </a:rPr>
              <a:t>: A </a:t>
            </a:r>
            <a:r>
              <a:rPr lang="en" sz="1450">
                <a:solidFill>
                  <a:schemeClr val="dk1"/>
                </a:solidFill>
                <a:highlight>
                  <a:schemeClr val="lt1"/>
                </a:highlight>
              </a:rPr>
              <a:t>list of burning and curious questions your project is interested in exploring. This could be based on background reading or some initial understanding of the dataset, or simply driven by your curiosity. You don't have to start exploring the dataset yet in order to come up with those questions. You will refine those questions later on. I will not hold you accountable for answering those questions within the scope of the project, you might notice that some questions cannot be answered given the limitation of the data, the limitation of your skillset, or the limitation of time. This exercise will give you an opportunity to develop "visionary thinking" as a strategic planning process - so feel free to be bold and ambitious</a:t>
            </a:r>
            <a:endParaRPr sz="145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chemeClr val="dk1"/>
                </a:solidFill>
                <a:highlight>
                  <a:schemeClr val="lt1"/>
                </a:highlight>
              </a:rPr>
              <a:t>(2) </a:t>
            </a:r>
            <a:r>
              <a:rPr b="1" lang="en" sz="1450">
                <a:solidFill>
                  <a:schemeClr val="dk1"/>
                </a:solidFill>
                <a:highlight>
                  <a:schemeClr val="lt1"/>
                </a:highlight>
              </a:rPr>
              <a:t>Audience</a:t>
            </a:r>
            <a:r>
              <a:rPr lang="en" sz="1450">
                <a:solidFill>
                  <a:schemeClr val="dk1"/>
                </a:solidFill>
                <a:highlight>
                  <a:schemeClr val="lt1"/>
                </a:highlight>
              </a:rPr>
              <a:t>: who is your intended audience for the data stories to be created? </a:t>
            </a:r>
            <a:endParaRPr sz="145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 sz="1450">
                <a:solidFill>
                  <a:schemeClr val="dk1"/>
                </a:solidFill>
                <a:highlight>
                  <a:schemeClr val="lt1"/>
                </a:highlight>
              </a:rPr>
              <a:t>(3) </a:t>
            </a:r>
            <a:r>
              <a:rPr b="1" lang="en" sz="1450">
                <a:solidFill>
                  <a:schemeClr val="dk1"/>
                </a:solidFill>
                <a:highlight>
                  <a:schemeClr val="lt1"/>
                </a:highlight>
              </a:rPr>
              <a:t>Communication Goal:</a:t>
            </a:r>
            <a:r>
              <a:rPr lang="en" sz="1450">
                <a:solidFill>
                  <a:schemeClr val="dk1"/>
                </a:solidFill>
                <a:highlight>
                  <a:schemeClr val="lt1"/>
                </a:highlight>
              </a:rPr>
              <a:t> what is your communication goal? e.g. to change behavior, to change mindset, to change heart, to change perspective, to improve understanding, to induce action? </a:t>
            </a:r>
            <a:endParaRPr sz="14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8e49c049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8e49c049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Contents A few slides on Data Insights </a:t>
            </a:r>
            <a:endParaRPr sz="1300">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One data insight per slide</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Plots/tables + narrative (remember include both show and tell) </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Please do not include codes</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FF0000"/>
              </a:buClr>
              <a:buSzPts val="1100"/>
              <a:buFont typeface="Calibri"/>
              <a:buChar char="○"/>
            </a:pPr>
            <a:r>
              <a:rPr b="1" lang="en">
                <a:solidFill>
                  <a:srgbClr val="FF0000"/>
                </a:solidFill>
                <a:latin typeface="Calibri"/>
                <a:ea typeface="Calibri"/>
                <a:cs typeface="Calibri"/>
                <a:sym typeface="Calibri"/>
              </a:rPr>
              <a:t>Aim for 2-3 data insights slide/member/week (please mark contributor on each data insight slide)</a:t>
            </a:r>
            <a:endParaRPr b="1">
              <a:solidFill>
                <a:srgbClr val="FF0000"/>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One slide on progress</a:t>
            </a:r>
            <a:endParaRPr sz="1300">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What has accomplished and what is the plan for next week</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What are the obstacles that you need help	</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What kind of resources you have used </a:t>
            </a:r>
            <a:endParaRPr>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Contribution of each team member (for group)</a:t>
            </a:r>
            <a:endParaRPr>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One slide on feedback (if you received any from previous week)</a:t>
            </a:r>
            <a:endParaRPr sz="1300">
              <a:solidFill>
                <a:srgbClr val="233A44"/>
              </a:solidFill>
              <a:latin typeface="Calibri"/>
              <a:ea typeface="Calibri"/>
              <a:cs typeface="Calibri"/>
              <a:sym typeface="Calibri"/>
            </a:endParaRPr>
          </a:p>
          <a:p>
            <a:pPr indent="-298450" lvl="1" marL="914400" rtl="0" algn="l">
              <a:lnSpc>
                <a:spcPct val="115000"/>
              </a:lnSpc>
              <a:spcBef>
                <a:spcPts val="0"/>
              </a:spcBef>
              <a:spcAft>
                <a:spcPts val="0"/>
              </a:spcAft>
              <a:buClr>
                <a:srgbClr val="233A44"/>
              </a:buClr>
              <a:buSzPts val="1100"/>
              <a:buFont typeface="Calibri"/>
              <a:buChar char="○"/>
            </a:pPr>
            <a:r>
              <a:rPr lang="en">
                <a:solidFill>
                  <a:srgbClr val="233A44"/>
                </a:solidFill>
                <a:latin typeface="Calibri"/>
                <a:ea typeface="Calibri"/>
                <a:cs typeface="Calibri"/>
                <a:sym typeface="Calibri"/>
              </a:rPr>
              <a:t>tell us something about (1) the feedback you received;(2) if and how you address the feedback; (3) whether you feel the feedback is useful; (4) what additional feedback you are seeking</a:t>
            </a:r>
            <a:endParaRPr>
              <a:solidFill>
                <a:srgbClr val="233A44"/>
              </a:solidFill>
              <a:latin typeface="Calibri"/>
              <a:ea typeface="Calibri"/>
              <a:cs typeface="Calibri"/>
              <a:sym typeface="Calibri"/>
            </a:endParaRPr>
          </a:p>
          <a:p>
            <a:pPr indent="0" lvl="0" marL="914400" rtl="0" algn="l">
              <a:lnSpc>
                <a:spcPct val="115000"/>
              </a:lnSpc>
              <a:spcBef>
                <a:spcPts val="1600"/>
              </a:spcBef>
              <a:spcAft>
                <a:spcPts val="0"/>
              </a:spcAft>
              <a:buClr>
                <a:schemeClr val="dk1"/>
              </a:buClr>
              <a:buSzPts val="1100"/>
              <a:buFont typeface="Arial"/>
              <a:buNone/>
            </a:pPr>
            <a:r>
              <a:t/>
            </a:r>
            <a:endParaRPr sz="1300">
              <a:solidFill>
                <a:srgbClr val="233A44"/>
              </a:solidFill>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8e49c049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8e49c049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8e49c0497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8e49c0497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8e49c0497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8e49c0497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8e49c0497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8e49c0497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8e49c0497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d8e49c0497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8e49c0497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8e49c0497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8e49c049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d8e49c049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8e49c0497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8e49c0497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8e49c0497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8e49c0497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937b7881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d937b7881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937b7881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937b7881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937b7881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d937b7881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937b788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937b788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937b7881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937b7881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bca9e0e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dbca9e0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bc672b7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dbc672b7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54" name="Shape 54"/>
        <p:cNvGrpSpPr/>
        <p:nvPr/>
      </p:nvGrpSpPr>
      <p:grpSpPr>
        <a:xfrm>
          <a:off x="0" y="0"/>
          <a:ext cx="0" cy="0"/>
          <a:chOff x="0" y="0"/>
          <a:chExt cx="0" cy="0"/>
        </a:xfrm>
      </p:grpSpPr>
      <p:sp>
        <p:nvSpPr>
          <p:cNvPr id="55" name="Google Shape;55;p1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14"/>
          <p:cNvGrpSpPr/>
          <p:nvPr/>
        </p:nvGrpSpPr>
        <p:grpSpPr>
          <a:xfrm>
            <a:off x="255200" y="592"/>
            <a:ext cx="2250363" cy="1044300"/>
            <a:chOff x="255200" y="592"/>
            <a:chExt cx="2250363" cy="1044300"/>
          </a:xfrm>
        </p:grpSpPr>
        <p:sp>
          <p:nvSpPr>
            <p:cNvPr id="60" name="Google Shape;60;p1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905395" y="592"/>
            <a:ext cx="2250363" cy="1044300"/>
            <a:chOff x="905395" y="592"/>
            <a:chExt cx="2250363" cy="1044300"/>
          </a:xfrm>
        </p:grpSpPr>
        <p:sp>
          <p:nvSpPr>
            <p:cNvPr id="64" name="Google Shape;64;p1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14"/>
          <p:cNvGrpSpPr/>
          <p:nvPr/>
        </p:nvGrpSpPr>
        <p:grpSpPr>
          <a:xfrm>
            <a:off x="7057468" y="5088"/>
            <a:ext cx="1851282" cy="752108"/>
            <a:chOff x="6917201" y="0"/>
            <a:chExt cx="2227777" cy="863400"/>
          </a:xfrm>
        </p:grpSpPr>
        <p:sp>
          <p:nvSpPr>
            <p:cNvPr id="68" name="Google Shape;68;p1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6553032" y="4217852"/>
            <a:ext cx="2389068" cy="925737"/>
            <a:chOff x="6917201" y="0"/>
            <a:chExt cx="2227777" cy="863400"/>
          </a:xfrm>
        </p:grpSpPr>
        <p:sp>
          <p:nvSpPr>
            <p:cNvPr id="72" name="Google Shape;72;p1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199149" y="4055652"/>
            <a:ext cx="2795414" cy="1083308"/>
            <a:chOff x="6917201" y="0"/>
            <a:chExt cx="2227777" cy="863400"/>
          </a:xfrm>
        </p:grpSpPr>
        <p:sp>
          <p:nvSpPr>
            <p:cNvPr id="76" name="Google Shape;76;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80" name="Google Shape;80;p1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81" name="Google Shape;81;p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82" name="Shape 82"/>
        <p:cNvGrpSpPr/>
        <p:nvPr/>
      </p:nvGrpSpPr>
      <p:grpSpPr>
        <a:xfrm>
          <a:off x="0" y="0"/>
          <a:ext cx="0" cy="0"/>
          <a:chOff x="0" y="0"/>
          <a:chExt cx="0" cy="0"/>
        </a:xfrm>
      </p:grpSpPr>
      <p:sp>
        <p:nvSpPr>
          <p:cNvPr id="83" name="Google Shape;83;p15"/>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15"/>
          <p:cNvGrpSpPr/>
          <p:nvPr/>
        </p:nvGrpSpPr>
        <p:grpSpPr>
          <a:xfrm>
            <a:off x="5594191" y="3961115"/>
            <a:ext cx="2910145" cy="1182340"/>
            <a:chOff x="6917201" y="0"/>
            <a:chExt cx="2227777" cy="863400"/>
          </a:xfrm>
        </p:grpSpPr>
        <p:sp>
          <p:nvSpPr>
            <p:cNvPr id="85" name="Google Shape;85;p1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 name="Google Shape;88;p15"/>
          <p:cNvGrpSpPr/>
          <p:nvPr/>
        </p:nvGrpSpPr>
        <p:grpSpPr>
          <a:xfrm>
            <a:off x="199149" y="2"/>
            <a:ext cx="2795414" cy="1083308"/>
            <a:chOff x="6917201" y="0"/>
            <a:chExt cx="2227777" cy="863400"/>
          </a:xfrm>
        </p:grpSpPr>
        <p:sp>
          <p:nvSpPr>
            <p:cNvPr id="89" name="Google Shape;89;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5"/>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93" name="Google Shape;93;p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4" name="Shape 94"/>
        <p:cNvGrpSpPr/>
        <p:nvPr/>
      </p:nvGrpSpPr>
      <p:grpSpPr>
        <a:xfrm>
          <a:off x="0" y="0"/>
          <a:ext cx="0" cy="0"/>
          <a:chOff x="0" y="0"/>
          <a:chExt cx="0" cy="0"/>
        </a:xfrm>
      </p:grpSpPr>
      <p:sp>
        <p:nvSpPr>
          <p:cNvPr id="95" name="Google Shape;95;p1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9" name="Google Shape;99;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1" name="Shape 101"/>
        <p:cNvGrpSpPr/>
        <p:nvPr/>
      </p:nvGrpSpPr>
      <p:grpSpPr>
        <a:xfrm>
          <a:off x="0" y="0"/>
          <a:ext cx="0" cy="0"/>
          <a:chOff x="0" y="0"/>
          <a:chExt cx="0" cy="0"/>
        </a:xfrm>
      </p:grpSpPr>
      <p:sp>
        <p:nvSpPr>
          <p:cNvPr id="102" name="Google Shape;102;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6" name="Google Shape;106;p17"/>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7" name="Google Shape;107;p17"/>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8" name="Google Shape;108;p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9" name="Shape 109"/>
        <p:cNvGrpSpPr/>
        <p:nvPr/>
      </p:nvGrpSpPr>
      <p:grpSpPr>
        <a:xfrm>
          <a:off x="0" y="0"/>
          <a:ext cx="0" cy="0"/>
          <a:chOff x="0" y="0"/>
          <a:chExt cx="0" cy="0"/>
        </a:xfrm>
      </p:grpSpPr>
      <p:sp>
        <p:nvSpPr>
          <p:cNvPr id="110" name="Google Shape;110;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4" name="Google Shape;114;p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15" name="Shape 115"/>
        <p:cNvGrpSpPr/>
        <p:nvPr/>
      </p:nvGrpSpPr>
      <p:grpSpPr>
        <a:xfrm>
          <a:off x="0" y="0"/>
          <a:ext cx="0" cy="0"/>
          <a:chOff x="0" y="0"/>
          <a:chExt cx="0" cy="0"/>
        </a:xfrm>
      </p:grpSpPr>
      <p:sp>
        <p:nvSpPr>
          <p:cNvPr id="116" name="Google Shape;116;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0" name="Google Shape;120;p19"/>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1" name="Google Shape;121;p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22" name="Shape 122"/>
        <p:cNvGrpSpPr/>
        <p:nvPr/>
      </p:nvGrpSpPr>
      <p:grpSpPr>
        <a:xfrm>
          <a:off x="0" y="0"/>
          <a:ext cx="0" cy="0"/>
          <a:chOff x="0" y="0"/>
          <a:chExt cx="0" cy="0"/>
        </a:xfrm>
      </p:grpSpPr>
      <p:sp>
        <p:nvSpPr>
          <p:cNvPr id="123" name="Google Shape;123;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20"/>
          <p:cNvGrpSpPr/>
          <p:nvPr/>
        </p:nvGrpSpPr>
        <p:grpSpPr>
          <a:xfrm>
            <a:off x="255991" y="-118"/>
            <a:ext cx="2251347" cy="1043408"/>
            <a:chOff x="3961956" y="4383950"/>
            <a:chExt cx="1160548" cy="548700"/>
          </a:xfrm>
        </p:grpSpPr>
        <p:sp>
          <p:nvSpPr>
            <p:cNvPr id="126" name="Google Shape;126;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0"/>
          <p:cNvGrpSpPr/>
          <p:nvPr/>
        </p:nvGrpSpPr>
        <p:grpSpPr>
          <a:xfrm>
            <a:off x="34934" y="4522125"/>
            <a:ext cx="1593306" cy="617072"/>
            <a:chOff x="6917201" y="0"/>
            <a:chExt cx="2227777" cy="863400"/>
          </a:xfrm>
        </p:grpSpPr>
        <p:sp>
          <p:nvSpPr>
            <p:cNvPr id="131" name="Google Shape;131;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20"/>
          <p:cNvGrpSpPr/>
          <p:nvPr/>
        </p:nvGrpSpPr>
        <p:grpSpPr>
          <a:xfrm>
            <a:off x="5886353" y="1243"/>
            <a:ext cx="3257455" cy="1261514"/>
            <a:chOff x="6917201" y="0"/>
            <a:chExt cx="2227777" cy="863400"/>
          </a:xfrm>
        </p:grpSpPr>
        <p:sp>
          <p:nvSpPr>
            <p:cNvPr id="135" name="Google Shape;135;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20"/>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139" name="Google Shape;139;p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40" name="Shape 140"/>
        <p:cNvGrpSpPr/>
        <p:nvPr/>
      </p:nvGrpSpPr>
      <p:grpSpPr>
        <a:xfrm>
          <a:off x="0" y="0"/>
          <a:ext cx="0" cy="0"/>
          <a:chOff x="0" y="0"/>
          <a:chExt cx="0" cy="0"/>
        </a:xfrm>
      </p:grpSpPr>
      <p:sp>
        <p:nvSpPr>
          <p:cNvPr id="141" name="Google Shape;141;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45" name="Google Shape;145;p21"/>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46" name="Google Shape;146;p21"/>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7" name="Google Shape;147;p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48" name="Shape 148"/>
        <p:cNvGrpSpPr/>
        <p:nvPr/>
      </p:nvGrpSpPr>
      <p:grpSpPr>
        <a:xfrm>
          <a:off x="0" y="0"/>
          <a:ext cx="0" cy="0"/>
          <a:chOff x="0" y="0"/>
          <a:chExt cx="0" cy="0"/>
        </a:xfrm>
      </p:grpSpPr>
      <p:sp>
        <p:nvSpPr>
          <p:cNvPr id="149" name="Google Shape;149;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2"/>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53" name="Google Shape;153;p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54" name="Shape 154"/>
        <p:cNvGrpSpPr/>
        <p:nvPr/>
      </p:nvGrpSpPr>
      <p:grpSpPr>
        <a:xfrm>
          <a:off x="0" y="0"/>
          <a:ext cx="0" cy="0"/>
          <a:chOff x="0" y="0"/>
          <a:chExt cx="0" cy="0"/>
        </a:xfrm>
      </p:grpSpPr>
      <p:sp>
        <p:nvSpPr>
          <p:cNvPr id="155" name="Google Shape;155;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23"/>
          <p:cNvGrpSpPr/>
          <p:nvPr/>
        </p:nvGrpSpPr>
        <p:grpSpPr>
          <a:xfrm>
            <a:off x="5959222" y="4119576"/>
            <a:ext cx="2520952" cy="1024165"/>
            <a:chOff x="6917201" y="0"/>
            <a:chExt cx="2227777" cy="863400"/>
          </a:xfrm>
        </p:grpSpPr>
        <p:sp>
          <p:nvSpPr>
            <p:cNvPr id="157" name="Google Shape;157;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23"/>
          <p:cNvGrpSpPr/>
          <p:nvPr/>
        </p:nvGrpSpPr>
        <p:grpSpPr>
          <a:xfrm>
            <a:off x="199149" y="2"/>
            <a:ext cx="2795414" cy="1083308"/>
            <a:chOff x="6917201" y="0"/>
            <a:chExt cx="2227777" cy="863400"/>
          </a:xfrm>
        </p:grpSpPr>
        <p:sp>
          <p:nvSpPr>
            <p:cNvPr id="161" name="Google Shape;161;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23"/>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65" name="Google Shape;165;p23"/>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66" name="Google Shape;166;p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
        <p:nvSpPr>
          <p:cNvPr id="168" name="Google Shape;168;p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52" name="Google Shape;52;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53" name="Google Shape;53;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docs.google.com/spreadsheets/d/16tWCgDPfH_oBJp37biIw427NPv6pWSS3JrZMFnP6TQg/edit?gid=0#gid=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NBA Stats Project</a:t>
            </a:r>
            <a:endParaRPr/>
          </a:p>
          <a:p>
            <a:pPr indent="0" lvl="0" marL="0" rtl="0" algn="ctr">
              <a:spcBef>
                <a:spcPts val="0"/>
              </a:spcBef>
              <a:spcAft>
                <a:spcPts val="0"/>
              </a:spcAft>
              <a:buNone/>
            </a:pPr>
            <a:r>
              <a:rPr lang="en"/>
              <a:t>Weekly Deliverables</a:t>
            </a:r>
            <a:endParaRPr/>
          </a:p>
        </p:txBody>
      </p:sp>
      <p:sp>
        <p:nvSpPr>
          <p:cNvPr id="174" name="Google Shape;174;p25"/>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2080"/>
              <a:t>Peyton Ashley VM 31812</a:t>
            </a:r>
            <a:endParaRPr sz="2080"/>
          </a:p>
          <a:p>
            <a:pPr indent="0" lvl="0" marL="0" rtl="0" algn="ctr">
              <a:lnSpc>
                <a:spcPct val="80000"/>
              </a:lnSpc>
              <a:spcBef>
                <a:spcPts val="0"/>
              </a:spcBef>
              <a:spcAft>
                <a:spcPts val="0"/>
              </a:spcAft>
              <a:buSzPts val="605"/>
              <a:buNone/>
            </a:pPr>
            <a:r>
              <a:rPr lang="en" sz="2080"/>
              <a:t>UMBC IS296</a:t>
            </a:r>
            <a:endParaRPr sz="2080"/>
          </a:p>
          <a:p>
            <a:pPr indent="0" lvl="0" marL="0" rtl="0" algn="ctr">
              <a:lnSpc>
                <a:spcPct val="80000"/>
              </a:lnSpc>
              <a:spcBef>
                <a:spcPts val="0"/>
              </a:spcBef>
              <a:spcAft>
                <a:spcPts val="0"/>
              </a:spcAft>
              <a:buSzPts val="605"/>
              <a:buNone/>
            </a:pPr>
            <a:r>
              <a:rPr lang="en" sz="2080"/>
              <a:t>Spring 2026</a:t>
            </a:r>
            <a:endParaRPr sz="20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180" name="Google Shape;180;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600"/>
              </a:spcBef>
              <a:spcAft>
                <a:spcPts val="0"/>
              </a:spcAft>
              <a:buNone/>
            </a:pPr>
            <a:r>
              <a:rPr lang="en" sz="1700"/>
              <a:t>My presentation is about trends within NBA playoff stats from the 2021 - 2022 season. I will analyze the correlations between stats, like how does a players position affect their performance, and how some stats have correlations or relationships to game outcomes. This will hopefully help the casual NBA player to understand their players' stats and what those stats mean on a higher level. This will hopefully expand their knowledge and love for the sport.</a:t>
            </a:r>
            <a:endParaRPr sz="1700"/>
          </a:p>
          <a:p>
            <a:pPr indent="0" lvl="0" marL="0" rtl="0" algn="l">
              <a:spcBef>
                <a:spcPts val="6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 Data Profile for 2021-2022 NBA Playoff Stats</a:t>
            </a:r>
            <a:endParaRPr/>
          </a:p>
        </p:txBody>
      </p:sp>
      <p:sp>
        <p:nvSpPr>
          <p:cNvPr id="186" name="Google Shape;186;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latin typeface="Open Sans"/>
                <a:ea typeface="Open Sans"/>
                <a:cs typeface="Open Sans"/>
                <a:sym typeface="Open Sans"/>
              </a:rPr>
              <a:t>Here is the link to my data profile including all columns </a:t>
            </a:r>
            <a:r>
              <a:rPr lang="en" sz="1800">
                <a:latin typeface="Open Sans"/>
                <a:ea typeface="Open Sans"/>
                <a:cs typeface="Open Sans"/>
                <a:sym typeface="Open Sans"/>
              </a:rPr>
              <a:t>needed</a:t>
            </a:r>
            <a:r>
              <a:rPr lang="en" sz="1800">
                <a:latin typeface="Open Sans"/>
                <a:ea typeface="Open Sans"/>
                <a:cs typeface="Open Sans"/>
                <a:sym typeface="Open Sans"/>
              </a:rPr>
              <a:t>.</a:t>
            </a:r>
            <a:endParaRPr sz="1800">
              <a:latin typeface="Open Sans"/>
              <a:ea typeface="Open Sans"/>
              <a:cs typeface="Open Sans"/>
              <a:sym typeface="Open Sans"/>
            </a:endParaRPr>
          </a:p>
          <a:p>
            <a:pPr indent="0" lvl="0" marL="0" rtl="0" algn="l">
              <a:lnSpc>
                <a:spcPct val="100000"/>
              </a:lnSpc>
              <a:spcBef>
                <a:spcPts val="0"/>
              </a:spcBef>
              <a:spcAft>
                <a:spcPts val="0"/>
              </a:spcAft>
              <a:buNone/>
            </a:pPr>
            <a:r>
              <a:rPr lang="en" sz="1800" u="sng">
                <a:solidFill>
                  <a:schemeClr val="hlink"/>
                </a:solidFill>
                <a:latin typeface="Open Sans"/>
                <a:ea typeface="Open Sans"/>
                <a:cs typeface="Open Sans"/>
                <a:sym typeface="Open Sans"/>
                <a:hlinkClick r:id="rId3"/>
              </a:rPr>
              <a:t>Link</a:t>
            </a:r>
            <a:endParaRPr sz="1800">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 Audience and Goals for NBA Stats</a:t>
            </a:r>
            <a:endParaRPr/>
          </a:p>
        </p:txBody>
      </p:sp>
      <p:sp>
        <p:nvSpPr>
          <p:cNvPr id="192" name="Google Shape;192;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b="1" lang="en" sz="1600"/>
              <a:t>Audience</a:t>
            </a:r>
            <a:r>
              <a:rPr lang="en" sz="1600"/>
              <a:t>: Who is your intended audience for the data stories to be created? </a:t>
            </a:r>
            <a:endParaRPr sz="1600"/>
          </a:p>
          <a:p>
            <a:pPr indent="-330200" lvl="1" marL="914400" rtl="0" algn="l">
              <a:spcBef>
                <a:spcPts val="0"/>
              </a:spcBef>
              <a:spcAft>
                <a:spcPts val="0"/>
              </a:spcAft>
              <a:buSzPts val="1600"/>
              <a:buChar char="○"/>
            </a:pPr>
            <a:r>
              <a:rPr lang="en" sz="1600"/>
              <a:t>The intended audience is NBA fans</a:t>
            </a:r>
            <a:endParaRPr sz="1600"/>
          </a:p>
          <a:p>
            <a:pPr indent="-330200" lvl="0" marL="457200" rtl="0" algn="l">
              <a:spcBef>
                <a:spcPts val="0"/>
              </a:spcBef>
              <a:spcAft>
                <a:spcPts val="0"/>
              </a:spcAft>
              <a:buSzPts val="1600"/>
              <a:buChar char="●"/>
            </a:pPr>
            <a:r>
              <a:rPr b="1" lang="en" sz="1600"/>
              <a:t>Goals</a:t>
            </a:r>
            <a:r>
              <a:rPr lang="en" sz="1600"/>
              <a:t>: What is your communication goal? </a:t>
            </a:r>
            <a:endParaRPr sz="1600"/>
          </a:p>
          <a:p>
            <a:pPr indent="-330200" lvl="1" marL="914400" rtl="0" algn="l">
              <a:spcBef>
                <a:spcPts val="0"/>
              </a:spcBef>
              <a:spcAft>
                <a:spcPts val="0"/>
              </a:spcAft>
              <a:buSzPts val="1600"/>
              <a:buChar char="○"/>
            </a:pPr>
            <a:r>
              <a:rPr lang="en" sz="1600"/>
              <a:t>The goal is to allow fans to have a deeper understanding of the sport by understanding how their favorite players perform in relation to other players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#1 - Curious Questions</a:t>
            </a:r>
            <a:endParaRPr/>
          </a:p>
        </p:txBody>
      </p:sp>
      <p:sp>
        <p:nvSpPr>
          <p:cNvPr id="198" name="Google Shape;198;p29"/>
          <p:cNvSpPr txBox="1"/>
          <p:nvPr>
            <p:ph idx="1" type="body"/>
          </p:nvPr>
        </p:nvSpPr>
        <p:spPr>
          <a:xfrm>
            <a:off x="819150" y="1551525"/>
            <a:ext cx="7505700" cy="24480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Do minutes played lead to more points, assists, and rebounds?</a:t>
            </a:r>
            <a:endParaRPr sz="1600"/>
          </a:p>
          <a:p>
            <a:pPr indent="-330200" lvl="0" marL="457200" rtl="0" algn="l">
              <a:lnSpc>
                <a:spcPct val="115000"/>
              </a:lnSpc>
              <a:spcBef>
                <a:spcPts val="0"/>
              </a:spcBef>
              <a:spcAft>
                <a:spcPts val="0"/>
              </a:spcAft>
              <a:buSzPts val="1600"/>
              <a:buChar char="●"/>
            </a:pPr>
            <a:r>
              <a:rPr lang="en" sz="1600"/>
              <a:t>Does more 3 point attempts lead to lower or higher feild goal%?</a:t>
            </a:r>
            <a:endParaRPr sz="1600"/>
          </a:p>
          <a:p>
            <a:pPr indent="-330200" lvl="0" marL="457200" rtl="0" algn="l">
              <a:lnSpc>
                <a:spcPct val="115000"/>
              </a:lnSpc>
              <a:spcBef>
                <a:spcPts val="0"/>
              </a:spcBef>
              <a:spcAft>
                <a:spcPts val="0"/>
              </a:spcAft>
              <a:buSzPts val="1600"/>
              <a:buChar char="●"/>
            </a:pPr>
            <a:r>
              <a:rPr lang="en" sz="1600"/>
              <a:t>How do points, assists, rebounds, steals differ by position?</a:t>
            </a:r>
            <a:endParaRPr sz="1600"/>
          </a:p>
          <a:p>
            <a:pPr indent="-330200" lvl="0" marL="457200" rtl="0" algn="l">
              <a:lnSpc>
                <a:spcPct val="115000"/>
              </a:lnSpc>
              <a:spcBef>
                <a:spcPts val="0"/>
              </a:spcBef>
              <a:spcAft>
                <a:spcPts val="0"/>
              </a:spcAft>
              <a:buSzPts val="1600"/>
              <a:buChar char="●"/>
            </a:pPr>
            <a:r>
              <a:rPr lang="en" sz="1600"/>
              <a:t>Does less points lead to more assists? </a:t>
            </a:r>
            <a:endParaRPr sz="1600"/>
          </a:p>
          <a:p>
            <a:pPr indent="-330200" lvl="0" marL="457200" rtl="0" algn="l">
              <a:lnSpc>
                <a:spcPct val="115000"/>
              </a:lnSpc>
              <a:spcBef>
                <a:spcPts val="0"/>
              </a:spcBef>
              <a:spcAft>
                <a:spcPts val="0"/>
              </a:spcAft>
              <a:buSzPts val="1600"/>
              <a:buChar char="●"/>
            </a:pPr>
            <a:r>
              <a:rPr lang="en" sz="1600"/>
              <a:t>What players have statistical outliers? </a:t>
            </a:r>
            <a:endParaRPr sz="1600"/>
          </a:p>
          <a:p>
            <a:pPr indent="-330200" lvl="0" marL="457200" rtl="0" algn="l">
              <a:lnSpc>
                <a:spcPct val="115000"/>
              </a:lnSpc>
              <a:spcBef>
                <a:spcPts val="0"/>
              </a:spcBef>
              <a:spcAft>
                <a:spcPts val="0"/>
              </a:spcAft>
              <a:buSzPts val="1600"/>
              <a:buChar char="●"/>
            </a:pPr>
            <a:r>
              <a:rPr lang="en" sz="1600"/>
              <a:t>Does better defensive stats lead to worse offensive stats?</a:t>
            </a:r>
            <a:endParaRPr sz="1600"/>
          </a:p>
          <a:p>
            <a:pPr indent="-330200" lvl="0" marL="457200" rtl="0" algn="l">
              <a:lnSpc>
                <a:spcPct val="115000"/>
              </a:lnSpc>
              <a:spcBef>
                <a:spcPts val="0"/>
              </a:spcBef>
              <a:spcAft>
                <a:spcPts val="0"/>
              </a:spcAft>
              <a:buSzPts val="1600"/>
              <a:buChar char="●"/>
            </a:pPr>
            <a:r>
              <a:rPr lang="en" sz="1600"/>
              <a:t>Are players who score more points more efficient?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Data Insight 1 - Average Points by Player Position </a:t>
            </a:r>
            <a:endParaRPr/>
          </a:p>
        </p:txBody>
      </p:sp>
      <p:sp>
        <p:nvSpPr>
          <p:cNvPr id="204" name="Google Shape;204;p30"/>
          <p:cNvSpPr txBox="1"/>
          <p:nvPr>
            <p:ph idx="2" type="body"/>
          </p:nvPr>
        </p:nvSpPr>
        <p:spPr>
          <a:xfrm>
            <a:off x="4009225" y="1983725"/>
            <a:ext cx="4545300" cy="2448000"/>
          </a:xfrm>
          <a:prstGeom prst="rect">
            <a:avLst/>
          </a:prstGeom>
        </p:spPr>
        <p:txBody>
          <a:bodyPr anchorCtr="0" anchor="t" bIns="91425" lIns="91425" spcFirstLastPara="1" rIns="91425" wrap="square" tIns="91425">
            <a:noAutofit/>
          </a:bodyPr>
          <a:lstStyle/>
          <a:p>
            <a:pPr indent="0" lvl="0" marL="0" rtl="0" algn="l">
              <a:spcBef>
                <a:spcPts val="600"/>
              </a:spcBef>
              <a:spcAft>
                <a:spcPts val="600"/>
              </a:spcAft>
              <a:buNone/>
            </a:pPr>
            <a:r>
              <a:rPr lang="en" sz="1500"/>
              <a:t>This graph shows the ranking of the average number of points scored by NBA players, by their position on the court. We can see that the 2 positions that score noticeably more than others are point guards and small forwards. One could conclude from this that the teams that score the most points have the best point guards and small forwards.</a:t>
            </a:r>
            <a:endParaRPr sz="1500"/>
          </a:p>
        </p:txBody>
      </p:sp>
      <p:pic>
        <p:nvPicPr>
          <p:cNvPr id="205" name="Google Shape;205;p30" title="Screenshot 2026-04-22 164518.png"/>
          <p:cNvPicPr preferRelativeResize="0"/>
          <p:nvPr/>
        </p:nvPicPr>
        <p:blipFill>
          <a:blip r:embed="rId3">
            <a:alphaModFix/>
          </a:blip>
          <a:stretch>
            <a:fillRect/>
          </a:stretch>
        </p:blipFill>
        <p:spPr>
          <a:xfrm>
            <a:off x="931225" y="1983726"/>
            <a:ext cx="2867901" cy="2294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Data Insight 2 - Average Assists by Player Position </a:t>
            </a:r>
            <a:endParaRPr/>
          </a:p>
        </p:txBody>
      </p:sp>
      <p:sp>
        <p:nvSpPr>
          <p:cNvPr id="211" name="Google Shape;211;p31"/>
          <p:cNvSpPr txBox="1"/>
          <p:nvPr>
            <p:ph idx="2" type="body"/>
          </p:nvPr>
        </p:nvSpPr>
        <p:spPr>
          <a:xfrm>
            <a:off x="3827125" y="1996300"/>
            <a:ext cx="48456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This graph shows the number of assists the average NBA player records, broken down by their on-court position. We can see that point guards earn noticeably more assists than other positions, while centers are clearly below the others in assists. One could conclude from this that, on most teams, the point guard is primarily responsible for helping others score, while the center is not relied upon as heavily for this facet of the game.</a:t>
            </a:r>
            <a:endParaRPr sz="1500"/>
          </a:p>
        </p:txBody>
      </p:sp>
      <p:pic>
        <p:nvPicPr>
          <p:cNvPr id="212" name="Google Shape;212;p31" title="Screenshot 2026-04-22 192040.png"/>
          <p:cNvPicPr preferRelativeResize="0"/>
          <p:nvPr/>
        </p:nvPicPr>
        <p:blipFill>
          <a:blip r:embed="rId3">
            <a:alphaModFix/>
          </a:blip>
          <a:stretch>
            <a:fillRect/>
          </a:stretch>
        </p:blipFill>
        <p:spPr>
          <a:xfrm>
            <a:off x="924201" y="2086875"/>
            <a:ext cx="2706801" cy="2161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 Data Insight 3 - Average Rebounds by Position</a:t>
            </a:r>
            <a:endParaRPr/>
          </a:p>
        </p:txBody>
      </p:sp>
      <p:sp>
        <p:nvSpPr>
          <p:cNvPr id="218" name="Google Shape;218;p32"/>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Show Table	</a:t>
            </a:r>
            <a:endParaRPr/>
          </a:p>
        </p:txBody>
      </p:sp>
      <p:sp>
        <p:nvSpPr>
          <p:cNvPr id="219" name="Google Shape;219;p32"/>
          <p:cNvSpPr txBox="1"/>
          <p:nvPr>
            <p:ph idx="2" type="body"/>
          </p:nvPr>
        </p:nvSpPr>
        <p:spPr>
          <a:xfrm>
            <a:off x="4276550" y="1990725"/>
            <a:ext cx="43530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This graph shows the number of rebounds the average NBA player records, broken down by their on-court position. We can see that the positions that get noticeably more rebounds than others are centers and power forwards. From this, one could conclude that on most teams the center and power forward are relied upon for their dominance on the glass, securing both offensive and defensive rebounds.</a:t>
            </a:r>
            <a:endParaRPr sz="1500"/>
          </a:p>
          <a:p>
            <a:pPr indent="0" lvl="0" marL="0" rtl="0" algn="l">
              <a:spcBef>
                <a:spcPts val="0"/>
              </a:spcBef>
              <a:spcAft>
                <a:spcPts val="1200"/>
              </a:spcAft>
              <a:buNone/>
            </a:pPr>
            <a:r>
              <a:t/>
            </a:r>
            <a:endParaRPr sz="1500"/>
          </a:p>
        </p:txBody>
      </p:sp>
      <p:pic>
        <p:nvPicPr>
          <p:cNvPr id="220" name="Google Shape;220;p32" title="Screenshot 2026-04-22 192020.png"/>
          <p:cNvPicPr preferRelativeResize="0"/>
          <p:nvPr/>
        </p:nvPicPr>
        <p:blipFill>
          <a:blip r:embed="rId3">
            <a:alphaModFix/>
          </a:blip>
          <a:stretch>
            <a:fillRect/>
          </a:stretch>
        </p:blipFill>
        <p:spPr>
          <a:xfrm>
            <a:off x="898304" y="1990725"/>
            <a:ext cx="3010894" cy="2448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#2 - Progress</a:t>
            </a:r>
            <a:endParaRPr/>
          </a:p>
        </p:txBody>
      </p:sp>
      <p:sp>
        <p:nvSpPr>
          <p:cNvPr id="226" name="Google Shape;226;p33"/>
          <p:cNvSpPr txBox="1"/>
          <p:nvPr>
            <p:ph idx="1" type="body"/>
          </p:nvPr>
        </p:nvSpPr>
        <p:spPr>
          <a:xfrm>
            <a:off x="819150" y="1600325"/>
            <a:ext cx="7505700" cy="3234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What have you accomplished?</a:t>
            </a:r>
            <a:endParaRPr sz="1600"/>
          </a:p>
          <a:p>
            <a:pPr indent="-330200" lvl="1" marL="914400" rtl="0" algn="l">
              <a:spcBef>
                <a:spcPts val="0"/>
              </a:spcBef>
              <a:spcAft>
                <a:spcPts val="0"/>
              </a:spcAft>
              <a:buSzPts val="1600"/>
              <a:buChar char="○"/>
            </a:pPr>
            <a:r>
              <a:rPr lang="en" sz="1600"/>
              <a:t>I completed the Mini update #2 insights, as well as coded graphs for them. </a:t>
            </a:r>
            <a:endParaRPr sz="1600"/>
          </a:p>
          <a:p>
            <a:pPr indent="-330200" lvl="0" marL="457200" rtl="0" algn="l">
              <a:spcBef>
                <a:spcPts val="0"/>
              </a:spcBef>
              <a:spcAft>
                <a:spcPts val="0"/>
              </a:spcAft>
              <a:buSzPts val="1600"/>
              <a:buChar char="●"/>
            </a:pPr>
            <a:r>
              <a:rPr lang="en" sz="1600"/>
              <a:t>What is the plan for next week?</a:t>
            </a:r>
            <a:endParaRPr sz="1600"/>
          </a:p>
          <a:p>
            <a:pPr indent="-330200" lvl="1" marL="914400" rtl="0" algn="l">
              <a:spcBef>
                <a:spcPts val="0"/>
              </a:spcBef>
              <a:spcAft>
                <a:spcPts val="0"/>
              </a:spcAft>
              <a:buSzPts val="1600"/>
              <a:buChar char="○"/>
            </a:pPr>
            <a:r>
              <a:rPr lang="en" sz="1600"/>
              <a:t>Complete the Mini updates for this week as well as the graphs.</a:t>
            </a:r>
            <a:endParaRPr sz="1600"/>
          </a:p>
          <a:p>
            <a:pPr indent="-330200" lvl="0" marL="457200" rtl="0" algn="l">
              <a:spcBef>
                <a:spcPts val="0"/>
              </a:spcBef>
              <a:spcAft>
                <a:spcPts val="0"/>
              </a:spcAft>
              <a:buSzPts val="1600"/>
              <a:buChar char="●"/>
            </a:pPr>
            <a:r>
              <a:rPr lang="en" sz="1600"/>
              <a:t>What are the obstacles that you need help?</a:t>
            </a:r>
            <a:endParaRPr sz="1600"/>
          </a:p>
          <a:p>
            <a:pPr indent="-330200" lvl="1" marL="914400" rtl="0" algn="l">
              <a:spcBef>
                <a:spcPts val="0"/>
              </a:spcBef>
              <a:spcAft>
                <a:spcPts val="0"/>
              </a:spcAft>
              <a:buSzPts val="1600"/>
              <a:buChar char="○"/>
            </a:pPr>
            <a:r>
              <a:rPr lang="en" sz="1600"/>
              <a:t>I first struggled importing the data into Jupyter </a:t>
            </a:r>
            <a:endParaRPr sz="1600"/>
          </a:p>
          <a:p>
            <a:pPr indent="-330200" lvl="0" marL="457200" rtl="0" algn="l">
              <a:spcBef>
                <a:spcPts val="0"/>
              </a:spcBef>
              <a:spcAft>
                <a:spcPts val="0"/>
              </a:spcAft>
              <a:buSzPts val="1600"/>
              <a:buChar char="●"/>
            </a:pPr>
            <a:r>
              <a:rPr lang="en" sz="1600"/>
              <a:t>What kind of resources you have used? </a:t>
            </a:r>
            <a:endParaRPr sz="1600"/>
          </a:p>
          <a:p>
            <a:pPr indent="-330200" lvl="1" marL="914400" rtl="0" algn="l">
              <a:spcBef>
                <a:spcPts val="0"/>
              </a:spcBef>
              <a:spcAft>
                <a:spcPts val="0"/>
              </a:spcAft>
              <a:buSzPts val="1600"/>
              <a:buChar char="○"/>
            </a:pPr>
            <a:r>
              <a:rPr lang="en" sz="1600"/>
              <a:t>Jupyter</a:t>
            </a:r>
            <a:endParaRPr sz="1600"/>
          </a:p>
          <a:p>
            <a:pPr indent="-330200" lvl="1" marL="914400" rtl="0" algn="l">
              <a:spcBef>
                <a:spcPts val="0"/>
              </a:spcBef>
              <a:spcAft>
                <a:spcPts val="0"/>
              </a:spcAft>
              <a:buSzPts val="1600"/>
              <a:buChar char="○"/>
            </a:pPr>
            <a:r>
              <a:rPr lang="en" sz="1600"/>
              <a:t>My work from Lab #4</a:t>
            </a:r>
            <a:endParaRPr sz="1600"/>
          </a:p>
          <a:p>
            <a:pPr indent="-330200" lvl="1" marL="914400" rtl="0" algn="l">
              <a:spcBef>
                <a:spcPts val="0"/>
              </a:spcBef>
              <a:spcAft>
                <a:spcPts val="0"/>
              </a:spcAft>
              <a:buSzPts val="1600"/>
              <a:buChar char="○"/>
            </a:pPr>
            <a:r>
              <a:rPr lang="en" sz="1600"/>
              <a:t>Previous weeks slides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#2 - Feedback</a:t>
            </a:r>
            <a:endParaRPr/>
          </a:p>
        </p:txBody>
      </p:sp>
      <p:sp>
        <p:nvSpPr>
          <p:cNvPr id="232" name="Google Shape;232;p3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I have not received any feedback because I completed this late. Any feedback you can provide would be appreciated.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Mini Update 3 - Data Insight 1</a:t>
            </a:r>
            <a:endParaRPr sz="2000"/>
          </a:p>
          <a:p>
            <a:pPr indent="0" lvl="0" marL="0" rtl="0" algn="l">
              <a:spcBef>
                <a:spcPts val="0"/>
              </a:spcBef>
              <a:spcAft>
                <a:spcPts val="0"/>
              </a:spcAft>
              <a:buNone/>
            </a:pPr>
            <a:r>
              <a:rPr lang="en" sz="2000"/>
              <a:t>Average Points, Rebounds and Assists by Player Position</a:t>
            </a:r>
            <a:endParaRPr sz="2000"/>
          </a:p>
        </p:txBody>
      </p:sp>
      <p:sp>
        <p:nvSpPr>
          <p:cNvPr id="238" name="Google Shape;238;p35"/>
          <p:cNvSpPr txBox="1"/>
          <p:nvPr>
            <p:ph idx="2" type="body"/>
          </p:nvPr>
        </p:nvSpPr>
        <p:spPr>
          <a:xfrm>
            <a:off x="4389750" y="1877500"/>
            <a:ext cx="4461900" cy="244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This graph shows the ranking of positions based on the total of their stats from points, assists, and rebounds. We can see that the positions that get noticeably more stats than others are point guards and centers, with the most points and rebounds, respectively, while also performing well in other </a:t>
            </a:r>
            <a:r>
              <a:rPr lang="en" sz="1400"/>
              <a:t>categories</a:t>
            </a:r>
            <a:r>
              <a:rPr lang="en" sz="1400"/>
              <a:t>. The position that lacks the most is shooting guard, who has the fewest points and rebounds, and is in the bottom half for assists. One could draw the conclusion that, from a purely statistical perspective, shooting guards provide the least value to their team.</a:t>
            </a:r>
            <a:endParaRPr sz="1400"/>
          </a:p>
          <a:p>
            <a:pPr indent="0" lvl="0" marL="0" rtl="0" algn="l">
              <a:spcBef>
                <a:spcPts val="600"/>
              </a:spcBef>
              <a:spcAft>
                <a:spcPts val="1200"/>
              </a:spcAft>
              <a:buNone/>
            </a:pPr>
            <a:r>
              <a:t/>
            </a:r>
            <a:endParaRPr sz="1400"/>
          </a:p>
        </p:txBody>
      </p:sp>
      <p:pic>
        <p:nvPicPr>
          <p:cNvPr id="239" name="Google Shape;239;p35" title="Screenshot 2026-04-22 170231.png"/>
          <p:cNvPicPr preferRelativeResize="0"/>
          <p:nvPr/>
        </p:nvPicPr>
        <p:blipFill>
          <a:blip r:embed="rId3">
            <a:alphaModFix/>
          </a:blip>
          <a:stretch>
            <a:fillRect/>
          </a:stretch>
        </p:blipFill>
        <p:spPr>
          <a:xfrm>
            <a:off x="819150" y="2041263"/>
            <a:ext cx="3329651" cy="2120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 Data Insight 2 - Points vs. Field Goal % </a:t>
            </a:r>
            <a:endParaRPr/>
          </a:p>
        </p:txBody>
      </p:sp>
      <p:sp>
        <p:nvSpPr>
          <p:cNvPr id="245" name="Google Shape;245;p36"/>
          <p:cNvSpPr txBox="1"/>
          <p:nvPr>
            <p:ph idx="2" type="body"/>
          </p:nvPr>
        </p:nvSpPr>
        <p:spPr>
          <a:xfrm>
            <a:off x="4572000" y="1800200"/>
            <a:ext cx="3752700" cy="2722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This data shows the correlation between average points scored per game and field goal percentage. We can see that the points per game peak at 45% FG% from the field. This is an interesting fact, given that the logical assumption would be that the players with the highest efficiency would score the most points. We can see from the data that this is untrue. The likely reason is that the better a player is, the opposing team is more likely to put their best defender making it harder for them to score.</a:t>
            </a:r>
            <a:endParaRPr/>
          </a:p>
          <a:p>
            <a:pPr indent="0" lvl="0" marL="0" rtl="0" algn="l">
              <a:spcBef>
                <a:spcPts val="600"/>
              </a:spcBef>
              <a:spcAft>
                <a:spcPts val="1200"/>
              </a:spcAft>
              <a:buNone/>
            </a:pPr>
            <a:r>
              <a:t/>
            </a:r>
            <a:endParaRPr/>
          </a:p>
        </p:txBody>
      </p:sp>
      <p:pic>
        <p:nvPicPr>
          <p:cNvPr id="246" name="Google Shape;246;p36" title="Screenshot 2026-05-01 130154.png"/>
          <p:cNvPicPr preferRelativeResize="0"/>
          <p:nvPr/>
        </p:nvPicPr>
        <p:blipFill>
          <a:blip r:embed="rId3">
            <a:alphaModFix/>
          </a:blip>
          <a:stretch>
            <a:fillRect/>
          </a:stretch>
        </p:blipFill>
        <p:spPr>
          <a:xfrm>
            <a:off x="819150" y="1800200"/>
            <a:ext cx="3241067" cy="3038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Mini Update 3 - Data Insight 3 - Relation of minutes played to points per game </a:t>
            </a:r>
            <a:endParaRPr/>
          </a:p>
        </p:txBody>
      </p:sp>
      <p:sp>
        <p:nvSpPr>
          <p:cNvPr id="252" name="Google Shape;252;p37"/>
          <p:cNvSpPr txBox="1"/>
          <p:nvPr>
            <p:ph idx="2" type="body"/>
          </p:nvPr>
        </p:nvSpPr>
        <p:spPr>
          <a:xfrm>
            <a:off x="3694850" y="1913675"/>
            <a:ext cx="4545900" cy="244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500"/>
              <a:t>This graph shows the relation between minutes played and points scored per game. As you can see, the graph shows an exponential growth function, which means as minutes go up, points scored goes up by a greater and greater rate. This can </a:t>
            </a:r>
            <a:r>
              <a:rPr lang="en" sz="1500"/>
              <a:t>be</a:t>
            </a:r>
            <a:r>
              <a:rPr lang="en" sz="1500"/>
              <a:t> explained by noting that the player who scores the most points tends to get the most playing time, leading to more points scored.  </a:t>
            </a:r>
            <a:endParaRPr sz="1500"/>
          </a:p>
          <a:p>
            <a:pPr indent="0" lvl="0" marL="0" rtl="0" algn="l">
              <a:spcBef>
                <a:spcPts val="600"/>
              </a:spcBef>
              <a:spcAft>
                <a:spcPts val="1200"/>
              </a:spcAft>
              <a:buNone/>
            </a:pPr>
            <a:r>
              <a:t/>
            </a:r>
            <a:endParaRPr sz="1500"/>
          </a:p>
        </p:txBody>
      </p:sp>
      <p:pic>
        <p:nvPicPr>
          <p:cNvPr id="253" name="Google Shape;253;p37" title="Screenshot 2026-04-22 164531.png"/>
          <p:cNvPicPr preferRelativeResize="0"/>
          <p:nvPr/>
        </p:nvPicPr>
        <p:blipFill>
          <a:blip r:embed="rId3">
            <a:alphaModFix/>
          </a:blip>
          <a:stretch>
            <a:fillRect/>
          </a:stretch>
        </p:blipFill>
        <p:spPr>
          <a:xfrm>
            <a:off x="927850" y="1990725"/>
            <a:ext cx="2624783" cy="2448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#3 - Progress</a:t>
            </a:r>
            <a:endParaRPr/>
          </a:p>
        </p:txBody>
      </p:sp>
      <p:sp>
        <p:nvSpPr>
          <p:cNvPr id="259" name="Google Shape;259;p38"/>
          <p:cNvSpPr txBox="1"/>
          <p:nvPr>
            <p:ph idx="1" type="body"/>
          </p:nvPr>
        </p:nvSpPr>
        <p:spPr>
          <a:xfrm>
            <a:off x="819150" y="1678400"/>
            <a:ext cx="7505700" cy="2448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What has accomplished</a:t>
            </a:r>
            <a:endParaRPr sz="1600"/>
          </a:p>
          <a:p>
            <a:pPr indent="-330200" lvl="1" marL="914400" rtl="0" algn="l">
              <a:spcBef>
                <a:spcPts val="0"/>
              </a:spcBef>
              <a:spcAft>
                <a:spcPts val="0"/>
              </a:spcAft>
              <a:buSzPts val="1600"/>
              <a:buChar char="○"/>
            </a:pPr>
            <a:r>
              <a:rPr lang="en" sz="1600"/>
              <a:t>I completed the Mini update #3 insights, as well as coded graphs for them. </a:t>
            </a:r>
            <a:endParaRPr sz="1600"/>
          </a:p>
          <a:p>
            <a:pPr indent="-330200" lvl="0" marL="457200" rtl="0" algn="l">
              <a:spcBef>
                <a:spcPts val="0"/>
              </a:spcBef>
              <a:spcAft>
                <a:spcPts val="0"/>
              </a:spcAft>
              <a:buSzPts val="1600"/>
              <a:buChar char="●"/>
            </a:pPr>
            <a:r>
              <a:rPr lang="en" sz="1600"/>
              <a:t>what is the plan for next week</a:t>
            </a:r>
            <a:endParaRPr sz="1600"/>
          </a:p>
          <a:p>
            <a:pPr indent="-330200" lvl="1" marL="914400" rtl="0" algn="l">
              <a:spcBef>
                <a:spcPts val="0"/>
              </a:spcBef>
              <a:spcAft>
                <a:spcPts val="0"/>
              </a:spcAft>
              <a:buSzPts val="1600"/>
              <a:buChar char="○"/>
            </a:pPr>
            <a:r>
              <a:rPr lang="en" sz="1600"/>
              <a:t>Complete the Mini updates for that week as well as the graphs.</a:t>
            </a:r>
            <a:endParaRPr sz="1600"/>
          </a:p>
          <a:p>
            <a:pPr indent="-330200" lvl="0" marL="457200" rtl="0" algn="l">
              <a:spcBef>
                <a:spcPts val="0"/>
              </a:spcBef>
              <a:spcAft>
                <a:spcPts val="0"/>
              </a:spcAft>
              <a:buSzPts val="1600"/>
              <a:buChar char="●"/>
            </a:pPr>
            <a:r>
              <a:rPr lang="en" sz="1600"/>
              <a:t>What are the obstacles that you need help	</a:t>
            </a:r>
            <a:endParaRPr sz="1600"/>
          </a:p>
          <a:p>
            <a:pPr indent="-330200" lvl="1" marL="914400" rtl="0" algn="l">
              <a:spcBef>
                <a:spcPts val="0"/>
              </a:spcBef>
              <a:spcAft>
                <a:spcPts val="0"/>
              </a:spcAft>
              <a:buSzPts val="1600"/>
              <a:buChar char="○"/>
            </a:pPr>
            <a:r>
              <a:rPr lang="en" sz="1600"/>
              <a:t>Figuring out how to do the data for the bar graph</a:t>
            </a:r>
            <a:endParaRPr sz="1600"/>
          </a:p>
          <a:p>
            <a:pPr indent="-330200" lvl="0" marL="457200" rtl="0" algn="l">
              <a:spcBef>
                <a:spcPts val="0"/>
              </a:spcBef>
              <a:spcAft>
                <a:spcPts val="0"/>
              </a:spcAft>
              <a:buSzPts val="1600"/>
              <a:buChar char="●"/>
            </a:pPr>
            <a:r>
              <a:rPr lang="en" sz="1600"/>
              <a:t>What kind of resources you have used </a:t>
            </a:r>
            <a:endParaRPr sz="1600"/>
          </a:p>
          <a:p>
            <a:pPr indent="-330200" lvl="1" marL="914400" rtl="0" algn="l">
              <a:spcBef>
                <a:spcPts val="0"/>
              </a:spcBef>
              <a:spcAft>
                <a:spcPts val="0"/>
              </a:spcAft>
              <a:buSzPts val="1600"/>
              <a:buChar char="○"/>
            </a:pPr>
            <a:r>
              <a:rPr lang="en" sz="1600"/>
              <a:t>Jupyter</a:t>
            </a:r>
            <a:endParaRPr sz="1600"/>
          </a:p>
          <a:p>
            <a:pPr indent="-330200" lvl="1" marL="914400" rtl="0" algn="l">
              <a:spcBef>
                <a:spcPts val="0"/>
              </a:spcBef>
              <a:spcAft>
                <a:spcPts val="0"/>
              </a:spcAft>
              <a:buSzPts val="1600"/>
              <a:buChar char="○"/>
            </a:pPr>
            <a:r>
              <a:rPr lang="en" sz="1600"/>
              <a:t>My work from Lab #4</a:t>
            </a:r>
            <a:endParaRPr sz="1600"/>
          </a:p>
          <a:p>
            <a:pPr indent="-330200" lvl="1" marL="914400" rtl="0" algn="l">
              <a:spcBef>
                <a:spcPts val="0"/>
              </a:spcBef>
              <a:spcAft>
                <a:spcPts val="0"/>
              </a:spcAft>
              <a:buSzPts val="1600"/>
              <a:buChar char="○"/>
            </a:pPr>
            <a:r>
              <a:rPr lang="en" sz="1600"/>
              <a:t>Previous weeks slides</a:t>
            </a:r>
            <a:endParaRPr sz="1600"/>
          </a:p>
          <a:p>
            <a:pPr indent="0" lvl="0" marL="0" rtl="0" algn="l">
              <a:spcBef>
                <a:spcPts val="1600"/>
              </a:spcBef>
              <a:spcAft>
                <a:spcPts val="0"/>
              </a:spcAft>
              <a:buNone/>
            </a:pPr>
            <a:r>
              <a:t/>
            </a:r>
            <a:endParaRPr sz="1500"/>
          </a:p>
          <a:p>
            <a:pPr indent="0" lvl="0" marL="0" rtl="0" algn="l">
              <a:spcBef>
                <a:spcPts val="1600"/>
              </a:spcBef>
              <a:spcAft>
                <a:spcPts val="1200"/>
              </a:spcAft>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#3 - Feedback</a:t>
            </a:r>
            <a:endParaRPr/>
          </a:p>
        </p:txBody>
      </p:sp>
      <p:sp>
        <p:nvSpPr>
          <p:cNvPr id="265" name="Google Shape;265;p39"/>
          <p:cNvSpPr txBox="1"/>
          <p:nvPr>
            <p:ph idx="1" type="body"/>
          </p:nvPr>
        </p:nvSpPr>
        <p:spPr>
          <a:xfrm>
            <a:off x="861175" y="1619550"/>
            <a:ext cx="7505700" cy="2448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1800"/>
              <a:t>I have not received any feedback because I did this late, but I’d appreciate any feedback you can provide.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Mini Update 4 - Data Insight 1 Average Blocks by Player Position</a:t>
            </a:r>
            <a:endParaRPr sz="2000"/>
          </a:p>
        </p:txBody>
      </p:sp>
      <p:sp>
        <p:nvSpPr>
          <p:cNvPr id="271" name="Google Shape;271;p40"/>
          <p:cNvSpPr txBox="1"/>
          <p:nvPr>
            <p:ph idx="2" type="body"/>
          </p:nvPr>
        </p:nvSpPr>
        <p:spPr>
          <a:xfrm>
            <a:off x="4377150" y="1671950"/>
            <a:ext cx="4461900" cy="28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This graph shows the number of Blocks the average NBA player records, broken down by their on-court position. We can see that the positions that get noticeably more blocksthan others are centers and power forwards.This could be related to them being generally taller and therefore are going to have an easier time of intercepting the ball midair and getting a block. </a:t>
            </a:r>
            <a:endParaRPr sz="1400"/>
          </a:p>
        </p:txBody>
      </p:sp>
      <p:pic>
        <p:nvPicPr>
          <p:cNvPr id="272" name="Google Shape;272;p40" title="Screenshot 2026-04-24 142925.png"/>
          <p:cNvPicPr preferRelativeResize="0"/>
          <p:nvPr/>
        </p:nvPicPr>
        <p:blipFill>
          <a:blip r:embed="rId3">
            <a:alphaModFix/>
          </a:blip>
          <a:stretch>
            <a:fillRect/>
          </a:stretch>
        </p:blipFill>
        <p:spPr>
          <a:xfrm>
            <a:off x="934650" y="1671950"/>
            <a:ext cx="3316149" cy="26535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Mini Update 4 - Data Insight 2</a:t>
            </a:r>
            <a:endParaRPr sz="2000"/>
          </a:p>
          <a:p>
            <a:pPr indent="0" lvl="0" marL="0" rtl="0" algn="l">
              <a:spcBef>
                <a:spcPts val="0"/>
              </a:spcBef>
              <a:spcAft>
                <a:spcPts val="0"/>
              </a:spcAft>
              <a:buNone/>
            </a:pPr>
            <a:r>
              <a:rPr lang="en" sz="2000"/>
              <a:t> 3 Point attempts by 3pt percentage</a:t>
            </a:r>
            <a:endParaRPr sz="2000"/>
          </a:p>
        </p:txBody>
      </p:sp>
      <p:sp>
        <p:nvSpPr>
          <p:cNvPr id="278" name="Google Shape;278;p41"/>
          <p:cNvSpPr txBox="1"/>
          <p:nvPr>
            <p:ph idx="2" type="body"/>
          </p:nvPr>
        </p:nvSpPr>
        <p:spPr>
          <a:xfrm>
            <a:off x="4079650" y="1714725"/>
            <a:ext cx="4772100" cy="3018900"/>
          </a:xfrm>
          <a:prstGeom prst="rect">
            <a:avLst/>
          </a:prstGeom>
        </p:spPr>
        <p:txBody>
          <a:bodyPr anchorCtr="0" anchor="t" bIns="91425" lIns="91425" spcFirstLastPara="1" rIns="91425" wrap="square" tIns="91425">
            <a:noAutofit/>
          </a:bodyPr>
          <a:lstStyle/>
          <a:p>
            <a:pPr indent="0" lvl="0" marL="0" rtl="0" algn="l">
              <a:spcBef>
                <a:spcPts val="600"/>
              </a:spcBef>
              <a:spcAft>
                <a:spcPts val="600"/>
              </a:spcAft>
              <a:buNone/>
            </a:pPr>
            <a:r>
              <a:rPr lang="en" sz="1500"/>
              <a:t>This graph shows the relation between 3 Point attempts by a players 3 PT percentage. As you can see, the graph shows that the players who take the most 3 point attempts do not have the highest make percentage, but instead tend to gravitate toward the 40% range. This is most likely because of the in consistency of those who have a higher percentage of shots made. If a player only shoots once and makes it then they will have a 100% make rate, yet they are not trusted to shoot as many as those who can be trusted to shoot 6+ at a 40% rate. </a:t>
            </a:r>
            <a:endParaRPr sz="1400"/>
          </a:p>
        </p:txBody>
      </p:sp>
      <p:pic>
        <p:nvPicPr>
          <p:cNvPr id="279" name="Google Shape;279;p41" title="Screenshot 2026-04-24 142808.png"/>
          <p:cNvPicPr preferRelativeResize="0"/>
          <p:nvPr/>
        </p:nvPicPr>
        <p:blipFill>
          <a:blip r:embed="rId3">
            <a:alphaModFix/>
          </a:blip>
          <a:stretch>
            <a:fillRect/>
          </a:stretch>
        </p:blipFill>
        <p:spPr>
          <a:xfrm>
            <a:off x="1011157" y="1800200"/>
            <a:ext cx="2614993" cy="24480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2"/>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Mini Update 4 - Data Insight 3</a:t>
            </a:r>
            <a:endParaRPr sz="2000"/>
          </a:p>
          <a:p>
            <a:pPr indent="0" lvl="0" marL="0" rtl="0" algn="l">
              <a:spcBef>
                <a:spcPts val="0"/>
              </a:spcBef>
              <a:spcAft>
                <a:spcPts val="0"/>
              </a:spcAft>
              <a:buNone/>
            </a:pPr>
            <a:r>
              <a:rPr lang="en" sz="2000"/>
              <a:t>3PA by minutes played</a:t>
            </a:r>
            <a:endParaRPr sz="2000"/>
          </a:p>
        </p:txBody>
      </p:sp>
      <p:sp>
        <p:nvSpPr>
          <p:cNvPr id="285" name="Google Shape;285;p42"/>
          <p:cNvSpPr txBox="1"/>
          <p:nvPr>
            <p:ph idx="2" type="body"/>
          </p:nvPr>
        </p:nvSpPr>
        <p:spPr>
          <a:xfrm>
            <a:off x="4572000" y="1729875"/>
            <a:ext cx="4279800" cy="3138300"/>
          </a:xfrm>
          <a:prstGeom prst="rect">
            <a:avLst/>
          </a:prstGeom>
        </p:spPr>
        <p:txBody>
          <a:bodyPr anchorCtr="0" anchor="t" bIns="91425" lIns="91425" spcFirstLastPara="1" rIns="91425" wrap="square" tIns="91425">
            <a:noAutofit/>
          </a:bodyPr>
          <a:lstStyle/>
          <a:p>
            <a:pPr indent="0" lvl="0" marL="0" rtl="0" algn="l">
              <a:spcBef>
                <a:spcPts val="600"/>
              </a:spcBef>
              <a:spcAft>
                <a:spcPts val="600"/>
              </a:spcAft>
              <a:buNone/>
            </a:pPr>
            <a:r>
              <a:rPr lang="en" sz="1500"/>
              <a:t>This graph shows the relation between minutes played and 3 pointers attempted. As you can see, the graph shows a general linear slope with a sharp down take for the player who play 37 minutes plus. In general we can draw the conclusion taht most player simply shoot more 3 pointers the long that they play. I had suspected that the player who get more playing time may shoot more 3 pointers per minute that those who get kess, but this apprears untrue. </a:t>
            </a:r>
            <a:endParaRPr sz="1400"/>
          </a:p>
        </p:txBody>
      </p:sp>
      <p:pic>
        <p:nvPicPr>
          <p:cNvPr id="286" name="Google Shape;286;p42" title="Screenshot 2026-04-24 143726.png"/>
          <p:cNvPicPr preferRelativeResize="0"/>
          <p:nvPr/>
        </p:nvPicPr>
        <p:blipFill>
          <a:blip r:embed="rId3">
            <a:alphaModFix/>
          </a:blip>
          <a:stretch>
            <a:fillRect/>
          </a:stretch>
        </p:blipFill>
        <p:spPr>
          <a:xfrm>
            <a:off x="907525" y="1582250"/>
            <a:ext cx="3519707" cy="2743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 Progress</a:t>
            </a:r>
            <a:endParaRPr/>
          </a:p>
        </p:txBody>
      </p:sp>
      <p:sp>
        <p:nvSpPr>
          <p:cNvPr id="292" name="Google Shape;292;p43"/>
          <p:cNvSpPr txBox="1"/>
          <p:nvPr>
            <p:ph idx="1" type="body"/>
          </p:nvPr>
        </p:nvSpPr>
        <p:spPr>
          <a:xfrm>
            <a:off x="819150" y="1678400"/>
            <a:ext cx="7505700" cy="2448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What has accomplished</a:t>
            </a:r>
            <a:endParaRPr sz="1600"/>
          </a:p>
          <a:p>
            <a:pPr indent="-330200" lvl="1" marL="914400" rtl="0" algn="l">
              <a:spcBef>
                <a:spcPts val="0"/>
              </a:spcBef>
              <a:spcAft>
                <a:spcPts val="0"/>
              </a:spcAft>
              <a:buSzPts val="1600"/>
              <a:buChar char="○"/>
            </a:pPr>
            <a:r>
              <a:rPr lang="en" sz="1600"/>
              <a:t>I completed the Mini update #4 insights, as well as coded graphs for them. </a:t>
            </a:r>
            <a:endParaRPr sz="1600"/>
          </a:p>
          <a:p>
            <a:pPr indent="-330200" lvl="0" marL="457200" rtl="0" algn="l">
              <a:spcBef>
                <a:spcPts val="0"/>
              </a:spcBef>
              <a:spcAft>
                <a:spcPts val="0"/>
              </a:spcAft>
              <a:buSzPts val="1600"/>
              <a:buChar char="●"/>
            </a:pPr>
            <a:r>
              <a:rPr lang="en" sz="1600"/>
              <a:t>what is the plan for next week</a:t>
            </a:r>
            <a:endParaRPr sz="1600"/>
          </a:p>
          <a:p>
            <a:pPr indent="-330200" lvl="1" marL="914400" rtl="0" algn="l">
              <a:spcBef>
                <a:spcPts val="0"/>
              </a:spcBef>
              <a:spcAft>
                <a:spcPts val="0"/>
              </a:spcAft>
              <a:buSzPts val="1600"/>
              <a:buChar char="○"/>
            </a:pPr>
            <a:r>
              <a:rPr lang="en" sz="1600"/>
              <a:t>Complete the Mini updates for that week as well as the graphs.</a:t>
            </a:r>
            <a:endParaRPr sz="1600"/>
          </a:p>
          <a:p>
            <a:pPr indent="-330200" lvl="0" marL="457200" rtl="0" algn="l">
              <a:spcBef>
                <a:spcPts val="0"/>
              </a:spcBef>
              <a:spcAft>
                <a:spcPts val="0"/>
              </a:spcAft>
              <a:buSzPts val="1600"/>
              <a:buChar char="●"/>
            </a:pPr>
            <a:r>
              <a:rPr lang="en" sz="1600"/>
              <a:t>What are the obstacles that you need help	</a:t>
            </a:r>
            <a:endParaRPr sz="1600"/>
          </a:p>
          <a:p>
            <a:pPr indent="-330200" lvl="1" marL="914400" rtl="0" algn="l">
              <a:spcBef>
                <a:spcPts val="0"/>
              </a:spcBef>
              <a:spcAft>
                <a:spcPts val="0"/>
              </a:spcAft>
              <a:buSzPts val="1600"/>
              <a:buChar char="○"/>
            </a:pPr>
            <a:r>
              <a:rPr lang="en" sz="1600"/>
              <a:t>Figuring out how to do the data for the bar graph and line graphs. </a:t>
            </a:r>
            <a:r>
              <a:rPr lang="en" sz="1600"/>
              <a:t>Making</a:t>
            </a:r>
            <a:r>
              <a:rPr lang="en" sz="1600"/>
              <a:t> new connection for the 3 point attempts by minutes played graph</a:t>
            </a:r>
            <a:endParaRPr sz="1600"/>
          </a:p>
          <a:p>
            <a:pPr indent="-330200" lvl="0" marL="457200" rtl="0" algn="l">
              <a:spcBef>
                <a:spcPts val="0"/>
              </a:spcBef>
              <a:spcAft>
                <a:spcPts val="0"/>
              </a:spcAft>
              <a:buSzPts val="1600"/>
              <a:buChar char="●"/>
            </a:pPr>
            <a:r>
              <a:rPr lang="en" sz="1600"/>
              <a:t>What kind of resources you have used </a:t>
            </a:r>
            <a:endParaRPr sz="1600"/>
          </a:p>
          <a:p>
            <a:pPr indent="-330200" lvl="1" marL="914400" rtl="0" algn="l">
              <a:spcBef>
                <a:spcPts val="0"/>
              </a:spcBef>
              <a:spcAft>
                <a:spcPts val="0"/>
              </a:spcAft>
              <a:buSzPts val="1600"/>
              <a:buChar char="○"/>
            </a:pPr>
            <a:r>
              <a:rPr lang="en" sz="1600"/>
              <a:t>Jupyter</a:t>
            </a:r>
            <a:endParaRPr sz="1600"/>
          </a:p>
          <a:p>
            <a:pPr indent="-330200" lvl="1" marL="914400" rtl="0" algn="l">
              <a:spcBef>
                <a:spcPts val="0"/>
              </a:spcBef>
              <a:spcAft>
                <a:spcPts val="0"/>
              </a:spcAft>
              <a:buSzPts val="1600"/>
              <a:buChar char="○"/>
            </a:pPr>
            <a:r>
              <a:rPr lang="en" sz="1600"/>
              <a:t>My work from Lab #4</a:t>
            </a:r>
            <a:endParaRPr sz="1600"/>
          </a:p>
          <a:p>
            <a:pPr indent="-330200" lvl="1" marL="914400" rtl="0" algn="l">
              <a:spcBef>
                <a:spcPts val="0"/>
              </a:spcBef>
              <a:spcAft>
                <a:spcPts val="0"/>
              </a:spcAft>
              <a:buSzPts val="1600"/>
              <a:buChar char="○"/>
            </a:pPr>
            <a:r>
              <a:rPr lang="en" sz="1600"/>
              <a:t>Previous weeks slides</a:t>
            </a:r>
            <a:endParaRPr sz="1600"/>
          </a:p>
          <a:p>
            <a:pPr indent="0" lvl="0" marL="0" rtl="0" algn="l">
              <a:spcBef>
                <a:spcPts val="1600"/>
              </a:spcBef>
              <a:spcAft>
                <a:spcPts val="0"/>
              </a:spcAft>
              <a:buNone/>
            </a:pPr>
            <a:r>
              <a:t/>
            </a:r>
            <a:endParaRPr sz="1500"/>
          </a:p>
          <a:p>
            <a:pPr indent="0" lvl="0" marL="0" rtl="0" algn="l">
              <a:spcBef>
                <a:spcPts val="1600"/>
              </a:spcBef>
              <a:spcAft>
                <a:spcPts val="1200"/>
              </a:spcAft>
              <a:buNone/>
            </a:pPr>
            <a:r>
              <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 Feedback</a:t>
            </a:r>
            <a:endParaRPr/>
          </a:p>
        </p:txBody>
      </p:sp>
      <p:sp>
        <p:nvSpPr>
          <p:cNvPr id="298" name="Google Shape;298;p44"/>
          <p:cNvSpPr txBox="1"/>
          <p:nvPr>
            <p:ph idx="1" type="body"/>
          </p:nvPr>
        </p:nvSpPr>
        <p:spPr>
          <a:xfrm>
            <a:off x="861175" y="1619550"/>
            <a:ext cx="7505700" cy="2448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type="title"/>
          </p:nvPr>
        </p:nvSpPr>
        <p:spPr>
          <a:xfrm>
            <a:off x="819150" y="5689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5</a:t>
            </a:r>
            <a:endParaRPr/>
          </a:p>
        </p:txBody>
      </p:sp>
      <p:sp>
        <p:nvSpPr>
          <p:cNvPr id="304" name="Google Shape;304;p45"/>
          <p:cNvSpPr txBox="1"/>
          <p:nvPr>
            <p:ph idx="1" type="body"/>
          </p:nvPr>
        </p:nvSpPr>
        <p:spPr>
          <a:xfrm>
            <a:off x="819150" y="3176375"/>
            <a:ext cx="7720200" cy="1262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These two groups are the two main groups for the data graphs. The first group is the collection of graphs that show stats by position. Three of them shows </a:t>
            </a:r>
            <a:r>
              <a:rPr lang="en"/>
              <a:t>individual</a:t>
            </a:r>
            <a:r>
              <a:rPr lang="en"/>
              <a:t> stats by position. One shows points by position. The other two are rebounds and assists. The final shows the combined stats by position. This shows the total combined numbers for each of the previous graphs. The second group is the combination of all the graphs in which we can see a players percentage of mad shots. These 3 together show trends in how eefiecent a player is and how it relates to things like minutes played and shots put up. </a:t>
            </a:r>
            <a:endParaRPr/>
          </a:p>
        </p:txBody>
      </p:sp>
      <p:pic>
        <p:nvPicPr>
          <p:cNvPr id="305" name="Google Shape;305;p45" title="Screenshot 2026-05-03 224558.png"/>
          <p:cNvPicPr preferRelativeResize="0"/>
          <p:nvPr/>
        </p:nvPicPr>
        <p:blipFill>
          <a:blip r:embed="rId3">
            <a:alphaModFix/>
          </a:blip>
          <a:stretch>
            <a:fillRect/>
          </a:stretch>
        </p:blipFill>
        <p:spPr>
          <a:xfrm>
            <a:off x="3967350" y="568922"/>
            <a:ext cx="4572000" cy="22840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#5 - Progress</a:t>
            </a:r>
            <a:endParaRPr/>
          </a:p>
        </p:txBody>
      </p:sp>
      <p:sp>
        <p:nvSpPr>
          <p:cNvPr id="311" name="Google Shape;311;p46"/>
          <p:cNvSpPr txBox="1"/>
          <p:nvPr>
            <p:ph idx="1" type="body"/>
          </p:nvPr>
        </p:nvSpPr>
        <p:spPr>
          <a:xfrm>
            <a:off x="819150" y="1678400"/>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