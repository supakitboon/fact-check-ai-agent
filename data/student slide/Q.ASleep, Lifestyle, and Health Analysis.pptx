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embeddedFontLst>
    <p:embeddedFont>
      <p:font typeface="Open San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A4BA14C-436A-454D-A3CF-9C3F51035D6D}">
  <a:tblStyle styleId="{3A4BA14C-436A-454D-A3CF-9C3F51035D6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OpenSans-bold.fntdata"/><Relationship Id="rId23" Type="http://schemas.openxmlformats.org/officeDocument/2006/relationships/font" Target="fonts/Open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OpenSans-boldItalic.fntdata"/><Relationship Id="rId25" Type="http://schemas.openxmlformats.org/officeDocument/2006/relationships/font" Target="fonts/OpenSa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4afa3a0f8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4afa3a0f8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d4afa3a0f8_0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d4afa3a0f8_0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d4afa3a0f8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d4afa3a0f8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d5aa79bc9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d5aa79bc9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d5aa79bc9f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d5aa79bc9f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d5aa79bc9f_1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d5aa79bc9f_1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d5aa79bc9f_1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d5aa79bc9f_1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d76ba95c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d76ba95c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d76ba95c1c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d76ba95c1c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d76ba95c1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d76ba95c1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d989427f0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d989427f0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989427f0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989427f0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989427f0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d989427f0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dbd00aad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dbd00aad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dbd00aadd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dbd00aadd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sz="4900"/>
              <a:t>Sleep &amp; Habits Analysis</a:t>
            </a:r>
            <a:endParaRPr sz="49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Qasem Alkorom</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28917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i="1" lang="en"/>
              <a:t>Mini Update #1 - Data Profile</a:t>
            </a:r>
            <a:endParaRPr b="1" i="1"/>
          </a:p>
          <a:p>
            <a:pPr indent="0" lvl="0" marL="0" rtl="0" algn="l">
              <a:spcBef>
                <a:spcPts val="0"/>
              </a:spcBef>
              <a:spcAft>
                <a:spcPts val="0"/>
              </a:spcAft>
              <a:buNone/>
            </a:pPr>
            <a:r>
              <a:t/>
            </a:r>
            <a:endParaRPr/>
          </a:p>
        </p:txBody>
      </p:sp>
      <p:graphicFrame>
        <p:nvGraphicFramePr>
          <p:cNvPr id="61" name="Google Shape;61;p14"/>
          <p:cNvGraphicFramePr/>
          <p:nvPr/>
        </p:nvGraphicFramePr>
        <p:xfrm>
          <a:off x="507913" y="1400550"/>
          <a:ext cx="3000000" cy="3000000"/>
        </p:xfrm>
        <a:graphic>
          <a:graphicData uri="http://schemas.openxmlformats.org/drawingml/2006/table">
            <a:tbl>
              <a:tblPr>
                <a:noFill/>
                <a:tableStyleId>{3A4BA14C-436A-454D-A3CF-9C3F51035D6D}</a:tableStyleId>
              </a:tblPr>
              <a:tblGrid>
                <a:gridCol w="1561425"/>
                <a:gridCol w="1561425"/>
                <a:gridCol w="2021600"/>
                <a:gridCol w="1336675"/>
                <a:gridCol w="1647050"/>
              </a:tblGrid>
              <a:tr h="668725">
                <a:tc>
                  <a:txBody>
                    <a:bodyPr/>
                    <a:lstStyle/>
                    <a:p>
                      <a:pPr indent="0" lvl="0" marL="0" rtl="0" algn="l">
                        <a:spcBef>
                          <a:spcPts val="0"/>
                        </a:spcBef>
                        <a:spcAft>
                          <a:spcPts val="0"/>
                        </a:spcAft>
                        <a:buNone/>
                      </a:pPr>
                      <a:r>
                        <a:rPr lang="en">
                          <a:solidFill>
                            <a:schemeClr val="dk1"/>
                          </a:solidFill>
                        </a:rPr>
                        <a:t>Column Name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Has missing value?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Data Type(Discrete or numeric or free text)</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Useful?</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Need cleaning or processing?</a:t>
                      </a:r>
                      <a:endParaRPr>
                        <a:solidFill>
                          <a:schemeClr val="dk1"/>
                        </a:solidFill>
                      </a:endParaRPr>
                    </a:p>
                  </a:txBody>
                  <a:tcPr marT="91425" marB="91425" marR="91425" marL="91425"/>
                </a:tc>
              </a:tr>
              <a:tr h="421225">
                <a:tc>
                  <a:txBody>
                    <a:bodyPr/>
                    <a:lstStyle/>
                    <a:p>
                      <a:pPr indent="0" lvl="0" marL="0" rtl="0" algn="l">
                        <a:spcBef>
                          <a:spcPts val="0"/>
                        </a:spcBef>
                        <a:spcAft>
                          <a:spcPts val="0"/>
                        </a:spcAft>
                        <a:buNone/>
                      </a:pPr>
                      <a:r>
                        <a:rPr lang="en">
                          <a:solidFill>
                            <a:schemeClr val="dk1"/>
                          </a:solidFill>
                        </a:rPr>
                        <a:t>Gender</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Discrete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r>
              <a:tr h="421225">
                <a:tc>
                  <a:txBody>
                    <a:bodyPr/>
                    <a:lstStyle/>
                    <a:p>
                      <a:pPr indent="0" lvl="0" marL="0" rtl="0" algn="l">
                        <a:spcBef>
                          <a:spcPts val="0"/>
                        </a:spcBef>
                        <a:spcAft>
                          <a:spcPts val="0"/>
                        </a:spcAft>
                        <a:buNone/>
                      </a:pPr>
                      <a:r>
                        <a:rPr lang="en">
                          <a:solidFill>
                            <a:schemeClr val="dk1"/>
                          </a:solidFill>
                        </a:rPr>
                        <a:t>Age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Numeric</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r>
              <a:tr h="421225">
                <a:tc>
                  <a:txBody>
                    <a:bodyPr/>
                    <a:lstStyle/>
                    <a:p>
                      <a:pPr indent="0" lvl="0" marL="0" rtl="0" algn="l">
                        <a:spcBef>
                          <a:spcPts val="0"/>
                        </a:spcBef>
                        <a:spcAft>
                          <a:spcPts val="0"/>
                        </a:spcAft>
                        <a:buNone/>
                      </a:pPr>
                      <a:r>
                        <a:rPr lang="en">
                          <a:solidFill>
                            <a:schemeClr val="dk1"/>
                          </a:solidFill>
                        </a:rPr>
                        <a:t>Sleep Duration</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Numeric</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r>
              <a:tr h="421225">
                <a:tc>
                  <a:txBody>
                    <a:bodyPr/>
                    <a:lstStyle/>
                    <a:p>
                      <a:pPr indent="0" lvl="0" marL="0" rtl="0" algn="l">
                        <a:spcBef>
                          <a:spcPts val="0"/>
                        </a:spcBef>
                        <a:spcAft>
                          <a:spcPts val="0"/>
                        </a:spcAft>
                        <a:buNone/>
                      </a:pPr>
                      <a:r>
                        <a:rPr lang="en">
                          <a:solidFill>
                            <a:schemeClr val="dk1"/>
                          </a:solidFill>
                        </a:rPr>
                        <a:t>Quality of Sleep</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Numeric</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r>
              <a:tr h="421225">
                <a:tc>
                  <a:txBody>
                    <a:bodyPr/>
                    <a:lstStyle/>
                    <a:p>
                      <a:pPr indent="0" lvl="0" marL="0" rtl="0" algn="l">
                        <a:spcBef>
                          <a:spcPts val="0"/>
                        </a:spcBef>
                        <a:spcAft>
                          <a:spcPts val="0"/>
                        </a:spcAft>
                        <a:buNone/>
                      </a:pPr>
                      <a:r>
                        <a:rPr lang="en">
                          <a:solidFill>
                            <a:schemeClr val="dk1"/>
                          </a:solidFill>
                        </a:rPr>
                        <a:t>Stress Level</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Numeric</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r>
              <a:tr h="421225">
                <a:tc>
                  <a:txBody>
                    <a:bodyPr/>
                    <a:lstStyle/>
                    <a:p>
                      <a:pPr indent="0" lvl="0" marL="0" rtl="0" algn="l">
                        <a:spcBef>
                          <a:spcPts val="0"/>
                        </a:spcBef>
                        <a:spcAft>
                          <a:spcPts val="0"/>
                        </a:spcAft>
                        <a:buNone/>
                      </a:pPr>
                      <a:r>
                        <a:rPr lang="en">
                          <a:solidFill>
                            <a:schemeClr val="dk1"/>
                          </a:solidFill>
                        </a:rPr>
                        <a:t>BMI Category</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Discrete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No</a:t>
                      </a:r>
                      <a:endParaRPr>
                        <a:solidFill>
                          <a:schemeClr val="dk1"/>
                        </a:solidFill>
                      </a:endParaRPr>
                    </a:p>
                  </a:txBody>
                  <a:tcPr marT="91425" marB="91425" marR="91425" marL="91425"/>
                </a:tc>
              </a:tr>
              <a:tr h="421225">
                <a:tc>
                  <a:txBody>
                    <a:bodyPr/>
                    <a:lstStyle/>
                    <a:p>
                      <a:pPr indent="0" lvl="0" marL="0" rtl="0" algn="l">
                        <a:spcBef>
                          <a:spcPts val="0"/>
                        </a:spcBef>
                        <a:spcAft>
                          <a:spcPts val="0"/>
                        </a:spcAft>
                        <a:buNone/>
                      </a:pPr>
                      <a:r>
                        <a:rPr lang="en">
                          <a:solidFill>
                            <a:schemeClr val="dk1"/>
                          </a:solidFill>
                        </a:rPr>
                        <a:t>Sleep Disorder</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Discrete</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Yes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Maybe</a:t>
                      </a:r>
                      <a:endParaRPr>
                        <a:solidFill>
                          <a:schemeClr val="dk1"/>
                        </a:solidFill>
                      </a:endParaRPr>
                    </a:p>
                  </a:txBody>
                  <a:tcPr marT="91425" marB="91425" marR="91425" marL="91425"/>
                </a:tc>
              </a:tr>
            </a:tbl>
          </a:graphicData>
        </a:graphic>
      </p:graphicFrame>
      <p:sp>
        <p:nvSpPr>
          <p:cNvPr id="62" name="Google Shape;62;p14"/>
          <p:cNvSpPr txBox="1"/>
          <p:nvPr/>
        </p:nvSpPr>
        <p:spPr>
          <a:xfrm>
            <a:off x="1719438" y="938850"/>
            <a:ext cx="596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1"/>
                </a:solidFill>
                <a:latin typeface="Open Sans"/>
                <a:ea typeface="Open Sans"/>
                <a:cs typeface="Open Sans"/>
                <a:sym typeface="Open Sans"/>
              </a:rPr>
              <a:t>This dataset has </a:t>
            </a:r>
            <a:r>
              <a:rPr lang="en" sz="1800">
                <a:solidFill>
                  <a:schemeClr val="dk1"/>
                </a:solidFill>
                <a:latin typeface="Open Sans"/>
                <a:ea typeface="Open Sans"/>
                <a:cs typeface="Open Sans"/>
                <a:sym typeface="Open Sans"/>
              </a:rPr>
              <a:t>374 </a:t>
            </a:r>
            <a:r>
              <a:rPr lang="en" sz="1800">
                <a:solidFill>
                  <a:schemeClr val="dk1"/>
                </a:solidFill>
                <a:latin typeface="Open Sans"/>
                <a:ea typeface="Open Sans"/>
                <a:cs typeface="Open Sans"/>
                <a:sym typeface="Open Sans"/>
              </a:rPr>
              <a:t>rows and </a:t>
            </a:r>
            <a:r>
              <a:rPr lang="en" sz="1800">
                <a:solidFill>
                  <a:schemeClr val="dk1"/>
                </a:solidFill>
                <a:latin typeface="Open Sans"/>
                <a:ea typeface="Open Sans"/>
                <a:cs typeface="Open Sans"/>
                <a:sym typeface="Open Sans"/>
              </a:rPr>
              <a:t>13 </a:t>
            </a:r>
            <a:r>
              <a:rPr lang="en" sz="1800">
                <a:solidFill>
                  <a:schemeClr val="dk1"/>
                </a:solidFill>
                <a:latin typeface="Open Sans"/>
                <a:ea typeface="Open Sans"/>
                <a:cs typeface="Open Sans"/>
                <a:sym typeface="Open Sans"/>
              </a:rPr>
              <a:t>columns </a:t>
            </a:r>
            <a:endParaRPr sz="1800">
              <a:solidFill>
                <a:schemeClr val="dk1"/>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i="1" lang="en"/>
              <a:t>Curious Questions</a:t>
            </a:r>
            <a:endParaRPr b="1" i="1"/>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Does getting more sleep reduce stress levels?</a:t>
            </a:r>
            <a:endParaRPr>
              <a:solidFill>
                <a:schemeClr val="dk1"/>
              </a:solidFill>
            </a:endParaRPr>
          </a:p>
          <a:p>
            <a:pPr indent="0" lvl="0" marL="0" rtl="0" algn="l">
              <a:spcBef>
                <a:spcPts val="1200"/>
              </a:spcBef>
              <a:spcAft>
                <a:spcPts val="0"/>
              </a:spcAft>
              <a:buNone/>
            </a:pPr>
            <a:r>
              <a:rPr lang="en">
                <a:solidFill>
                  <a:schemeClr val="dk1"/>
                </a:solidFill>
              </a:rPr>
              <a:t>How does physical activity affect sleep quality?</a:t>
            </a:r>
            <a:endParaRPr>
              <a:solidFill>
                <a:schemeClr val="dk1"/>
              </a:solidFill>
            </a:endParaRPr>
          </a:p>
          <a:p>
            <a:pPr indent="0" lvl="0" marL="0" rtl="0" algn="l">
              <a:spcBef>
                <a:spcPts val="1200"/>
              </a:spcBef>
              <a:spcAft>
                <a:spcPts val="0"/>
              </a:spcAft>
              <a:buNone/>
            </a:pPr>
            <a:r>
              <a:rPr lang="en">
                <a:solidFill>
                  <a:schemeClr val="dk1"/>
                </a:solidFill>
              </a:rPr>
              <a:t>Do people with higher BMI have worse sleep?</a:t>
            </a:r>
            <a:endParaRPr>
              <a:solidFill>
                <a:schemeClr val="dk1"/>
              </a:solidFill>
            </a:endParaRPr>
          </a:p>
          <a:p>
            <a:pPr indent="0" lvl="0" marL="0" rtl="0" algn="l">
              <a:spcBef>
                <a:spcPts val="1200"/>
              </a:spcBef>
              <a:spcAft>
                <a:spcPts val="0"/>
              </a:spcAft>
              <a:buNone/>
            </a:pPr>
            <a:r>
              <a:rPr lang="en">
                <a:solidFill>
                  <a:schemeClr val="dk1"/>
                </a:solidFill>
              </a:rPr>
              <a:t>Is there a difference in sleep between males and females?</a:t>
            </a:r>
            <a:endParaRPr>
              <a:solidFill>
                <a:schemeClr val="dk1"/>
              </a:solidFill>
            </a:endParaRPr>
          </a:p>
          <a:p>
            <a:pPr indent="0" lvl="0" marL="0" rtl="0" algn="l">
              <a:spcBef>
                <a:spcPts val="1200"/>
              </a:spcBef>
              <a:spcAft>
                <a:spcPts val="0"/>
              </a:spcAft>
              <a:buNone/>
            </a:pPr>
            <a:r>
              <a:rPr lang="en">
                <a:solidFill>
                  <a:schemeClr val="dk1"/>
                </a:solidFill>
              </a:rPr>
              <a:t>Does age impact how long people sleep?</a:t>
            </a:r>
            <a:endParaRPr>
              <a:solidFill>
                <a:schemeClr val="dk1"/>
              </a:solidFill>
            </a:endParaRPr>
          </a:p>
          <a:p>
            <a:pPr indent="0" lvl="0" marL="0" rtl="0" algn="l">
              <a:spcBef>
                <a:spcPts val="1200"/>
              </a:spcBef>
              <a:spcAft>
                <a:spcPts val="0"/>
              </a:spcAft>
              <a:buNone/>
            </a:pPr>
            <a:r>
              <a:rPr lang="en">
                <a:solidFill>
                  <a:schemeClr val="dk1"/>
                </a:solidFill>
              </a:rPr>
              <a:t>Do people with higher stress sleep fewer hours?</a:t>
            </a:r>
            <a:endParaRPr>
              <a:solidFill>
                <a:schemeClr val="dk1"/>
              </a:solidFill>
            </a:endParaRPr>
          </a:p>
          <a:p>
            <a:pPr indent="0" lvl="0" marL="0" rtl="0" algn="l">
              <a:spcBef>
                <a:spcPts val="1200"/>
              </a:spcBef>
              <a:spcAft>
                <a:spcPts val="1200"/>
              </a:spcAft>
              <a:buNone/>
            </a:pPr>
            <a:r>
              <a:rPr lang="en">
                <a:solidFill>
                  <a:schemeClr val="dk1"/>
                </a:solidFill>
              </a:rPr>
              <a:t>How does daily steps relate to sleep quality?</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Audience + Goal</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rPr>
              <a:t>Audience:</a:t>
            </a:r>
            <a:endParaRPr>
              <a:solidFill>
                <a:schemeClr val="dk1"/>
              </a:solidFill>
            </a:endParaRPr>
          </a:p>
          <a:p>
            <a:pPr indent="0" lvl="0" marL="0" rtl="0" algn="l">
              <a:spcBef>
                <a:spcPts val="1200"/>
              </a:spcBef>
              <a:spcAft>
                <a:spcPts val="0"/>
              </a:spcAft>
              <a:buNone/>
            </a:pPr>
            <a:r>
              <a:rPr lang="en">
                <a:solidFill>
                  <a:schemeClr val="dk1"/>
                </a:solidFill>
              </a:rPr>
              <a:t>College students and young adults who want to improve their sleep and daily habits.</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rPr>
              <a:t>Communication Goal:</a:t>
            </a:r>
            <a:endParaRPr>
              <a:solidFill>
                <a:schemeClr val="dk1"/>
              </a:solidFill>
            </a:endParaRPr>
          </a:p>
          <a:p>
            <a:pPr indent="0" lvl="0" marL="0" rtl="0" algn="l">
              <a:spcBef>
                <a:spcPts val="1200"/>
              </a:spcBef>
              <a:spcAft>
                <a:spcPts val="1200"/>
              </a:spcAft>
              <a:buNone/>
            </a:pPr>
            <a:r>
              <a:rPr lang="en">
                <a:solidFill>
                  <a:schemeClr val="dk1"/>
                </a:solidFill>
              </a:rPr>
              <a:t>To help people understand how lifestyle factors like activity, stress, and health affect sleep so they can make better decisions.</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
              <a:t>Sleep Duration Decreases as Stress Increases</a:t>
            </a:r>
            <a:endParaRPr/>
          </a:p>
          <a:p>
            <a:pPr indent="0" lvl="0" marL="0" rtl="0" algn="l">
              <a:spcBef>
                <a:spcPts val="1200"/>
              </a:spcBef>
              <a:spcAft>
                <a:spcPts val="0"/>
              </a:spcAft>
              <a:buNone/>
            </a:pPr>
            <a:r>
              <a:t/>
            </a:r>
            <a:endParaRPr/>
          </a:p>
        </p:txBody>
      </p:sp>
      <p:sp>
        <p:nvSpPr>
          <p:cNvPr id="80" name="Google Shape;80;p17"/>
          <p:cNvSpPr txBox="1"/>
          <p:nvPr>
            <p:ph idx="1" type="body"/>
          </p:nvPr>
        </p:nvSpPr>
        <p:spPr>
          <a:xfrm>
            <a:off x="454100" y="1328400"/>
            <a:ext cx="2930100" cy="665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SzPts val="440"/>
              <a:buNone/>
            </a:pPr>
            <a:r>
              <a:rPr lang="en" sz="1820"/>
              <a:t>This graph shows the average sleep duration for each stress level.</a:t>
            </a:r>
            <a:endParaRPr sz="1820"/>
          </a:p>
          <a:p>
            <a:pPr indent="0" lvl="0" marL="0" rtl="0" algn="l">
              <a:spcBef>
                <a:spcPts val="1200"/>
              </a:spcBef>
              <a:spcAft>
                <a:spcPts val="1200"/>
              </a:spcAft>
              <a:buSzPts val="440"/>
              <a:buNone/>
            </a:pPr>
            <a:r>
              <a:t/>
            </a:r>
            <a:endParaRPr sz="720"/>
          </a:p>
        </p:txBody>
      </p:sp>
      <p:sp>
        <p:nvSpPr>
          <p:cNvPr id="81" name="Google Shape;81;p17"/>
          <p:cNvSpPr txBox="1"/>
          <p:nvPr/>
        </p:nvSpPr>
        <p:spPr>
          <a:xfrm>
            <a:off x="454100" y="2742125"/>
            <a:ext cx="3000000" cy="1753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1820">
                <a:solidFill>
                  <a:schemeClr val="lt2"/>
                </a:solidFill>
              </a:rPr>
              <a:t>As stress levels increase, the average sleep duration generally decreases. People with higher stress tend to get less sleep.</a:t>
            </a:r>
            <a:endParaRPr sz="1820">
              <a:solidFill>
                <a:schemeClr val="lt2"/>
              </a:solidFill>
            </a:endParaRPr>
          </a:p>
        </p:txBody>
      </p:sp>
      <p:pic>
        <p:nvPicPr>
          <p:cNvPr id="82" name="Google Shape;82;p17"/>
          <p:cNvPicPr preferRelativeResize="0"/>
          <p:nvPr/>
        </p:nvPicPr>
        <p:blipFill>
          <a:blip r:embed="rId3">
            <a:alphaModFix/>
          </a:blip>
          <a:stretch>
            <a:fillRect/>
          </a:stretch>
        </p:blipFill>
        <p:spPr>
          <a:xfrm>
            <a:off x="4113125" y="1087200"/>
            <a:ext cx="3811550" cy="37295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
              <a:t>Higher Physical Activity is Linked to Better Sleep Quality</a:t>
            </a:r>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88" name="Google Shape;88;p18"/>
          <p:cNvSpPr txBox="1"/>
          <p:nvPr>
            <p:ph idx="1" type="body"/>
          </p:nvPr>
        </p:nvSpPr>
        <p:spPr>
          <a:xfrm>
            <a:off x="454100" y="1169225"/>
            <a:ext cx="2930100" cy="665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820"/>
              <a:t>This graph shows the relationship between physical activity level and sleep quality.</a:t>
            </a:r>
            <a:endParaRPr sz="1820"/>
          </a:p>
          <a:p>
            <a:pPr indent="0" lvl="0" marL="0" rtl="0" algn="l">
              <a:spcBef>
                <a:spcPts val="1200"/>
              </a:spcBef>
              <a:spcAft>
                <a:spcPts val="0"/>
              </a:spcAft>
              <a:buSzPts val="440"/>
              <a:buNone/>
            </a:pPr>
            <a:r>
              <a:t/>
            </a:r>
            <a:endParaRPr sz="1820"/>
          </a:p>
          <a:p>
            <a:pPr indent="0" lvl="0" marL="0" rtl="0" algn="l">
              <a:spcBef>
                <a:spcPts val="1200"/>
              </a:spcBef>
              <a:spcAft>
                <a:spcPts val="1200"/>
              </a:spcAft>
              <a:buSzPts val="440"/>
              <a:buNone/>
            </a:pPr>
            <a:r>
              <a:t/>
            </a:r>
            <a:endParaRPr sz="720"/>
          </a:p>
        </p:txBody>
      </p:sp>
      <p:sp>
        <p:nvSpPr>
          <p:cNvPr id="89" name="Google Shape;89;p18"/>
          <p:cNvSpPr txBox="1"/>
          <p:nvPr/>
        </p:nvSpPr>
        <p:spPr>
          <a:xfrm>
            <a:off x="454100" y="2742125"/>
            <a:ext cx="3000000" cy="255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820">
                <a:solidFill>
                  <a:schemeClr val="lt2"/>
                </a:solidFill>
              </a:rPr>
              <a:t>As physical activity increases, sleep quality generally appears to improve. People who are more active tend to have better sleep.</a:t>
            </a:r>
            <a:endParaRPr sz="1820">
              <a:solidFill>
                <a:schemeClr val="lt2"/>
              </a:solidFill>
            </a:endParaRPr>
          </a:p>
          <a:p>
            <a:pPr indent="0" lvl="0" marL="0" rtl="0" algn="l">
              <a:lnSpc>
                <a:spcPct val="115000"/>
              </a:lnSpc>
              <a:spcBef>
                <a:spcPts val="1200"/>
              </a:spcBef>
              <a:spcAft>
                <a:spcPts val="1200"/>
              </a:spcAft>
              <a:buNone/>
            </a:pPr>
            <a:r>
              <a:t/>
            </a:r>
            <a:endParaRPr sz="1820">
              <a:solidFill>
                <a:schemeClr val="lt2"/>
              </a:solidFill>
            </a:endParaRPr>
          </a:p>
        </p:txBody>
      </p:sp>
      <p:pic>
        <p:nvPicPr>
          <p:cNvPr id="90" name="Google Shape;90;p18"/>
          <p:cNvPicPr preferRelativeResize="0"/>
          <p:nvPr/>
        </p:nvPicPr>
        <p:blipFill>
          <a:blip r:embed="rId3">
            <a:alphaModFix/>
          </a:blip>
          <a:stretch>
            <a:fillRect/>
          </a:stretch>
        </p:blipFill>
        <p:spPr>
          <a:xfrm>
            <a:off x="4199578" y="1169223"/>
            <a:ext cx="3665147" cy="3579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3361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
              <a:t>Sleep Quality Varies by BMI Category</a:t>
            </a:r>
            <a:endParaRPr/>
          </a:p>
          <a:p>
            <a:pPr indent="0" lvl="0" marL="0" rtl="0" algn="l">
              <a:lnSpc>
                <a:spcPct val="115000"/>
              </a:lnSpc>
              <a:spcBef>
                <a:spcPts val="1200"/>
              </a:spcBef>
              <a:spcAft>
                <a:spcPts val="0"/>
              </a:spcAft>
              <a:buNone/>
            </a:pPr>
            <a:r>
              <a:t/>
            </a:r>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96" name="Google Shape;96;p19"/>
          <p:cNvSpPr txBox="1"/>
          <p:nvPr>
            <p:ph idx="1" type="body"/>
          </p:nvPr>
        </p:nvSpPr>
        <p:spPr>
          <a:xfrm>
            <a:off x="454100" y="1169225"/>
            <a:ext cx="2930100" cy="665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820"/>
              <a:t>This graph shows the average sleep quality for each BMI category.</a:t>
            </a:r>
            <a:endParaRPr sz="1820"/>
          </a:p>
          <a:p>
            <a:pPr indent="0" lvl="0" marL="0" rtl="0" algn="l">
              <a:spcBef>
                <a:spcPts val="1200"/>
              </a:spcBef>
              <a:spcAft>
                <a:spcPts val="0"/>
              </a:spcAft>
              <a:buNone/>
            </a:pPr>
            <a:r>
              <a:t/>
            </a:r>
            <a:endParaRPr sz="1820"/>
          </a:p>
          <a:p>
            <a:pPr indent="0" lvl="0" marL="0" rtl="0" algn="l">
              <a:spcBef>
                <a:spcPts val="1200"/>
              </a:spcBef>
              <a:spcAft>
                <a:spcPts val="0"/>
              </a:spcAft>
              <a:buSzPts val="440"/>
              <a:buNone/>
            </a:pPr>
            <a:r>
              <a:t/>
            </a:r>
            <a:endParaRPr sz="1820"/>
          </a:p>
          <a:p>
            <a:pPr indent="0" lvl="0" marL="0" rtl="0" algn="l">
              <a:spcBef>
                <a:spcPts val="1200"/>
              </a:spcBef>
              <a:spcAft>
                <a:spcPts val="1200"/>
              </a:spcAft>
              <a:buSzPts val="440"/>
              <a:buNone/>
            </a:pPr>
            <a:r>
              <a:t/>
            </a:r>
            <a:endParaRPr sz="720"/>
          </a:p>
        </p:txBody>
      </p:sp>
      <p:sp>
        <p:nvSpPr>
          <p:cNvPr id="97" name="Google Shape;97;p19"/>
          <p:cNvSpPr txBox="1"/>
          <p:nvPr/>
        </p:nvSpPr>
        <p:spPr>
          <a:xfrm>
            <a:off x="454100" y="2415425"/>
            <a:ext cx="3000000" cy="3350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820">
                <a:solidFill>
                  <a:schemeClr val="lt2"/>
                </a:solidFill>
              </a:rPr>
              <a:t>People with normal BMI tend to have higher sleep quality, while those in the obese category have lower sleep quality. This suggests that BMI may be related to sleep health.</a:t>
            </a:r>
            <a:endParaRPr sz="1820">
              <a:solidFill>
                <a:schemeClr val="lt2"/>
              </a:solidFill>
            </a:endParaRPr>
          </a:p>
          <a:p>
            <a:pPr indent="0" lvl="0" marL="0" rtl="0" algn="l">
              <a:lnSpc>
                <a:spcPct val="115000"/>
              </a:lnSpc>
              <a:spcBef>
                <a:spcPts val="1200"/>
              </a:spcBef>
              <a:spcAft>
                <a:spcPts val="0"/>
              </a:spcAft>
              <a:buNone/>
            </a:pPr>
            <a:r>
              <a:t/>
            </a:r>
            <a:endParaRPr sz="1820">
              <a:solidFill>
                <a:schemeClr val="lt2"/>
              </a:solidFill>
            </a:endParaRPr>
          </a:p>
          <a:p>
            <a:pPr indent="0" lvl="0" marL="0" rtl="0" algn="l">
              <a:lnSpc>
                <a:spcPct val="115000"/>
              </a:lnSpc>
              <a:spcBef>
                <a:spcPts val="1200"/>
              </a:spcBef>
              <a:spcAft>
                <a:spcPts val="1200"/>
              </a:spcAft>
              <a:buNone/>
            </a:pPr>
            <a:r>
              <a:t/>
            </a:r>
            <a:endParaRPr sz="1820">
              <a:solidFill>
                <a:schemeClr val="lt2"/>
              </a:solidFill>
            </a:endParaRPr>
          </a:p>
        </p:txBody>
      </p:sp>
      <p:pic>
        <p:nvPicPr>
          <p:cNvPr id="98" name="Google Shape;98;p19"/>
          <p:cNvPicPr preferRelativeResize="0"/>
          <p:nvPr/>
        </p:nvPicPr>
        <p:blipFill>
          <a:blip r:embed="rId3">
            <a:alphaModFix/>
          </a:blip>
          <a:stretch>
            <a:fillRect/>
          </a:stretch>
        </p:blipFill>
        <p:spPr>
          <a:xfrm>
            <a:off x="4005648" y="1169225"/>
            <a:ext cx="4508305" cy="3478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 Update</a:t>
            </a:r>
            <a:endParaRPr/>
          </a:p>
        </p:txBody>
      </p:sp>
      <p:sp>
        <p:nvSpPr>
          <p:cNvPr id="104" name="Google Shape;104;p20"/>
          <p:cNvSpPr txBox="1"/>
          <p:nvPr>
            <p:ph idx="1" type="body"/>
          </p:nvPr>
        </p:nvSpPr>
        <p:spPr>
          <a:xfrm>
            <a:off x="311700" y="1152475"/>
            <a:ext cx="3591900" cy="259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440"/>
              <a:buNone/>
            </a:pPr>
            <a:r>
              <a:rPr b="1" i="1" lang="en" sz="1320"/>
              <a:t>What I accomplished:</a:t>
            </a:r>
            <a:endParaRPr b="1" i="1" sz="1320"/>
          </a:p>
          <a:p>
            <a:pPr indent="0" lvl="0" marL="0" rtl="0" algn="l">
              <a:spcBef>
                <a:spcPts val="1200"/>
              </a:spcBef>
              <a:spcAft>
                <a:spcPts val="0"/>
              </a:spcAft>
              <a:buSzPts val="440"/>
              <a:buNone/>
            </a:pPr>
            <a:r>
              <a:rPr lang="en" sz="1120"/>
              <a:t>Created 3 data insight slides analyzing sleep, stress, physical activity, and BMI</a:t>
            </a:r>
            <a:endParaRPr sz="1120"/>
          </a:p>
          <a:p>
            <a:pPr indent="0" lvl="0" marL="0" rtl="0" algn="l">
              <a:spcBef>
                <a:spcPts val="1200"/>
              </a:spcBef>
              <a:spcAft>
                <a:spcPts val="0"/>
              </a:spcAft>
              <a:buSzPts val="440"/>
              <a:buNone/>
            </a:pPr>
            <a:r>
              <a:rPr lang="en" sz="1120"/>
              <a:t>Generated graphs using the dataset and interpreted key trends</a:t>
            </a:r>
            <a:endParaRPr sz="1120"/>
          </a:p>
          <a:p>
            <a:pPr indent="0" lvl="0" marL="0" rtl="0" algn="l">
              <a:spcBef>
                <a:spcPts val="1200"/>
              </a:spcBef>
              <a:spcAft>
                <a:spcPts val="0"/>
              </a:spcAft>
              <a:buSzPts val="440"/>
              <a:buNone/>
            </a:pPr>
            <a:r>
              <a:rPr b="1" i="1" lang="en" sz="1220"/>
              <a:t>Plan for next week:</a:t>
            </a:r>
            <a:endParaRPr b="1" i="1" sz="1220"/>
          </a:p>
          <a:p>
            <a:pPr indent="0" lvl="0" marL="0" rtl="0" algn="l">
              <a:spcBef>
                <a:spcPts val="1200"/>
              </a:spcBef>
              <a:spcAft>
                <a:spcPts val="0"/>
              </a:spcAft>
              <a:buSzPts val="440"/>
              <a:buNone/>
            </a:pPr>
            <a:r>
              <a:rPr lang="en" sz="1120"/>
              <a:t>Create more data insights</a:t>
            </a:r>
            <a:endParaRPr sz="1120"/>
          </a:p>
          <a:p>
            <a:pPr indent="0" lvl="0" marL="0" rtl="0" algn="l">
              <a:spcBef>
                <a:spcPts val="1200"/>
              </a:spcBef>
              <a:spcAft>
                <a:spcPts val="1200"/>
              </a:spcAft>
              <a:buSzPts val="440"/>
              <a:buNone/>
            </a:pPr>
            <a:r>
              <a:rPr lang="en" sz="1120"/>
              <a:t>Start identifying the main story and key takeaway</a:t>
            </a:r>
            <a:endParaRPr sz="1120"/>
          </a:p>
        </p:txBody>
      </p:sp>
      <p:sp>
        <p:nvSpPr>
          <p:cNvPr id="105" name="Google Shape;105;p20"/>
          <p:cNvSpPr txBox="1"/>
          <p:nvPr/>
        </p:nvSpPr>
        <p:spPr>
          <a:xfrm>
            <a:off x="4917325" y="1223050"/>
            <a:ext cx="3000000" cy="260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 sz="1320">
                <a:solidFill>
                  <a:schemeClr val="lt2"/>
                </a:solidFill>
              </a:rPr>
              <a:t>Obstacles:</a:t>
            </a:r>
            <a:endParaRPr b="1" i="1" sz="1320">
              <a:solidFill>
                <a:schemeClr val="lt2"/>
              </a:solidFill>
            </a:endParaRPr>
          </a:p>
          <a:p>
            <a:pPr indent="0" lvl="0" marL="0" rtl="0" algn="l">
              <a:lnSpc>
                <a:spcPct val="115000"/>
              </a:lnSpc>
              <a:spcBef>
                <a:spcPts val="1200"/>
              </a:spcBef>
              <a:spcAft>
                <a:spcPts val="0"/>
              </a:spcAft>
              <a:buNone/>
            </a:pPr>
            <a:r>
              <a:rPr lang="en" sz="1120">
                <a:solidFill>
                  <a:schemeClr val="lt2"/>
                </a:solidFill>
              </a:rPr>
              <a:t>None so far</a:t>
            </a:r>
            <a:endParaRPr sz="1120">
              <a:solidFill>
                <a:schemeClr val="lt2"/>
              </a:solidFill>
            </a:endParaRPr>
          </a:p>
          <a:p>
            <a:pPr indent="0" lvl="0" marL="0" rtl="0" algn="l">
              <a:lnSpc>
                <a:spcPct val="115000"/>
              </a:lnSpc>
              <a:spcBef>
                <a:spcPts val="1200"/>
              </a:spcBef>
              <a:spcAft>
                <a:spcPts val="0"/>
              </a:spcAft>
              <a:buNone/>
            </a:pPr>
            <a:r>
              <a:rPr b="1" i="1" lang="en" sz="1320">
                <a:solidFill>
                  <a:schemeClr val="lt2"/>
                </a:solidFill>
              </a:rPr>
              <a:t>Resources used:</a:t>
            </a:r>
            <a:endParaRPr b="1" i="1" sz="1320">
              <a:solidFill>
                <a:schemeClr val="lt2"/>
              </a:solidFill>
            </a:endParaRPr>
          </a:p>
          <a:p>
            <a:pPr indent="0" lvl="0" marL="0" rtl="0" algn="l">
              <a:lnSpc>
                <a:spcPct val="115000"/>
              </a:lnSpc>
              <a:spcBef>
                <a:spcPts val="1200"/>
              </a:spcBef>
              <a:spcAft>
                <a:spcPts val="0"/>
              </a:spcAft>
              <a:buNone/>
            </a:pPr>
            <a:r>
              <a:rPr lang="en" sz="1120">
                <a:solidFill>
                  <a:schemeClr val="lt2"/>
                </a:solidFill>
              </a:rPr>
              <a:t>Jupyter Notebook</a:t>
            </a:r>
            <a:endParaRPr sz="1120">
              <a:solidFill>
                <a:schemeClr val="lt2"/>
              </a:solidFill>
            </a:endParaRPr>
          </a:p>
          <a:p>
            <a:pPr indent="0" lvl="0" marL="0" rtl="0" algn="l">
              <a:lnSpc>
                <a:spcPct val="115000"/>
              </a:lnSpc>
              <a:spcBef>
                <a:spcPts val="1200"/>
              </a:spcBef>
              <a:spcAft>
                <a:spcPts val="0"/>
              </a:spcAft>
              <a:buNone/>
            </a:pPr>
            <a:r>
              <a:rPr b="1" i="1" lang="en" sz="1320">
                <a:solidFill>
                  <a:schemeClr val="lt2"/>
                </a:solidFill>
              </a:rPr>
              <a:t>Course materials</a:t>
            </a:r>
            <a:endParaRPr b="1" i="1" sz="1320">
              <a:solidFill>
                <a:schemeClr val="lt2"/>
              </a:solidFill>
            </a:endParaRPr>
          </a:p>
          <a:p>
            <a:pPr indent="0" lvl="0" marL="0" rtl="0" algn="l">
              <a:lnSpc>
                <a:spcPct val="115000"/>
              </a:lnSpc>
              <a:spcBef>
                <a:spcPts val="1200"/>
              </a:spcBef>
              <a:spcAft>
                <a:spcPts val="0"/>
              </a:spcAft>
              <a:buNone/>
            </a:pPr>
            <a:r>
              <a:rPr lang="en" sz="1120">
                <a:solidFill>
                  <a:schemeClr val="lt2"/>
                </a:solidFill>
              </a:rPr>
              <a:t>Contribution:</a:t>
            </a:r>
            <a:endParaRPr sz="1120">
              <a:solidFill>
                <a:schemeClr val="lt2"/>
              </a:solidFill>
            </a:endParaRPr>
          </a:p>
          <a:p>
            <a:pPr indent="0" lvl="0" marL="0" rtl="0" algn="l">
              <a:lnSpc>
                <a:spcPct val="115000"/>
              </a:lnSpc>
              <a:spcBef>
                <a:spcPts val="1200"/>
              </a:spcBef>
              <a:spcAft>
                <a:spcPts val="1200"/>
              </a:spcAft>
              <a:buNone/>
            </a:pPr>
            <a:r>
              <a:rPr b="1" i="1" lang="en" sz="1320">
                <a:solidFill>
                  <a:schemeClr val="lt2"/>
                </a:solidFill>
              </a:rPr>
              <a:t>All work completed individually</a:t>
            </a:r>
            <a:endParaRPr b="1" i="1" sz="1320">
              <a:solidFill>
                <a:schemeClr val="lt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
              <a:t>Sleep Duration Varies Across Age Groups</a:t>
            </a:r>
            <a:endParaRPr/>
          </a:p>
          <a:p>
            <a:pPr indent="0" lvl="0" marL="0" rtl="0" algn="l">
              <a:spcBef>
                <a:spcPts val="1200"/>
              </a:spcBef>
              <a:spcAft>
                <a:spcPts val="0"/>
              </a:spcAft>
              <a:buNone/>
            </a:pPr>
            <a:r>
              <a:t/>
            </a:r>
            <a:endParaRPr/>
          </a:p>
        </p:txBody>
      </p:sp>
      <p:sp>
        <p:nvSpPr>
          <p:cNvPr id="111" name="Google Shape;111;p21"/>
          <p:cNvSpPr txBox="1"/>
          <p:nvPr>
            <p:ph idx="1" type="body"/>
          </p:nvPr>
        </p:nvSpPr>
        <p:spPr>
          <a:xfrm>
            <a:off x="4489325" y="1149825"/>
            <a:ext cx="4208400" cy="891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graph shows the relationship between age and sleep duration.</a:t>
            </a:r>
            <a:endParaRPr/>
          </a:p>
        </p:txBody>
      </p:sp>
      <p:sp>
        <p:nvSpPr>
          <p:cNvPr id="112" name="Google Shape;112;p21"/>
          <p:cNvSpPr txBox="1"/>
          <p:nvPr/>
        </p:nvSpPr>
        <p:spPr>
          <a:xfrm>
            <a:off x="4463375" y="2172925"/>
            <a:ext cx="4260300" cy="2055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800">
                <a:solidFill>
                  <a:schemeClr val="lt2"/>
                </a:solidFill>
              </a:rPr>
              <a:t>Sleep duration does not follow a clear trend with age, but it varies across different age groups. Some younger individuals appear to get less sleep, while certain older groups tend to get slightly more.</a:t>
            </a:r>
            <a:endParaRPr sz="1800">
              <a:solidFill>
                <a:schemeClr val="lt2"/>
              </a:solidFill>
            </a:endParaRPr>
          </a:p>
        </p:txBody>
      </p:sp>
      <p:pic>
        <p:nvPicPr>
          <p:cNvPr id="113" name="Google Shape;113;p21"/>
          <p:cNvPicPr preferRelativeResize="0"/>
          <p:nvPr/>
        </p:nvPicPr>
        <p:blipFill>
          <a:blip r:embed="rId3">
            <a:alphaModFix/>
          </a:blip>
          <a:stretch>
            <a:fillRect/>
          </a:stretch>
        </p:blipFill>
        <p:spPr>
          <a:xfrm>
            <a:off x="311700" y="1331950"/>
            <a:ext cx="3610349" cy="3454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
              <a:t>Daily Steps May Be Linked to Better Sleep Quality</a:t>
            </a:r>
            <a:endParaRPr/>
          </a:p>
          <a:p>
            <a:pPr indent="0" lvl="0" marL="0" rtl="0" algn="l">
              <a:spcBef>
                <a:spcPts val="1200"/>
              </a:spcBef>
              <a:spcAft>
                <a:spcPts val="0"/>
              </a:spcAft>
              <a:buNone/>
            </a:pPr>
            <a:r>
              <a:t/>
            </a:r>
            <a:endParaRPr/>
          </a:p>
        </p:txBody>
      </p:sp>
      <p:sp>
        <p:nvSpPr>
          <p:cNvPr id="119" name="Google Shape;119;p22"/>
          <p:cNvSpPr txBox="1"/>
          <p:nvPr>
            <p:ph idx="1" type="body"/>
          </p:nvPr>
        </p:nvSpPr>
        <p:spPr>
          <a:xfrm>
            <a:off x="4890375" y="1341800"/>
            <a:ext cx="3648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SzPts val="523"/>
              <a:buNone/>
            </a:pPr>
            <a:r>
              <a:rPr lang="en" sz="1600"/>
              <a:t>This graph shows the relationship between daily steps and sleep quality.</a:t>
            </a:r>
            <a:endParaRPr sz="1600"/>
          </a:p>
        </p:txBody>
      </p:sp>
      <p:sp>
        <p:nvSpPr>
          <p:cNvPr id="120" name="Google Shape;120;p22"/>
          <p:cNvSpPr txBox="1"/>
          <p:nvPr/>
        </p:nvSpPr>
        <p:spPr>
          <a:xfrm>
            <a:off x="4890375" y="2238575"/>
            <a:ext cx="3942000" cy="2001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600">
                <a:solidFill>
                  <a:schemeClr val="lt2"/>
                </a:solidFill>
              </a:rPr>
              <a:t>There is no perfectly clear trend, but people with higher daily steps often appear to have better sleep quality. This suggests that being more active may be linked to better sleep.</a:t>
            </a:r>
            <a:endParaRPr sz="1600">
              <a:solidFill>
                <a:schemeClr val="lt2"/>
              </a:solidFill>
            </a:endParaRPr>
          </a:p>
          <a:p>
            <a:pPr indent="0" lvl="0" marL="0" rtl="0" algn="l">
              <a:lnSpc>
                <a:spcPct val="115000"/>
              </a:lnSpc>
              <a:spcBef>
                <a:spcPts val="1200"/>
              </a:spcBef>
              <a:spcAft>
                <a:spcPts val="1200"/>
              </a:spcAft>
              <a:buNone/>
            </a:pPr>
            <a:r>
              <a:t/>
            </a:r>
            <a:endParaRPr sz="1600">
              <a:solidFill>
                <a:schemeClr val="lt2"/>
              </a:solidFill>
            </a:endParaRPr>
          </a:p>
        </p:txBody>
      </p:sp>
      <p:pic>
        <p:nvPicPr>
          <p:cNvPr id="121" name="Google Shape;121;p22"/>
          <p:cNvPicPr preferRelativeResize="0"/>
          <p:nvPr/>
        </p:nvPicPr>
        <p:blipFill>
          <a:blip r:embed="rId3">
            <a:alphaModFix/>
          </a:blip>
          <a:stretch>
            <a:fillRect/>
          </a:stretch>
        </p:blipFill>
        <p:spPr>
          <a:xfrm>
            <a:off x="467197" y="1264925"/>
            <a:ext cx="3506775" cy="3341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 Update – Week 3</a:t>
            </a:r>
            <a:endParaRPr/>
          </a:p>
        </p:txBody>
      </p:sp>
      <p:sp>
        <p:nvSpPr>
          <p:cNvPr id="127" name="Google Shape;127;p23"/>
          <p:cNvSpPr txBox="1"/>
          <p:nvPr>
            <p:ph idx="1" type="body"/>
          </p:nvPr>
        </p:nvSpPr>
        <p:spPr>
          <a:xfrm>
            <a:off x="311700" y="1152475"/>
            <a:ext cx="3774000" cy="289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440"/>
              <a:buNone/>
            </a:pPr>
            <a:r>
              <a:rPr b="1" i="1" lang="en" sz="1720">
                <a:solidFill>
                  <a:schemeClr val="dk1"/>
                </a:solidFill>
              </a:rPr>
              <a:t>What I accomplished:</a:t>
            </a:r>
            <a:endParaRPr b="1" i="1" sz="1720">
              <a:solidFill>
                <a:schemeClr val="dk1"/>
              </a:solidFill>
            </a:endParaRPr>
          </a:p>
          <a:p>
            <a:pPr indent="0" lvl="0" marL="0" rtl="0" algn="l">
              <a:spcBef>
                <a:spcPts val="1200"/>
              </a:spcBef>
              <a:spcAft>
                <a:spcPts val="0"/>
              </a:spcAft>
              <a:buSzPts val="440"/>
              <a:buNone/>
            </a:pPr>
            <a:r>
              <a:rPr lang="en" sz="1420">
                <a:solidFill>
                  <a:schemeClr val="dk1"/>
                </a:solidFill>
              </a:rPr>
              <a:t>Added 2 new data insight slides (Age and Daily Steps)</a:t>
            </a:r>
            <a:endParaRPr sz="1420">
              <a:solidFill>
                <a:schemeClr val="dk1"/>
              </a:solidFill>
            </a:endParaRPr>
          </a:p>
          <a:p>
            <a:pPr indent="0" lvl="0" marL="0" rtl="0" algn="l">
              <a:spcBef>
                <a:spcPts val="1200"/>
              </a:spcBef>
              <a:spcAft>
                <a:spcPts val="0"/>
              </a:spcAft>
              <a:buSzPts val="440"/>
              <a:buNone/>
            </a:pPr>
            <a:r>
              <a:rPr lang="en" sz="1420">
                <a:solidFill>
                  <a:schemeClr val="dk1"/>
                </a:solidFill>
              </a:rPr>
              <a:t>Expanded analysis to explore more lifestyle factors related to sleep</a:t>
            </a:r>
            <a:endParaRPr sz="1420">
              <a:solidFill>
                <a:schemeClr val="dk1"/>
              </a:solidFill>
            </a:endParaRPr>
          </a:p>
          <a:p>
            <a:pPr indent="0" lvl="0" marL="0" rtl="0" algn="l">
              <a:spcBef>
                <a:spcPts val="1200"/>
              </a:spcBef>
              <a:spcAft>
                <a:spcPts val="0"/>
              </a:spcAft>
              <a:buSzPts val="440"/>
              <a:buNone/>
            </a:pPr>
            <a:r>
              <a:rPr b="1" i="1" lang="en" sz="1620">
                <a:solidFill>
                  <a:schemeClr val="dk1"/>
                </a:solidFill>
              </a:rPr>
              <a:t>Plan for next week:</a:t>
            </a:r>
            <a:endParaRPr b="1" i="1" sz="1620">
              <a:solidFill>
                <a:schemeClr val="dk1"/>
              </a:solidFill>
            </a:endParaRPr>
          </a:p>
          <a:p>
            <a:pPr indent="0" lvl="0" marL="0" rtl="0" algn="l">
              <a:spcBef>
                <a:spcPts val="1200"/>
              </a:spcBef>
              <a:spcAft>
                <a:spcPts val="0"/>
              </a:spcAft>
              <a:buSzPts val="440"/>
              <a:buNone/>
            </a:pPr>
            <a:r>
              <a:rPr lang="en" sz="1420">
                <a:solidFill>
                  <a:schemeClr val="dk1"/>
                </a:solidFill>
              </a:rPr>
              <a:t>Identify the strongest insights</a:t>
            </a:r>
            <a:endParaRPr sz="1420">
              <a:solidFill>
                <a:schemeClr val="dk1"/>
              </a:solidFill>
            </a:endParaRPr>
          </a:p>
          <a:p>
            <a:pPr indent="0" lvl="0" marL="0" rtl="0" algn="l">
              <a:spcBef>
                <a:spcPts val="1200"/>
              </a:spcBef>
              <a:spcAft>
                <a:spcPts val="1200"/>
              </a:spcAft>
              <a:buSzPts val="440"/>
              <a:buNone/>
            </a:pPr>
            <a:r>
              <a:rPr lang="en" sz="1420">
                <a:solidFill>
                  <a:schemeClr val="dk1"/>
                </a:solidFill>
              </a:rPr>
              <a:t>Begin shaping a clear overall data story</a:t>
            </a:r>
            <a:endParaRPr sz="1420">
              <a:solidFill>
                <a:schemeClr val="dk1"/>
              </a:solidFill>
            </a:endParaRPr>
          </a:p>
        </p:txBody>
      </p:sp>
      <p:sp>
        <p:nvSpPr>
          <p:cNvPr id="128" name="Google Shape;128;p23"/>
          <p:cNvSpPr txBox="1"/>
          <p:nvPr/>
        </p:nvSpPr>
        <p:spPr>
          <a:xfrm>
            <a:off x="4917325" y="1223050"/>
            <a:ext cx="3872400" cy="249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 sz="1620">
                <a:solidFill>
                  <a:schemeClr val="dk1"/>
                </a:solidFill>
              </a:rPr>
              <a:t>Obstacles:</a:t>
            </a:r>
            <a:endParaRPr b="1" i="1" sz="1620">
              <a:solidFill>
                <a:schemeClr val="dk1"/>
              </a:solidFill>
            </a:endParaRPr>
          </a:p>
          <a:p>
            <a:pPr indent="0" lvl="0" marL="0" rtl="0" algn="l">
              <a:lnSpc>
                <a:spcPct val="115000"/>
              </a:lnSpc>
              <a:spcBef>
                <a:spcPts val="1200"/>
              </a:spcBef>
              <a:spcAft>
                <a:spcPts val="0"/>
              </a:spcAft>
              <a:buNone/>
            </a:pPr>
            <a:r>
              <a:rPr lang="en" sz="1420">
                <a:solidFill>
                  <a:schemeClr val="dk1"/>
                </a:solidFill>
              </a:rPr>
              <a:t>None so far</a:t>
            </a:r>
            <a:endParaRPr sz="1420">
              <a:solidFill>
                <a:schemeClr val="dk1"/>
              </a:solidFill>
            </a:endParaRPr>
          </a:p>
          <a:p>
            <a:pPr indent="0" lvl="0" marL="0" rtl="0" algn="l">
              <a:lnSpc>
                <a:spcPct val="115000"/>
              </a:lnSpc>
              <a:spcBef>
                <a:spcPts val="1200"/>
              </a:spcBef>
              <a:spcAft>
                <a:spcPts val="0"/>
              </a:spcAft>
              <a:buNone/>
            </a:pPr>
            <a:r>
              <a:rPr b="1" i="1" lang="en" sz="1620">
                <a:solidFill>
                  <a:schemeClr val="dk1"/>
                </a:solidFill>
              </a:rPr>
              <a:t>Resources used:</a:t>
            </a:r>
            <a:endParaRPr b="1" i="1" sz="1620">
              <a:solidFill>
                <a:schemeClr val="dk1"/>
              </a:solidFill>
            </a:endParaRPr>
          </a:p>
          <a:p>
            <a:pPr indent="0" lvl="0" marL="0" rtl="0" algn="l">
              <a:lnSpc>
                <a:spcPct val="115000"/>
              </a:lnSpc>
              <a:spcBef>
                <a:spcPts val="1200"/>
              </a:spcBef>
              <a:spcAft>
                <a:spcPts val="0"/>
              </a:spcAft>
              <a:buNone/>
            </a:pPr>
            <a:r>
              <a:rPr lang="en">
                <a:solidFill>
                  <a:schemeClr val="dk1"/>
                </a:solidFill>
              </a:rPr>
              <a:t>Jupyter Notebook</a:t>
            </a:r>
            <a:endParaRPr b="1" i="1">
              <a:solidFill>
                <a:schemeClr val="dk1"/>
              </a:solidFill>
            </a:endParaRPr>
          </a:p>
          <a:p>
            <a:pPr indent="0" lvl="0" marL="0" rtl="0" algn="l">
              <a:lnSpc>
                <a:spcPct val="115000"/>
              </a:lnSpc>
              <a:spcBef>
                <a:spcPts val="1200"/>
              </a:spcBef>
              <a:spcAft>
                <a:spcPts val="0"/>
              </a:spcAft>
              <a:buNone/>
            </a:pPr>
            <a:r>
              <a:rPr b="1" lang="en" sz="1420">
                <a:solidFill>
                  <a:schemeClr val="dk1"/>
                </a:solidFill>
              </a:rPr>
              <a:t>Contribution:</a:t>
            </a:r>
            <a:endParaRPr b="1" sz="1420">
              <a:solidFill>
                <a:schemeClr val="dk1"/>
              </a:solidFill>
            </a:endParaRPr>
          </a:p>
          <a:p>
            <a:pPr indent="0" lvl="0" marL="0" rtl="0" algn="l">
              <a:lnSpc>
                <a:spcPct val="115000"/>
              </a:lnSpc>
              <a:spcBef>
                <a:spcPts val="1200"/>
              </a:spcBef>
              <a:spcAft>
                <a:spcPts val="1200"/>
              </a:spcAft>
              <a:buNone/>
            </a:pPr>
            <a:r>
              <a:rPr b="1" i="1" lang="en" sz="1420">
                <a:solidFill>
                  <a:schemeClr val="dk1"/>
                </a:solidFill>
              </a:rPr>
              <a:t>All work completed individually</a:t>
            </a:r>
            <a:endParaRPr b="1" i="1" sz="142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17697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n"/>
              <a:t>Higher Heart Rate May Be Linked to Lower Sleep Duration</a:t>
            </a:r>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134" name="Google Shape;134;p24"/>
          <p:cNvSpPr txBox="1"/>
          <p:nvPr>
            <p:ph idx="1" type="body"/>
          </p:nvPr>
        </p:nvSpPr>
        <p:spPr>
          <a:xfrm>
            <a:off x="4890375" y="1017725"/>
            <a:ext cx="3648600" cy="572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600"/>
              <a:t>This graph shows the relationship between heart rate and sleep duration.</a:t>
            </a:r>
            <a:endParaRPr sz="1600"/>
          </a:p>
          <a:p>
            <a:pPr indent="0" lvl="0" marL="0" rtl="0" algn="l">
              <a:spcBef>
                <a:spcPts val="1200"/>
              </a:spcBef>
              <a:spcAft>
                <a:spcPts val="1200"/>
              </a:spcAft>
              <a:buSzPts val="523"/>
              <a:buNone/>
            </a:pPr>
            <a:r>
              <a:t/>
            </a:r>
            <a:endParaRPr sz="1600"/>
          </a:p>
        </p:txBody>
      </p:sp>
      <p:sp>
        <p:nvSpPr>
          <p:cNvPr id="135" name="Google Shape;135;p24"/>
          <p:cNvSpPr txBox="1"/>
          <p:nvPr/>
        </p:nvSpPr>
        <p:spPr>
          <a:xfrm>
            <a:off x="4890375" y="2238575"/>
            <a:ext cx="3942000" cy="1847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lang="en" sz="1600">
                <a:solidFill>
                  <a:schemeClr val="lt2"/>
                </a:solidFill>
              </a:rPr>
              <a:t>There is no perfectly clear trend, but individuals with higher heart rates often appear to get slightly less sleep. This may suggest that higher heart rate, which can be linked to stress or health factors, could negatively impact sleep duration.</a:t>
            </a:r>
            <a:endParaRPr sz="1600">
              <a:solidFill>
                <a:schemeClr val="lt2"/>
              </a:solidFill>
            </a:endParaRPr>
          </a:p>
        </p:txBody>
      </p:sp>
      <p:pic>
        <p:nvPicPr>
          <p:cNvPr id="136" name="Google Shape;136;p24"/>
          <p:cNvPicPr preferRelativeResize="0"/>
          <p:nvPr/>
        </p:nvPicPr>
        <p:blipFill>
          <a:blip r:embed="rId3">
            <a:alphaModFix/>
          </a:blip>
          <a:stretch>
            <a:fillRect/>
          </a:stretch>
        </p:blipFill>
        <p:spPr>
          <a:xfrm>
            <a:off x="386950" y="1017725"/>
            <a:ext cx="3879120" cy="382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17697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SzPts val="990"/>
              <a:buNone/>
            </a:pPr>
            <a:r>
              <a:rPr lang="en" sz="2420"/>
              <a:t>Sleep Disorders Are Associated with Lower Sleep Duration</a:t>
            </a:r>
            <a:endParaRPr sz="2420"/>
          </a:p>
          <a:p>
            <a:pPr indent="0" lvl="0" marL="0" rtl="0" algn="l">
              <a:lnSpc>
                <a:spcPct val="115000"/>
              </a:lnSpc>
              <a:spcBef>
                <a:spcPts val="1200"/>
              </a:spcBef>
              <a:spcAft>
                <a:spcPts val="0"/>
              </a:spcAft>
              <a:buSzPts val="990"/>
              <a:buNone/>
            </a:pPr>
            <a:r>
              <a:t/>
            </a:r>
            <a:endParaRPr sz="2320"/>
          </a:p>
          <a:p>
            <a:pPr indent="0" lvl="0" marL="0" rtl="0" algn="l">
              <a:lnSpc>
                <a:spcPct val="115000"/>
              </a:lnSpc>
              <a:spcBef>
                <a:spcPts val="1200"/>
              </a:spcBef>
              <a:spcAft>
                <a:spcPts val="0"/>
              </a:spcAft>
              <a:buSzPts val="990"/>
              <a:buNone/>
            </a:pPr>
            <a:r>
              <a:t/>
            </a:r>
            <a:endParaRPr sz="2420"/>
          </a:p>
          <a:p>
            <a:pPr indent="0" lvl="0" marL="0" rtl="0" algn="l">
              <a:spcBef>
                <a:spcPts val="1200"/>
              </a:spcBef>
              <a:spcAft>
                <a:spcPts val="0"/>
              </a:spcAft>
              <a:buSzPts val="990"/>
              <a:buNone/>
            </a:pPr>
            <a:r>
              <a:t/>
            </a:r>
            <a:endParaRPr sz="2420"/>
          </a:p>
        </p:txBody>
      </p:sp>
      <p:sp>
        <p:nvSpPr>
          <p:cNvPr id="142" name="Google Shape;142;p25"/>
          <p:cNvSpPr txBox="1"/>
          <p:nvPr>
            <p:ph idx="1" type="body"/>
          </p:nvPr>
        </p:nvSpPr>
        <p:spPr>
          <a:xfrm>
            <a:off x="4890375" y="902075"/>
            <a:ext cx="3648600" cy="5727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600"/>
              <a:t>This graph shows the average sleep duration for each sleep disorder category.</a:t>
            </a:r>
            <a:endParaRPr sz="1600"/>
          </a:p>
          <a:p>
            <a:pPr indent="0" lvl="0" marL="0" rtl="0" algn="l">
              <a:spcBef>
                <a:spcPts val="1200"/>
              </a:spcBef>
              <a:spcAft>
                <a:spcPts val="0"/>
              </a:spcAft>
              <a:buNone/>
            </a:pPr>
            <a:r>
              <a:t/>
            </a:r>
            <a:endParaRPr sz="1600"/>
          </a:p>
          <a:p>
            <a:pPr indent="0" lvl="0" marL="0" rtl="0" algn="l">
              <a:spcBef>
                <a:spcPts val="1200"/>
              </a:spcBef>
              <a:spcAft>
                <a:spcPts val="1200"/>
              </a:spcAft>
              <a:buSzPts val="523"/>
              <a:buNone/>
            </a:pPr>
            <a:r>
              <a:t/>
            </a:r>
            <a:endParaRPr sz="1600"/>
          </a:p>
        </p:txBody>
      </p:sp>
      <p:sp>
        <p:nvSpPr>
          <p:cNvPr id="143" name="Google Shape;143;p25"/>
          <p:cNvSpPr txBox="1"/>
          <p:nvPr/>
        </p:nvSpPr>
        <p:spPr>
          <a:xfrm>
            <a:off x="4890375" y="2079425"/>
            <a:ext cx="3942000" cy="2284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600">
                <a:solidFill>
                  <a:schemeClr val="lt2"/>
                </a:solidFill>
              </a:rPr>
              <a:t>Individuals with sleep disorders tend to have lower sleep duration. For example, those with insomnia appear to get less sleep than those with sleep apnea, suggesting that different disorders may impact sleep differently.</a:t>
            </a:r>
            <a:endParaRPr sz="1600">
              <a:solidFill>
                <a:schemeClr val="lt2"/>
              </a:solidFill>
            </a:endParaRPr>
          </a:p>
          <a:p>
            <a:pPr indent="0" lvl="0" marL="0" rtl="0" algn="l">
              <a:lnSpc>
                <a:spcPct val="115000"/>
              </a:lnSpc>
              <a:spcBef>
                <a:spcPts val="1200"/>
              </a:spcBef>
              <a:spcAft>
                <a:spcPts val="1200"/>
              </a:spcAft>
              <a:buNone/>
            </a:pPr>
            <a:r>
              <a:t/>
            </a:r>
            <a:endParaRPr sz="1600">
              <a:solidFill>
                <a:schemeClr val="lt2"/>
              </a:solidFill>
            </a:endParaRPr>
          </a:p>
        </p:txBody>
      </p:sp>
      <p:pic>
        <p:nvPicPr>
          <p:cNvPr id="144" name="Google Shape;144;p25"/>
          <p:cNvPicPr preferRelativeResize="0"/>
          <p:nvPr/>
        </p:nvPicPr>
        <p:blipFill>
          <a:blip r:embed="rId3">
            <a:alphaModFix/>
          </a:blip>
          <a:stretch>
            <a:fillRect/>
          </a:stretch>
        </p:blipFill>
        <p:spPr>
          <a:xfrm>
            <a:off x="152400" y="902075"/>
            <a:ext cx="4585574" cy="367172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 Update – </a:t>
            </a:r>
            <a:r>
              <a:rPr lang="en"/>
              <a:t>Week 4</a:t>
            </a:r>
            <a:endParaRPr/>
          </a:p>
        </p:txBody>
      </p:sp>
      <p:sp>
        <p:nvSpPr>
          <p:cNvPr id="150" name="Google Shape;150;p26"/>
          <p:cNvSpPr txBox="1"/>
          <p:nvPr>
            <p:ph idx="1" type="body"/>
          </p:nvPr>
        </p:nvSpPr>
        <p:spPr>
          <a:xfrm>
            <a:off x="311700" y="1152475"/>
            <a:ext cx="3774000" cy="289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440"/>
              <a:buNone/>
            </a:pPr>
            <a:r>
              <a:rPr b="1" i="1" lang="en" sz="1720">
                <a:solidFill>
                  <a:schemeClr val="dk1"/>
                </a:solidFill>
              </a:rPr>
              <a:t>What I accomplished:</a:t>
            </a:r>
            <a:endParaRPr b="1" i="1" sz="1720">
              <a:solidFill>
                <a:schemeClr val="dk1"/>
              </a:solidFill>
            </a:endParaRPr>
          </a:p>
          <a:p>
            <a:pPr indent="0" lvl="0" marL="0" rtl="0" algn="l">
              <a:spcBef>
                <a:spcPts val="1200"/>
              </a:spcBef>
              <a:spcAft>
                <a:spcPts val="0"/>
              </a:spcAft>
              <a:buNone/>
            </a:pPr>
            <a:r>
              <a:rPr lang="en" sz="1420">
                <a:solidFill>
                  <a:schemeClr val="dk1"/>
                </a:solidFill>
              </a:rPr>
              <a:t>Added new insights using Heart Rate and Sleep Disorder</a:t>
            </a:r>
            <a:endParaRPr sz="1420">
              <a:solidFill>
                <a:schemeClr val="dk1"/>
              </a:solidFill>
            </a:endParaRPr>
          </a:p>
          <a:p>
            <a:pPr indent="0" lvl="0" marL="0" rtl="0" algn="l">
              <a:spcBef>
                <a:spcPts val="1200"/>
              </a:spcBef>
              <a:spcAft>
                <a:spcPts val="0"/>
              </a:spcAft>
              <a:buNone/>
            </a:pPr>
            <a:r>
              <a:rPr lang="en" sz="1420">
                <a:solidFill>
                  <a:schemeClr val="dk1"/>
                </a:solidFill>
              </a:rPr>
              <a:t>Explored additional health-related factors affecting sleep</a:t>
            </a:r>
            <a:endParaRPr sz="1420">
              <a:solidFill>
                <a:schemeClr val="dk1"/>
              </a:solidFill>
            </a:endParaRPr>
          </a:p>
          <a:p>
            <a:pPr indent="0" lvl="0" marL="0" rtl="0" algn="l">
              <a:spcBef>
                <a:spcPts val="1200"/>
              </a:spcBef>
              <a:spcAft>
                <a:spcPts val="0"/>
              </a:spcAft>
              <a:buSzPts val="440"/>
              <a:buNone/>
            </a:pPr>
            <a:r>
              <a:rPr b="1" i="1" lang="en" sz="1620">
                <a:solidFill>
                  <a:schemeClr val="dk1"/>
                </a:solidFill>
              </a:rPr>
              <a:t>Plan for next week:</a:t>
            </a:r>
            <a:endParaRPr b="1" i="1" sz="1620">
              <a:solidFill>
                <a:schemeClr val="dk1"/>
              </a:solidFill>
            </a:endParaRPr>
          </a:p>
          <a:p>
            <a:pPr indent="0" lvl="0" marL="0" rtl="0" algn="l">
              <a:spcBef>
                <a:spcPts val="1200"/>
              </a:spcBef>
              <a:spcAft>
                <a:spcPts val="0"/>
              </a:spcAft>
              <a:buNone/>
            </a:pPr>
            <a:r>
              <a:rPr lang="en" sz="1420">
                <a:solidFill>
                  <a:schemeClr val="dk1"/>
                </a:solidFill>
              </a:rPr>
              <a:t>Identify the strongest insights</a:t>
            </a:r>
            <a:endParaRPr sz="1420">
              <a:solidFill>
                <a:schemeClr val="dk1"/>
              </a:solidFill>
            </a:endParaRPr>
          </a:p>
          <a:p>
            <a:pPr indent="0" lvl="0" marL="0" rtl="0" algn="l">
              <a:spcBef>
                <a:spcPts val="1200"/>
              </a:spcBef>
              <a:spcAft>
                <a:spcPts val="0"/>
              </a:spcAft>
              <a:buNone/>
            </a:pPr>
            <a:r>
              <a:rPr lang="en" sz="1420">
                <a:solidFill>
                  <a:schemeClr val="dk1"/>
                </a:solidFill>
              </a:rPr>
              <a:t>Begin organizing a clear data story</a:t>
            </a:r>
            <a:endParaRPr sz="1420">
              <a:solidFill>
                <a:schemeClr val="dk1"/>
              </a:solidFill>
            </a:endParaRPr>
          </a:p>
          <a:p>
            <a:pPr indent="0" lvl="0" marL="0" rtl="0" algn="l">
              <a:spcBef>
                <a:spcPts val="1200"/>
              </a:spcBef>
              <a:spcAft>
                <a:spcPts val="1200"/>
              </a:spcAft>
              <a:buSzPts val="440"/>
              <a:buNone/>
            </a:pPr>
            <a:r>
              <a:t/>
            </a:r>
            <a:endParaRPr sz="1420">
              <a:solidFill>
                <a:schemeClr val="dk1"/>
              </a:solidFill>
            </a:endParaRPr>
          </a:p>
        </p:txBody>
      </p:sp>
      <p:sp>
        <p:nvSpPr>
          <p:cNvPr id="151" name="Google Shape;151;p26"/>
          <p:cNvSpPr txBox="1"/>
          <p:nvPr/>
        </p:nvSpPr>
        <p:spPr>
          <a:xfrm>
            <a:off x="4917325" y="1223050"/>
            <a:ext cx="3872400" cy="2496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 sz="1620">
                <a:solidFill>
                  <a:schemeClr val="dk1"/>
                </a:solidFill>
              </a:rPr>
              <a:t>Obstacles:</a:t>
            </a:r>
            <a:endParaRPr b="1" i="1" sz="1620">
              <a:solidFill>
                <a:schemeClr val="dk1"/>
              </a:solidFill>
            </a:endParaRPr>
          </a:p>
          <a:p>
            <a:pPr indent="0" lvl="0" marL="0" rtl="0" algn="l">
              <a:lnSpc>
                <a:spcPct val="115000"/>
              </a:lnSpc>
              <a:spcBef>
                <a:spcPts val="1200"/>
              </a:spcBef>
              <a:spcAft>
                <a:spcPts val="0"/>
              </a:spcAft>
              <a:buNone/>
            </a:pPr>
            <a:r>
              <a:rPr lang="en" sz="1420">
                <a:solidFill>
                  <a:schemeClr val="dk1"/>
                </a:solidFill>
              </a:rPr>
              <a:t>None so far</a:t>
            </a:r>
            <a:endParaRPr sz="1420">
              <a:solidFill>
                <a:schemeClr val="dk1"/>
              </a:solidFill>
            </a:endParaRPr>
          </a:p>
          <a:p>
            <a:pPr indent="0" lvl="0" marL="0" rtl="0" algn="l">
              <a:lnSpc>
                <a:spcPct val="115000"/>
              </a:lnSpc>
              <a:spcBef>
                <a:spcPts val="1200"/>
              </a:spcBef>
              <a:spcAft>
                <a:spcPts val="0"/>
              </a:spcAft>
              <a:buNone/>
            </a:pPr>
            <a:r>
              <a:rPr b="1" i="1" lang="en" sz="1620">
                <a:solidFill>
                  <a:schemeClr val="dk1"/>
                </a:solidFill>
              </a:rPr>
              <a:t>Resources used:</a:t>
            </a:r>
            <a:endParaRPr b="1" i="1" sz="1620">
              <a:solidFill>
                <a:schemeClr val="dk1"/>
              </a:solidFill>
            </a:endParaRPr>
          </a:p>
          <a:p>
            <a:pPr indent="0" lvl="0" marL="0" rtl="0" algn="l">
              <a:lnSpc>
                <a:spcPct val="115000"/>
              </a:lnSpc>
              <a:spcBef>
                <a:spcPts val="1200"/>
              </a:spcBef>
              <a:spcAft>
                <a:spcPts val="0"/>
              </a:spcAft>
              <a:buNone/>
            </a:pPr>
            <a:r>
              <a:rPr lang="en">
                <a:solidFill>
                  <a:schemeClr val="dk1"/>
                </a:solidFill>
              </a:rPr>
              <a:t>Jupyter Notebook</a:t>
            </a:r>
            <a:endParaRPr b="1" i="1">
              <a:solidFill>
                <a:schemeClr val="dk1"/>
              </a:solidFill>
            </a:endParaRPr>
          </a:p>
          <a:p>
            <a:pPr indent="0" lvl="0" marL="0" rtl="0" algn="l">
              <a:lnSpc>
                <a:spcPct val="115000"/>
              </a:lnSpc>
              <a:spcBef>
                <a:spcPts val="1200"/>
              </a:spcBef>
              <a:spcAft>
                <a:spcPts val="0"/>
              </a:spcAft>
              <a:buNone/>
            </a:pPr>
            <a:r>
              <a:rPr b="1" lang="en" sz="1420">
                <a:solidFill>
                  <a:schemeClr val="dk1"/>
                </a:solidFill>
              </a:rPr>
              <a:t>Contribution:</a:t>
            </a:r>
            <a:endParaRPr b="1" sz="1420">
              <a:solidFill>
                <a:schemeClr val="dk1"/>
              </a:solidFill>
            </a:endParaRPr>
          </a:p>
          <a:p>
            <a:pPr indent="0" lvl="0" marL="0" rtl="0" algn="l">
              <a:lnSpc>
                <a:spcPct val="115000"/>
              </a:lnSpc>
              <a:spcBef>
                <a:spcPts val="1200"/>
              </a:spcBef>
              <a:spcAft>
                <a:spcPts val="1200"/>
              </a:spcAft>
              <a:buNone/>
            </a:pPr>
            <a:r>
              <a:rPr b="1" i="1" lang="en" sz="1420">
                <a:solidFill>
                  <a:schemeClr val="dk1"/>
                </a:solidFill>
              </a:rPr>
              <a:t>All work completed individually</a:t>
            </a:r>
            <a:endParaRPr b="1" i="1" sz="142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7"/>
          <p:cNvSpPr txBox="1"/>
          <p:nvPr>
            <p:ph type="title"/>
          </p:nvPr>
        </p:nvSpPr>
        <p:spPr>
          <a:xfrm>
            <a:off x="110675" y="513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Storyboard Draft</a:t>
            </a:r>
            <a:endParaRPr/>
          </a:p>
        </p:txBody>
      </p:sp>
      <p:sp>
        <p:nvSpPr>
          <p:cNvPr id="157" name="Google Shape;157;p27"/>
          <p:cNvSpPr txBox="1"/>
          <p:nvPr>
            <p:ph idx="1" type="body"/>
          </p:nvPr>
        </p:nvSpPr>
        <p:spPr>
          <a:xfrm>
            <a:off x="78850" y="624000"/>
            <a:ext cx="4000800" cy="3078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dk1"/>
                </a:solidFill>
              </a:rPr>
              <a:t>Main Story:</a:t>
            </a:r>
            <a:endParaRPr sz="2000">
              <a:solidFill>
                <a:schemeClr val="dk1"/>
              </a:solidFill>
            </a:endParaRPr>
          </a:p>
          <a:p>
            <a:pPr indent="0" lvl="0" marL="0" rtl="0" algn="l">
              <a:spcBef>
                <a:spcPts val="1200"/>
              </a:spcBef>
              <a:spcAft>
                <a:spcPts val="0"/>
              </a:spcAft>
              <a:buNone/>
            </a:pPr>
            <a:r>
              <a:rPr lang="en" sz="2000">
                <a:solidFill>
                  <a:schemeClr val="dk1"/>
                </a:solidFill>
              </a:rPr>
              <a:t>Lifestyle and health factors such as stress, activity level, and health conditions impact sleep duration and quality.</a:t>
            </a:r>
            <a:endParaRPr sz="2000">
              <a:solidFill>
                <a:schemeClr val="dk1"/>
              </a:solidFill>
            </a:endParaRPr>
          </a:p>
          <a:p>
            <a:pPr indent="0" lvl="0" marL="0" rtl="0" algn="l">
              <a:spcBef>
                <a:spcPts val="1200"/>
              </a:spcBef>
              <a:spcAft>
                <a:spcPts val="1200"/>
              </a:spcAft>
              <a:buNone/>
            </a:pPr>
            <a:br>
              <a:rPr lang="en">
                <a:solidFill>
                  <a:schemeClr val="dk1"/>
                </a:solidFill>
              </a:rPr>
            </a:br>
            <a:endParaRPr>
              <a:solidFill>
                <a:schemeClr val="dk1"/>
              </a:solidFill>
            </a:endParaRPr>
          </a:p>
        </p:txBody>
      </p:sp>
      <p:sp>
        <p:nvSpPr>
          <p:cNvPr id="158" name="Google Shape;158;p27"/>
          <p:cNvSpPr txBox="1"/>
          <p:nvPr/>
        </p:nvSpPr>
        <p:spPr>
          <a:xfrm>
            <a:off x="6976225" y="239375"/>
            <a:ext cx="19788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Story Order:</a:t>
            </a:r>
            <a:endParaRPr>
              <a:solidFill>
                <a:schemeClr val="dk1"/>
              </a:solidFill>
            </a:endParaRPr>
          </a:p>
          <a:p>
            <a:pPr indent="0" lvl="0" marL="0" rtl="0" algn="l">
              <a:spcBef>
                <a:spcPts val="0"/>
              </a:spcBef>
              <a:spcAft>
                <a:spcPts val="0"/>
              </a:spcAft>
              <a:buNone/>
            </a:pPr>
            <a:r>
              <a:rPr lang="en">
                <a:solidFill>
                  <a:schemeClr val="dk1"/>
                </a:solidFill>
              </a:rPr>
              <a:t>Stress and sleep</a:t>
            </a:r>
            <a:endParaRPr>
              <a:solidFill>
                <a:schemeClr val="dk1"/>
              </a:solidFill>
            </a:endParaRPr>
          </a:p>
          <a:p>
            <a:pPr indent="0" lvl="0" marL="0" rtl="0" algn="l">
              <a:spcBef>
                <a:spcPts val="0"/>
              </a:spcBef>
              <a:spcAft>
                <a:spcPts val="0"/>
              </a:spcAft>
              <a:buNone/>
            </a:pPr>
            <a:r>
              <a:rPr lang="en">
                <a:solidFill>
                  <a:schemeClr val="dk1"/>
                </a:solidFill>
              </a:rPr>
              <a:t>Activity and sleep quality</a:t>
            </a:r>
            <a:endParaRPr>
              <a:solidFill>
                <a:schemeClr val="dk1"/>
              </a:solidFill>
            </a:endParaRPr>
          </a:p>
          <a:p>
            <a:pPr indent="0" lvl="0" marL="0" rtl="0" algn="l">
              <a:spcBef>
                <a:spcPts val="0"/>
              </a:spcBef>
              <a:spcAft>
                <a:spcPts val="0"/>
              </a:spcAft>
              <a:buNone/>
            </a:pPr>
            <a:r>
              <a:rPr lang="en">
                <a:solidFill>
                  <a:schemeClr val="dk1"/>
                </a:solidFill>
              </a:rPr>
              <a:t>Health conditions and sleep</a:t>
            </a:r>
            <a:endParaRPr>
              <a:solidFill>
                <a:schemeClr val="dk1"/>
              </a:solidFill>
            </a:endParaRPr>
          </a:p>
          <a:p>
            <a:pPr indent="0" lvl="0" marL="0" rtl="0" algn="l">
              <a:spcBef>
                <a:spcPts val="0"/>
              </a:spcBef>
              <a:spcAft>
                <a:spcPts val="0"/>
              </a:spcAft>
              <a:buNone/>
            </a:pPr>
            <a:r>
              <a:rPr lang="en">
                <a:solidFill>
                  <a:schemeClr val="dk1"/>
                </a:solidFill>
              </a:rPr>
              <a:t>Overall impact of lifestyle on sleep</a:t>
            </a:r>
            <a:endParaRPr>
              <a:solidFill>
                <a:schemeClr val="dk1"/>
              </a:solidFill>
            </a:endParaRPr>
          </a:p>
        </p:txBody>
      </p:sp>
      <p:pic>
        <p:nvPicPr>
          <p:cNvPr id="159" name="Google Shape;159;p27"/>
          <p:cNvPicPr preferRelativeResize="0"/>
          <p:nvPr/>
        </p:nvPicPr>
        <p:blipFill>
          <a:blip r:embed="rId3">
            <a:alphaModFix/>
          </a:blip>
          <a:stretch>
            <a:fillRect/>
          </a:stretch>
        </p:blipFill>
        <p:spPr>
          <a:xfrm>
            <a:off x="0" y="3040954"/>
            <a:ext cx="9143999" cy="2102543"/>
          </a:xfrm>
          <a:prstGeom prst="rect">
            <a:avLst/>
          </a:prstGeom>
          <a:noFill/>
          <a:ln>
            <a:noFill/>
          </a:ln>
        </p:spPr>
      </p:pic>
      <p:sp>
        <p:nvSpPr>
          <p:cNvPr id="160" name="Google Shape;160;p27"/>
          <p:cNvSpPr txBox="1"/>
          <p:nvPr/>
        </p:nvSpPr>
        <p:spPr>
          <a:xfrm>
            <a:off x="4079650" y="239375"/>
            <a:ext cx="30000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Key Findings Grouped:</a:t>
            </a:r>
            <a:endParaRPr>
              <a:solidFill>
                <a:schemeClr val="dk1"/>
              </a:solidFill>
            </a:endParaRPr>
          </a:p>
          <a:p>
            <a:pPr indent="0" lvl="0" marL="0" rtl="0" algn="l">
              <a:spcBef>
                <a:spcPts val="0"/>
              </a:spcBef>
              <a:spcAft>
                <a:spcPts val="0"/>
              </a:spcAft>
              <a:buNone/>
            </a:pPr>
            <a:r>
              <a:rPr lang="en">
                <a:solidFill>
                  <a:schemeClr val="dk1"/>
                </a:solidFill>
              </a:rPr>
              <a:t>Stress → lower sleep duration</a:t>
            </a:r>
            <a:endParaRPr>
              <a:solidFill>
                <a:schemeClr val="dk1"/>
              </a:solidFill>
            </a:endParaRPr>
          </a:p>
          <a:p>
            <a:pPr indent="0" lvl="0" marL="0" rtl="0" algn="l">
              <a:spcBef>
                <a:spcPts val="0"/>
              </a:spcBef>
              <a:spcAft>
                <a:spcPts val="0"/>
              </a:spcAft>
              <a:buNone/>
            </a:pPr>
            <a:r>
              <a:rPr lang="en">
                <a:solidFill>
                  <a:schemeClr val="dk1"/>
                </a:solidFill>
              </a:rPr>
              <a:t>Physical activity → better sleep quality</a:t>
            </a:r>
            <a:endParaRPr>
              <a:solidFill>
                <a:schemeClr val="dk1"/>
              </a:solidFill>
            </a:endParaRPr>
          </a:p>
          <a:p>
            <a:pPr indent="0" lvl="0" marL="0" rtl="0" algn="l">
              <a:spcBef>
                <a:spcPts val="0"/>
              </a:spcBef>
              <a:spcAft>
                <a:spcPts val="0"/>
              </a:spcAft>
              <a:buNone/>
            </a:pPr>
            <a:r>
              <a:rPr lang="en">
                <a:solidFill>
                  <a:schemeClr val="dk1"/>
                </a:solidFill>
              </a:rPr>
              <a:t>Sleep disorders → affect sleep</a:t>
            </a:r>
            <a:endParaRPr>
              <a:solidFill>
                <a:schemeClr val="dk1"/>
              </a:solidFill>
            </a:endParaRPr>
          </a:p>
          <a:p>
            <a:pPr indent="0" lvl="0" marL="0" rtl="0" algn="l">
              <a:spcBef>
                <a:spcPts val="0"/>
              </a:spcBef>
              <a:spcAft>
                <a:spcPts val="0"/>
              </a:spcAft>
              <a:buNone/>
            </a:pPr>
            <a:r>
              <a:rPr lang="en">
                <a:solidFill>
                  <a:schemeClr val="dk1"/>
                </a:solidFill>
              </a:rPr>
              <a:t>Heart rate → may relate to sleep</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Progress Update – Week 5</a:t>
            </a:r>
            <a:endParaRPr/>
          </a:p>
        </p:txBody>
      </p:sp>
      <p:sp>
        <p:nvSpPr>
          <p:cNvPr id="166" name="Google Shape;166;p28"/>
          <p:cNvSpPr txBox="1"/>
          <p:nvPr>
            <p:ph idx="1" type="body"/>
          </p:nvPr>
        </p:nvSpPr>
        <p:spPr>
          <a:xfrm>
            <a:off x="311700" y="1152475"/>
            <a:ext cx="3774000" cy="289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440"/>
              <a:buNone/>
            </a:pPr>
            <a:r>
              <a:rPr b="1" i="1" lang="en" sz="1720">
                <a:solidFill>
                  <a:schemeClr val="dk1"/>
                </a:solidFill>
              </a:rPr>
              <a:t>What I accomplished:</a:t>
            </a:r>
            <a:endParaRPr b="1" i="1" sz="1720">
              <a:solidFill>
                <a:schemeClr val="dk1"/>
              </a:solidFill>
            </a:endParaRPr>
          </a:p>
          <a:p>
            <a:pPr indent="0" lvl="0" marL="0" rtl="0" algn="l">
              <a:spcBef>
                <a:spcPts val="1200"/>
              </a:spcBef>
              <a:spcAft>
                <a:spcPts val="0"/>
              </a:spcAft>
              <a:buNone/>
            </a:pPr>
            <a:r>
              <a:rPr lang="en" sz="1420">
                <a:solidFill>
                  <a:schemeClr val="dk1"/>
                </a:solidFill>
              </a:rPr>
              <a:t>Organized insights into a clear data story</a:t>
            </a:r>
            <a:endParaRPr sz="1420">
              <a:solidFill>
                <a:schemeClr val="dk1"/>
              </a:solidFill>
            </a:endParaRPr>
          </a:p>
          <a:p>
            <a:pPr indent="0" lvl="0" marL="0" rtl="0" algn="l">
              <a:spcBef>
                <a:spcPts val="1200"/>
              </a:spcBef>
              <a:spcAft>
                <a:spcPts val="0"/>
              </a:spcAft>
              <a:buNone/>
            </a:pPr>
            <a:r>
              <a:rPr lang="en" sz="1420">
                <a:solidFill>
                  <a:schemeClr val="dk1"/>
                </a:solidFill>
              </a:rPr>
              <a:t>Created storyboard and grouped key findings</a:t>
            </a:r>
            <a:endParaRPr sz="1420">
              <a:solidFill>
                <a:schemeClr val="dk1"/>
              </a:solidFill>
            </a:endParaRPr>
          </a:p>
          <a:p>
            <a:pPr indent="0" lvl="0" marL="0" rtl="0" algn="l">
              <a:spcBef>
                <a:spcPts val="1200"/>
              </a:spcBef>
              <a:spcAft>
                <a:spcPts val="0"/>
              </a:spcAft>
              <a:buNone/>
            </a:pPr>
            <a:r>
              <a:rPr lang="en" sz="1420">
                <a:solidFill>
                  <a:schemeClr val="dk1"/>
                </a:solidFill>
              </a:rPr>
              <a:t>Wrote micro story explaining the dataset</a:t>
            </a:r>
            <a:endParaRPr sz="1420">
              <a:solidFill>
                <a:schemeClr val="dk1"/>
              </a:solidFill>
            </a:endParaRPr>
          </a:p>
          <a:p>
            <a:pPr indent="0" lvl="0" marL="0" rtl="0" algn="l">
              <a:spcBef>
                <a:spcPts val="1200"/>
              </a:spcBef>
              <a:spcAft>
                <a:spcPts val="0"/>
              </a:spcAft>
              <a:buSzPts val="440"/>
              <a:buNone/>
            </a:pPr>
            <a:r>
              <a:rPr b="1" i="1" lang="en" sz="1620">
                <a:solidFill>
                  <a:schemeClr val="dk1"/>
                </a:solidFill>
              </a:rPr>
              <a:t>Plan for next week:</a:t>
            </a:r>
            <a:endParaRPr b="1" i="1" sz="1620">
              <a:solidFill>
                <a:schemeClr val="dk1"/>
              </a:solidFill>
            </a:endParaRPr>
          </a:p>
          <a:p>
            <a:pPr indent="0" lvl="0" marL="0" rtl="0" algn="l">
              <a:spcBef>
                <a:spcPts val="1200"/>
              </a:spcBef>
              <a:spcAft>
                <a:spcPts val="0"/>
              </a:spcAft>
              <a:buNone/>
            </a:pPr>
            <a:r>
              <a:rPr lang="en" sz="1420">
                <a:solidFill>
                  <a:schemeClr val="dk1"/>
                </a:solidFill>
              </a:rPr>
              <a:t>Finalize strongest insights</a:t>
            </a:r>
            <a:endParaRPr sz="1420">
              <a:solidFill>
                <a:schemeClr val="dk1"/>
              </a:solidFill>
            </a:endParaRPr>
          </a:p>
          <a:p>
            <a:pPr indent="0" lvl="0" marL="0" rtl="0" algn="l">
              <a:spcBef>
                <a:spcPts val="1200"/>
              </a:spcBef>
              <a:spcAft>
                <a:spcPts val="0"/>
              </a:spcAft>
              <a:buNone/>
            </a:pPr>
            <a:r>
              <a:rPr lang="en" sz="1420">
                <a:solidFill>
                  <a:schemeClr val="dk1"/>
                </a:solidFill>
              </a:rPr>
              <a:t>Prepare final presentation/story</a:t>
            </a:r>
            <a:endParaRPr sz="1420">
              <a:solidFill>
                <a:schemeClr val="dk1"/>
              </a:solidFill>
            </a:endParaRPr>
          </a:p>
          <a:p>
            <a:pPr indent="0" lvl="0" marL="0" rtl="0" algn="l">
              <a:spcBef>
                <a:spcPts val="1200"/>
              </a:spcBef>
              <a:spcAft>
                <a:spcPts val="1200"/>
              </a:spcAft>
              <a:buSzPts val="440"/>
              <a:buNone/>
            </a:pPr>
            <a:r>
              <a:t/>
            </a:r>
            <a:endParaRPr sz="1420">
              <a:solidFill>
                <a:schemeClr val="dk1"/>
              </a:solidFill>
            </a:endParaRPr>
          </a:p>
        </p:txBody>
      </p:sp>
      <p:sp>
        <p:nvSpPr>
          <p:cNvPr id="167" name="Google Shape;167;p28"/>
          <p:cNvSpPr txBox="1"/>
          <p:nvPr/>
        </p:nvSpPr>
        <p:spPr>
          <a:xfrm>
            <a:off x="4917325" y="1223050"/>
            <a:ext cx="3872400" cy="289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 sz="1620">
                <a:solidFill>
                  <a:schemeClr val="dk1"/>
                </a:solidFill>
              </a:rPr>
              <a:t>Obstacles:</a:t>
            </a:r>
            <a:endParaRPr b="1" i="1" sz="1620">
              <a:solidFill>
                <a:schemeClr val="dk1"/>
              </a:solidFill>
            </a:endParaRPr>
          </a:p>
          <a:p>
            <a:pPr indent="0" lvl="0" marL="0" rtl="0" algn="l">
              <a:lnSpc>
                <a:spcPct val="115000"/>
              </a:lnSpc>
              <a:spcBef>
                <a:spcPts val="1200"/>
              </a:spcBef>
              <a:spcAft>
                <a:spcPts val="0"/>
              </a:spcAft>
              <a:buNone/>
            </a:pPr>
            <a:r>
              <a:rPr lang="en" sz="1420">
                <a:solidFill>
                  <a:schemeClr val="dk1"/>
                </a:solidFill>
              </a:rPr>
              <a:t>None so far</a:t>
            </a:r>
            <a:endParaRPr sz="1420">
              <a:solidFill>
                <a:schemeClr val="dk1"/>
              </a:solidFill>
            </a:endParaRPr>
          </a:p>
          <a:p>
            <a:pPr indent="0" lvl="0" marL="0" rtl="0" algn="l">
              <a:lnSpc>
                <a:spcPct val="115000"/>
              </a:lnSpc>
              <a:spcBef>
                <a:spcPts val="1200"/>
              </a:spcBef>
              <a:spcAft>
                <a:spcPts val="0"/>
              </a:spcAft>
              <a:buNone/>
            </a:pPr>
            <a:r>
              <a:rPr b="1" i="1" lang="en" sz="1620">
                <a:solidFill>
                  <a:schemeClr val="dk1"/>
                </a:solidFill>
              </a:rPr>
              <a:t>Resources used:</a:t>
            </a:r>
            <a:endParaRPr b="1" i="1" sz="1620">
              <a:solidFill>
                <a:schemeClr val="dk1"/>
              </a:solidFill>
            </a:endParaRPr>
          </a:p>
          <a:p>
            <a:pPr indent="0" lvl="0" marL="0" rtl="0" algn="l">
              <a:lnSpc>
                <a:spcPct val="115000"/>
              </a:lnSpc>
              <a:spcBef>
                <a:spcPts val="1200"/>
              </a:spcBef>
              <a:spcAft>
                <a:spcPts val="0"/>
              </a:spcAft>
              <a:buNone/>
            </a:pPr>
            <a:r>
              <a:rPr lang="en">
                <a:solidFill>
                  <a:schemeClr val="dk1"/>
                </a:solidFill>
              </a:rPr>
              <a:t>Jupyter Notebook</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Storyboard Studio</a:t>
            </a:r>
            <a:endParaRPr>
              <a:solidFill>
                <a:schemeClr val="dk1"/>
              </a:solidFill>
            </a:endParaRPr>
          </a:p>
          <a:p>
            <a:pPr indent="0" lvl="0" marL="0" rtl="0" algn="l">
              <a:lnSpc>
                <a:spcPct val="115000"/>
              </a:lnSpc>
              <a:spcBef>
                <a:spcPts val="1200"/>
              </a:spcBef>
              <a:spcAft>
                <a:spcPts val="0"/>
              </a:spcAft>
              <a:buNone/>
            </a:pPr>
            <a:r>
              <a:rPr b="1" lang="en" sz="1420">
                <a:solidFill>
                  <a:schemeClr val="dk1"/>
                </a:solidFill>
              </a:rPr>
              <a:t>Contribution:</a:t>
            </a:r>
            <a:endParaRPr b="1" sz="1420">
              <a:solidFill>
                <a:schemeClr val="dk1"/>
              </a:solidFill>
            </a:endParaRPr>
          </a:p>
          <a:p>
            <a:pPr indent="0" lvl="0" marL="0" rtl="0" algn="l">
              <a:lnSpc>
                <a:spcPct val="115000"/>
              </a:lnSpc>
              <a:spcBef>
                <a:spcPts val="1200"/>
              </a:spcBef>
              <a:spcAft>
                <a:spcPts val="1200"/>
              </a:spcAft>
              <a:buNone/>
            </a:pPr>
            <a:r>
              <a:rPr b="1" i="1" lang="en" sz="1420">
                <a:solidFill>
                  <a:schemeClr val="dk1"/>
                </a:solidFill>
              </a:rPr>
              <a:t>All work completed individually</a:t>
            </a:r>
            <a:endParaRPr b="1" i="1" sz="142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