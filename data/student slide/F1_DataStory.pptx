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Comfortaa"/>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omforta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Comfortaa-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8T23:50:39.794">
    <p:pos x="196" y="469"/>
    <p:text>@emmak3@umbc.edu your analysis so far is quite limited, you still missing at least a week's worth of analysis. Please reach out to TF or TA for help. Otherwise, your story will turn out to be quite suboptimal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8T23:48:15.240">
    <p:pos x="2601" y="321"/>
    <p:text>this analysis is confusing, are those all the drivers, or just a few? if you would like to compare lap as yes, or no, you can summarize the data</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28T23:49:28.952">
    <p:pos x="3075" y="203"/>
    <p:text>you time/retired column needs cleaning.</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b40b9216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b40b9216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b40b9216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b40b9216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75f631a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75f631a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8123f3ba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8123f3ba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97413764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97413764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97413764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97413764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a87779d3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a87779d3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a87779d3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a87779d3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a87779d3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a87779d3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a87779d3b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a87779d3b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a87779d3b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a87779d3b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8.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Comfortaa"/>
                <a:ea typeface="Comfortaa"/>
                <a:cs typeface="Comfortaa"/>
                <a:sym typeface="Comfortaa"/>
              </a:rPr>
              <a:t>2025 Formula 1 Season</a:t>
            </a:r>
            <a:endParaRPr b="1">
              <a:latin typeface="Comfortaa"/>
              <a:ea typeface="Comfortaa"/>
              <a:cs typeface="Comfortaa"/>
              <a:sym typeface="Comfortaa"/>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a:latin typeface="Comfortaa"/>
                <a:ea typeface="Comfortaa"/>
                <a:cs typeface="Comfortaa"/>
                <a:sym typeface="Comfortaa"/>
              </a:rPr>
              <a:t>Emma Kovács</a:t>
            </a:r>
            <a:endParaRPr i="1">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Questions</a:t>
            </a:r>
            <a:endParaRPr b="1">
              <a:latin typeface="Comfortaa"/>
              <a:ea typeface="Comfortaa"/>
              <a:cs typeface="Comfortaa"/>
              <a:sym typeface="Comfortaa"/>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mfortaa"/>
              <a:buAutoNum type="arabicPeriod"/>
            </a:pPr>
            <a:r>
              <a:rPr lang="en">
                <a:latin typeface="Comfortaa"/>
                <a:ea typeface="Comfortaa"/>
                <a:cs typeface="Comfortaa"/>
                <a:sym typeface="Comfortaa"/>
              </a:rPr>
              <a:t>How do different engine providers impact lap times?</a:t>
            </a:r>
            <a:endParaRPr>
              <a:latin typeface="Comfortaa"/>
              <a:ea typeface="Comfortaa"/>
              <a:cs typeface="Comfortaa"/>
              <a:sym typeface="Comfortaa"/>
            </a:endParaRPr>
          </a:p>
          <a:p>
            <a:pPr indent="-342900" lvl="0" marL="457200" rtl="0" algn="l">
              <a:spcBef>
                <a:spcPts val="0"/>
              </a:spcBef>
              <a:spcAft>
                <a:spcPts val="0"/>
              </a:spcAft>
              <a:buSzPts val="1800"/>
              <a:buFont typeface="Comfortaa"/>
              <a:buAutoNum type="arabicPeriod"/>
            </a:pPr>
            <a:r>
              <a:rPr lang="en">
                <a:latin typeface="Comfortaa"/>
                <a:ea typeface="Comfortaa"/>
                <a:cs typeface="Comfortaa"/>
                <a:sym typeface="Comfortaa"/>
              </a:rPr>
              <a:t>What is the most common team to get in the top 3?</a:t>
            </a:r>
            <a:endParaRPr>
              <a:latin typeface="Comfortaa"/>
              <a:ea typeface="Comfortaa"/>
              <a:cs typeface="Comfortaa"/>
              <a:sym typeface="Comfortaa"/>
            </a:endParaRPr>
          </a:p>
          <a:p>
            <a:pPr indent="-342900" lvl="0" marL="457200" rtl="0" algn="l">
              <a:spcBef>
                <a:spcPts val="0"/>
              </a:spcBef>
              <a:spcAft>
                <a:spcPts val="0"/>
              </a:spcAft>
              <a:buSzPts val="1800"/>
              <a:buFont typeface="Comfortaa"/>
              <a:buAutoNum type="arabicPeriod"/>
            </a:pPr>
            <a:r>
              <a:rPr lang="en">
                <a:latin typeface="Comfortaa"/>
                <a:ea typeface="Comfortaa"/>
                <a:cs typeface="Comfortaa"/>
                <a:sym typeface="Comfortaa"/>
              </a:rPr>
              <a:t>Does the winner have the best car overall?</a:t>
            </a:r>
            <a:endParaRPr>
              <a:latin typeface="Comfortaa"/>
              <a:ea typeface="Comfortaa"/>
              <a:cs typeface="Comfortaa"/>
              <a:sym typeface="Comfortaa"/>
            </a:endParaRPr>
          </a:p>
          <a:p>
            <a:pPr indent="-342900" lvl="0" marL="457200" rtl="0" algn="l">
              <a:spcBef>
                <a:spcPts val="0"/>
              </a:spcBef>
              <a:spcAft>
                <a:spcPts val="0"/>
              </a:spcAft>
              <a:buSzPts val="1800"/>
              <a:buFont typeface="Comfortaa"/>
              <a:buAutoNum type="arabicPeriod"/>
            </a:pPr>
            <a:r>
              <a:rPr lang="en">
                <a:latin typeface="Comfortaa"/>
                <a:ea typeface="Comfortaa"/>
                <a:cs typeface="Comfortaa"/>
                <a:sym typeface="Comfortaa"/>
              </a:rPr>
              <a:t>What is the average lap time of the top 3 finishers over all the races?</a:t>
            </a:r>
            <a:endParaRPr>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Audience + Goal</a:t>
            </a:r>
            <a:endParaRPr b="1">
              <a:latin typeface="Comfortaa"/>
              <a:ea typeface="Comfortaa"/>
              <a:cs typeface="Comfortaa"/>
              <a:sym typeface="Comfortaa"/>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omfortaa"/>
                <a:ea typeface="Comfortaa"/>
                <a:cs typeface="Comfortaa"/>
                <a:sym typeface="Comfortaa"/>
              </a:rPr>
              <a:t>The target audience for this data project are Formula 1 fans or anyone curious to know more about Formula 1 in general.</a:t>
            </a:r>
            <a:endParaRPr>
              <a:latin typeface="Comfortaa"/>
              <a:ea typeface="Comfortaa"/>
              <a:cs typeface="Comfortaa"/>
              <a:sym typeface="Comfortaa"/>
            </a:endParaRPr>
          </a:p>
          <a:p>
            <a:pPr indent="0" lvl="0" marL="0" rtl="0" algn="l">
              <a:spcBef>
                <a:spcPts val="1200"/>
              </a:spcBef>
              <a:spcAft>
                <a:spcPts val="0"/>
              </a:spcAft>
              <a:buNone/>
            </a:pPr>
            <a:r>
              <a:t/>
            </a:r>
            <a:endParaRPr>
              <a:latin typeface="Comfortaa"/>
              <a:ea typeface="Comfortaa"/>
              <a:cs typeface="Comfortaa"/>
              <a:sym typeface="Comfortaa"/>
            </a:endParaRPr>
          </a:p>
          <a:p>
            <a:pPr indent="0" lvl="0" marL="0" rtl="0" algn="l">
              <a:spcBef>
                <a:spcPts val="1200"/>
              </a:spcBef>
              <a:spcAft>
                <a:spcPts val="1200"/>
              </a:spcAft>
              <a:buNone/>
            </a:pPr>
            <a:r>
              <a:rPr lang="en">
                <a:latin typeface="Comfortaa"/>
                <a:ea typeface="Comfortaa"/>
                <a:cs typeface="Comfortaa"/>
                <a:sym typeface="Comfortaa"/>
              </a:rPr>
              <a:t>The goal of this data story is to improve understanding of how the sport works, and to maybe change the perspective of how we view teams and how they performed during the 2025 season.</a:t>
            </a:r>
            <a:endParaRPr>
              <a:latin typeface="Comfortaa"/>
              <a:ea typeface="Comfortaa"/>
              <a:cs typeface="Comfortaa"/>
              <a:sym typeface="Comforta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sp>
        <p:nvSpPr>
          <p:cNvPr id="73" name="Google Shape;73;p16"/>
          <p:cNvSpPr txBox="1"/>
          <p:nvPr>
            <p:ph idx="1" type="body"/>
          </p:nvPr>
        </p:nvSpPr>
        <p:spPr>
          <a:xfrm>
            <a:off x="311700" y="1152475"/>
            <a:ext cx="35382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latin typeface="Comfortaa"/>
                <a:ea typeface="Comfortaa"/>
                <a:cs typeface="Comfortaa"/>
                <a:sym typeface="Comfortaa"/>
              </a:rPr>
              <a:t>This bar chart shows the lap time of the winner for the first Grand Prix of the year, with the average time others were behind the winning lap time. </a:t>
            </a:r>
            <a:endParaRPr>
              <a:latin typeface="Comfortaa"/>
              <a:ea typeface="Comfortaa"/>
              <a:cs typeface="Comfortaa"/>
              <a:sym typeface="Comfortaa"/>
            </a:endParaRPr>
          </a:p>
          <a:p>
            <a:pPr indent="0" lvl="0" marL="0" rtl="0" algn="l">
              <a:spcBef>
                <a:spcPts val="1200"/>
              </a:spcBef>
              <a:spcAft>
                <a:spcPts val="1200"/>
              </a:spcAft>
              <a:buNone/>
            </a:pPr>
            <a:r>
              <a:rPr lang="en">
                <a:latin typeface="Comfortaa"/>
                <a:ea typeface="Comfortaa"/>
                <a:cs typeface="Comfortaa"/>
                <a:sym typeface="Comfortaa"/>
              </a:rPr>
              <a:t>This bar chart also shows the average amount of points each lap time earns by the length of the bars. It can be seen that the faster the lap time is the more points are awarded.</a:t>
            </a:r>
            <a:endParaRPr>
              <a:latin typeface="Comfortaa"/>
              <a:ea typeface="Comfortaa"/>
              <a:cs typeface="Comfortaa"/>
              <a:sym typeface="Comfortaa"/>
            </a:endParaRPr>
          </a:p>
        </p:txBody>
      </p:sp>
      <p:pic>
        <p:nvPicPr>
          <p:cNvPr id="74" name="Google Shape;74;p16"/>
          <p:cNvPicPr preferRelativeResize="0"/>
          <p:nvPr/>
        </p:nvPicPr>
        <p:blipFill>
          <a:blip r:embed="rId3">
            <a:alphaModFix/>
          </a:blip>
          <a:stretch>
            <a:fillRect/>
          </a:stretch>
        </p:blipFill>
        <p:spPr>
          <a:xfrm>
            <a:off x="3972270" y="1456250"/>
            <a:ext cx="4943776" cy="2808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1152475"/>
            <a:ext cx="3831300" cy="382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200">
                <a:latin typeface="Comfortaa"/>
                <a:ea typeface="Comfortaa"/>
                <a:cs typeface="Comfortaa"/>
                <a:sym typeface="Comfortaa"/>
              </a:rPr>
              <a:t>On this bar chart we can see that not everyone gets points even if they finished the race. Only the top ten </a:t>
            </a:r>
            <a:r>
              <a:rPr lang="en" sz="2200">
                <a:latin typeface="Comfortaa"/>
                <a:ea typeface="Comfortaa"/>
                <a:cs typeface="Comfortaa"/>
                <a:sym typeface="Comfortaa"/>
              </a:rPr>
              <a:t>receive</a:t>
            </a:r>
            <a:r>
              <a:rPr lang="en" sz="2200">
                <a:latin typeface="Comfortaa"/>
                <a:ea typeface="Comfortaa"/>
                <a:cs typeface="Comfortaa"/>
                <a:sym typeface="Comfortaa"/>
              </a:rPr>
              <a:t> points, and the points get lower, the farther away the lap times get from the winning time.</a:t>
            </a:r>
            <a:endParaRPr sz="2200">
              <a:latin typeface="Comfortaa"/>
              <a:ea typeface="Comfortaa"/>
              <a:cs typeface="Comfortaa"/>
              <a:sym typeface="Comfortaa"/>
            </a:endParaRPr>
          </a:p>
        </p:txBody>
      </p:sp>
      <p:pic>
        <p:nvPicPr>
          <p:cNvPr id="80" name="Google Shape;80;p17"/>
          <p:cNvPicPr preferRelativeResize="0"/>
          <p:nvPr/>
        </p:nvPicPr>
        <p:blipFill>
          <a:blip r:embed="rId3">
            <a:alphaModFix/>
          </a:blip>
          <a:stretch>
            <a:fillRect/>
          </a:stretch>
        </p:blipFill>
        <p:spPr>
          <a:xfrm>
            <a:off x="4661250" y="152400"/>
            <a:ext cx="3909699" cy="4991100"/>
          </a:xfrm>
          <a:prstGeom prst="rect">
            <a:avLst/>
          </a:prstGeom>
          <a:noFill/>
          <a:ln>
            <a:noFill/>
          </a:ln>
        </p:spPr>
      </p:pic>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85" name="Shape 85"/>
        <p:cNvGrpSpPr/>
        <p:nvPr/>
      </p:nvGrpSpPr>
      <p:grpSpPr>
        <a:xfrm>
          <a:off x="0" y="0"/>
          <a:ext cx="0" cy="0"/>
          <a:chOff x="0" y="0"/>
          <a:chExt cx="0" cy="0"/>
        </a:xfrm>
      </p:grpSpPr>
      <p:sp>
        <p:nvSpPr>
          <p:cNvPr id="86" name="Google Shape;86;p18"/>
          <p:cNvSpPr txBox="1"/>
          <p:nvPr>
            <p:ph idx="1" type="body"/>
          </p:nvPr>
        </p:nvSpPr>
        <p:spPr>
          <a:xfrm>
            <a:off x="311700" y="1152475"/>
            <a:ext cx="38175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latin typeface="Comfortaa"/>
                <a:ea typeface="Comfortaa"/>
                <a:cs typeface="Comfortaa"/>
                <a:sym typeface="Comfortaa"/>
              </a:rPr>
              <a:t>The </a:t>
            </a:r>
            <a:r>
              <a:rPr lang="en">
                <a:latin typeface="Comfortaa"/>
                <a:ea typeface="Comfortaa"/>
                <a:cs typeface="Comfortaa"/>
                <a:sym typeface="Comfortaa"/>
              </a:rPr>
              <a:t>table shows whether or not a driver got the fastest lap or not. It is more common for a driver that wins or finishes in a higher position to get the fastest lap as well. There are some outliers however, such as the DQ driver, which stands for disqualified, and the driver that got fastest but finished in 6th.</a:t>
            </a:r>
            <a:r>
              <a:rPr lang="en"/>
              <a:t> </a:t>
            </a:r>
            <a:endParaRPr/>
          </a:p>
        </p:txBody>
      </p:sp>
      <p:pic>
        <p:nvPicPr>
          <p:cNvPr id="87" name="Google Shape;87;p18"/>
          <p:cNvPicPr preferRelativeResize="0"/>
          <p:nvPr/>
        </p:nvPicPr>
        <p:blipFill>
          <a:blip r:embed="rId4">
            <a:alphaModFix/>
          </a:blip>
          <a:stretch>
            <a:fillRect/>
          </a:stretch>
        </p:blipFill>
        <p:spPr>
          <a:xfrm>
            <a:off x="6622500" y="454581"/>
            <a:ext cx="2359350" cy="4513069"/>
          </a:xfrm>
          <a:prstGeom prst="rect">
            <a:avLst/>
          </a:prstGeom>
          <a:noFill/>
          <a:ln>
            <a:noFill/>
          </a:ln>
        </p:spPr>
      </p:pic>
      <p:pic>
        <p:nvPicPr>
          <p:cNvPr id="88" name="Google Shape;88;p18"/>
          <p:cNvPicPr preferRelativeResize="0"/>
          <p:nvPr/>
        </p:nvPicPr>
        <p:blipFill>
          <a:blip r:embed="rId5">
            <a:alphaModFix/>
          </a:blip>
          <a:stretch>
            <a:fillRect/>
          </a:stretch>
        </p:blipFill>
        <p:spPr>
          <a:xfrm>
            <a:off x="4129213" y="510838"/>
            <a:ext cx="2390775" cy="4400550"/>
          </a:xfrm>
          <a:prstGeom prst="rect">
            <a:avLst/>
          </a:prstGeom>
          <a:noFill/>
          <a:ln>
            <a:noFill/>
          </a:ln>
        </p:spPr>
      </p:pic>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93" name="Shape 93"/>
        <p:cNvGrpSpPr/>
        <p:nvPr/>
      </p:nvGrpSpPr>
      <p:grpSpPr>
        <a:xfrm>
          <a:off x="0" y="0"/>
          <a:ext cx="0" cy="0"/>
          <a:chOff x="0" y="0"/>
          <a:chExt cx="0" cy="0"/>
        </a:xfrm>
      </p:grpSpPr>
      <p:sp>
        <p:nvSpPr>
          <p:cNvPr id="94" name="Google Shape;94;p19"/>
          <p:cNvSpPr txBox="1"/>
          <p:nvPr>
            <p:ph idx="1" type="body"/>
          </p:nvPr>
        </p:nvSpPr>
        <p:spPr>
          <a:xfrm>
            <a:off x="311700" y="969325"/>
            <a:ext cx="4180800" cy="3876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latin typeface="Comfortaa"/>
                <a:ea typeface="Comfortaa"/>
                <a:cs typeface="Comfortaa"/>
                <a:sym typeface="Comfortaa"/>
              </a:rPr>
              <a:t>This table shows the lap time of all the drivers that got the fastest lap of the race for every race of the season. The ‘Time/Retired’ column shows the </a:t>
            </a:r>
            <a:r>
              <a:rPr lang="en">
                <a:latin typeface="Comfortaa"/>
                <a:ea typeface="Comfortaa"/>
                <a:cs typeface="Comfortaa"/>
                <a:sym typeface="Comfortaa"/>
              </a:rPr>
              <a:t>amount</a:t>
            </a:r>
            <a:r>
              <a:rPr lang="en">
                <a:latin typeface="Comfortaa"/>
                <a:ea typeface="Comfortaa"/>
                <a:cs typeface="Comfortaa"/>
                <a:sym typeface="Comfortaa"/>
              </a:rPr>
              <a:t> of time it took each driver to finish the race. If the number has a + </a:t>
            </a:r>
            <a:r>
              <a:rPr lang="en">
                <a:latin typeface="Comfortaa"/>
                <a:ea typeface="Comfortaa"/>
                <a:cs typeface="Comfortaa"/>
                <a:sym typeface="Comfortaa"/>
              </a:rPr>
              <a:t>in front</a:t>
            </a:r>
            <a:r>
              <a:rPr lang="en">
                <a:latin typeface="Comfortaa"/>
                <a:ea typeface="Comfortaa"/>
                <a:cs typeface="Comfortaa"/>
                <a:sym typeface="Comfortaa"/>
              </a:rPr>
              <a:t> of it, then it is the amount of time they finished behind 1st place, since they finished lower than 1st. The ‘Fastest Lap Time’ column shows the actual time of the fastest lap set in the race. </a:t>
            </a:r>
            <a:endParaRPr>
              <a:latin typeface="Comfortaa"/>
              <a:ea typeface="Comfortaa"/>
              <a:cs typeface="Comfortaa"/>
              <a:sym typeface="Comfortaa"/>
            </a:endParaRPr>
          </a:p>
        </p:txBody>
      </p:sp>
      <p:pic>
        <p:nvPicPr>
          <p:cNvPr id="95" name="Google Shape;95;p19"/>
          <p:cNvPicPr preferRelativeResize="0"/>
          <p:nvPr/>
        </p:nvPicPr>
        <p:blipFill>
          <a:blip r:embed="rId4">
            <a:alphaModFix/>
          </a:blip>
          <a:stretch>
            <a:fillRect/>
          </a:stretch>
        </p:blipFill>
        <p:spPr>
          <a:xfrm>
            <a:off x="4881675" y="322975"/>
            <a:ext cx="3817500" cy="4342761"/>
          </a:xfrm>
          <a:prstGeom prst="rect">
            <a:avLst/>
          </a:prstGeom>
          <a:noFill/>
          <a:ln>
            <a:noFill/>
          </a:ln>
        </p:spPr>
      </p:pic>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152475"/>
            <a:ext cx="3831300" cy="382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sz="2200">
                <a:latin typeface="Comfortaa"/>
                <a:ea typeface="Comfortaa"/>
                <a:cs typeface="Comfortaa"/>
                <a:sym typeface="Comfortaa"/>
              </a:rPr>
              <a:t>This chart shows the overall average of points each </a:t>
            </a:r>
            <a:r>
              <a:rPr i="1" lang="en" sz="2200">
                <a:latin typeface="Comfortaa"/>
                <a:ea typeface="Comfortaa"/>
                <a:cs typeface="Comfortaa"/>
                <a:sym typeface="Comfortaa"/>
              </a:rPr>
              <a:t>team </a:t>
            </a:r>
            <a:r>
              <a:rPr lang="en" sz="2200">
                <a:latin typeface="Comfortaa"/>
                <a:ea typeface="Comfortaa"/>
                <a:cs typeface="Comfortaa"/>
                <a:sym typeface="Comfortaa"/>
              </a:rPr>
              <a:t>scored over the entire 2025 season. We can see that based on points, McLaren won the </a:t>
            </a:r>
            <a:r>
              <a:rPr lang="en" sz="2200">
                <a:latin typeface="Comfortaa"/>
                <a:ea typeface="Comfortaa"/>
                <a:cs typeface="Comfortaa"/>
                <a:sym typeface="Comfortaa"/>
              </a:rPr>
              <a:t>Constructors</a:t>
            </a:r>
            <a:r>
              <a:rPr lang="en" sz="2200">
                <a:latin typeface="Comfortaa"/>
                <a:ea typeface="Comfortaa"/>
                <a:cs typeface="Comfortaa"/>
                <a:sym typeface="Comfortaa"/>
              </a:rPr>
              <a:t> Championship, and from the other’s points we can figure out the standing order of each team by the end of the season. </a:t>
            </a:r>
            <a:r>
              <a:rPr lang="en" sz="2200"/>
              <a:t> </a:t>
            </a:r>
            <a:endParaRPr sz="2200"/>
          </a:p>
        </p:txBody>
      </p:sp>
      <p:pic>
        <p:nvPicPr>
          <p:cNvPr id="102" name="Google Shape;102;p20" title="Untitled design.png"/>
          <p:cNvPicPr preferRelativeResize="0"/>
          <p:nvPr/>
        </p:nvPicPr>
        <p:blipFill>
          <a:blip r:embed="rId3">
            <a:alphaModFix/>
          </a:blip>
          <a:stretch>
            <a:fillRect/>
          </a:stretch>
        </p:blipFill>
        <p:spPr>
          <a:xfrm>
            <a:off x="4647772" y="195900"/>
            <a:ext cx="4184526" cy="4751700"/>
          </a:xfrm>
          <a:prstGeom prst="rect">
            <a:avLst/>
          </a:prstGeom>
          <a:noFill/>
          <a:ln>
            <a:noFill/>
          </a:ln>
        </p:spPr>
      </p:pic>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07" name="Shape 107"/>
        <p:cNvGrpSpPr/>
        <p:nvPr/>
      </p:nvGrpSpPr>
      <p:grpSpPr>
        <a:xfrm>
          <a:off x="0" y="0"/>
          <a:ext cx="0" cy="0"/>
          <a:chOff x="0" y="0"/>
          <a:chExt cx="0" cy="0"/>
        </a:xfrm>
      </p:grpSpPr>
      <p:sp>
        <p:nvSpPr>
          <p:cNvPr id="108" name="Google Shape;108;p21"/>
          <p:cNvSpPr txBox="1"/>
          <p:nvPr>
            <p:ph idx="1" type="body"/>
          </p:nvPr>
        </p:nvSpPr>
        <p:spPr>
          <a:xfrm>
            <a:off x="311700" y="1152475"/>
            <a:ext cx="3831300" cy="382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2200">
                <a:latin typeface="Comfortaa"/>
                <a:ea typeface="Comfortaa"/>
                <a:cs typeface="Comfortaa"/>
                <a:sym typeface="Comfortaa"/>
              </a:rPr>
              <a:t>This chart shows the overall average of points each </a:t>
            </a:r>
            <a:r>
              <a:rPr i="1" lang="en" sz="2200">
                <a:latin typeface="Comfortaa"/>
                <a:ea typeface="Comfortaa"/>
                <a:cs typeface="Comfortaa"/>
                <a:sym typeface="Comfortaa"/>
              </a:rPr>
              <a:t>driver</a:t>
            </a:r>
            <a:r>
              <a:rPr lang="en" sz="2200">
                <a:latin typeface="Comfortaa"/>
                <a:ea typeface="Comfortaa"/>
                <a:cs typeface="Comfortaa"/>
                <a:sym typeface="Comfortaa"/>
              </a:rPr>
              <a:t> scored over the entire 2025 season. We can see that based on points, Lando Norris won the Drivers Championship, and from the other’s points we can figure out the standing order of the drivers by the end of the season. </a:t>
            </a:r>
            <a:endParaRPr sz="2200">
              <a:latin typeface="Comfortaa"/>
              <a:ea typeface="Comfortaa"/>
              <a:cs typeface="Comfortaa"/>
              <a:sym typeface="Comfortaa"/>
            </a:endParaRPr>
          </a:p>
          <a:p>
            <a:pPr indent="0" lvl="0" marL="0" rtl="0" algn="l">
              <a:spcBef>
                <a:spcPts val="1200"/>
              </a:spcBef>
              <a:spcAft>
                <a:spcPts val="1200"/>
              </a:spcAft>
              <a:buNone/>
            </a:pPr>
            <a:r>
              <a:rPr lang="en" sz="2200">
                <a:latin typeface="Comfortaa"/>
                <a:ea typeface="Comfortaa"/>
                <a:cs typeface="Comfortaa"/>
                <a:sym typeface="Comfortaa"/>
              </a:rPr>
              <a:t>Comparing this with the overall team average points shows how many points each driver contributed to the team as well. </a:t>
            </a:r>
            <a:endParaRPr sz="2200">
              <a:latin typeface="Comfortaa"/>
              <a:ea typeface="Comfortaa"/>
              <a:cs typeface="Comfortaa"/>
              <a:sym typeface="Comfortaa"/>
            </a:endParaRPr>
          </a:p>
        </p:txBody>
      </p:sp>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pic>
        <p:nvPicPr>
          <p:cNvPr id="110" name="Google Shape;110;p21" title="Untitled design (1).png"/>
          <p:cNvPicPr preferRelativeResize="0"/>
          <p:nvPr/>
        </p:nvPicPr>
        <p:blipFill>
          <a:blip r:embed="rId3">
            <a:alphaModFix/>
          </a:blip>
          <a:stretch>
            <a:fillRect/>
          </a:stretch>
        </p:blipFill>
        <p:spPr>
          <a:xfrm>
            <a:off x="4459326" y="190875"/>
            <a:ext cx="4372975" cy="44737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940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Comfortaa"/>
                <a:ea typeface="Comfortaa"/>
                <a:cs typeface="Comfortaa"/>
                <a:sym typeface="Comfortaa"/>
              </a:rPr>
              <a:t>Top 3 Championship Driver’s Starting vs. Finishing Positions</a:t>
            </a:r>
            <a:endParaRPr b="1">
              <a:latin typeface="Comfortaa"/>
              <a:ea typeface="Comfortaa"/>
              <a:cs typeface="Comfortaa"/>
              <a:sym typeface="Comfortaa"/>
            </a:endParaRPr>
          </a:p>
        </p:txBody>
      </p:sp>
      <p:pic>
        <p:nvPicPr>
          <p:cNvPr id="116" name="Google Shape;116;p22"/>
          <p:cNvPicPr preferRelativeResize="0"/>
          <p:nvPr/>
        </p:nvPicPr>
        <p:blipFill>
          <a:blip r:embed="rId3">
            <a:alphaModFix/>
          </a:blip>
          <a:stretch>
            <a:fillRect/>
          </a:stretch>
        </p:blipFill>
        <p:spPr>
          <a:xfrm>
            <a:off x="3032050" y="1098300"/>
            <a:ext cx="3079876" cy="2707675"/>
          </a:xfrm>
          <a:prstGeom prst="rect">
            <a:avLst/>
          </a:prstGeom>
          <a:noFill/>
          <a:ln>
            <a:noFill/>
          </a:ln>
        </p:spPr>
      </p:pic>
      <p:pic>
        <p:nvPicPr>
          <p:cNvPr id="117" name="Google Shape;117;p22"/>
          <p:cNvPicPr preferRelativeResize="0"/>
          <p:nvPr/>
        </p:nvPicPr>
        <p:blipFill>
          <a:blip r:embed="rId4">
            <a:alphaModFix/>
          </a:blip>
          <a:stretch>
            <a:fillRect/>
          </a:stretch>
        </p:blipFill>
        <p:spPr>
          <a:xfrm>
            <a:off x="6231075" y="2235800"/>
            <a:ext cx="2727262" cy="2633679"/>
          </a:xfrm>
          <a:prstGeom prst="rect">
            <a:avLst/>
          </a:prstGeom>
          <a:noFill/>
          <a:ln>
            <a:noFill/>
          </a:ln>
        </p:spPr>
      </p:pic>
      <p:pic>
        <p:nvPicPr>
          <p:cNvPr id="118" name="Google Shape;118;p22"/>
          <p:cNvPicPr preferRelativeResize="0"/>
          <p:nvPr/>
        </p:nvPicPr>
        <p:blipFill>
          <a:blip r:embed="rId5">
            <a:alphaModFix/>
          </a:blip>
          <a:stretch>
            <a:fillRect/>
          </a:stretch>
        </p:blipFill>
        <p:spPr>
          <a:xfrm>
            <a:off x="185650" y="2306725"/>
            <a:ext cx="2727250" cy="2562749"/>
          </a:xfrm>
          <a:prstGeom prst="rect">
            <a:avLst/>
          </a:prstGeom>
          <a:noFill/>
          <a:ln>
            <a:noFill/>
          </a:ln>
        </p:spPr>
      </p:pic>
      <p:sp>
        <p:nvSpPr>
          <p:cNvPr id="119" name="Google Shape;119;p22"/>
          <p:cNvSpPr txBox="1"/>
          <p:nvPr>
            <p:ph idx="1" type="body"/>
          </p:nvPr>
        </p:nvSpPr>
        <p:spPr>
          <a:xfrm>
            <a:off x="344775" y="1734025"/>
            <a:ext cx="2409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Comfortaa"/>
                <a:ea typeface="Comfortaa"/>
                <a:cs typeface="Comfortaa"/>
                <a:sym typeface="Comfortaa"/>
              </a:rPr>
              <a:t>Lando Norris - 1st</a:t>
            </a:r>
            <a:endParaRPr>
              <a:latin typeface="Comfortaa"/>
              <a:ea typeface="Comfortaa"/>
              <a:cs typeface="Comfortaa"/>
              <a:sym typeface="Comfortaa"/>
            </a:endParaRPr>
          </a:p>
        </p:txBody>
      </p:sp>
      <p:sp>
        <p:nvSpPr>
          <p:cNvPr id="120" name="Google Shape;120;p22"/>
          <p:cNvSpPr txBox="1"/>
          <p:nvPr>
            <p:ph idx="1" type="body"/>
          </p:nvPr>
        </p:nvSpPr>
        <p:spPr>
          <a:xfrm>
            <a:off x="3498450" y="3805975"/>
            <a:ext cx="2409000" cy="5727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None/>
            </a:pPr>
            <a:r>
              <a:rPr lang="en">
                <a:latin typeface="Comfortaa"/>
                <a:ea typeface="Comfortaa"/>
                <a:cs typeface="Comfortaa"/>
                <a:sym typeface="Comfortaa"/>
              </a:rPr>
              <a:t>Max Verstappen</a:t>
            </a:r>
            <a:r>
              <a:rPr lang="en">
                <a:latin typeface="Comfortaa"/>
                <a:ea typeface="Comfortaa"/>
                <a:cs typeface="Comfortaa"/>
                <a:sym typeface="Comfortaa"/>
              </a:rPr>
              <a:t> - 2nd</a:t>
            </a:r>
            <a:endParaRPr>
              <a:latin typeface="Comfortaa"/>
              <a:ea typeface="Comfortaa"/>
              <a:cs typeface="Comfortaa"/>
              <a:sym typeface="Comfortaa"/>
            </a:endParaRPr>
          </a:p>
        </p:txBody>
      </p:sp>
      <p:sp>
        <p:nvSpPr>
          <p:cNvPr id="121" name="Google Shape;121;p22"/>
          <p:cNvSpPr txBox="1"/>
          <p:nvPr>
            <p:ph idx="1" type="body"/>
          </p:nvPr>
        </p:nvSpPr>
        <p:spPr>
          <a:xfrm>
            <a:off x="6423300" y="1663100"/>
            <a:ext cx="2409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Comfortaa"/>
                <a:ea typeface="Comfortaa"/>
                <a:cs typeface="Comfortaa"/>
                <a:sym typeface="Comfortaa"/>
              </a:rPr>
              <a:t>Oscar Piastri</a:t>
            </a:r>
            <a:r>
              <a:rPr lang="en">
                <a:latin typeface="Comfortaa"/>
                <a:ea typeface="Comfortaa"/>
                <a:cs typeface="Comfortaa"/>
                <a:sym typeface="Comfortaa"/>
              </a:rPr>
              <a:t> - 3rd</a:t>
            </a:r>
            <a:endParaRPr>
              <a:latin typeface="Comfortaa"/>
              <a:ea typeface="Comfortaa"/>
              <a:cs typeface="Comfortaa"/>
              <a:sym typeface="Comfortaa"/>
            </a:endParaRPr>
          </a:p>
        </p:txBody>
      </p:sp>
      <p:sp>
        <p:nvSpPr>
          <p:cNvPr id="122" name="Google Shape;122;p22"/>
          <p:cNvSpPr txBox="1"/>
          <p:nvPr>
            <p:ph idx="1" type="body"/>
          </p:nvPr>
        </p:nvSpPr>
        <p:spPr>
          <a:xfrm>
            <a:off x="3643675" y="4716025"/>
            <a:ext cx="2409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SzPts val="853"/>
              <a:buNone/>
            </a:pPr>
            <a:r>
              <a:rPr lang="en" sz="1095">
                <a:latin typeface="Comfortaa"/>
                <a:ea typeface="Comfortaa"/>
                <a:cs typeface="Comfortaa"/>
                <a:sym typeface="Comfortaa"/>
              </a:rPr>
              <a:t>(analysis on next slide)</a:t>
            </a:r>
            <a:endParaRPr sz="1095">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26" name="Shape 126"/>
        <p:cNvGrpSpPr/>
        <p:nvPr/>
      </p:nvGrpSpPr>
      <p:grpSpPr>
        <a:xfrm>
          <a:off x="0" y="0"/>
          <a:ext cx="0" cy="0"/>
          <a:chOff x="0" y="0"/>
          <a:chExt cx="0" cy="0"/>
        </a:xfrm>
      </p:grpSpPr>
      <p:sp>
        <p:nvSpPr>
          <p:cNvPr id="127" name="Google Shape;127;p23"/>
          <p:cNvSpPr txBox="1"/>
          <p:nvPr>
            <p:ph idx="1" type="body"/>
          </p:nvPr>
        </p:nvSpPr>
        <p:spPr>
          <a:xfrm>
            <a:off x="311700" y="1152475"/>
            <a:ext cx="8520600" cy="382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sz="2200">
                <a:latin typeface="Comfortaa"/>
                <a:ea typeface="Comfortaa"/>
                <a:cs typeface="Comfortaa"/>
                <a:sym typeface="Comfortaa"/>
              </a:rPr>
              <a:t>The scatter plots above show each of the top 3 drivers starting position compared to there finishing position for each race of the season. </a:t>
            </a:r>
            <a:endParaRPr sz="2200">
              <a:latin typeface="Comfortaa"/>
              <a:ea typeface="Comfortaa"/>
              <a:cs typeface="Comfortaa"/>
              <a:sym typeface="Comfortaa"/>
            </a:endParaRPr>
          </a:p>
          <a:p>
            <a:pPr indent="0" lvl="0" marL="0" rtl="0" algn="l">
              <a:spcBef>
                <a:spcPts val="1200"/>
              </a:spcBef>
              <a:spcAft>
                <a:spcPts val="0"/>
              </a:spcAft>
              <a:buNone/>
            </a:pPr>
            <a:r>
              <a:rPr lang="en" sz="2200">
                <a:latin typeface="Comfortaa"/>
                <a:ea typeface="Comfortaa"/>
                <a:cs typeface="Comfortaa"/>
                <a:sym typeface="Comfortaa"/>
              </a:rPr>
              <a:t>For Lando, we can see that, besides the </a:t>
            </a:r>
            <a:r>
              <a:rPr lang="en" sz="2200">
                <a:latin typeface="Comfortaa"/>
                <a:ea typeface="Comfortaa"/>
                <a:cs typeface="Comfortaa"/>
                <a:sym typeface="Comfortaa"/>
              </a:rPr>
              <a:t>disqualification</a:t>
            </a:r>
            <a:r>
              <a:rPr lang="en" sz="2200">
                <a:latin typeface="Comfortaa"/>
                <a:ea typeface="Comfortaa"/>
                <a:cs typeface="Comfortaa"/>
                <a:sym typeface="Comfortaa"/>
              </a:rPr>
              <a:t> at the end, he generally always started and finished within the top 10.</a:t>
            </a:r>
            <a:endParaRPr sz="2200">
              <a:latin typeface="Comfortaa"/>
              <a:ea typeface="Comfortaa"/>
              <a:cs typeface="Comfortaa"/>
              <a:sym typeface="Comfortaa"/>
            </a:endParaRPr>
          </a:p>
          <a:p>
            <a:pPr indent="0" lvl="0" marL="0" rtl="0" algn="l">
              <a:spcBef>
                <a:spcPts val="1200"/>
              </a:spcBef>
              <a:spcAft>
                <a:spcPts val="0"/>
              </a:spcAft>
              <a:buNone/>
            </a:pPr>
            <a:r>
              <a:rPr lang="en" sz="2200">
                <a:latin typeface="Comfortaa"/>
                <a:ea typeface="Comfortaa"/>
                <a:cs typeface="Comfortaa"/>
                <a:sym typeface="Comfortaa"/>
              </a:rPr>
              <a:t>For Max, we see that he started many races further back, but still ended up finishing further up within the points.</a:t>
            </a:r>
            <a:endParaRPr sz="2200">
              <a:latin typeface="Comfortaa"/>
              <a:ea typeface="Comfortaa"/>
              <a:cs typeface="Comfortaa"/>
              <a:sym typeface="Comfortaa"/>
            </a:endParaRPr>
          </a:p>
          <a:p>
            <a:pPr indent="0" lvl="0" marL="0" rtl="0" algn="l">
              <a:spcBef>
                <a:spcPts val="1200"/>
              </a:spcBef>
              <a:spcAft>
                <a:spcPts val="1200"/>
              </a:spcAft>
              <a:buNone/>
            </a:pPr>
            <a:r>
              <a:rPr lang="en" sz="2200">
                <a:latin typeface="Comfortaa"/>
                <a:ea typeface="Comfortaa"/>
                <a:cs typeface="Comfortaa"/>
                <a:sym typeface="Comfortaa"/>
              </a:rPr>
              <a:t>For Oscar, we see more diversity in starting vs. finishing positions. However, he is mostly always seen finishing in the top 10 as well.  </a:t>
            </a:r>
            <a:endParaRPr sz="2200">
              <a:latin typeface="Comfortaa"/>
              <a:ea typeface="Comfortaa"/>
              <a:cs typeface="Comfortaa"/>
              <a:sym typeface="Comfortaa"/>
            </a:endParaRPr>
          </a:p>
        </p:txBody>
      </p:sp>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fortaa"/>
                <a:ea typeface="Comfortaa"/>
                <a:cs typeface="Comfortaa"/>
                <a:sym typeface="Comfortaa"/>
              </a:rPr>
              <a:t>Analysis</a:t>
            </a:r>
            <a:endParaRPr b="1">
              <a:latin typeface="Comfortaa"/>
              <a:ea typeface="Comfortaa"/>
              <a:cs typeface="Comfortaa"/>
              <a:sym typeface="Comforta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9D9"/>
        </a:solidFill>
      </p:bgPr>
    </p:bg>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2927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Comfortaa"/>
                <a:ea typeface="Comfortaa"/>
                <a:cs typeface="Comfortaa"/>
                <a:sym typeface="Comfortaa"/>
              </a:rPr>
              <a:t>Storyboard</a:t>
            </a:r>
            <a:endParaRPr b="1">
              <a:latin typeface="Comfortaa"/>
              <a:ea typeface="Comfortaa"/>
              <a:cs typeface="Comfortaa"/>
              <a:sym typeface="Comfortaa"/>
            </a:endParaRPr>
          </a:p>
        </p:txBody>
      </p:sp>
      <p:pic>
        <p:nvPicPr>
          <p:cNvPr id="134" name="Google Shape;134;p24"/>
          <p:cNvPicPr preferRelativeResize="0"/>
          <p:nvPr/>
        </p:nvPicPr>
        <p:blipFill>
          <a:blip r:embed="rId3">
            <a:alphaModFix/>
          </a:blip>
          <a:stretch>
            <a:fillRect/>
          </a:stretch>
        </p:blipFill>
        <p:spPr>
          <a:xfrm>
            <a:off x="1098450" y="1017725"/>
            <a:ext cx="7422872" cy="382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