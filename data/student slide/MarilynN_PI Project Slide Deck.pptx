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5.xml"/>
  <Override ContentType="application/vnd.openxmlformats-officedocument.presentationml.comments+xml" PartName="/ppt/comments/comment6.xml"/>
  <Override ContentType="application/vnd.openxmlformats-officedocument.presentationml.comments+xml" PartName="/ppt/comments/comment4.xml"/>
  <Override ContentType="application/vnd.openxmlformats-officedocument.presentationml.comments+xml" PartName="/ppt/comments/comment3.xml"/>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y="5143500" cx="9144000"/>
  <p:notesSz cx="6858000" cy="9144000"/>
  <p:embeddedFontLst>
    <p:embeddedFont>
      <p:font typeface="Proxima Nova"/>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9" name="Karen Chen"/>
  <p:cmAuthor clrIdx="1" id="1" initials="" lastIdx="2" name="Marilyn Nguyen"/>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C17D325-F3F8-4A5D-899C-0136587698C7}">
  <a:tblStyle styleId="{AC17D325-F3F8-4A5D-899C-0136587698C7}"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roximaNova-bold.fntdata"/><Relationship Id="rId20" Type="http://schemas.openxmlformats.org/officeDocument/2006/relationships/slide" Target="slides/slide13.xml"/><Relationship Id="rId42" Type="http://schemas.openxmlformats.org/officeDocument/2006/relationships/font" Target="fonts/ProximaNova-boldItalic.fntdata"/><Relationship Id="rId41" Type="http://schemas.openxmlformats.org/officeDocument/2006/relationships/font" Target="fonts/ProximaNova-italic.fntdata"/><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commentAuthors" Target="commentAuthors.xml"/><Relationship Id="rId6" Type="http://schemas.openxmlformats.org/officeDocument/2006/relationships/slideMaster" Target="slideMasters/slideMaster1.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slide" Target="slides/slide28.xml"/><Relationship Id="rId12" Type="http://schemas.openxmlformats.org/officeDocument/2006/relationships/slide" Target="slides/slide5.xml"/><Relationship Id="rId34" Type="http://schemas.openxmlformats.org/officeDocument/2006/relationships/slide" Target="slides/slide27.xml"/><Relationship Id="rId15" Type="http://schemas.openxmlformats.org/officeDocument/2006/relationships/slide" Target="slides/slide8.xml"/><Relationship Id="rId37" Type="http://schemas.openxmlformats.org/officeDocument/2006/relationships/slide" Target="slides/slide30.xml"/><Relationship Id="rId14" Type="http://schemas.openxmlformats.org/officeDocument/2006/relationships/slide" Target="slides/slide7.xml"/><Relationship Id="rId36" Type="http://schemas.openxmlformats.org/officeDocument/2006/relationships/slide" Target="slides/slide29.xml"/><Relationship Id="rId17" Type="http://schemas.openxmlformats.org/officeDocument/2006/relationships/slide" Target="slides/slide10.xml"/><Relationship Id="rId39" Type="http://schemas.openxmlformats.org/officeDocument/2006/relationships/font" Target="fonts/ProximaNova-regular.fntdata"/><Relationship Id="rId16" Type="http://schemas.openxmlformats.org/officeDocument/2006/relationships/slide" Target="slides/slide9.xml"/><Relationship Id="rId38" Type="http://schemas.openxmlformats.org/officeDocument/2006/relationships/slide" Target="slides/slide31.xml"/><Relationship Id="rId19" Type="http://schemas.openxmlformats.org/officeDocument/2006/relationships/slide" Target="slides/slide12.xml"/><Relationship Id="rId18" Type="http://schemas.openxmlformats.org/officeDocument/2006/relationships/slide" Target="slides/slide1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4-15T03:32:28.750">
    <p:pos x="163" y="682"/>
    <p:text>@mnguye17@umbc.edu data analyst are usually not the audience, they are the ones to produce analysis to audience. The first two types are reasonable audience</p:text>
  </p:cm>
  <p:cm authorId="0" idx="2" dt="2026-04-15T03:32:28.750">
    <p:pos x="163" y="682"/>
    <p:text>okay</p:text>
  </p:cm>
  <p:cm authorId="0" idx="3" dt="2026-04-08T04:30:11.533">
    <p:pos x="3156" y="601"/>
    <p:text>this is mostly your analysis goal, i..e how to do the analysis to achieve the communication goal. To derive authentic communication goal, you need think from your audience's perspective. If you is a anime fans, it is probably easy for you to figure out, otherwise, you could do some informal interview with anime player to understand their needs. Think of you are designing a communication product for your customer (audience)</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4" dt="2026-04-21T05:04:53.573">
    <p:pos x="2926" y="729"/>
    <p:text>@mnguye17@umbc.edu wow, this looks like a blob of data, I would try make it more readable. For example, by binning one of the variable and plot the mean of another variable. Alternatively, you could also explore 2-D density plot, and check models for non-linear relationship like LOWESS
@mnguye17@umbc.edu nice!</p:text>
  </p:cm>
  <p:cm authorId="0" idx="5" dt="2026-04-21T05:12:13.748">
    <p:pos x="132" y="729"/>
    <p:text>along this line, I am wondering if it makes sense to look at the variation of score for given popularity bins</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6" dt="2026-04-21T17:56:41.406">
    <p:pos x="196" y="725"/>
    <p:text>is there a reason to bin into those three categories? if your data is large, it doesn't hurt to use smaller-sized bins</p:text>
  </p:cm>
  <p:cm authorId="1" idx="1" dt="2026-04-21T17:56:41.406">
    <p:pos x="196" y="725"/>
    <p:text>Those bin sizes and 3 categories are intentional. They reflect the most common anime production patterns where many series are 12 episodes long while the longer ones are 50+ episodes. The middle bin captures everything in between. Those are the typical series lengths commonly seen in anime.</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7" dt="2026-04-21T05:09:39.028">
    <p:pos x="196" y="836"/>
    <p:text>your quest to find what influences anime rating does not seem to show promise yet, but you are on the right track to answer a pretty interesting question. You can expand the model to include multiple factors</p:text>
  </p:cm>
</p:cmLst>
</file>

<file path=ppt/comments/comment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8" dt="2026-05-05T02:55:09.155">
    <p:pos x="3732" y="621"/>
    <p:text>@mnguye17@umbc.edu consider sorting the bar, also since your focus is anime and original, you could highlight/focus those two bars. Simply put overlays on top of the figure, no need to draw it from the code</p:text>
  </p:cm>
  <p:cm authorId="1" idx="2" dt="2026-05-05T02:55:09.155">
    <p:pos x="3732" y="621"/>
    <p:text>Hello Dr. Chen, I believe the source is simply saying what the different anime were inspired by. For example, one of the anime "Demon Slayer" was created based on the Manga source.</p:text>
  </p:cm>
</p:cmLst>
</file>

<file path=ppt/comments/comment6.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9" dt="2026-04-28T23:31:35.989">
    <p:pos x="139" y="62"/>
    <p:text>consistently often mean they their rating are high and with low variance, consider more relevant metrics in this regard</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d474804527_0_2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d474804527_0_2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d474804527_0_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d474804527_0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d474804527_0_2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d474804527_0_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d474804527_0_1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d474804527_0_1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d474804527_0_1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d474804527_0_1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d474804527_0_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d474804527_0_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d474804527_0_2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d474804527_0_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8b3c6437e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8b3c6437e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8b3c6437ec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8b3c6437ec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8b3c6437ec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8b3c6437ec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8b3c6437ec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8b3c6437ec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8b3c6437ec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8b3c6437ec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d67da9cbcc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d67da9cbcc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d67da9cbcc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d67da9cbcc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d67da9cbcc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d67da9cbcc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d67da9cbcc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d67da9cbcc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d67da9cbcc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d67da9cbcc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d8602ba27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d8602ba27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d8602ba27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d8602ba27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d8602ba274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d8602ba27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d8602ba274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d8602ba274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d8602ba274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d8602ba274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d9e2752cd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d9e2752cd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d9e2752cd9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d9e2752cd9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d9e2752cd9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d9e2752cd9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d9e2752cd9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3d9e2752cd9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dc2fc6490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dc2fc6490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dc2fc6490d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dc2fc6490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dc2fc6490d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dc2fc6490d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dc2fc6490d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3dc2fc6490d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1" name="Google Shape;11;p2"/>
          <p:cNvSpPr txBox="1"/>
          <p:nvPr>
            <p:ph type="ctrTitle"/>
          </p:nvPr>
        </p:nvSpPr>
        <p:spPr>
          <a:xfrm>
            <a:off x="510450" y="1257300"/>
            <a:ext cx="8123100" cy="15885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12" name="Google Shape;12;p2"/>
          <p:cNvSpPr txBox="1"/>
          <p:nvPr>
            <p:ph idx="1" type="subTitle"/>
          </p:nvPr>
        </p:nvSpPr>
        <p:spPr>
          <a:xfrm>
            <a:off x="510450" y="3182313"/>
            <a:ext cx="8123100" cy="630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400"/>
              <a:buNone/>
              <a:defRPr sz="2400">
                <a:solidFill>
                  <a:schemeClr val="lt1"/>
                </a:solidFill>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cxnSp>
        <p:nvCxnSpPr>
          <p:cNvPr id="15" name="Google Shape;15;p3"/>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6" name="Google Shape;16;p3"/>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7" name="Google Shape;17;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 name="Google Shape;21;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 name="Google Shape;22;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 name="Google Shape;25;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 name="Google Shape;30;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 name="Google Shape;33;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5" name="Shape 35"/>
        <p:cNvGrpSpPr/>
        <p:nvPr/>
      </p:nvGrpSpPr>
      <p:grpSpPr>
        <a:xfrm>
          <a:off x="0" y="0"/>
          <a:ext cx="0" cy="0"/>
          <a:chOff x="0" y="0"/>
          <a:chExt cx="0" cy="0"/>
        </a:xfrm>
      </p:grpSpPr>
      <p:sp>
        <p:nvSpPr>
          <p:cNvPr id="36" name="Google Shape;36;p8"/>
          <p:cNvSpPr txBox="1"/>
          <p:nvPr>
            <p:ph type="title"/>
          </p:nvPr>
        </p:nvSpPr>
        <p:spPr>
          <a:xfrm>
            <a:off x="490250" y="526350"/>
            <a:ext cx="57975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7" name="Google Shape;37;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9"/>
          <p:cNvSpPr/>
          <p:nvPr/>
        </p:nvSpPr>
        <p:spPr>
          <a:xfrm>
            <a:off x="4572000" y="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 name="Google Shape;40;p9"/>
          <p:cNvCxnSpPr/>
          <p:nvPr/>
        </p:nvCxnSpPr>
        <p:spPr>
          <a:xfrm>
            <a:off x="5029675" y="4495500"/>
            <a:ext cx="468300" cy="0"/>
          </a:xfrm>
          <a:prstGeom prst="straightConnector1">
            <a:avLst/>
          </a:prstGeom>
          <a:noFill/>
          <a:ln cap="flat" cmpd="sng" w="19050">
            <a:solidFill>
              <a:schemeClr val="lt2"/>
            </a:solidFill>
            <a:prstDash val="solid"/>
            <a:round/>
            <a:headEnd len="sm" w="sm" type="none"/>
            <a:tailEnd len="sm" w="sm" type="none"/>
          </a:ln>
        </p:spPr>
      </p:cxnSp>
      <p:sp>
        <p:nvSpPr>
          <p:cNvPr id="41" name="Google Shape;41;p9"/>
          <p:cNvSpPr txBox="1"/>
          <p:nvPr>
            <p:ph type="title"/>
          </p:nvPr>
        </p:nvSpPr>
        <p:spPr>
          <a:xfrm>
            <a:off x="265500" y="1205825"/>
            <a:ext cx="4045200" cy="1509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4" name="Google Shape;44;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1700" y="42368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None/>
              <a:defRPr sz="2100"/>
            </a:lvl1pPr>
          </a:lstStyle>
          <a:p/>
        </p:txBody>
      </p:sp>
      <p:sp>
        <p:nvSpPr>
          <p:cNvPr id="47" name="Google Shape;47;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11"/>
          <p:cNvSpPr txBox="1"/>
          <p:nvPr>
            <p:ph hasCustomPrompt="1" type="title"/>
          </p:nvPr>
        </p:nvSpPr>
        <p:spPr>
          <a:xfrm>
            <a:off x="311700" y="991475"/>
            <a:ext cx="8520600" cy="19179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071300"/>
            <a:ext cx="8520600" cy="901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pearmint">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1pPr>
            <a:lvl2pPr lvl="1">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2pPr>
            <a:lvl3pPr lvl="2">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3pPr>
            <a:lvl4pPr lvl="3">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4pPr>
            <a:lvl5pPr lvl="4">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5pPr>
            <a:lvl6pPr lvl="5">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6pPr>
            <a:lvl7pPr lvl="6">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7pPr>
            <a:lvl8pPr lvl="7">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8pPr>
            <a:lvl9pPr lvl="8">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Proxima Nova"/>
              <a:buChar char="●"/>
              <a:defRPr sz="1800">
                <a:solidFill>
                  <a:schemeClr val="accent3"/>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Proxima Nova"/>
                <a:ea typeface="Proxima Nova"/>
                <a:cs typeface="Proxima Nova"/>
                <a:sym typeface="Proxima Nova"/>
              </a:defRPr>
            </a:lvl1pPr>
            <a:lvl2pPr lvl="1" algn="r">
              <a:buNone/>
              <a:defRPr sz="1000">
                <a:solidFill>
                  <a:schemeClr val="dk1"/>
                </a:solidFill>
                <a:latin typeface="Proxima Nova"/>
                <a:ea typeface="Proxima Nova"/>
                <a:cs typeface="Proxima Nova"/>
                <a:sym typeface="Proxima Nova"/>
              </a:defRPr>
            </a:lvl2pPr>
            <a:lvl3pPr lvl="2" algn="r">
              <a:buNone/>
              <a:defRPr sz="1000">
                <a:solidFill>
                  <a:schemeClr val="dk1"/>
                </a:solidFill>
                <a:latin typeface="Proxima Nova"/>
                <a:ea typeface="Proxima Nova"/>
                <a:cs typeface="Proxima Nova"/>
                <a:sym typeface="Proxima Nova"/>
              </a:defRPr>
            </a:lvl3pPr>
            <a:lvl4pPr lvl="3" algn="r">
              <a:buNone/>
              <a:defRPr sz="1000">
                <a:solidFill>
                  <a:schemeClr val="dk1"/>
                </a:solidFill>
                <a:latin typeface="Proxima Nova"/>
                <a:ea typeface="Proxima Nova"/>
                <a:cs typeface="Proxima Nova"/>
                <a:sym typeface="Proxima Nova"/>
              </a:defRPr>
            </a:lvl4pPr>
            <a:lvl5pPr lvl="4" algn="r">
              <a:buNone/>
              <a:defRPr sz="1000">
                <a:solidFill>
                  <a:schemeClr val="dk1"/>
                </a:solidFill>
                <a:latin typeface="Proxima Nova"/>
                <a:ea typeface="Proxima Nova"/>
                <a:cs typeface="Proxima Nova"/>
                <a:sym typeface="Proxima Nova"/>
              </a:defRPr>
            </a:lvl5pPr>
            <a:lvl6pPr lvl="5" algn="r">
              <a:buNone/>
              <a:defRPr sz="1000">
                <a:solidFill>
                  <a:schemeClr val="dk1"/>
                </a:solidFill>
                <a:latin typeface="Proxima Nova"/>
                <a:ea typeface="Proxima Nova"/>
                <a:cs typeface="Proxima Nova"/>
                <a:sym typeface="Proxima Nova"/>
              </a:defRPr>
            </a:lvl6pPr>
            <a:lvl7pPr lvl="6" algn="r">
              <a:buNone/>
              <a:defRPr sz="1000">
                <a:solidFill>
                  <a:schemeClr val="dk1"/>
                </a:solidFill>
                <a:latin typeface="Proxima Nova"/>
                <a:ea typeface="Proxima Nova"/>
                <a:cs typeface="Proxima Nova"/>
                <a:sym typeface="Proxima Nova"/>
              </a:defRPr>
            </a:lvl7pPr>
            <a:lvl8pPr lvl="7" algn="r">
              <a:buNone/>
              <a:defRPr sz="1000">
                <a:solidFill>
                  <a:schemeClr val="dk1"/>
                </a:solidFill>
                <a:latin typeface="Proxima Nova"/>
                <a:ea typeface="Proxima Nova"/>
                <a:cs typeface="Proxima Nova"/>
                <a:sym typeface="Proxima Nova"/>
              </a:defRPr>
            </a:lvl8pPr>
            <a:lvl9pPr lvl="8" algn="r">
              <a:buNone/>
              <a:defRPr sz="1000">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comments" Target="../comments/commen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5.png"/><Relationship Id="rId4" Type="http://schemas.openxmlformats.org/officeDocument/2006/relationships/image" Target="../media/image9.png"/><Relationship Id="rId5" Type="http://schemas.openxmlformats.org/officeDocument/2006/relationships/image" Target="../media/image4.png"/><Relationship Id="rId6"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comments" Target="../comments/comment2.xml"/><Relationship Id="rId4" Type="http://schemas.openxmlformats.org/officeDocument/2006/relationships/image" Target="../media/image19.png"/><Relationship Id="rId5"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5.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comments" Target="../comments/comment3.xml"/><Relationship Id="rId4" Type="http://schemas.openxmlformats.org/officeDocument/2006/relationships/image" Target="../media/image2.png"/><Relationship Id="rId5"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comments" Target="../comments/comment4.xml"/><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comments" Target="../comments/comment5.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comments" Target="../comments/comment6.xml"/><Relationship Id="rId4" Type="http://schemas.openxmlformats.org/officeDocument/2006/relationships/image" Target="../media/image20.png"/><Relationship Id="rId5"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4.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2.png"/><Relationship Id="rId4" Type="http://schemas.openxmlformats.org/officeDocument/2006/relationships/image" Target="../media/image2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8" name="Shape 58"/>
        <p:cNvGrpSpPr/>
        <p:nvPr/>
      </p:nvGrpSpPr>
      <p:grpSpPr>
        <a:xfrm>
          <a:off x="0" y="0"/>
          <a:ext cx="0" cy="0"/>
          <a:chOff x="0" y="0"/>
          <a:chExt cx="0" cy="0"/>
        </a:xfrm>
      </p:grpSpPr>
      <p:sp>
        <p:nvSpPr>
          <p:cNvPr id="59" name="Google Shape;59;p13"/>
          <p:cNvSpPr/>
          <p:nvPr/>
        </p:nvSpPr>
        <p:spPr>
          <a:xfrm>
            <a:off x="7650" y="15300"/>
            <a:ext cx="9144000" cy="5143500"/>
          </a:xfrm>
          <a:prstGeom prst="rect">
            <a:avLst/>
          </a:prstGeom>
          <a:solidFill>
            <a:srgbClr val="424242">
              <a:alpha val="6962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60" name="Google Shape;60;p13"/>
          <p:cNvSpPr txBox="1"/>
          <p:nvPr>
            <p:ph type="ctrTitle"/>
          </p:nvPr>
        </p:nvSpPr>
        <p:spPr>
          <a:xfrm>
            <a:off x="510450" y="1257300"/>
            <a:ext cx="8123100" cy="1588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a:t>Anime – PI Project</a:t>
            </a:r>
            <a:endParaRPr b="1"/>
          </a:p>
        </p:txBody>
      </p:sp>
      <p:sp>
        <p:nvSpPr>
          <p:cNvPr id="61" name="Google Shape;61;p13"/>
          <p:cNvSpPr txBox="1"/>
          <p:nvPr>
            <p:ph idx="1" type="subTitle"/>
          </p:nvPr>
        </p:nvSpPr>
        <p:spPr>
          <a:xfrm>
            <a:off x="510450" y="3182313"/>
            <a:ext cx="8123100" cy="630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Marilyn Nguyen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Introduction</a:t>
            </a:r>
            <a:endParaRPr b="1"/>
          </a:p>
        </p:txBody>
      </p:sp>
      <p:sp>
        <p:nvSpPr>
          <p:cNvPr id="67" name="Google Shape;67;p14"/>
          <p:cNvSpPr txBox="1"/>
          <p:nvPr>
            <p:ph idx="1" type="body"/>
          </p:nvPr>
        </p:nvSpPr>
        <p:spPr>
          <a:xfrm>
            <a:off x="1303800" y="1239950"/>
            <a:ext cx="4926600" cy="35286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n"/>
              <a:t>Anime has grown rapidly in global popularity over the past few years, reaching audiences far beyond Japan and competing with mainstream entertainment worldwide. Major titles like </a:t>
            </a:r>
            <a:r>
              <a:rPr i="1" lang="en"/>
              <a:t>Demon Slayer: Kimetsu no Yaiba</a:t>
            </a:r>
            <a:r>
              <a:rPr lang="en"/>
              <a:t> and </a:t>
            </a:r>
            <a:r>
              <a:rPr i="1" lang="en"/>
              <a:t>Chainsaw Man</a:t>
            </a:r>
            <a:r>
              <a:rPr lang="en"/>
              <a:t> have gained massive followings, and in some cases, rivaled or even outperformed popular American films at the box office and on streaming platforms. As anime continues to expand in influence, it raises interesting questions about what makes certain shows more successful, popular, or highly rated than others.</a:t>
            </a:r>
            <a:endParaRPr/>
          </a:p>
          <a:p>
            <a:pPr indent="0" lvl="0" marL="0" rtl="0" algn="l">
              <a:spcBef>
                <a:spcPts val="1200"/>
              </a:spcBef>
              <a:spcAft>
                <a:spcPts val="1200"/>
              </a:spcAft>
              <a:buNone/>
            </a:pPr>
            <a:r>
              <a:rPr lang="en"/>
              <a:t>To explore what makes some anime popular or highly rated, I analyzed a dataset of over 15,000 anime. The data was pulled from the Jikan API v4 endpoint/top/anime and includes info like scores, genres, episode counts, and audience engagement.</a:t>
            </a:r>
            <a:endParaRPr/>
          </a:p>
        </p:txBody>
      </p:sp>
      <p:pic>
        <p:nvPicPr>
          <p:cNvPr id="68" name="Google Shape;68;p14"/>
          <p:cNvPicPr preferRelativeResize="0"/>
          <p:nvPr/>
        </p:nvPicPr>
        <p:blipFill>
          <a:blip r:embed="rId3">
            <a:alphaModFix/>
          </a:blip>
          <a:stretch>
            <a:fillRect/>
          </a:stretch>
        </p:blipFill>
        <p:spPr>
          <a:xfrm>
            <a:off x="6695306" y="0"/>
            <a:ext cx="2448688" cy="51435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2" name="Shape 72"/>
        <p:cNvGrpSpPr/>
        <p:nvPr/>
      </p:nvGrpSpPr>
      <p:grpSpPr>
        <a:xfrm>
          <a:off x="0" y="0"/>
          <a:ext cx="0" cy="0"/>
          <a:chOff x="0" y="0"/>
          <a:chExt cx="0" cy="0"/>
        </a:xfrm>
      </p:grpSpPr>
      <p:sp>
        <p:nvSpPr>
          <p:cNvPr id="73" name="Google Shape;73;p15"/>
          <p:cNvSpPr/>
          <p:nvPr/>
        </p:nvSpPr>
        <p:spPr>
          <a:xfrm>
            <a:off x="7650" y="15300"/>
            <a:ext cx="9144000" cy="5143500"/>
          </a:xfrm>
          <a:prstGeom prst="rect">
            <a:avLst/>
          </a:prstGeom>
          <a:solidFill>
            <a:srgbClr val="424242">
              <a:alpha val="6962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74" name="Google Shape;74;p15"/>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a:t>Mini Update #1</a:t>
            </a:r>
            <a:endParaRPr b="1"/>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6"/>
          <p:cNvSpPr txBox="1"/>
          <p:nvPr>
            <p:ph type="title"/>
          </p:nvPr>
        </p:nvSpPr>
        <p:spPr>
          <a:xfrm>
            <a:off x="507925" y="51550"/>
            <a:ext cx="83244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Data Profile</a:t>
            </a:r>
            <a:endParaRPr b="1"/>
          </a:p>
        </p:txBody>
      </p:sp>
      <p:sp>
        <p:nvSpPr>
          <p:cNvPr id="80" name="Google Shape;80;p16"/>
          <p:cNvSpPr txBox="1"/>
          <p:nvPr/>
        </p:nvSpPr>
        <p:spPr>
          <a:xfrm>
            <a:off x="4133175" y="100600"/>
            <a:ext cx="4503000" cy="474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2"/>
                </a:solidFill>
                <a:latin typeface="Proxima Nova"/>
                <a:ea typeface="Proxima Nova"/>
                <a:cs typeface="Proxima Nova"/>
                <a:sym typeface="Proxima Nova"/>
              </a:rPr>
              <a:t>This data has 15,000 rows and 22 columns.</a:t>
            </a:r>
            <a:endParaRPr sz="1800">
              <a:solidFill>
                <a:schemeClr val="dk2"/>
              </a:solidFill>
              <a:latin typeface="Proxima Nova"/>
              <a:ea typeface="Proxima Nova"/>
              <a:cs typeface="Proxima Nova"/>
              <a:sym typeface="Proxima Nova"/>
            </a:endParaRPr>
          </a:p>
        </p:txBody>
      </p:sp>
      <p:graphicFrame>
        <p:nvGraphicFramePr>
          <p:cNvPr id="81" name="Google Shape;81;p16"/>
          <p:cNvGraphicFramePr/>
          <p:nvPr/>
        </p:nvGraphicFramePr>
        <p:xfrm>
          <a:off x="507913" y="673300"/>
          <a:ext cx="3000000" cy="3000000"/>
        </p:xfrm>
        <a:graphic>
          <a:graphicData uri="http://schemas.openxmlformats.org/drawingml/2006/table">
            <a:tbl>
              <a:tblPr>
                <a:noFill/>
                <a:tableStyleId>{AC17D325-F3F8-4A5D-899C-0136587698C7}</a:tableStyleId>
              </a:tblPr>
              <a:tblGrid>
                <a:gridCol w="1561425"/>
                <a:gridCol w="1561425"/>
                <a:gridCol w="2021600"/>
                <a:gridCol w="1336675"/>
                <a:gridCol w="1647050"/>
              </a:tblGrid>
              <a:tr h="668725">
                <a:tc>
                  <a:txBody>
                    <a:bodyPr/>
                    <a:lstStyle/>
                    <a:p>
                      <a:pPr indent="0" lvl="0" marL="0" rtl="0" algn="l">
                        <a:spcBef>
                          <a:spcPts val="0"/>
                        </a:spcBef>
                        <a:spcAft>
                          <a:spcPts val="0"/>
                        </a:spcAft>
                        <a:buNone/>
                      </a:pPr>
                      <a:r>
                        <a:rPr lang="en">
                          <a:latin typeface="Proxima Nova"/>
                          <a:ea typeface="Proxima Nova"/>
                          <a:cs typeface="Proxima Nova"/>
                          <a:sym typeface="Proxima Nova"/>
                        </a:rPr>
                        <a:t>Column Name</a:t>
                      </a:r>
                      <a:endParaRPr>
                        <a:latin typeface="Proxima Nova"/>
                        <a:ea typeface="Proxima Nova"/>
                        <a:cs typeface="Proxima Nova"/>
                        <a:sym typeface="Proxima Nova"/>
                      </a:endParaRPr>
                    </a:p>
                  </a:txBody>
                  <a:tcPr marT="91425" marB="91425" marR="91425" marL="91425">
                    <a:solidFill>
                      <a:srgbClr val="BBF2D5"/>
                    </a:solidFill>
                  </a:tcPr>
                </a:tc>
                <a:tc>
                  <a:txBody>
                    <a:bodyPr/>
                    <a:lstStyle/>
                    <a:p>
                      <a:pPr indent="0" lvl="0" marL="0" rtl="0" algn="l">
                        <a:spcBef>
                          <a:spcPts val="0"/>
                        </a:spcBef>
                        <a:spcAft>
                          <a:spcPts val="0"/>
                        </a:spcAft>
                        <a:buNone/>
                      </a:pPr>
                      <a:r>
                        <a:rPr lang="en">
                          <a:latin typeface="Proxima Nova"/>
                          <a:ea typeface="Proxima Nova"/>
                          <a:cs typeface="Proxima Nova"/>
                          <a:sym typeface="Proxima Nova"/>
                        </a:rPr>
                        <a:t>Has missing value?</a:t>
                      </a:r>
                      <a:endParaRPr>
                        <a:latin typeface="Proxima Nova"/>
                        <a:ea typeface="Proxima Nova"/>
                        <a:cs typeface="Proxima Nova"/>
                        <a:sym typeface="Proxima Nova"/>
                      </a:endParaRPr>
                    </a:p>
                  </a:txBody>
                  <a:tcPr marT="91425" marB="91425" marR="91425" marL="91425">
                    <a:solidFill>
                      <a:srgbClr val="BBF2D5"/>
                    </a:solidFill>
                  </a:tcPr>
                </a:tc>
                <a:tc>
                  <a:txBody>
                    <a:bodyPr/>
                    <a:lstStyle/>
                    <a:p>
                      <a:pPr indent="0" lvl="0" marL="0" rtl="0" algn="l">
                        <a:spcBef>
                          <a:spcPts val="0"/>
                        </a:spcBef>
                        <a:spcAft>
                          <a:spcPts val="0"/>
                        </a:spcAft>
                        <a:buNone/>
                      </a:pPr>
                      <a:r>
                        <a:rPr lang="en">
                          <a:latin typeface="Proxima Nova"/>
                          <a:ea typeface="Proxima Nova"/>
                          <a:cs typeface="Proxima Nova"/>
                          <a:sym typeface="Proxima Nova"/>
                        </a:rPr>
                        <a:t>Data Type(Discrete or numeric or free text)</a:t>
                      </a:r>
                      <a:endParaRPr>
                        <a:latin typeface="Proxima Nova"/>
                        <a:ea typeface="Proxima Nova"/>
                        <a:cs typeface="Proxima Nova"/>
                        <a:sym typeface="Proxima Nova"/>
                      </a:endParaRPr>
                    </a:p>
                  </a:txBody>
                  <a:tcPr marT="91425" marB="91425" marR="91425" marL="91425">
                    <a:solidFill>
                      <a:srgbClr val="BBF2D5"/>
                    </a:solidFill>
                  </a:tcPr>
                </a:tc>
                <a:tc>
                  <a:txBody>
                    <a:bodyPr/>
                    <a:lstStyle/>
                    <a:p>
                      <a:pPr indent="0" lvl="0" marL="0" rtl="0" algn="l">
                        <a:spcBef>
                          <a:spcPts val="0"/>
                        </a:spcBef>
                        <a:spcAft>
                          <a:spcPts val="0"/>
                        </a:spcAft>
                        <a:buNone/>
                      </a:pPr>
                      <a:r>
                        <a:rPr lang="en">
                          <a:latin typeface="Proxima Nova"/>
                          <a:ea typeface="Proxima Nova"/>
                          <a:cs typeface="Proxima Nova"/>
                          <a:sym typeface="Proxima Nova"/>
                        </a:rPr>
                        <a:t>Useful?</a:t>
                      </a:r>
                      <a:endParaRPr>
                        <a:latin typeface="Proxima Nova"/>
                        <a:ea typeface="Proxima Nova"/>
                        <a:cs typeface="Proxima Nova"/>
                        <a:sym typeface="Proxima Nova"/>
                      </a:endParaRPr>
                    </a:p>
                  </a:txBody>
                  <a:tcPr marT="91425" marB="91425" marR="91425" marL="91425">
                    <a:solidFill>
                      <a:srgbClr val="BBF2D5"/>
                    </a:solidFill>
                  </a:tcPr>
                </a:tc>
                <a:tc>
                  <a:txBody>
                    <a:bodyPr/>
                    <a:lstStyle/>
                    <a:p>
                      <a:pPr indent="0" lvl="0" marL="0" rtl="0" algn="l">
                        <a:spcBef>
                          <a:spcPts val="0"/>
                        </a:spcBef>
                        <a:spcAft>
                          <a:spcPts val="0"/>
                        </a:spcAft>
                        <a:buNone/>
                      </a:pPr>
                      <a:r>
                        <a:rPr lang="en">
                          <a:latin typeface="Proxima Nova"/>
                          <a:ea typeface="Proxima Nova"/>
                          <a:cs typeface="Proxima Nova"/>
                          <a:sym typeface="Proxima Nova"/>
                        </a:rPr>
                        <a:t>Need cleaning or processing?</a:t>
                      </a:r>
                      <a:endParaRPr>
                        <a:latin typeface="Proxima Nova"/>
                        <a:ea typeface="Proxima Nova"/>
                        <a:cs typeface="Proxima Nova"/>
                        <a:sym typeface="Proxima Nova"/>
                      </a:endParaRPr>
                    </a:p>
                  </a:txBody>
                  <a:tcPr marT="91425" marB="91425" marR="91425" marL="91425">
                    <a:solidFill>
                      <a:srgbClr val="BBF2D5"/>
                    </a:solidFill>
                  </a:tcPr>
                </a:tc>
              </a:tr>
              <a:tr h="421225">
                <a:tc>
                  <a:txBody>
                    <a:bodyPr/>
                    <a:lstStyle/>
                    <a:p>
                      <a:pPr indent="0" lvl="0" marL="0" rtl="0" algn="l">
                        <a:spcBef>
                          <a:spcPts val="0"/>
                        </a:spcBef>
                        <a:spcAft>
                          <a:spcPts val="0"/>
                        </a:spcAft>
                        <a:buNone/>
                      </a:pPr>
                      <a:r>
                        <a:rPr lang="en">
                          <a:latin typeface="Proxima Nova"/>
                          <a:ea typeface="Proxima Nova"/>
                          <a:cs typeface="Proxima Nova"/>
                          <a:sym typeface="Proxima Nova"/>
                        </a:rPr>
                        <a:t>anime_id</a:t>
                      </a:r>
                      <a:endParaRPr>
                        <a:latin typeface="Proxima Nova"/>
                        <a:ea typeface="Proxima Nova"/>
                        <a:cs typeface="Proxima Nova"/>
                        <a:sym typeface="Proxima Nova"/>
                      </a:endParaRPr>
                    </a:p>
                  </a:txBody>
                  <a:tcPr marT="91425" marB="91425" marR="91425" marL="91425">
                    <a:solidFill>
                      <a:srgbClr val="D9D9D9"/>
                    </a:solidFill>
                  </a:tcPr>
                </a:tc>
                <a:tc>
                  <a:txBody>
                    <a:bodyPr/>
                    <a:lstStyle/>
                    <a:p>
                      <a:pPr indent="0" lvl="0" marL="0" rtl="0" algn="l">
                        <a:spcBef>
                          <a:spcPts val="0"/>
                        </a:spcBef>
                        <a:spcAft>
                          <a:spcPts val="0"/>
                        </a:spcAft>
                        <a:buNone/>
                      </a:pPr>
                      <a:r>
                        <a:rPr lang="en">
                          <a:latin typeface="Proxima Nova"/>
                          <a:ea typeface="Proxima Nova"/>
                          <a:cs typeface="Proxima Nova"/>
                          <a:sym typeface="Proxima Nova"/>
                        </a:rPr>
                        <a:t>No</a:t>
                      </a:r>
                      <a:endParaRPr>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lang="en">
                          <a:latin typeface="Proxima Nova"/>
                          <a:ea typeface="Proxima Nova"/>
                          <a:cs typeface="Proxima Nova"/>
                          <a:sym typeface="Proxima Nova"/>
                        </a:rPr>
                        <a:t>Numeric</a:t>
                      </a:r>
                      <a:endParaRPr>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lang="en">
                          <a:latin typeface="Proxima Nova"/>
                          <a:ea typeface="Proxima Nova"/>
                          <a:cs typeface="Proxima Nova"/>
                          <a:sym typeface="Proxima Nova"/>
                        </a:rPr>
                        <a:t>No</a:t>
                      </a:r>
                      <a:endParaRPr>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lang="en">
                          <a:latin typeface="Proxima Nova"/>
                          <a:ea typeface="Proxima Nova"/>
                          <a:cs typeface="Proxima Nova"/>
                          <a:sym typeface="Proxima Nova"/>
                        </a:rPr>
                        <a:t>No</a:t>
                      </a:r>
                      <a:endParaRPr>
                        <a:latin typeface="Proxima Nova"/>
                        <a:ea typeface="Proxima Nova"/>
                        <a:cs typeface="Proxima Nova"/>
                        <a:sym typeface="Proxima Nova"/>
                      </a:endParaRPr>
                    </a:p>
                  </a:txBody>
                  <a:tcPr marT="91425" marB="91425" marR="91425" marL="91425"/>
                </a:tc>
              </a:tr>
              <a:tr h="421225">
                <a:tc>
                  <a:txBody>
                    <a:bodyPr/>
                    <a:lstStyle/>
                    <a:p>
                      <a:pPr indent="0" lvl="0" marL="0" rtl="0" algn="l">
                        <a:spcBef>
                          <a:spcPts val="0"/>
                        </a:spcBef>
                        <a:spcAft>
                          <a:spcPts val="0"/>
                        </a:spcAft>
                        <a:buNone/>
                      </a:pPr>
                      <a:r>
                        <a:rPr lang="en">
                          <a:latin typeface="Proxima Nova"/>
                          <a:ea typeface="Proxima Nova"/>
                          <a:cs typeface="Proxima Nova"/>
                          <a:sym typeface="Proxima Nova"/>
                        </a:rPr>
                        <a:t>anime_url</a:t>
                      </a:r>
                      <a:endParaRPr>
                        <a:latin typeface="Proxima Nova"/>
                        <a:ea typeface="Proxima Nova"/>
                        <a:cs typeface="Proxima Nova"/>
                        <a:sym typeface="Proxima Nova"/>
                      </a:endParaRPr>
                    </a:p>
                  </a:txBody>
                  <a:tcPr marT="91425" marB="91425" marR="91425" marL="91425">
                    <a:solidFill>
                      <a:srgbClr val="D9D9D9"/>
                    </a:solidFill>
                  </a:tcPr>
                </a:tc>
                <a:tc>
                  <a:txBody>
                    <a:bodyPr/>
                    <a:lstStyle/>
                    <a:p>
                      <a:pPr indent="0" lvl="0" marL="0" rtl="0" algn="l">
                        <a:spcBef>
                          <a:spcPts val="0"/>
                        </a:spcBef>
                        <a:spcAft>
                          <a:spcPts val="0"/>
                        </a:spcAft>
                        <a:buNone/>
                      </a:pPr>
                      <a:r>
                        <a:rPr lang="en">
                          <a:latin typeface="Proxima Nova"/>
                          <a:ea typeface="Proxima Nova"/>
                          <a:cs typeface="Proxima Nova"/>
                          <a:sym typeface="Proxima Nova"/>
                        </a:rPr>
                        <a:t>No</a:t>
                      </a:r>
                      <a:endParaRPr>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lang="en">
                          <a:latin typeface="Proxima Nova"/>
                          <a:ea typeface="Proxima Nova"/>
                          <a:cs typeface="Proxima Nova"/>
                          <a:sym typeface="Proxima Nova"/>
                        </a:rPr>
                        <a:t>Free Text</a:t>
                      </a:r>
                      <a:endParaRPr>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lang="en">
                          <a:latin typeface="Proxima Nova"/>
                          <a:ea typeface="Proxima Nova"/>
                          <a:cs typeface="Proxima Nova"/>
                          <a:sym typeface="Proxima Nova"/>
                        </a:rPr>
                        <a:t>No</a:t>
                      </a:r>
                      <a:endParaRPr>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lang="en">
                          <a:latin typeface="Proxima Nova"/>
                          <a:ea typeface="Proxima Nova"/>
                          <a:cs typeface="Proxima Nova"/>
                          <a:sym typeface="Proxima Nova"/>
                        </a:rPr>
                        <a:t>No</a:t>
                      </a:r>
                      <a:endParaRPr>
                        <a:latin typeface="Proxima Nova"/>
                        <a:ea typeface="Proxima Nova"/>
                        <a:cs typeface="Proxima Nova"/>
                        <a:sym typeface="Proxima Nova"/>
                      </a:endParaRPr>
                    </a:p>
                  </a:txBody>
                  <a:tcPr marT="91425" marB="91425" marR="91425" marL="91425"/>
                </a:tc>
              </a:tr>
              <a:tr h="421225">
                <a:tc>
                  <a:txBody>
                    <a:bodyPr/>
                    <a:lstStyle/>
                    <a:p>
                      <a:pPr indent="0" lvl="0" marL="0" rtl="0" algn="l">
                        <a:spcBef>
                          <a:spcPts val="0"/>
                        </a:spcBef>
                        <a:spcAft>
                          <a:spcPts val="0"/>
                        </a:spcAft>
                        <a:buNone/>
                      </a:pPr>
                      <a:r>
                        <a:rPr lang="en">
                          <a:latin typeface="Proxima Nova"/>
                          <a:ea typeface="Proxima Nova"/>
                          <a:cs typeface="Proxima Nova"/>
                          <a:sym typeface="Proxima Nova"/>
                        </a:rPr>
                        <a:t>image_url</a:t>
                      </a:r>
                      <a:endParaRPr>
                        <a:latin typeface="Proxima Nova"/>
                        <a:ea typeface="Proxima Nova"/>
                        <a:cs typeface="Proxima Nova"/>
                        <a:sym typeface="Proxima Nova"/>
                      </a:endParaRPr>
                    </a:p>
                  </a:txBody>
                  <a:tcPr marT="91425" marB="91425" marR="91425" marL="91425">
                    <a:solidFill>
                      <a:srgbClr val="D9D9D9"/>
                    </a:solidFill>
                  </a:tcPr>
                </a:tc>
                <a:tc>
                  <a:txBody>
                    <a:bodyPr/>
                    <a:lstStyle/>
                    <a:p>
                      <a:pPr indent="0" lvl="0" marL="0" rtl="0" algn="l">
                        <a:spcBef>
                          <a:spcPts val="0"/>
                        </a:spcBef>
                        <a:spcAft>
                          <a:spcPts val="0"/>
                        </a:spcAft>
                        <a:buNone/>
                      </a:pPr>
                      <a:r>
                        <a:rPr lang="en">
                          <a:latin typeface="Proxima Nova"/>
                          <a:ea typeface="Proxima Nova"/>
                          <a:cs typeface="Proxima Nova"/>
                          <a:sym typeface="Proxima Nova"/>
                        </a:rPr>
                        <a:t>No</a:t>
                      </a:r>
                      <a:endParaRPr>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lang="en">
                          <a:latin typeface="Proxima Nova"/>
                          <a:ea typeface="Proxima Nova"/>
                          <a:cs typeface="Proxima Nova"/>
                          <a:sym typeface="Proxima Nova"/>
                        </a:rPr>
                        <a:t>Free Text</a:t>
                      </a:r>
                      <a:endParaRPr>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lang="en">
                          <a:latin typeface="Proxima Nova"/>
                          <a:ea typeface="Proxima Nova"/>
                          <a:cs typeface="Proxima Nova"/>
                          <a:sym typeface="Proxima Nova"/>
                        </a:rPr>
                        <a:t>No</a:t>
                      </a:r>
                      <a:endParaRPr>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lang="en">
                          <a:latin typeface="Proxima Nova"/>
                          <a:ea typeface="Proxima Nova"/>
                          <a:cs typeface="Proxima Nova"/>
                          <a:sym typeface="Proxima Nova"/>
                        </a:rPr>
                        <a:t>No</a:t>
                      </a:r>
                      <a:endParaRPr>
                        <a:latin typeface="Proxima Nova"/>
                        <a:ea typeface="Proxima Nova"/>
                        <a:cs typeface="Proxima Nova"/>
                        <a:sym typeface="Proxima Nova"/>
                      </a:endParaRPr>
                    </a:p>
                  </a:txBody>
                  <a:tcPr marT="91425" marB="91425" marR="91425" marL="91425"/>
                </a:tc>
              </a:tr>
              <a:tr h="421225">
                <a:tc>
                  <a:txBody>
                    <a:bodyPr/>
                    <a:lstStyle/>
                    <a:p>
                      <a:pPr indent="0" lvl="0" marL="0" rtl="0" algn="l">
                        <a:spcBef>
                          <a:spcPts val="0"/>
                        </a:spcBef>
                        <a:spcAft>
                          <a:spcPts val="0"/>
                        </a:spcAft>
                        <a:buNone/>
                      </a:pPr>
                      <a:r>
                        <a:rPr lang="en">
                          <a:latin typeface="Proxima Nova"/>
                          <a:ea typeface="Proxima Nova"/>
                          <a:cs typeface="Proxima Nova"/>
                          <a:sym typeface="Proxima Nova"/>
                        </a:rPr>
                        <a:t>name</a:t>
                      </a:r>
                      <a:endParaRPr>
                        <a:latin typeface="Proxima Nova"/>
                        <a:ea typeface="Proxima Nova"/>
                        <a:cs typeface="Proxima Nova"/>
                        <a:sym typeface="Proxima Nova"/>
                      </a:endParaRPr>
                    </a:p>
                  </a:txBody>
                  <a:tcPr marT="91425" marB="91425" marR="91425" marL="91425">
                    <a:solidFill>
                      <a:srgbClr val="D9D9D9"/>
                    </a:solidFill>
                  </a:tcPr>
                </a:tc>
                <a:tc>
                  <a:txBody>
                    <a:bodyPr/>
                    <a:lstStyle/>
                    <a:p>
                      <a:pPr indent="0" lvl="0" marL="0" rtl="0" algn="l">
                        <a:spcBef>
                          <a:spcPts val="0"/>
                        </a:spcBef>
                        <a:spcAft>
                          <a:spcPts val="0"/>
                        </a:spcAft>
                        <a:buNone/>
                      </a:pPr>
                      <a:r>
                        <a:rPr lang="en">
                          <a:latin typeface="Proxima Nova"/>
                          <a:ea typeface="Proxima Nova"/>
                          <a:cs typeface="Proxima Nova"/>
                          <a:sym typeface="Proxima Nova"/>
                        </a:rPr>
                        <a:t>No</a:t>
                      </a:r>
                      <a:endParaRPr>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lang="en">
                          <a:latin typeface="Proxima Nova"/>
                          <a:ea typeface="Proxima Nova"/>
                          <a:cs typeface="Proxima Nova"/>
                          <a:sym typeface="Proxima Nova"/>
                        </a:rPr>
                        <a:t>Free Text</a:t>
                      </a:r>
                      <a:endParaRPr>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lang="en">
                          <a:latin typeface="Proxima Nova"/>
                          <a:ea typeface="Proxima Nova"/>
                          <a:cs typeface="Proxima Nova"/>
                          <a:sym typeface="Proxima Nova"/>
                        </a:rPr>
                        <a:t>Yes</a:t>
                      </a:r>
                      <a:endParaRPr>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lang="en">
                          <a:latin typeface="Proxima Nova"/>
                          <a:ea typeface="Proxima Nova"/>
                          <a:cs typeface="Proxima Nova"/>
                          <a:sym typeface="Proxima Nova"/>
                        </a:rPr>
                        <a:t>No</a:t>
                      </a:r>
                      <a:endParaRPr>
                        <a:latin typeface="Proxima Nova"/>
                        <a:ea typeface="Proxima Nova"/>
                        <a:cs typeface="Proxima Nova"/>
                        <a:sym typeface="Proxima Nova"/>
                      </a:endParaRPr>
                    </a:p>
                  </a:txBody>
                  <a:tcPr marT="91425" marB="91425" marR="91425" marL="91425"/>
                </a:tc>
              </a:tr>
              <a:tr h="421225">
                <a:tc>
                  <a:txBody>
                    <a:bodyPr/>
                    <a:lstStyle/>
                    <a:p>
                      <a:pPr indent="0" lvl="0" marL="0" rtl="0" algn="l">
                        <a:spcBef>
                          <a:spcPts val="0"/>
                        </a:spcBef>
                        <a:spcAft>
                          <a:spcPts val="0"/>
                        </a:spcAft>
                        <a:buNone/>
                      </a:pPr>
                      <a:r>
                        <a:rPr lang="en">
                          <a:latin typeface="Proxima Nova"/>
                          <a:ea typeface="Proxima Nova"/>
                          <a:cs typeface="Proxima Nova"/>
                          <a:sym typeface="Proxima Nova"/>
                        </a:rPr>
                        <a:t>english_name</a:t>
                      </a:r>
                      <a:endParaRPr>
                        <a:latin typeface="Proxima Nova"/>
                        <a:ea typeface="Proxima Nova"/>
                        <a:cs typeface="Proxima Nova"/>
                        <a:sym typeface="Proxima Nova"/>
                      </a:endParaRPr>
                    </a:p>
                  </a:txBody>
                  <a:tcPr marT="91425" marB="91425" marR="91425" marL="91425">
                    <a:solidFill>
                      <a:srgbClr val="D9D9D9"/>
                    </a:solidFill>
                  </a:tcPr>
                </a:tc>
                <a:tc>
                  <a:txBody>
                    <a:bodyPr/>
                    <a:lstStyle/>
                    <a:p>
                      <a:pPr indent="0" lvl="0" marL="0" rtl="0" algn="l">
                        <a:spcBef>
                          <a:spcPts val="0"/>
                        </a:spcBef>
                        <a:spcAft>
                          <a:spcPts val="0"/>
                        </a:spcAft>
                        <a:buNone/>
                      </a:pPr>
                      <a:r>
                        <a:rPr lang="en">
                          <a:latin typeface="Proxima Nova"/>
                          <a:ea typeface="Proxima Nova"/>
                          <a:cs typeface="Proxima Nova"/>
                          <a:sym typeface="Proxima Nova"/>
                        </a:rPr>
                        <a:t>No</a:t>
                      </a:r>
                      <a:endParaRPr>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lang="en">
                          <a:latin typeface="Proxima Nova"/>
                          <a:ea typeface="Proxima Nova"/>
                          <a:cs typeface="Proxima Nova"/>
                          <a:sym typeface="Proxima Nova"/>
                        </a:rPr>
                        <a:t>Free Text</a:t>
                      </a:r>
                      <a:endParaRPr>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lang="en">
                          <a:latin typeface="Proxima Nova"/>
                          <a:ea typeface="Proxima Nova"/>
                          <a:cs typeface="Proxima Nova"/>
                          <a:sym typeface="Proxima Nova"/>
                        </a:rPr>
                        <a:t>Yes</a:t>
                      </a:r>
                      <a:endParaRPr>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lang="en">
                          <a:latin typeface="Proxima Nova"/>
                          <a:ea typeface="Proxima Nova"/>
                          <a:cs typeface="Proxima Nova"/>
                          <a:sym typeface="Proxima Nova"/>
                        </a:rPr>
                        <a:t>No</a:t>
                      </a:r>
                      <a:endParaRPr>
                        <a:latin typeface="Proxima Nova"/>
                        <a:ea typeface="Proxima Nova"/>
                        <a:cs typeface="Proxima Nova"/>
                        <a:sym typeface="Proxima Nova"/>
                      </a:endParaRPr>
                    </a:p>
                  </a:txBody>
                  <a:tcPr marT="91425" marB="91425" marR="91425" marL="91425"/>
                </a:tc>
              </a:tr>
              <a:tr h="421225">
                <a:tc>
                  <a:txBody>
                    <a:bodyPr/>
                    <a:lstStyle/>
                    <a:p>
                      <a:pPr indent="0" lvl="0" marL="0" rtl="0" algn="l">
                        <a:spcBef>
                          <a:spcPts val="0"/>
                        </a:spcBef>
                        <a:spcAft>
                          <a:spcPts val="0"/>
                        </a:spcAft>
                        <a:buNone/>
                      </a:pPr>
                      <a:r>
                        <a:rPr lang="en">
                          <a:latin typeface="Proxima Nova"/>
                          <a:ea typeface="Proxima Nova"/>
                          <a:cs typeface="Proxima Nova"/>
                          <a:sym typeface="Proxima Nova"/>
                        </a:rPr>
                        <a:t>japanese_names</a:t>
                      </a:r>
                      <a:endParaRPr>
                        <a:latin typeface="Proxima Nova"/>
                        <a:ea typeface="Proxima Nova"/>
                        <a:cs typeface="Proxima Nova"/>
                        <a:sym typeface="Proxima Nova"/>
                      </a:endParaRPr>
                    </a:p>
                  </a:txBody>
                  <a:tcPr marT="91425" marB="91425" marR="91425" marL="91425">
                    <a:solidFill>
                      <a:srgbClr val="D9D9D9"/>
                    </a:solidFill>
                  </a:tcPr>
                </a:tc>
                <a:tc>
                  <a:txBody>
                    <a:bodyPr/>
                    <a:lstStyle/>
                    <a:p>
                      <a:pPr indent="0" lvl="0" marL="0" rtl="0" algn="l">
                        <a:spcBef>
                          <a:spcPts val="0"/>
                        </a:spcBef>
                        <a:spcAft>
                          <a:spcPts val="0"/>
                        </a:spcAft>
                        <a:buNone/>
                      </a:pPr>
                      <a:r>
                        <a:rPr lang="en">
                          <a:latin typeface="Proxima Nova"/>
                          <a:ea typeface="Proxima Nova"/>
                          <a:cs typeface="Proxima Nova"/>
                          <a:sym typeface="Proxima Nova"/>
                        </a:rPr>
                        <a:t>No</a:t>
                      </a:r>
                      <a:endParaRPr>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lang="en">
                          <a:latin typeface="Proxima Nova"/>
                          <a:ea typeface="Proxima Nova"/>
                          <a:cs typeface="Proxima Nova"/>
                          <a:sym typeface="Proxima Nova"/>
                        </a:rPr>
                        <a:t>Free Text</a:t>
                      </a:r>
                      <a:endParaRPr>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lang="en">
                          <a:latin typeface="Proxima Nova"/>
                          <a:ea typeface="Proxima Nova"/>
                          <a:cs typeface="Proxima Nova"/>
                          <a:sym typeface="Proxima Nova"/>
                        </a:rPr>
                        <a:t>No</a:t>
                      </a:r>
                      <a:endParaRPr>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lang="en">
                          <a:latin typeface="Proxima Nova"/>
                          <a:ea typeface="Proxima Nova"/>
                          <a:cs typeface="Proxima Nova"/>
                          <a:sym typeface="Proxima Nova"/>
                        </a:rPr>
                        <a:t>No</a:t>
                      </a:r>
                      <a:endParaRPr>
                        <a:latin typeface="Proxima Nova"/>
                        <a:ea typeface="Proxima Nova"/>
                        <a:cs typeface="Proxima Nova"/>
                        <a:sym typeface="Proxima Nova"/>
                      </a:endParaRPr>
                    </a:p>
                  </a:txBody>
                  <a:tcPr marT="91425" marB="91425" marR="91425" marL="91425"/>
                </a:tc>
              </a:tr>
              <a:tr h="421225">
                <a:tc>
                  <a:txBody>
                    <a:bodyPr/>
                    <a:lstStyle/>
                    <a:p>
                      <a:pPr indent="0" lvl="0" marL="0" rtl="0" algn="l">
                        <a:spcBef>
                          <a:spcPts val="0"/>
                        </a:spcBef>
                        <a:spcAft>
                          <a:spcPts val="0"/>
                        </a:spcAft>
                        <a:buNone/>
                      </a:pPr>
                      <a:r>
                        <a:rPr lang="en">
                          <a:latin typeface="Proxima Nova"/>
                          <a:ea typeface="Proxima Nova"/>
                          <a:cs typeface="Proxima Nova"/>
                          <a:sym typeface="Proxima Nova"/>
                        </a:rPr>
                        <a:t>score</a:t>
                      </a:r>
                      <a:endParaRPr>
                        <a:latin typeface="Proxima Nova"/>
                        <a:ea typeface="Proxima Nova"/>
                        <a:cs typeface="Proxima Nova"/>
                        <a:sym typeface="Proxima Nova"/>
                      </a:endParaRPr>
                    </a:p>
                  </a:txBody>
                  <a:tcPr marT="91425" marB="91425" marR="91425" marL="91425">
                    <a:solidFill>
                      <a:srgbClr val="D9D9D9"/>
                    </a:solidFill>
                  </a:tcPr>
                </a:tc>
                <a:tc>
                  <a:txBody>
                    <a:bodyPr/>
                    <a:lstStyle/>
                    <a:p>
                      <a:pPr indent="0" lvl="0" marL="0" rtl="0" algn="l">
                        <a:spcBef>
                          <a:spcPts val="0"/>
                        </a:spcBef>
                        <a:spcAft>
                          <a:spcPts val="0"/>
                        </a:spcAft>
                        <a:buNone/>
                      </a:pPr>
                      <a:r>
                        <a:rPr lang="en">
                          <a:latin typeface="Proxima Nova"/>
                          <a:ea typeface="Proxima Nova"/>
                          <a:cs typeface="Proxima Nova"/>
                          <a:sym typeface="Proxima Nova"/>
                        </a:rPr>
                        <a:t>No</a:t>
                      </a:r>
                      <a:endParaRPr>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lang="en">
                          <a:latin typeface="Proxima Nova"/>
                          <a:ea typeface="Proxima Nova"/>
                          <a:cs typeface="Proxima Nova"/>
                          <a:sym typeface="Proxima Nova"/>
                        </a:rPr>
                        <a:t>Float</a:t>
                      </a:r>
                      <a:endParaRPr>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lang="en">
                          <a:latin typeface="Proxima Nova"/>
                          <a:ea typeface="Proxima Nova"/>
                          <a:cs typeface="Proxima Nova"/>
                          <a:sym typeface="Proxima Nova"/>
                        </a:rPr>
                        <a:t>Yes</a:t>
                      </a:r>
                      <a:endParaRPr>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lang="en">
                          <a:latin typeface="Proxima Nova"/>
                          <a:ea typeface="Proxima Nova"/>
                          <a:cs typeface="Proxima Nova"/>
                          <a:sym typeface="Proxima Nova"/>
                        </a:rPr>
                        <a:t>No</a:t>
                      </a:r>
                      <a:endParaRPr>
                        <a:latin typeface="Proxima Nova"/>
                        <a:ea typeface="Proxima Nova"/>
                        <a:cs typeface="Proxima Nova"/>
                        <a:sym typeface="Proxima Nova"/>
                      </a:endParaRPr>
                    </a:p>
                  </a:txBody>
                  <a:tcPr marT="91425" marB="91425" marR="91425" marL="91425"/>
                </a:tc>
              </a:tr>
              <a:tr h="421225">
                <a:tc>
                  <a:txBody>
                    <a:bodyPr/>
                    <a:lstStyle/>
                    <a:p>
                      <a:pPr indent="0" lvl="0" marL="0" rtl="0" algn="l">
                        <a:spcBef>
                          <a:spcPts val="0"/>
                        </a:spcBef>
                        <a:spcAft>
                          <a:spcPts val="0"/>
                        </a:spcAft>
                        <a:buNone/>
                      </a:pPr>
                      <a:r>
                        <a:rPr lang="en">
                          <a:latin typeface="Proxima Nova"/>
                          <a:ea typeface="Proxima Nova"/>
                          <a:cs typeface="Proxima Nova"/>
                          <a:sym typeface="Proxima Nova"/>
                        </a:rPr>
                        <a:t>genres</a:t>
                      </a:r>
                      <a:endParaRPr>
                        <a:latin typeface="Proxima Nova"/>
                        <a:ea typeface="Proxima Nova"/>
                        <a:cs typeface="Proxima Nova"/>
                        <a:sym typeface="Proxima Nova"/>
                      </a:endParaRPr>
                    </a:p>
                  </a:txBody>
                  <a:tcPr marT="91425" marB="91425" marR="91425" marL="91425">
                    <a:solidFill>
                      <a:srgbClr val="D9D9D9"/>
                    </a:solidFill>
                  </a:tcPr>
                </a:tc>
                <a:tc>
                  <a:txBody>
                    <a:bodyPr/>
                    <a:lstStyle/>
                    <a:p>
                      <a:pPr indent="0" lvl="0" marL="0" rtl="0" algn="l">
                        <a:spcBef>
                          <a:spcPts val="0"/>
                        </a:spcBef>
                        <a:spcAft>
                          <a:spcPts val="0"/>
                        </a:spcAft>
                        <a:buNone/>
                      </a:pPr>
                      <a:r>
                        <a:rPr lang="en">
                          <a:latin typeface="Proxima Nova"/>
                          <a:ea typeface="Proxima Nova"/>
                          <a:cs typeface="Proxima Nova"/>
                          <a:sym typeface="Proxima Nova"/>
                        </a:rPr>
                        <a:t>No</a:t>
                      </a:r>
                      <a:endParaRPr>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lang="en">
                          <a:latin typeface="Proxima Nova"/>
                          <a:ea typeface="Proxima Nova"/>
                          <a:cs typeface="Proxima Nova"/>
                          <a:sym typeface="Proxima Nova"/>
                        </a:rPr>
                        <a:t>Free Text</a:t>
                      </a:r>
                      <a:endParaRPr>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lang="en">
                          <a:latin typeface="Proxima Nova"/>
                          <a:ea typeface="Proxima Nova"/>
                          <a:cs typeface="Proxima Nova"/>
                          <a:sym typeface="Proxima Nova"/>
                        </a:rPr>
                        <a:t>Yes</a:t>
                      </a:r>
                      <a:endParaRPr>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lang="en">
                          <a:latin typeface="Proxima Nova"/>
                          <a:ea typeface="Proxima Nova"/>
                          <a:cs typeface="Proxima Nova"/>
                          <a:sym typeface="Proxima Nova"/>
                        </a:rPr>
                        <a:t>No</a:t>
                      </a:r>
                      <a:endParaRPr>
                        <a:latin typeface="Proxima Nova"/>
                        <a:ea typeface="Proxima Nova"/>
                        <a:cs typeface="Proxima Nova"/>
                        <a:sym typeface="Proxima Nova"/>
                      </a:endParaRPr>
                    </a:p>
                  </a:txBody>
                  <a:tcPr marT="91425" marB="91425" marR="91425" marL="91425"/>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7"/>
          <p:cNvSpPr txBox="1"/>
          <p:nvPr>
            <p:ph type="title"/>
          </p:nvPr>
        </p:nvSpPr>
        <p:spPr>
          <a:xfrm>
            <a:off x="507925" y="69975"/>
            <a:ext cx="83244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Data Profile Continued…</a:t>
            </a:r>
            <a:endParaRPr b="1"/>
          </a:p>
        </p:txBody>
      </p:sp>
      <p:graphicFrame>
        <p:nvGraphicFramePr>
          <p:cNvPr id="87" name="Google Shape;87;p17"/>
          <p:cNvGraphicFramePr/>
          <p:nvPr/>
        </p:nvGraphicFramePr>
        <p:xfrm>
          <a:off x="507913" y="673300"/>
          <a:ext cx="3000000" cy="3000000"/>
        </p:xfrm>
        <a:graphic>
          <a:graphicData uri="http://schemas.openxmlformats.org/drawingml/2006/table">
            <a:tbl>
              <a:tblPr>
                <a:noFill/>
                <a:tableStyleId>{AC17D325-F3F8-4A5D-899C-0136587698C7}</a:tableStyleId>
              </a:tblPr>
              <a:tblGrid>
                <a:gridCol w="1561425"/>
                <a:gridCol w="1561425"/>
                <a:gridCol w="2021600"/>
                <a:gridCol w="1336675"/>
                <a:gridCol w="1647050"/>
              </a:tblGrid>
              <a:tr h="668725">
                <a:tc>
                  <a:txBody>
                    <a:bodyPr/>
                    <a:lstStyle/>
                    <a:p>
                      <a:pPr indent="0" lvl="0" marL="0" rtl="0" algn="l">
                        <a:spcBef>
                          <a:spcPts val="0"/>
                        </a:spcBef>
                        <a:spcAft>
                          <a:spcPts val="0"/>
                        </a:spcAft>
                        <a:buNone/>
                      </a:pPr>
                      <a:r>
                        <a:rPr lang="en">
                          <a:latin typeface="Proxima Nova"/>
                          <a:ea typeface="Proxima Nova"/>
                          <a:cs typeface="Proxima Nova"/>
                          <a:sym typeface="Proxima Nova"/>
                        </a:rPr>
                        <a:t>Column Name</a:t>
                      </a:r>
                      <a:endParaRPr>
                        <a:latin typeface="Proxima Nova"/>
                        <a:ea typeface="Proxima Nova"/>
                        <a:cs typeface="Proxima Nova"/>
                        <a:sym typeface="Proxima Nova"/>
                      </a:endParaRPr>
                    </a:p>
                  </a:txBody>
                  <a:tcPr marT="91425" marB="91425" marR="91425" marL="91425">
                    <a:solidFill>
                      <a:srgbClr val="BBF2D5"/>
                    </a:solidFill>
                  </a:tcPr>
                </a:tc>
                <a:tc>
                  <a:txBody>
                    <a:bodyPr/>
                    <a:lstStyle/>
                    <a:p>
                      <a:pPr indent="0" lvl="0" marL="0" rtl="0" algn="l">
                        <a:spcBef>
                          <a:spcPts val="0"/>
                        </a:spcBef>
                        <a:spcAft>
                          <a:spcPts val="0"/>
                        </a:spcAft>
                        <a:buNone/>
                      </a:pPr>
                      <a:r>
                        <a:rPr lang="en">
                          <a:latin typeface="Proxima Nova"/>
                          <a:ea typeface="Proxima Nova"/>
                          <a:cs typeface="Proxima Nova"/>
                          <a:sym typeface="Proxima Nova"/>
                        </a:rPr>
                        <a:t>Has missing value?</a:t>
                      </a:r>
                      <a:endParaRPr>
                        <a:latin typeface="Proxima Nova"/>
                        <a:ea typeface="Proxima Nova"/>
                        <a:cs typeface="Proxima Nova"/>
                        <a:sym typeface="Proxima Nova"/>
                      </a:endParaRPr>
                    </a:p>
                  </a:txBody>
                  <a:tcPr marT="91425" marB="91425" marR="91425" marL="91425">
                    <a:solidFill>
                      <a:srgbClr val="BBF2D5"/>
                    </a:solidFill>
                  </a:tcPr>
                </a:tc>
                <a:tc>
                  <a:txBody>
                    <a:bodyPr/>
                    <a:lstStyle/>
                    <a:p>
                      <a:pPr indent="0" lvl="0" marL="0" rtl="0" algn="l">
                        <a:spcBef>
                          <a:spcPts val="0"/>
                        </a:spcBef>
                        <a:spcAft>
                          <a:spcPts val="0"/>
                        </a:spcAft>
                        <a:buNone/>
                      </a:pPr>
                      <a:r>
                        <a:rPr lang="en">
                          <a:latin typeface="Proxima Nova"/>
                          <a:ea typeface="Proxima Nova"/>
                          <a:cs typeface="Proxima Nova"/>
                          <a:sym typeface="Proxima Nova"/>
                        </a:rPr>
                        <a:t>Data Type(Discrete or numeric or free text)</a:t>
                      </a:r>
                      <a:endParaRPr>
                        <a:latin typeface="Proxima Nova"/>
                        <a:ea typeface="Proxima Nova"/>
                        <a:cs typeface="Proxima Nova"/>
                        <a:sym typeface="Proxima Nova"/>
                      </a:endParaRPr>
                    </a:p>
                  </a:txBody>
                  <a:tcPr marT="91425" marB="91425" marR="91425" marL="91425">
                    <a:solidFill>
                      <a:srgbClr val="BBF2D5"/>
                    </a:solidFill>
                  </a:tcPr>
                </a:tc>
                <a:tc>
                  <a:txBody>
                    <a:bodyPr/>
                    <a:lstStyle/>
                    <a:p>
                      <a:pPr indent="0" lvl="0" marL="0" rtl="0" algn="l">
                        <a:spcBef>
                          <a:spcPts val="0"/>
                        </a:spcBef>
                        <a:spcAft>
                          <a:spcPts val="0"/>
                        </a:spcAft>
                        <a:buNone/>
                      </a:pPr>
                      <a:r>
                        <a:rPr lang="en">
                          <a:latin typeface="Proxima Nova"/>
                          <a:ea typeface="Proxima Nova"/>
                          <a:cs typeface="Proxima Nova"/>
                          <a:sym typeface="Proxima Nova"/>
                        </a:rPr>
                        <a:t>Useful?</a:t>
                      </a:r>
                      <a:endParaRPr>
                        <a:latin typeface="Proxima Nova"/>
                        <a:ea typeface="Proxima Nova"/>
                        <a:cs typeface="Proxima Nova"/>
                        <a:sym typeface="Proxima Nova"/>
                      </a:endParaRPr>
                    </a:p>
                  </a:txBody>
                  <a:tcPr marT="91425" marB="91425" marR="91425" marL="91425">
                    <a:solidFill>
                      <a:srgbClr val="BBF2D5"/>
                    </a:solidFill>
                  </a:tcPr>
                </a:tc>
                <a:tc>
                  <a:txBody>
                    <a:bodyPr/>
                    <a:lstStyle/>
                    <a:p>
                      <a:pPr indent="0" lvl="0" marL="0" rtl="0" algn="l">
                        <a:spcBef>
                          <a:spcPts val="0"/>
                        </a:spcBef>
                        <a:spcAft>
                          <a:spcPts val="0"/>
                        </a:spcAft>
                        <a:buNone/>
                      </a:pPr>
                      <a:r>
                        <a:rPr lang="en">
                          <a:latin typeface="Proxima Nova"/>
                          <a:ea typeface="Proxima Nova"/>
                          <a:cs typeface="Proxima Nova"/>
                          <a:sym typeface="Proxima Nova"/>
                        </a:rPr>
                        <a:t>Need cleaning or processing?</a:t>
                      </a:r>
                      <a:endParaRPr>
                        <a:latin typeface="Proxima Nova"/>
                        <a:ea typeface="Proxima Nova"/>
                        <a:cs typeface="Proxima Nova"/>
                        <a:sym typeface="Proxima Nova"/>
                      </a:endParaRPr>
                    </a:p>
                  </a:txBody>
                  <a:tcPr marT="91425" marB="91425" marR="91425" marL="91425">
                    <a:lnB cap="flat" cmpd="sng" w="9525">
                      <a:solidFill>
                        <a:srgbClr val="9E9E9E"/>
                      </a:solidFill>
                      <a:prstDash val="solid"/>
                      <a:round/>
                      <a:headEnd len="sm" w="sm" type="none"/>
                      <a:tailEnd len="sm" w="sm" type="none"/>
                    </a:lnB>
                    <a:solidFill>
                      <a:srgbClr val="BBF2D5"/>
                    </a:solidFill>
                  </a:tcPr>
                </a:tc>
              </a:tr>
              <a:tr h="421225">
                <a:tc>
                  <a:txBody>
                    <a:bodyPr/>
                    <a:lstStyle/>
                    <a:p>
                      <a:pPr indent="0" lvl="0" marL="0" rtl="0" algn="l">
                        <a:spcBef>
                          <a:spcPts val="0"/>
                        </a:spcBef>
                        <a:spcAft>
                          <a:spcPts val="0"/>
                        </a:spcAft>
                        <a:buNone/>
                      </a:pPr>
                      <a:r>
                        <a:rPr lang="en">
                          <a:latin typeface="Proxima Nova"/>
                          <a:ea typeface="Proxima Nova"/>
                          <a:cs typeface="Proxima Nova"/>
                          <a:sym typeface="Proxima Nova"/>
                        </a:rPr>
                        <a:t>synopsis</a:t>
                      </a:r>
                      <a:endParaRPr>
                        <a:latin typeface="Proxima Nova"/>
                        <a:ea typeface="Proxima Nova"/>
                        <a:cs typeface="Proxima Nova"/>
                        <a:sym typeface="Proxima Nova"/>
                      </a:endParaRPr>
                    </a:p>
                  </a:txBody>
                  <a:tcPr marT="91425" marB="91425" marR="91425" marL="91425">
                    <a:solidFill>
                      <a:srgbClr val="D9D9D9"/>
                    </a:solidFill>
                  </a:tcPr>
                </a:tc>
                <a:tc>
                  <a:txBody>
                    <a:bodyPr/>
                    <a:lstStyle/>
                    <a:p>
                      <a:pPr indent="0" lvl="0" marL="0" rtl="0" algn="l">
                        <a:spcBef>
                          <a:spcPts val="0"/>
                        </a:spcBef>
                        <a:spcAft>
                          <a:spcPts val="0"/>
                        </a:spcAft>
                        <a:buNone/>
                      </a:pPr>
                      <a:r>
                        <a:rPr lang="en">
                          <a:latin typeface="Proxima Nova"/>
                          <a:ea typeface="Proxima Nova"/>
                          <a:cs typeface="Proxima Nova"/>
                          <a:sym typeface="Proxima Nova"/>
                        </a:rPr>
                        <a:t>No</a:t>
                      </a:r>
                      <a:endParaRPr>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lang="en">
                          <a:latin typeface="Proxima Nova"/>
                          <a:ea typeface="Proxima Nova"/>
                          <a:cs typeface="Proxima Nova"/>
                          <a:sym typeface="Proxima Nova"/>
                        </a:rPr>
                        <a:t>Free Text</a:t>
                      </a:r>
                      <a:endParaRPr>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lang="en">
                          <a:latin typeface="Proxima Nova"/>
                          <a:ea typeface="Proxima Nova"/>
                          <a:cs typeface="Proxima Nova"/>
                          <a:sym typeface="Proxima Nova"/>
                        </a:rPr>
                        <a:t>No</a:t>
                      </a:r>
                      <a:endParaRPr>
                        <a:latin typeface="Proxima Nova"/>
                        <a:ea typeface="Proxima Nova"/>
                        <a:cs typeface="Proxima Nova"/>
                        <a:sym typeface="Proxima Nova"/>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a:latin typeface="Proxima Nova"/>
                          <a:ea typeface="Proxima Nova"/>
                          <a:cs typeface="Proxima Nova"/>
                          <a:sym typeface="Proxima Nova"/>
                        </a:rPr>
                        <a:t>No</a:t>
                      </a:r>
                      <a:endParaRPr>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21225">
                <a:tc>
                  <a:txBody>
                    <a:bodyPr/>
                    <a:lstStyle/>
                    <a:p>
                      <a:pPr indent="0" lvl="0" marL="0" rtl="0" algn="l">
                        <a:spcBef>
                          <a:spcPts val="0"/>
                        </a:spcBef>
                        <a:spcAft>
                          <a:spcPts val="0"/>
                        </a:spcAft>
                        <a:buNone/>
                      </a:pPr>
                      <a:r>
                        <a:rPr lang="en">
                          <a:latin typeface="Proxima Nova"/>
                          <a:ea typeface="Proxima Nova"/>
                          <a:cs typeface="Proxima Nova"/>
                          <a:sym typeface="Proxima Nova"/>
                        </a:rPr>
                        <a:t>type</a:t>
                      </a:r>
                      <a:endParaRPr>
                        <a:latin typeface="Proxima Nova"/>
                        <a:ea typeface="Proxima Nova"/>
                        <a:cs typeface="Proxima Nova"/>
                        <a:sym typeface="Proxima Nova"/>
                      </a:endParaRPr>
                    </a:p>
                  </a:txBody>
                  <a:tcPr marT="91425" marB="91425" marR="91425" marL="91425">
                    <a:solidFill>
                      <a:srgbClr val="D9D9D9"/>
                    </a:solidFill>
                  </a:tcPr>
                </a:tc>
                <a:tc>
                  <a:txBody>
                    <a:bodyPr/>
                    <a:lstStyle/>
                    <a:p>
                      <a:pPr indent="0" lvl="0" marL="0" rtl="0" algn="l">
                        <a:spcBef>
                          <a:spcPts val="0"/>
                        </a:spcBef>
                        <a:spcAft>
                          <a:spcPts val="0"/>
                        </a:spcAft>
                        <a:buNone/>
                      </a:pPr>
                      <a:r>
                        <a:rPr lang="en">
                          <a:latin typeface="Proxima Nova"/>
                          <a:ea typeface="Proxima Nova"/>
                          <a:cs typeface="Proxima Nova"/>
                          <a:sym typeface="Proxima Nova"/>
                        </a:rPr>
                        <a:t>No</a:t>
                      </a:r>
                      <a:endParaRPr>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lang="en">
                          <a:latin typeface="Proxima Nova"/>
                          <a:ea typeface="Proxima Nova"/>
                          <a:cs typeface="Proxima Nova"/>
                          <a:sym typeface="Proxima Nova"/>
                        </a:rPr>
                        <a:t>Free Text</a:t>
                      </a:r>
                      <a:endParaRPr>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lang="en">
                          <a:latin typeface="Proxima Nova"/>
                          <a:ea typeface="Proxima Nova"/>
                          <a:cs typeface="Proxima Nova"/>
                          <a:sym typeface="Proxima Nova"/>
                        </a:rPr>
                        <a:t>Yes</a:t>
                      </a:r>
                      <a:endParaRPr>
                        <a:latin typeface="Proxima Nova"/>
                        <a:ea typeface="Proxima Nova"/>
                        <a:cs typeface="Proxima Nova"/>
                        <a:sym typeface="Proxima Nova"/>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a:latin typeface="Proxima Nova"/>
                          <a:ea typeface="Proxima Nova"/>
                          <a:cs typeface="Proxima Nova"/>
                          <a:sym typeface="Proxima Nova"/>
                        </a:rPr>
                        <a:t>No</a:t>
                      </a:r>
                      <a:endParaRPr>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21225">
                <a:tc>
                  <a:txBody>
                    <a:bodyPr/>
                    <a:lstStyle/>
                    <a:p>
                      <a:pPr indent="0" lvl="0" marL="0" rtl="0" algn="l">
                        <a:spcBef>
                          <a:spcPts val="0"/>
                        </a:spcBef>
                        <a:spcAft>
                          <a:spcPts val="0"/>
                        </a:spcAft>
                        <a:buNone/>
                      </a:pPr>
                      <a:r>
                        <a:rPr lang="en">
                          <a:latin typeface="Proxima Nova"/>
                          <a:ea typeface="Proxima Nova"/>
                          <a:cs typeface="Proxima Nova"/>
                          <a:sym typeface="Proxima Nova"/>
                        </a:rPr>
                        <a:t>episodes</a:t>
                      </a:r>
                      <a:endParaRPr>
                        <a:latin typeface="Proxima Nova"/>
                        <a:ea typeface="Proxima Nova"/>
                        <a:cs typeface="Proxima Nova"/>
                        <a:sym typeface="Proxima Nova"/>
                      </a:endParaRPr>
                    </a:p>
                  </a:txBody>
                  <a:tcPr marT="91425" marB="91425" marR="91425" marL="91425">
                    <a:solidFill>
                      <a:srgbClr val="D9D9D9"/>
                    </a:solidFill>
                  </a:tcPr>
                </a:tc>
                <a:tc>
                  <a:txBody>
                    <a:bodyPr/>
                    <a:lstStyle/>
                    <a:p>
                      <a:pPr indent="0" lvl="0" marL="0" rtl="0" algn="l">
                        <a:spcBef>
                          <a:spcPts val="0"/>
                        </a:spcBef>
                        <a:spcAft>
                          <a:spcPts val="0"/>
                        </a:spcAft>
                        <a:buNone/>
                      </a:pPr>
                      <a:r>
                        <a:rPr lang="en">
                          <a:latin typeface="Proxima Nova"/>
                          <a:ea typeface="Proxima Nova"/>
                          <a:cs typeface="Proxima Nova"/>
                          <a:sym typeface="Proxima Nova"/>
                        </a:rPr>
                        <a:t>No</a:t>
                      </a:r>
                      <a:endParaRPr>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lang="en">
                          <a:latin typeface="Proxima Nova"/>
                          <a:ea typeface="Proxima Nova"/>
                          <a:cs typeface="Proxima Nova"/>
                          <a:sym typeface="Proxima Nova"/>
                        </a:rPr>
                        <a:t>Numeric</a:t>
                      </a:r>
                      <a:endParaRPr>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lang="en">
                          <a:latin typeface="Proxima Nova"/>
                          <a:ea typeface="Proxima Nova"/>
                          <a:cs typeface="Proxima Nova"/>
                          <a:sym typeface="Proxima Nova"/>
                        </a:rPr>
                        <a:t>Yes</a:t>
                      </a:r>
                      <a:endParaRPr>
                        <a:latin typeface="Proxima Nova"/>
                        <a:ea typeface="Proxima Nova"/>
                        <a:cs typeface="Proxima Nova"/>
                        <a:sym typeface="Proxima Nova"/>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a:latin typeface="Proxima Nova"/>
                          <a:ea typeface="Proxima Nova"/>
                          <a:cs typeface="Proxima Nova"/>
                          <a:sym typeface="Proxima Nova"/>
                        </a:rPr>
                        <a:t>No</a:t>
                      </a:r>
                      <a:endParaRPr>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21225">
                <a:tc>
                  <a:txBody>
                    <a:bodyPr/>
                    <a:lstStyle/>
                    <a:p>
                      <a:pPr indent="0" lvl="0" marL="0" rtl="0" algn="l">
                        <a:spcBef>
                          <a:spcPts val="0"/>
                        </a:spcBef>
                        <a:spcAft>
                          <a:spcPts val="0"/>
                        </a:spcAft>
                        <a:buNone/>
                      </a:pPr>
                      <a:r>
                        <a:rPr lang="en">
                          <a:latin typeface="Proxima Nova"/>
                          <a:ea typeface="Proxima Nova"/>
                          <a:cs typeface="Proxima Nova"/>
                          <a:sym typeface="Proxima Nova"/>
                        </a:rPr>
                        <a:t>premiered</a:t>
                      </a:r>
                      <a:endParaRPr>
                        <a:latin typeface="Proxima Nova"/>
                        <a:ea typeface="Proxima Nova"/>
                        <a:cs typeface="Proxima Nova"/>
                        <a:sym typeface="Proxima Nova"/>
                      </a:endParaRPr>
                    </a:p>
                  </a:txBody>
                  <a:tcPr marT="91425" marB="91425" marR="91425" marL="91425">
                    <a:solidFill>
                      <a:srgbClr val="D9D9D9"/>
                    </a:solidFill>
                  </a:tcPr>
                </a:tc>
                <a:tc>
                  <a:txBody>
                    <a:bodyPr/>
                    <a:lstStyle/>
                    <a:p>
                      <a:pPr indent="0" lvl="0" marL="0" rtl="0" algn="l">
                        <a:spcBef>
                          <a:spcPts val="0"/>
                        </a:spcBef>
                        <a:spcAft>
                          <a:spcPts val="0"/>
                        </a:spcAft>
                        <a:buNone/>
                      </a:pPr>
                      <a:r>
                        <a:rPr lang="en">
                          <a:latin typeface="Proxima Nova"/>
                          <a:ea typeface="Proxima Nova"/>
                          <a:cs typeface="Proxima Nova"/>
                          <a:sym typeface="Proxima Nova"/>
                        </a:rPr>
                        <a:t>No</a:t>
                      </a:r>
                      <a:endParaRPr>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lang="en">
                          <a:latin typeface="Proxima Nova"/>
                          <a:ea typeface="Proxima Nova"/>
                          <a:cs typeface="Proxima Nova"/>
                          <a:sym typeface="Proxima Nova"/>
                        </a:rPr>
                        <a:t>Free Text</a:t>
                      </a:r>
                      <a:endParaRPr>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lang="en">
                          <a:latin typeface="Proxima Nova"/>
                          <a:ea typeface="Proxima Nova"/>
                          <a:cs typeface="Proxima Nova"/>
                          <a:sym typeface="Proxima Nova"/>
                        </a:rPr>
                        <a:t>Yes</a:t>
                      </a:r>
                      <a:endParaRPr>
                        <a:latin typeface="Proxima Nova"/>
                        <a:ea typeface="Proxima Nova"/>
                        <a:cs typeface="Proxima Nova"/>
                        <a:sym typeface="Proxima Nova"/>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a:latin typeface="Proxima Nova"/>
                          <a:ea typeface="Proxima Nova"/>
                          <a:cs typeface="Proxima Nova"/>
                          <a:sym typeface="Proxima Nova"/>
                        </a:rPr>
                        <a:t>No</a:t>
                      </a:r>
                      <a:endParaRPr>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21225">
                <a:tc>
                  <a:txBody>
                    <a:bodyPr/>
                    <a:lstStyle/>
                    <a:p>
                      <a:pPr indent="0" lvl="0" marL="0" rtl="0" algn="l">
                        <a:spcBef>
                          <a:spcPts val="0"/>
                        </a:spcBef>
                        <a:spcAft>
                          <a:spcPts val="0"/>
                        </a:spcAft>
                        <a:buNone/>
                      </a:pPr>
                      <a:r>
                        <a:rPr lang="en">
                          <a:latin typeface="Proxima Nova"/>
                          <a:ea typeface="Proxima Nova"/>
                          <a:cs typeface="Proxima Nova"/>
                          <a:sym typeface="Proxima Nova"/>
                        </a:rPr>
                        <a:t>producers</a:t>
                      </a:r>
                      <a:endParaRPr>
                        <a:latin typeface="Proxima Nova"/>
                        <a:ea typeface="Proxima Nova"/>
                        <a:cs typeface="Proxima Nova"/>
                        <a:sym typeface="Proxima Nova"/>
                      </a:endParaRPr>
                    </a:p>
                  </a:txBody>
                  <a:tcPr marT="91425" marB="91425" marR="91425" marL="91425">
                    <a:solidFill>
                      <a:srgbClr val="D9D9D9"/>
                    </a:solidFill>
                  </a:tcPr>
                </a:tc>
                <a:tc>
                  <a:txBody>
                    <a:bodyPr/>
                    <a:lstStyle/>
                    <a:p>
                      <a:pPr indent="0" lvl="0" marL="0" rtl="0" algn="l">
                        <a:spcBef>
                          <a:spcPts val="0"/>
                        </a:spcBef>
                        <a:spcAft>
                          <a:spcPts val="0"/>
                        </a:spcAft>
                        <a:buNone/>
                      </a:pPr>
                      <a:r>
                        <a:rPr lang="en">
                          <a:latin typeface="Proxima Nova"/>
                          <a:ea typeface="Proxima Nova"/>
                          <a:cs typeface="Proxima Nova"/>
                          <a:sym typeface="Proxima Nova"/>
                        </a:rPr>
                        <a:t>No</a:t>
                      </a:r>
                      <a:endParaRPr>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lang="en">
                          <a:latin typeface="Proxima Nova"/>
                          <a:ea typeface="Proxima Nova"/>
                          <a:cs typeface="Proxima Nova"/>
                          <a:sym typeface="Proxima Nova"/>
                        </a:rPr>
                        <a:t>Free Text</a:t>
                      </a:r>
                      <a:endParaRPr>
                        <a:latin typeface="Proxima Nova"/>
                        <a:ea typeface="Proxima Nova"/>
                        <a:cs typeface="Proxima Nova"/>
                        <a:sym typeface="Proxima Nova"/>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latin typeface="Proxima Nova"/>
                          <a:ea typeface="Proxima Nova"/>
                          <a:cs typeface="Proxima Nova"/>
                          <a:sym typeface="Proxima Nova"/>
                        </a:rPr>
                        <a:t>Yes</a:t>
                      </a:r>
                      <a:endParaRPr>
                        <a:latin typeface="Proxima Nova"/>
                        <a:ea typeface="Proxima Nova"/>
                        <a:cs typeface="Proxima Nova"/>
                        <a:sym typeface="Proxima Nova"/>
                      </a:endParaRPr>
                    </a:p>
                  </a:txBody>
                  <a:tcPr marT="91425" marB="91425" marR="91425" marL="91425">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latin typeface="Proxima Nova"/>
                          <a:ea typeface="Proxima Nova"/>
                          <a:cs typeface="Proxima Nova"/>
                          <a:sym typeface="Proxima Nova"/>
                        </a:rPr>
                        <a:t>No</a:t>
                      </a:r>
                      <a:endParaRPr>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21225">
                <a:tc>
                  <a:txBody>
                    <a:bodyPr/>
                    <a:lstStyle/>
                    <a:p>
                      <a:pPr indent="0" lvl="0" marL="0" rtl="0" algn="l">
                        <a:spcBef>
                          <a:spcPts val="0"/>
                        </a:spcBef>
                        <a:spcAft>
                          <a:spcPts val="0"/>
                        </a:spcAft>
                        <a:buNone/>
                      </a:pPr>
                      <a:r>
                        <a:rPr lang="en">
                          <a:latin typeface="Proxima Nova"/>
                          <a:ea typeface="Proxima Nova"/>
                          <a:cs typeface="Proxima Nova"/>
                          <a:sym typeface="Proxima Nova"/>
                        </a:rPr>
                        <a:t>studios</a:t>
                      </a:r>
                      <a:endParaRPr>
                        <a:latin typeface="Proxima Nova"/>
                        <a:ea typeface="Proxima Nova"/>
                        <a:cs typeface="Proxima Nova"/>
                        <a:sym typeface="Proxima Nova"/>
                      </a:endParaRPr>
                    </a:p>
                  </a:txBody>
                  <a:tcPr marT="91425" marB="91425" marR="91425" marL="91425">
                    <a:solidFill>
                      <a:srgbClr val="D9D9D9"/>
                    </a:solidFill>
                  </a:tcPr>
                </a:tc>
                <a:tc>
                  <a:txBody>
                    <a:bodyPr/>
                    <a:lstStyle/>
                    <a:p>
                      <a:pPr indent="0" lvl="0" marL="0" rtl="0" algn="l">
                        <a:spcBef>
                          <a:spcPts val="0"/>
                        </a:spcBef>
                        <a:spcAft>
                          <a:spcPts val="0"/>
                        </a:spcAft>
                        <a:buNone/>
                      </a:pPr>
                      <a:r>
                        <a:rPr lang="en">
                          <a:latin typeface="Proxima Nova"/>
                          <a:ea typeface="Proxima Nova"/>
                          <a:cs typeface="Proxima Nova"/>
                          <a:sym typeface="Proxima Nova"/>
                        </a:rPr>
                        <a:t>No</a:t>
                      </a:r>
                      <a:endParaRPr>
                        <a:latin typeface="Proxima Nova"/>
                        <a:ea typeface="Proxima Nova"/>
                        <a:cs typeface="Proxima Nova"/>
                        <a:sym typeface="Proxima Nova"/>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a:latin typeface="Proxima Nova"/>
                          <a:ea typeface="Proxima Nova"/>
                          <a:cs typeface="Proxima Nova"/>
                          <a:sym typeface="Proxima Nova"/>
                        </a:rPr>
                        <a:t>Free Text</a:t>
                      </a:r>
                      <a:endParaRPr>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latin typeface="Proxima Nova"/>
                          <a:ea typeface="Proxima Nova"/>
                          <a:cs typeface="Proxima Nova"/>
                          <a:sym typeface="Proxima Nova"/>
                        </a:rPr>
                        <a:t>Yes</a:t>
                      </a:r>
                      <a:endParaRPr>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latin typeface="Proxima Nova"/>
                          <a:ea typeface="Proxima Nova"/>
                          <a:cs typeface="Proxima Nova"/>
                          <a:sym typeface="Proxima Nova"/>
                        </a:rPr>
                        <a:t>No</a:t>
                      </a:r>
                      <a:endParaRPr>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21225">
                <a:tc>
                  <a:txBody>
                    <a:bodyPr/>
                    <a:lstStyle/>
                    <a:p>
                      <a:pPr indent="0" lvl="0" marL="0" rtl="0" algn="l">
                        <a:spcBef>
                          <a:spcPts val="0"/>
                        </a:spcBef>
                        <a:spcAft>
                          <a:spcPts val="0"/>
                        </a:spcAft>
                        <a:buNone/>
                      </a:pPr>
                      <a:r>
                        <a:rPr lang="en">
                          <a:latin typeface="Proxima Nova"/>
                          <a:ea typeface="Proxima Nova"/>
                          <a:cs typeface="Proxima Nova"/>
                          <a:sym typeface="Proxima Nova"/>
                        </a:rPr>
                        <a:t>source</a:t>
                      </a:r>
                      <a:endParaRPr>
                        <a:latin typeface="Proxima Nova"/>
                        <a:ea typeface="Proxima Nova"/>
                        <a:cs typeface="Proxima Nova"/>
                        <a:sym typeface="Proxima Nova"/>
                      </a:endParaRPr>
                    </a:p>
                  </a:txBody>
                  <a:tcPr marT="91425" marB="91425" marR="91425" marL="91425">
                    <a:solidFill>
                      <a:srgbClr val="D9D9D9"/>
                    </a:solidFill>
                  </a:tcPr>
                </a:tc>
                <a:tc>
                  <a:txBody>
                    <a:bodyPr/>
                    <a:lstStyle/>
                    <a:p>
                      <a:pPr indent="0" lvl="0" marL="0" rtl="0" algn="l">
                        <a:spcBef>
                          <a:spcPts val="0"/>
                        </a:spcBef>
                        <a:spcAft>
                          <a:spcPts val="0"/>
                        </a:spcAft>
                        <a:buNone/>
                      </a:pPr>
                      <a:r>
                        <a:rPr lang="en">
                          <a:latin typeface="Proxima Nova"/>
                          <a:ea typeface="Proxima Nova"/>
                          <a:cs typeface="Proxima Nova"/>
                          <a:sym typeface="Proxima Nova"/>
                        </a:rPr>
                        <a:t>No</a:t>
                      </a:r>
                      <a:endParaRPr>
                        <a:latin typeface="Proxima Nova"/>
                        <a:ea typeface="Proxima Nova"/>
                        <a:cs typeface="Proxima Nova"/>
                        <a:sym typeface="Proxima Nova"/>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a:latin typeface="Proxima Nova"/>
                          <a:ea typeface="Proxima Nova"/>
                          <a:cs typeface="Proxima Nova"/>
                          <a:sym typeface="Proxima Nova"/>
                        </a:rPr>
                        <a:t>Free Text</a:t>
                      </a:r>
                      <a:endParaRPr>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latin typeface="Proxima Nova"/>
                          <a:ea typeface="Proxima Nova"/>
                          <a:cs typeface="Proxima Nova"/>
                          <a:sym typeface="Proxima Nova"/>
                        </a:rPr>
                        <a:t>Yes</a:t>
                      </a:r>
                      <a:endParaRPr>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latin typeface="Proxima Nova"/>
                          <a:ea typeface="Proxima Nova"/>
                          <a:cs typeface="Proxima Nova"/>
                          <a:sym typeface="Proxima Nova"/>
                        </a:rPr>
                        <a:t>No</a:t>
                      </a:r>
                      <a:endParaRPr>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21225">
                <a:tc>
                  <a:txBody>
                    <a:bodyPr/>
                    <a:lstStyle/>
                    <a:p>
                      <a:pPr indent="0" lvl="0" marL="0" rtl="0" algn="l">
                        <a:spcBef>
                          <a:spcPts val="0"/>
                        </a:spcBef>
                        <a:spcAft>
                          <a:spcPts val="0"/>
                        </a:spcAft>
                        <a:buNone/>
                      </a:pPr>
                      <a:r>
                        <a:rPr lang="en">
                          <a:latin typeface="Proxima Nova"/>
                          <a:ea typeface="Proxima Nova"/>
                          <a:cs typeface="Proxima Nova"/>
                          <a:sym typeface="Proxima Nova"/>
                        </a:rPr>
                        <a:t>duration</a:t>
                      </a:r>
                      <a:endParaRPr>
                        <a:latin typeface="Proxima Nova"/>
                        <a:ea typeface="Proxima Nova"/>
                        <a:cs typeface="Proxima Nova"/>
                        <a:sym typeface="Proxima Nova"/>
                      </a:endParaRPr>
                    </a:p>
                  </a:txBody>
                  <a:tcPr marT="91425" marB="91425" marR="91425" marL="91425">
                    <a:solidFill>
                      <a:srgbClr val="D9D9D9"/>
                    </a:solidFill>
                  </a:tcPr>
                </a:tc>
                <a:tc>
                  <a:txBody>
                    <a:bodyPr/>
                    <a:lstStyle/>
                    <a:p>
                      <a:pPr indent="0" lvl="0" marL="0" rtl="0" algn="l">
                        <a:spcBef>
                          <a:spcPts val="0"/>
                        </a:spcBef>
                        <a:spcAft>
                          <a:spcPts val="0"/>
                        </a:spcAft>
                        <a:buNone/>
                      </a:pPr>
                      <a:r>
                        <a:rPr lang="en">
                          <a:latin typeface="Proxima Nova"/>
                          <a:ea typeface="Proxima Nova"/>
                          <a:cs typeface="Proxima Nova"/>
                          <a:sym typeface="Proxima Nova"/>
                        </a:rPr>
                        <a:t>No</a:t>
                      </a:r>
                      <a:endParaRPr>
                        <a:latin typeface="Proxima Nova"/>
                        <a:ea typeface="Proxima Nova"/>
                        <a:cs typeface="Proxima Nova"/>
                        <a:sym typeface="Proxima Nova"/>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a:latin typeface="Proxima Nova"/>
                          <a:ea typeface="Proxima Nova"/>
                          <a:cs typeface="Proxima Nova"/>
                          <a:sym typeface="Proxima Nova"/>
                        </a:rPr>
                        <a:t>Free Text</a:t>
                      </a:r>
                      <a:endParaRPr>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latin typeface="Proxima Nova"/>
                          <a:ea typeface="Proxima Nova"/>
                          <a:cs typeface="Proxima Nova"/>
                          <a:sym typeface="Proxima Nova"/>
                        </a:rPr>
                        <a:t>Yes</a:t>
                      </a:r>
                      <a:endParaRPr>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latin typeface="Proxima Nova"/>
                          <a:ea typeface="Proxima Nova"/>
                          <a:cs typeface="Proxima Nova"/>
                          <a:sym typeface="Proxima Nova"/>
                        </a:rPr>
                        <a:t>No</a:t>
                      </a:r>
                      <a:endParaRPr>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graphicFrame>
        <p:nvGraphicFramePr>
          <p:cNvPr id="92" name="Google Shape;92;p18"/>
          <p:cNvGraphicFramePr/>
          <p:nvPr/>
        </p:nvGraphicFramePr>
        <p:xfrm>
          <a:off x="507913" y="673300"/>
          <a:ext cx="3000000" cy="3000000"/>
        </p:xfrm>
        <a:graphic>
          <a:graphicData uri="http://schemas.openxmlformats.org/drawingml/2006/table">
            <a:tbl>
              <a:tblPr>
                <a:noFill/>
                <a:tableStyleId>{AC17D325-F3F8-4A5D-899C-0136587698C7}</a:tableStyleId>
              </a:tblPr>
              <a:tblGrid>
                <a:gridCol w="1561425"/>
                <a:gridCol w="1561425"/>
                <a:gridCol w="2021600"/>
                <a:gridCol w="1336675"/>
                <a:gridCol w="1647050"/>
              </a:tblGrid>
              <a:tr h="668725">
                <a:tc>
                  <a:txBody>
                    <a:bodyPr/>
                    <a:lstStyle/>
                    <a:p>
                      <a:pPr indent="0" lvl="0" marL="0" rtl="0" algn="l">
                        <a:spcBef>
                          <a:spcPts val="0"/>
                        </a:spcBef>
                        <a:spcAft>
                          <a:spcPts val="0"/>
                        </a:spcAft>
                        <a:buNone/>
                      </a:pPr>
                      <a:r>
                        <a:rPr lang="en">
                          <a:latin typeface="Proxima Nova"/>
                          <a:ea typeface="Proxima Nova"/>
                          <a:cs typeface="Proxima Nova"/>
                          <a:sym typeface="Proxima Nova"/>
                        </a:rPr>
                        <a:t>Column Name</a:t>
                      </a:r>
                      <a:endParaRPr>
                        <a:latin typeface="Proxima Nova"/>
                        <a:ea typeface="Proxima Nova"/>
                        <a:cs typeface="Proxima Nova"/>
                        <a:sym typeface="Proxima Nova"/>
                      </a:endParaRPr>
                    </a:p>
                  </a:txBody>
                  <a:tcPr marT="91425" marB="91425" marR="91425" marL="91425">
                    <a:solidFill>
                      <a:srgbClr val="BBF2D5"/>
                    </a:solidFill>
                  </a:tcPr>
                </a:tc>
                <a:tc>
                  <a:txBody>
                    <a:bodyPr/>
                    <a:lstStyle/>
                    <a:p>
                      <a:pPr indent="0" lvl="0" marL="0" rtl="0" algn="l">
                        <a:spcBef>
                          <a:spcPts val="0"/>
                        </a:spcBef>
                        <a:spcAft>
                          <a:spcPts val="0"/>
                        </a:spcAft>
                        <a:buNone/>
                      </a:pPr>
                      <a:r>
                        <a:rPr lang="en">
                          <a:latin typeface="Proxima Nova"/>
                          <a:ea typeface="Proxima Nova"/>
                          <a:cs typeface="Proxima Nova"/>
                          <a:sym typeface="Proxima Nova"/>
                        </a:rPr>
                        <a:t>Has missing value?</a:t>
                      </a:r>
                      <a:endParaRPr>
                        <a:latin typeface="Proxima Nova"/>
                        <a:ea typeface="Proxima Nova"/>
                        <a:cs typeface="Proxima Nova"/>
                        <a:sym typeface="Proxima Nova"/>
                      </a:endParaRPr>
                    </a:p>
                  </a:txBody>
                  <a:tcPr marT="91425" marB="91425" marR="91425" marL="91425">
                    <a:solidFill>
                      <a:srgbClr val="BBF2D5"/>
                    </a:solidFill>
                  </a:tcPr>
                </a:tc>
                <a:tc>
                  <a:txBody>
                    <a:bodyPr/>
                    <a:lstStyle/>
                    <a:p>
                      <a:pPr indent="0" lvl="0" marL="0" rtl="0" algn="l">
                        <a:spcBef>
                          <a:spcPts val="0"/>
                        </a:spcBef>
                        <a:spcAft>
                          <a:spcPts val="0"/>
                        </a:spcAft>
                        <a:buNone/>
                      </a:pPr>
                      <a:r>
                        <a:rPr lang="en">
                          <a:latin typeface="Proxima Nova"/>
                          <a:ea typeface="Proxima Nova"/>
                          <a:cs typeface="Proxima Nova"/>
                          <a:sym typeface="Proxima Nova"/>
                        </a:rPr>
                        <a:t>Data Type(Discrete or numeric or free text)</a:t>
                      </a:r>
                      <a:endParaRPr>
                        <a:latin typeface="Proxima Nova"/>
                        <a:ea typeface="Proxima Nova"/>
                        <a:cs typeface="Proxima Nova"/>
                        <a:sym typeface="Proxima Nova"/>
                      </a:endParaRPr>
                    </a:p>
                  </a:txBody>
                  <a:tcPr marT="91425" marB="91425" marR="91425" marL="91425">
                    <a:lnB cap="flat" cmpd="sng" w="9525">
                      <a:solidFill>
                        <a:srgbClr val="9E9E9E"/>
                      </a:solidFill>
                      <a:prstDash val="solid"/>
                      <a:round/>
                      <a:headEnd len="sm" w="sm" type="none"/>
                      <a:tailEnd len="sm" w="sm" type="none"/>
                    </a:lnB>
                    <a:solidFill>
                      <a:srgbClr val="BBF2D5"/>
                    </a:solidFill>
                  </a:tcPr>
                </a:tc>
                <a:tc>
                  <a:txBody>
                    <a:bodyPr/>
                    <a:lstStyle/>
                    <a:p>
                      <a:pPr indent="0" lvl="0" marL="0" rtl="0" algn="l">
                        <a:spcBef>
                          <a:spcPts val="0"/>
                        </a:spcBef>
                        <a:spcAft>
                          <a:spcPts val="0"/>
                        </a:spcAft>
                        <a:buNone/>
                      </a:pPr>
                      <a:r>
                        <a:rPr lang="en">
                          <a:latin typeface="Proxima Nova"/>
                          <a:ea typeface="Proxima Nova"/>
                          <a:cs typeface="Proxima Nova"/>
                          <a:sym typeface="Proxima Nova"/>
                        </a:rPr>
                        <a:t>Useful?</a:t>
                      </a:r>
                      <a:endParaRPr>
                        <a:latin typeface="Proxima Nova"/>
                        <a:ea typeface="Proxima Nova"/>
                        <a:cs typeface="Proxima Nova"/>
                        <a:sym typeface="Proxima Nova"/>
                      </a:endParaRPr>
                    </a:p>
                  </a:txBody>
                  <a:tcPr marT="91425" marB="91425" marR="91425" marL="91425">
                    <a:lnB cap="flat" cmpd="sng" w="9525">
                      <a:solidFill>
                        <a:srgbClr val="9E9E9E"/>
                      </a:solidFill>
                      <a:prstDash val="solid"/>
                      <a:round/>
                      <a:headEnd len="sm" w="sm" type="none"/>
                      <a:tailEnd len="sm" w="sm" type="none"/>
                    </a:lnB>
                    <a:solidFill>
                      <a:srgbClr val="BBF2D5"/>
                    </a:solidFill>
                  </a:tcPr>
                </a:tc>
                <a:tc>
                  <a:txBody>
                    <a:bodyPr/>
                    <a:lstStyle/>
                    <a:p>
                      <a:pPr indent="0" lvl="0" marL="0" rtl="0" algn="l">
                        <a:spcBef>
                          <a:spcPts val="0"/>
                        </a:spcBef>
                        <a:spcAft>
                          <a:spcPts val="0"/>
                        </a:spcAft>
                        <a:buNone/>
                      </a:pPr>
                      <a:r>
                        <a:rPr lang="en">
                          <a:latin typeface="Proxima Nova"/>
                          <a:ea typeface="Proxima Nova"/>
                          <a:cs typeface="Proxima Nova"/>
                          <a:sym typeface="Proxima Nova"/>
                        </a:rPr>
                        <a:t>Need cleaning or processing?</a:t>
                      </a:r>
                      <a:endParaRPr>
                        <a:latin typeface="Proxima Nova"/>
                        <a:ea typeface="Proxima Nova"/>
                        <a:cs typeface="Proxima Nova"/>
                        <a:sym typeface="Proxima Nova"/>
                      </a:endParaRPr>
                    </a:p>
                  </a:txBody>
                  <a:tcPr marT="91425" marB="91425" marR="91425" marL="91425">
                    <a:lnB cap="flat" cmpd="sng" w="9525">
                      <a:solidFill>
                        <a:srgbClr val="9E9E9E"/>
                      </a:solidFill>
                      <a:prstDash val="solid"/>
                      <a:round/>
                      <a:headEnd len="sm" w="sm" type="none"/>
                      <a:tailEnd len="sm" w="sm" type="none"/>
                    </a:lnB>
                    <a:solidFill>
                      <a:srgbClr val="BBF2D5"/>
                    </a:solidFill>
                  </a:tcPr>
                </a:tc>
              </a:tr>
              <a:tr h="421225">
                <a:tc>
                  <a:txBody>
                    <a:bodyPr/>
                    <a:lstStyle/>
                    <a:p>
                      <a:pPr indent="0" lvl="0" marL="0" rtl="0" algn="l">
                        <a:spcBef>
                          <a:spcPts val="0"/>
                        </a:spcBef>
                        <a:spcAft>
                          <a:spcPts val="0"/>
                        </a:spcAft>
                        <a:buNone/>
                      </a:pPr>
                      <a:r>
                        <a:rPr lang="en">
                          <a:latin typeface="Proxima Nova"/>
                          <a:ea typeface="Proxima Nova"/>
                          <a:cs typeface="Proxima Nova"/>
                          <a:sym typeface="Proxima Nova"/>
                        </a:rPr>
                        <a:t>rating</a:t>
                      </a:r>
                      <a:endParaRPr>
                        <a:latin typeface="Proxima Nova"/>
                        <a:ea typeface="Proxima Nova"/>
                        <a:cs typeface="Proxima Nova"/>
                        <a:sym typeface="Proxima Nova"/>
                      </a:endParaRPr>
                    </a:p>
                  </a:txBody>
                  <a:tcPr marT="91425" marB="91425" marR="91425" marL="91425">
                    <a:solidFill>
                      <a:srgbClr val="D9D9D9"/>
                    </a:solidFill>
                  </a:tcPr>
                </a:tc>
                <a:tc>
                  <a:txBody>
                    <a:bodyPr/>
                    <a:lstStyle/>
                    <a:p>
                      <a:pPr indent="0" lvl="0" marL="0" rtl="0" algn="l">
                        <a:spcBef>
                          <a:spcPts val="0"/>
                        </a:spcBef>
                        <a:spcAft>
                          <a:spcPts val="0"/>
                        </a:spcAft>
                        <a:buNone/>
                      </a:pPr>
                      <a:r>
                        <a:rPr lang="en">
                          <a:latin typeface="Proxima Nova"/>
                          <a:ea typeface="Proxima Nova"/>
                          <a:cs typeface="Proxima Nova"/>
                          <a:sym typeface="Proxima Nova"/>
                        </a:rPr>
                        <a:t>No</a:t>
                      </a:r>
                      <a:endParaRPr>
                        <a:latin typeface="Proxima Nova"/>
                        <a:ea typeface="Proxima Nova"/>
                        <a:cs typeface="Proxima Nova"/>
                        <a:sym typeface="Proxima Nova"/>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a:latin typeface="Proxima Nova"/>
                          <a:ea typeface="Proxima Nova"/>
                          <a:cs typeface="Proxima Nova"/>
                          <a:sym typeface="Proxima Nova"/>
                        </a:rPr>
                        <a:t>Free Text</a:t>
                      </a:r>
                      <a:endParaRPr>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latin typeface="Proxima Nova"/>
                          <a:ea typeface="Proxima Nova"/>
                          <a:cs typeface="Proxima Nova"/>
                          <a:sym typeface="Proxima Nova"/>
                        </a:rPr>
                        <a:t>No</a:t>
                      </a:r>
                      <a:endParaRPr>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latin typeface="Proxima Nova"/>
                          <a:ea typeface="Proxima Nova"/>
                          <a:cs typeface="Proxima Nova"/>
                          <a:sym typeface="Proxima Nova"/>
                        </a:rPr>
                        <a:t>No</a:t>
                      </a:r>
                      <a:endParaRPr>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21225">
                <a:tc>
                  <a:txBody>
                    <a:bodyPr/>
                    <a:lstStyle/>
                    <a:p>
                      <a:pPr indent="0" lvl="0" marL="0" rtl="0" algn="l">
                        <a:spcBef>
                          <a:spcPts val="0"/>
                        </a:spcBef>
                        <a:spcAft>
                          <a:spcPts val="0"/>
                        </a:spcAft>
                        <a:buNone/>
                      </a:pPr>
                      <a:r>
                        <a:rPr lang="en">
                          <a:latin typeface="Proxima Nova"/>
                          <a:ea typeface="Proxima Nova"/>
                          <a:cs typeface="Proxima Nova"/>
                          <a:sym typeface="Proxima Nova"/>
                        </a:rPr>
                        <a:t>rank</a:t>
                      </a:r>
                      <a:endParaRPr>
                        <a:latin typeface="Proxima Nova"/>
                        <a:ea typeface="Proxima Nova"/>
                        <a:cs typeface="Proxima Nova"/>
                        <a:sym typeface="Proxima Nova"/>
                      </a:endParaRPr>
                    </a:p>
                  </a:txBody>
                  <a:tcPr marT="91425" marB="91425" marR="91425" marL="91425">
                    <a:solidFill>
                      <a:srgbClr val="D9D9D9"/>
                    </a:solidFill>
                  </a:tcPr>
                </a:tc>
                <a:tc>
                  <a:txBody>
                    <a:bodyPr/>
                    <a:lstStyle/>
                    <a:p>
                      <a:pPr indent="0" lvl="0" marL="0" rtl="0" algn="l">
                        <a:spcBef>
                          <a:spcPts val="0"/>
                        </a:spcBef>
                        <a:spcAft>
                          <a:spcPts val="0"/>
                        </a:spcAft>
                        <a:buNone/>
                      </a:pPr>
                      <a:r>
                        <a:rPr lang="en">
                          <a:latin typeface="Proxima Nova"/>
                          <a:ea typeface="Proxima Nova"/>
                          <a:cs typeface="Proxima Nova"/>
                          <a:sym typeface="Proxima Nova"/>
                        </a:rPr>
                        <a:t>No</a:t>
                      </a:r>
                      <a:endParaRPr>
                        <a:latin typeface="Proxima Nova"/>
                        <a:ea typeface="Proxima Nova"/>
                        <a:cs typeface="Proxima Nova"/>
                        <a:sym typeface="Proxima Nova"/>
                      </a:endParaRPr>
                    </a:p>
                  </a:txBody>
                  <a:tcPr marT="91425" marB="91425" marR="91425" marL="91425"/>
                </a:tc>
                <a:tc>
                  <a:txBody>
                    <a:bodyPr/>
                    <a:lstStyle/>
                    <a:p>
                      <a:pPr indent="0" lvl="0" marL="0" rtl="0" algn="l">
                        <a:spcBef>
                          <a:spcPts val="0"/>
                        </a:spcBef>
                        <a:spcAft>
                          <a:spcPts val="0"/>
                        </a:spcAft>
                        <a:buNone/>
                      </a:pPr>
                      <a:r>
                        <a:rPr lang="en">
                          <a:latin typeface="Proxima Nova"/>
                          <a:ea typeface="Proxima Nova"/>
                          <a:cs typeface="Proxima Nova"/>
                          <a:sym typeface="Proxima Nova"/>
                        </a:rPr>
                        <a:t>Numeric</a:t>
                      </a:r>
                      <a:endParaRPr>
                        <a:latin typeface="Proxima Nova"/>
                        <a:ea typeface="Proxima Nova"/>
                        <a:cs typeface="Proxima Nova"/>
                        <a:sym typeface="Proxima Nova"/>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latin typeface="Proxima Nova"/>
                          <a:ea typeface="Proxima Nova"/>
                          <a:cs typeface="Proxima Nova"/>
                          <a:sym typeface="Proxima Nova"/>
                        </a:rPr>
                        <a:t>Yes</a:t>
                      </a:r>
                      <a:endParaRPr>
                        <a:latin typeface="Proxima Nova"/>
                        <a:ea typeface="Proxima Nova"/>
                        <a:cs typeface="Proxima Nova"/>
                        <a:sym typeface="Proxima Nova"/>
                      </a:endParaRPr>
                    </a:p>
                  </a:txBody>
                  <a:tcPr marT="91425" marB="91425" marR="91425" marL="91425">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latin typeface="Proxima Nova"/>
                          <a:ea typeface="Proxima Nova"/>
                          <a:cs typeface="Proxima Nova"/>
                          <a:sym typeface="Proxima Nova"/>
                        </a:rPr>
                        <a:t>No</a:t>
                      </a:r>
                      <a:endParaRPr>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21225">
                <a:tc>
                  <a:txBody>
                    <a:bodyPr/>
                    <a:lstStyle/>
                    <a:p>
                      <a:pPr indent="0" lvl="0" marL="0" rtl="0" algn="l">
                        <a:spcBef>
                          <a:spcPts val="0"/>
                        </a:spcBef>
                        <a:spcAft>
                          <a:spcPts val="0"/>
                        </a:spcAft>
                        <a:buNone/>
                      </a:pPr>
                      <a:r>
                        <a:rPr lang="en">
                          <a:latin typeface="Proxima Nova"/>
                          <a:ea typeface="Proxima Nova"/>
                          <a:cs typeface="Proxima Nova"/>
                          <a:sym typeface="Proxima Nova"/>
                        </a:rPr>
                        <a:t>popularity</a:t>
                      </a:r>
                      <a:endParaRPr>
                        <a:latin typeface="Proxima Nova"/>
                        <a:ea typeface="Proxima Nova"/>
                        <a:cs typeface="Proxima Nova"/>
                        <a:sym typeface="Proxima Nova"/>
                      </a:endParaRPr>
                    </a:p>
                  </a:txBody>
                  <a:tcPr marT="91425" marB="91425" marR="91425" marL="91425">
                    <a:solidFill>
                      <a:srgbClr val="D9D9D9"/>
                    </a:solidFill>
                  </a:tcPr>
                </a:tc>
                <a:tc>
                  <a:txBody>
                    <a:bodyPr/>
                    <a:lstStyle/>
                    <a:p>
                      <a:pPr indent="0" lvl="0" marL="0" rtl="0" algn="l">
                        <a:spcBef>
                          <a:spcPts val="0"/>
                        </a:spcBef>
                        <a:spcAft>
                          <a:spcPts val="0"/>
                        </a:spcAft>
                        <a:buNone/>
                      </a:pPr>
                      <a:r>
                        <a:rPr lang="en">
                          <a:latin typeface="Proxima Nova"/>
                          <a:ea typeface="Proxima Nova"/>
                          <a:cs typeface="Proxima Nova"/>
                          <a:sym typeface="Proxima Nova"/>
                        </a:rPr>
                        <a:t>No</a:t>
                      </a:r>
                      <a:endParaRPr>
                        <a:latin typeface="Proxima Nova"/>
                        <a:ea typeface="Proxima Nova"/>
                        <a:cs typeface="Proxima Nova"/>
                        <a:sym typeface="Proxima Nova"/>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a:latin typeface="Proxima Nova"/>
                          <a:ea typeface="Proxima Nova"/>
                          <a:cs typeface="Proxima Nova"/>
                          <a:sym typeface="Proxima Nova"/>
                        </a:rPr>
                        <a:t>Numeric</a:t>
                      </a:r>
                      <a:endParaRPr>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latin typeface="Proxima Nova"/>
                          <a:ea typeface="Proxima Nova"/>
                          <a:cs typeface="Proxima Nova"/>
                          <a:sym typeface="Proxima Nova"/>
                        </a:rPr>
                        <a:t>Yes</a:t>
                      </a:r>
                      <a:endParaRPr>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latin typeface="Proxima Nova"/>
                          <a:ea typeface="Proxima Nova"/>
                          <a:cs typeface="Proxima Nova"/>
                          <a:sym typeface="Proxima Nova"/>
                        </a:rPr>
                        <a:t>No</a:t>
                      </a:r>
                      <a:endParaRPr>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21225">
                <a:tc>
                  <a:txBody>
                    <a:bodyPr/>
                    <a:lstStyle/>
                    <a:p>
                      <a:pPr indent="0" lvl="0" marL="0" rtl="0" algn="l">
                        <a:spcBef>
                          <a:spcPts val="0"/>
                        </a:spcBef>
                        <a:spcAft>
                          <a:spcPts val="0"/>
                        </a:spcAft>
                        <a:buNone/>
                      </a:pPr>
                      <a:r>
                        <a:rPr lang="en">
                          <a:latin typeface="Proxima Nova"/>
                          <a:ea typeface="Proxima Nova"/>
                          <a:cs typeface="Proxima Nova"/>
                          <a:sym typeface="Proxima Nova"/>
                        </a:rPr>
                        <a:t>favorites</a:t>
                      </a:r>
                      <a:endParaRPr>
                        <a:latin typeface="Proxima Nova"/>
                        <a:ea typeface="Proxima Nova"/>
                        <a:cs typeface="Proxima Nova"/>
                        <a:sym typeface="Proxima Nova"/>
                      </a:endParaRPr>
                    </a:p>
                  </a:txBody>
                  <a:tcPr marT="91425" marB="91425" marR="91425" marL="91425">
                    <a:solidFill>
                      <a:srgbClr val="D9D9D9"/>
                    </a:solidFill>
                  </a:tcPr>
                </a:tc>
                <a:tc>
                  <a:txBody>
                    <a:bodyPr/>
                    <a:lstStyle/>
                    <a:p>
                      <a:pPr indent="0" lvl="0" marL="0" rtl="0" algn="l">
                        <a:spcBef>
                          <a:spcPts val="0"/>
                        </a:spcBef>
                        <a:spcAft>
                          <a:spcPts val="0"/>
                        </a:spcAft>
                        <a:buNone/>
                      </a:pPr>
                      <a:r>
                        <a:rPr lang="en">
                          <a:latin typeface="Proxima Nova"/>
                          <a:ea typeface="Proxima Nova"/>
                          <a:cs typeface="Proxima Nova"/>
                          <a:sym typeface="Proxima Nova"/>
                        </a:rPr>
                        <a:t>No</a:t>
                      </a:r>
                      <a:endParaRPr>
                        <a:latin typeface="Proxima Nova"/>
                        <a:ea typeface="Proxima Nova"/>
                        <a:cs typeface="Proxima Nova"/>
                        <a:sym typeface="Proxima Nova"/>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a:latin typeface="Proxima Nova"/>
                          <a:ea typeface="Proxima Nova"/>
                          <a:cs typeface="Proxima Nova"/>
                          <a:sym typeface="Proxima Nova"/>
                        </a:rPr>
                        <a:t>Numeric</a:t>
                      </a:r>
                      <a:endParaRPr>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latin typeface="Proxima Nova"/>
                          <a:ea typeface="Proxima Nova"/>
                          <a:cs typeface="Proxima Nova"/>
                          <a:sym typeface="Proxima Nova"/>
                        </a:rPr>
                        <a:t>Yes</a:t>
                      </a:r>
                      <a:endParaRPr>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latin typeface="Proxima Nova"/>
                          <a:ea typeface="Proxima Nova"/>
                          <a:cs typeface="Proxima Nova"/>
                          <a:sym typeface="Proxima Nova"/>
                        </a:rPr>
                        <a:t>No</a:t>
                      </a:r>
                      <a:endParaRPr>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21225">
                <a:tc>
                  <a:txBody>
                    <a:bodyPr/>
                    <a:lstStyle/>
                    <a:p>
                      <a:pPr indent="0" lvl="0" marL="0" rtl="0" algn="l">
                        <a:spcBef>
                          <a:spcPts val="0"/>
                        </a:spcBef>
                        <a:spcAft>
                          <a:spcPts val="0"/>
                        </a:spcAft>
                        <a:buNone/>
                      </a:pPr>
                      <a:r>
                        <a:rPr lang="en">
                          <a:latin typeface="Proxima Nova"/>
                          <a:ea typeface="Proxima Nova"/>
                          <a:cs typeface="Proxima Nova"/>
                          <a:sym typeface="Proxima Nova"/>
                        </a:rPr>
                        <a:t>scored_by</a:t>
                      </a:r>
                      <a:endParaRPr>
                        <a:latin typeface="Proxima Nova"/>
                        <a:ea typeface="Proxima Nova"/>
                        <a:cs typeface="Proxima Nova"/>
                        <a:sym typeface="Proxima Nova"/>
                      </a:endParaRPr>
                    </a:p>
                  </a:txBody>
                  <a:tcPr marT="91425" marB="91425" marR="91425" marL="91425">
                    <a:solidFill>
                      <a:srgbClr val="D9D9D9"/>
                    </a:solidFill>
                  </a:tcPr>
                </a:tc>
                <a:tc>
                  <a:txBody>
                    <a:bodyPr/>
                    <a:lstStyle/>
                    <a:p>
                      <a:pPr indent="0" lvl="0" marL="0" rtl="0" algn="l">
                        <a:spcBef>
                          <a:spcPts val="0"/>
                        </a:spcBef>
                        <a:spcAft>
                          <a:spcPts val="0"/>
                        </a:spcAft>
                        <a:buNone/>
                      </a:pPr>
                      <a:r>
                        <a:rPr lang="en">
                          <a:latin typeface="Proxima Nova"/>
                          <a:ea typeface="Proxima Nova"/>
                          <a:cs typeface="Proxima Nova"/>
                          <a:sym typeface="Proxima Nova"/>
                        </a:rPr>
                        <a:t>No</a:t>
                      </a:r>
                      <a:endParaRPr>
                        <a:latin typeface="Proxima Nova"/>
                        <a:ea typeface="Proxima Nova"/>
                        <a:cs typeface="Proxima Nova"/>
                        <a:sym typeface="Proxima Nova"/>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a:latin typeface="Proxima Nova"/>
                          <a:ea typeface="Proxima Nova"/>
                          <a:cs typeface="Proxima Nova"/>
                          <a:sym typeface="Proxima Nova"/>
                        </a:rPr>
                        <a:t>Numeric</a:t>
                      </a:r>
                      <a:endParaRPr>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latin typeface="Proxima Nova"/>
                          <a:ea typeface="Proxima Nova"/>
                          <a:cs typeface="Proxima Nova"/>
                          <a:sym typeface="Proxima Nova"/>
                        </a:rPr>
                        <a:t>No</a:t>
                      </a:r>
                      <a:endParaRPr>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latin typeface="Proxima Nova"/>
                          <a:ea typeface="Proxima Nova"/>
                          <a:cs typeface="Proxima Nova"/>
                          <a:sym typeface="Proxima Nova"/>
                        </a:rPr>
                        <a:t>No</a:t>
                      </a:r>
                      <a:endParaRPr>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21225">
                <a:tc>
                  <a:txBody>
                    <a:bodyPr/>
                    <a:lstStyle/>
                    <a:p>
                      <a:pPr indent="0" lvl="0" marL="0" rtl="0" algn="l">
                        <a:spcBef>
                          <a:spcPts val="0"/>
                        </a:spcBef>
                        <a:spcAft>
                          <a:spcPts val="0"/>
                        </a:spcAft>
                        <a:buNone/>
                      </a:pPr>
                      <a:r>
                        <a:rPr lang="en">
                          <a:latin typeface="Proxima Nova"/>
                          <a:ea typeface="Proxima Nova"/>
                          <a:cs typeface="Proxima Nova"/>
                          <a:sym typeface="Proxima Nova"/>
                        </a:rPr>
                        <a:t>members</a:t>
                      </a:r>
                      <a:endParaRPr>
                        <a:latin typeface="Proxima Nova"/>
                        <a:ea typeface="Proxima Nova"/>
                        <a:cs typeface="Proxima Nova"/>
                        <a:sym typeface="Proxima Nova"/>
                      </a:endParaRPr>
                    </a:p>
                  </a:txBody>
                  <a:tcPr marT="91425" marB="91425" marR="91425" marL="91425">
                    <a:solidFill>
                      <a:srgbClr val="D9D9D9"/>
                    </a:solidFill>
                  </a:tcPr>
                </a:tc>
                <a:tc>
                  <a:txBody>
                    <a:bodyPr/>
                    <a:lstStyle/>
                    <a:p>
                      <a:pPr indent="0" lvl="0" marL="0" rtl="0" algn="l">
                        <a:spcBef>
                          <a:spcPts val="0"/>
                        </a:spcBef>
                        <a:spcAft>
                          <a:spcPts val="0"/>
                        </a:spcAft>
                        <a:buNone/>
                      </a:pPr>
                      <a:r>
                        <a:rPr lang="en">
                          <a:latin typeface="Proxima Nova"/>
                          <a:ea typeface="Proxima Nova"/>
                          <a:cs typeface="Proxima Nova"/>
                          <a:sym typeface="Proxima Nova"/>
                        </a:rPr>
                        <a:t>No</a:t>
                      </a:r>
                      <a:endParaRPr>
                        <a:latin typeface="Proxima Nova"/>
                        <a:ea typeface="Proxima Nova"/>
                        <a:cs typeface="Proxima Nova"/>
                        <a:sym typeface="Proxima Nova"/>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a:latin typeface="Proxima Nova"/>
                          <a:ea typeface="Proxima Nova"/>
                          <a:cs typeface="Proxima Nova"/>
                          <a:sym typeface="Proxima Nova"/>
                        </a:rPr>
                        <a:t>Numeric</a:t>
                      </a:r>
                      <a:endParaRPr>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latin typeface="Proxima Nova"/>
                          <a:ea typeface="Proxima Nova"/>
                          <a:cs typeface="Proxima Nova"/>
                          <a:sym typeface="Proxima Nova"/>
                        </a:rPr>
                        <a:t>No</a:t>
                      </a:r>
                      <a:endParaRPr>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latin typeface="Proxima Nova"/>
                          <a:ea typeface="Proxima Nova"/>
                          <a:cs typeface="Proxima Nova"/>
                          <a:sym typeface="Proxima Nova"/>
                        </a:rPr>
                        <a:t>No</a:t>
                      </a:r>
                      <a:endParaRPr>
                        <a:latin typeface="Proxima Nova"/>
                        <a:ea typeface="Proxima Nova"/>
                        <a:cs typeface="Proxima Nova"/>
                        <a:sym typeface="Proxima Nov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93" name="Google Shape;93;p18"/>
          <p:cNvSpPr txBox="1"/>
          <p:nvPr>
            <p:ph type="title"/>
          </p:nvPr>
        </p:nvSpPr>
        <p:spPr>
          <a:xfrm>
            <a:off x="507925" y="69975"/>
            <a:ext cx="83244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Data Profile Continued…</a:t>
            </a:r>
            <a:endParaRPr b="1"/>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Curious Questions</a:t>
            </a:r>
            <a:endParaRPr b="1"/>
          </a:p>
        </p:txBody>
      </p:sp>
      <p:sp>
        <p:nvSpPr>
          <p:cNvPr id="99" name="Google Shape;99;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Does a higher score mean an anime is more popular? ✅</a:t>
            </a:r>
            <a:endParaRPr/>
          </a:p>
          <a:p>
            <a:pPr indent="-342900" lvl="0" marL="457200" rtl="0" algn="l">
              <a:spcBef>
                <a:spcPts val="0"/>
              </a:spcBef>
              <a:spcAft>
                <a:spcPts val="0"/>
              </a:spcAft>
              <a:buSzPts val="1800"/>
              <a:buAutoNum type="arabicPeriod"/>
            </a:pPr>
            <a:r>
              <a:rPr lang="en"/>
              <a:t>Which genres have the highest average scores?</a:t>
            </a:r>
            <a:endParaRPr/>
          </a:p>
          <a:p>
            <a:pPr indent="-342900" lvl="0" marL="457200" rtl="0" algn="l">
              <a:spcBef>
                <a:spcPts val="0"/>
              </a:spcBef>
              <a:spcAft>
                <a:spcPts val="0"/>
              </a:spcAft>
              <a:buSzPts val="1800"/>
              <a:buAutoNum type="arabicPeriod"/>
            </a:pPr>
            <a:r>
              <a:rPr lang="en"/>
              <a:t>Which genres are the most popular?</a:t>
            </a:r>
            <a:endParaRPr/>
          </a:p>
          <a:p>
            <a:pPr indent="-342900" lvl="0" marL="457200" rtl="0" algn="l">
              <a:spcBef>
                <a:spcPts val="0"/>
              </a:spcBef>
              <a:spcAft>
                <a:spcPts val="0"/>
              </a:spcAft>
              <a:buSzPts val="1800"/>
              <a:buAutoNum type="arabicPeriod"/>
            </a:pPr>
            <a:r>
              <a:rPr lang="en"/>
              <a:t>Are movies rated higher than TV shows?</a:t>
            </a:r>
            <a:endParaRPr/>
          </a:p>
          <a:p>
            <a:pPr indent="-342900" lvl="0" marL="457200" rtl="0" algn="l">
              <a:spcBef>
                <a:spcPts val="0"/>
              </a:spcBef>
              <a:spcAft>
                <a:spcPts val="0"/>
              </a:spcAft>
              <a:buSzPts val="1800"/>
              <a:buAutoNum type="arabicPeriod"/>
            </a:pPr>
            <a:r>
              <a:rPr lang="en"/>
              <a:t>Do longer anime (more episodes) get higher ratings? ✅</a:t>
            </a:r>
            <a:endParaRPr/>
          </a:p>
          <a:p>
            <a:pPr indent="-342900" lvl="0" marL="457200" rtl="0" algn="l">
              <a:spcBef>
                <a:spcPts val="0"/>
              </a:spcBef>
              <a:spcAft>
                <a:spcPts val="0"/>
              </a:spcAft>
              <a:buSzPts val="1800"/>
              <a:buAutoNum type="arabicPeriod"/>
            </a:pPr>
            <a:r>
              <a:rPr lang="en"/>
              <a:t>Does the source material affect ratings? ✅</a:t>
            </a:r>
            <a:endParaRPr/>
          </a:p>
          <a:p>
            <a:pPr indent="-342900" lvl="0" marL="457200" rtl="0" algn="l">
              <a:spcBef>
                <a:spcPts val="0"/>
              </a:spcBef>
              <a:spcAft>
                <a:spcPts val="0"/>
              </a:spcAft>
              <a:buSzPts val="1800"/>
              <a:buAutoNum type="arabicPeriod"/>
            </a:pPr>
            <a:r>
              <a:rPr lang="en"/>
              <a:t>Are newer anime rated higher than older ones?</a:t>
            </a:r>
            <a:endParaRPr/>
          </a:p>
          <a:p>
            <a:pPr indent="-342900" lvl="0" marL="457200" rtl="0" algn="l">
              <a:spcBef>
                <a:spcPts val="0"/>
              </a:spcBef>
              <a:spcAft>
                <a:spcPts val="0"/>
              </a:spcAft>
              <a:buSzPts val="1800"/>
              <a:buAutoNum type="arabicPeriod"/>
            </a:pPr>
            <a:r>
              <a:rPr lang="en"/>
              <a:t>Which anime are underrated (scores are high but popularity is low)? ✅</a:t>
            </a:r>
            <a:endParaRPr/>
          </a:p>
          <a:p>
            <a:pPr indent="-342900" lvl="0" marL="457200" rtl="0" algn="l">
              <a:spcBef>
                <a:spcPts val="0"/>
              </a:spcBef>
              <a:spcAft>
                <a:spcPts val="0"/>
              </a:spcAft>
              <a:buSzPts val="1800"/>
              <a:buAutoNum type="arabicPeriod"/>
            </a:pPr>
            <a:r>
              <a:rPr lang="en"/>
              <a:t>Which anime are overhyped (scores are low but popularity is high)? ✅</a:t>
            </a:r>
            <a:endParaRPr/>
          </a:p>
          <a:p>
            <a:pPr indent="-342900" lvl="0" marL="457200" rtl="0" algn="l">
              <a:spcBef>
                <a:spcPts val="0"/>
              </a:spcBef>
              <a:spcAft>
                <a:spcPts val="0"/>
              </a:spcAft>
              <a:buSzPts val="1800"/>
              <a:buAutoNum type="arabicPeriod"/>
            </a:pPr>
            <a:r>
              <a:rPr lang="en"/>
              <a:t>Do anime with more favorites also have higher scores?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0"/>
          <p:cNvSpPr txBox="1"/>
          <p:nvPr>
            <p:ph type="title"/>
          </p:nvPr>
        </p:nvSpPr>
        <p:spPr>
          <a:xfrm>
            <a:off x="260225" y="111950"/>
            <a:ext cx="2191200" cy="572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sz="3000"/>
              <a:t>Audience</a:t>
            </a:r>
            <a:endParaRPr b="1" sz="3000"/>
          </a:p>
        </p:txBody>
      </p:sp>
      <p:sp>
        <p:nvSpPr>
          <p:cNvPr id="105" name="Google Shape;105;p20"/>
          <p:cNvSpPr txBox="1"/>
          <p:nvPr>
            <p:ph type="title"/>
          </p:nvPr>
        </p:nvSpPr>
        <p:spPr>
          <a:xfrm>
            <a:off x="5984275" y="171975"/>
            <a:ext cx="2916900" cy="782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b="1" lang="en" sz="3000">
                <a:solidFill>
                  <a:schemeClr val="lt1"/>
                </a:solidFill>
              </a:rPr>
              <a:t>Communication Goals</a:t>
            </a:r>
            <a:endParaRPr b="1" sz="3000">
              <a:solidFill>
                <a:schemeClr val="lt1"/>
              </a:solidFill>
            </a:endParaRPr>
          </a:p>
        </p:txBody>
      </p:sp>
      <p:sp>
        <p:nvSpPr>
          <p:cNvPr id="106" name="Google Shape;106;p20"/>
          <p:cNvSpPr txBox="1"/>
          <p:nvPr/>
        </p:nvSpPr>
        <p:spPr>
          <a:xfrm>
            <a:off x="260225" y="1083300"/>
            <a:ext cx="4003200" cy="391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accent3"/>
                </a:solidFill>
                <a:latin typeface="Proxima Nova"/>
                <a:ea typeface="Proxima Nova"/>
                <a:cs typeface="Proxima Nova"/>
                <a:sym typeface="Proxima Nova"/>
              </a:rPr>
              <a:t>The audience for this anime analysis includes…</a:t>
            </a:r>
            <a:endParaRPr sz="1500">
              <a:solidFill>
                <a:schemeClr val="accent3"/>
              </a:solidFill>
              <a:latin typeface="Proxima Nova"/>
              <a:ea typeface="Proxima Nova"/>
              <a:cs typeface="Proxima Nova"/>
              <a:sym typeface="Proxima Nova"/>
            </a:endParaRPr>
          </a:p>
          <a:p>
            <a:pPr indent="0" lvl="0" marL="0" rtl="0" algn="l">
              <a:spcBef>
                <a:spcPts val="0"/>
              </a:spcBef>
              <a:spcAft>
                <a:spcPts val="0"/>
              </a:spcAft>
              <a:buNone/>
            </a:pPr>
            <a:r>
              <a:t/>
            </a:r>
            <a:endParaRPr sz="1500">
              <a:solidFill>
                <a:schemeClr val="accent3"/>
              </a:solidFill>
              <a:latin typeface="Proxima Nova"/>
              <a:ea typeface="Proxima Nova"/>
              <a:cs typeface="Proxima Nova"/>
              <a:sym typeface="Proxima Nova"/>
            </a:endParaRPr>
          </a:p>
          <a:p>
            <a:pPr indent="-323850" lvl="0" marL="457200" rtl="0" algn="l">
              <a:spcBef>
                <a:spcPts val="0"/>
              </a:spcBef>
              <a:spcAft>
                <a:spcPts val="0"/>
              </a:spcAft>
              <a:buClr>
                <a:schemeClr val="dk2"/>
              </a:buClr>
              <a:buSzPts val="1500"/>
              <a:buFont typeface="Proxima Nova"/>
              <a:buChar char="●"/>
            </a:pPr>
            <a:r>
              <a:rPr lang="en" sz="1500">
                <a:solidFill>
                  <a:schemeClr val="accent3"/>
                </a:solidFill>
                <a:latin typeface="Proxima Nova"/>
                <a:ea typeface="Proxima Nova"/>
                <a:cs typeface="Proxima Nova"/>
                <a:sym typeface="Proxima Nova"/>
              </a:rPr>
              <a:t>Anime fans who want to discover trends, hidden gems, or popular shows.</a:t>
            </a:r>
            <a:endParaRPr sz="1500">
              <a:solidFill>
                <a:schemeClr val="accent3"/>
              </a:solidFill>
              <a:latin typeface="Proxima Nova"/>
              <a:ea typeface="Proxima Nova"/>
              <a:cs typeface="Proxima Nova"/>
              <a:sym typeface="Proxima Nova"/>
            </a:endParaRPr>
          </a:p>
          <a:p>
            <a:pPr indent="-323850" lvl="0" marL="457200" rtl="0" algn="l">
              <a:spcBef>
                <a:spcPts val="0"/>
              </a:spcBef>
              <a:spcAft>
                <a:spcPts val="0"/>
              </a:spcAft>
              <a:buClr>
                <a:schemeClr val="dk2"/>
              </a:buClr>
              <a:buSzPts val="1500"/>
              <a:buFont typeface="Proxima Nova"/>
              <a:buChar char="●"/>
            </a:pPr>
            <a:r>
              <a:rPr lang="en" sz="1500">
                <a:solidFill>
                  <a:schemeClr val="accent3"/>
                </a:solidFill>
                <a:latin typeface="Proxima Nova"/>
                <a:ea typeface="Proxima Nova"/>
                <a:cs typeface="Proxima Nova"/>
                <a:sym typeface="Proxima Nova"/>
              </a:rPr>
              <a:t>Media analysts or studios who might use these insights to understand what drives anime popularity and ratings.</a:t>
            </a:r>
            <a:endParaRPr sz="1500">
              <a:solidFill>
                <a:schemeClr val="accent3"/>
              </a:solidFill>
              <a:latin typeface="Proxima Nova"/>
              <a:ea typeface="Proxima Nova"/>
              <a:cs typeface="Proxima Nova"/>
              <a:sym typeface="Proxima Nova"/>
            </a:endParaRPr>
          </a:p>
          <a:p>
            <a:pPr indent="-323850" lvl="0" marL="457200" rtl="0" algn="l">
              <a:spcBef>
                <a:spcPts val="0"/>
              </a:spcBef>
              <a:spcAft>
                <a:spcPts val="0"/>
              </a:spcAft>
              <a:buClr>
                <a:schemeClr val="dk2"/>
              </a:buClr>
              <a:buSzPts val="1500"/>
              <a:buFont typeface="Proxima Nova"/>
              <a:buChar char="●"/>
            </a:pPr>
            <a:r>
              <a:rPr lang="en" sz="1500">
                <a:solidFill>
                  <a:schemeClr val="accent3"/>
                </a:solidFill>
                <a:latin typeface="Proxima Nova"/>
                <a:ea typeface="Proxima Nova"/>
                <a:cs typeface="Proxima Nova"/>
                <a:sym typeface="Proxima Nova"/>
              </a:rPr>
              <a:t>Media consumers who are looking for something new to watch.</a:t>
            </a:r>
            <a:endParaRPr sz="1500">
              <a:solidFill>
                <a:schemeClr val="accent3"/>
              </a:solidFill>
              <a:latin typeface="Proxima Nova"/>
              <a:ea typeface="Proxima Nova"/>
              <a:cs typeface="Proxima Nova"/>
              <a:sym typeface="Proxima Nova"/>
            </a:endParaRPr>
          </a:p>
          <a:p>
            <a:pPr indent="-323850" lvl="0" marL="457200" rtl="0" algn="l">
              <a:spcBef>
                <a:spcPts val="0"/>
              </a:spcBef>
              <a:spcAft>
                <a:spcPts val="0"/>
              </a:spcAft>
              <a:buClr>
                <a:schemeClr val="dk2"/>
              </a:buClr>
              <a:buSzPts val="1500"/>
              <a:buFont typeface="Proxima Nova"/>
              <a:buChar char="●"/>
            </a:pPr>
            <a:r>
              <a:rPr lang="en" sz="1500" strike="sngStrike">
                <a:solidFill>
                  <a:schemeClr val="accent3"/>
                </a:solidFill>
                <a:latin typeface="Proxima Nova"/>
                <a:ea typeface="Proxima Nova"/>
                <a:cs typeface="Proxima Nova"/>
                <a:sym typeface="Proxima Nova"/>
              </a:rPr>
              <a:t>Data analysts who are interested in seeing how patterns and insights can be extracted from real-world entertainment data.</a:t>
            </a:r>
            <a:endParaRPr sz="1500" strike="sngStrike">
              <a:solidFill>
                <a:schemeClr val="accent3"/>
              </a:solidFill>
              <a:latin typeface="Proxima Nova"/>
              <a:ea typeface="Proxima Nova"/>
              <a:cs typeface="Proxima Nova"/>
              <a:sym typeface="Proxima Nova"/>
            </a:endParaRPr>
          </a:p>
        </p:txBody>
      </p:sp>
      <p:sp>
        <p:nvSpPr>
          <p:cNvPr id="107" name="Google Shape;107;p20"/>
          <p:cNvSpPr txBox="1"/>
          <p:nvPr/>
        </p:nvSpPr>
        <p:spPr>
          <a:xfrm>
            <a:off x="5011625" y="955192"/>
            <a:ext cx="3830700" cy="396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lt1"/>
                </a:solidFill>
                <a:latin typeface="Proxima Nova"/>
                <a:ea typeface="Proxima Nova"/>
                <a:cs typeface="Proxima Nova"/>
                <a:sym typeface="Proxima Nova"/>
              </a:rPr>
              <a:t>The goal of this analysis is to help anime viewers make better decisions about what to watch by giving them a clearer understanding of how ratings, popularity, and other factors actually relate. Many viewers rely on popularity or rankings, so this project aims to shift that perspective by showing that highly rated anime are not always the most popular, and some less popular shows may be worth watching. By highlighting these patterns, the analysis helps fans discover anime they might have otherwise overlooked. This will encourage viewers to look beyond the basic metrics and explore more diverse animes.</a:t>
            </a:r>
            <a:endParaRPr sz="1500">
              <a:solidFill>
                <a:schemeClr val="lt1"/>
              </a:solidFill>
              <a:latin typeface="Proxima Nova"/>
              <a:ea typeface="Proxima Nova"/>
              <a:cs typeface="Proxima Nova"/>
              <a:sym typeface="Proxima Nov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1" name="Shape 111"/>
        <p:cNvGrpSpPr/>
        <p:nvPr/>
      </p:nvGrpSpPr>
      <p:grpSpPr>
        <a:xfrm>
          <a:off x="0" y="0"/>
          <a:ext cx="0" cy="0"/>
          <a:chOff x="0" y="0"/>
          <a:chExt cx="0" cy="0"/>
        </a:xfrm>
      </p:grpSpPr>
      <p:sp>
        <p:nvSpPr>
          <p:cNvPr id="112" name="Google Shape;112;p21"/>
          <p:cNvSpPr/>
          <p:nvPr/>
        </p:nvSpPr>
        <p:spPr>
          <a:xfrm>
            <a:off x="7650" y="15300"/>
            <a:ext cx="9144000" cy="5143500"/>
          </a:xfrm>
          <a:prstGeom prst="rect">
            <a:avLst/>
          </a:prstGeom>
          <a:solidFill>
            <a:srgbClr val="424242">
              <a:alpha val="6962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113" name="Google Shape;113;p21"/>
          <p:cNvSpPr txBox="1"/>
          <p:nvPr>
            <p:ph type="ctrTitle"/>
          </p:nvPr>
        </p:nvSpPr>
        <p:spPr>
          <a:xfrm>
            <a:off x="510450" y="1257300"/>
            <a:ext cx="8123100" cy="1588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a:t>Mini Update #2</a:t>
            </a:r>
            <a:endParaRPr b="1"/>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2"/>
          <p:cNvSpPr txBox="1"/>
          <p:nvPr>
            <p:ph type="title"/>
          </p:nvPr>
        </p:nvSpPr>
        <p:spPr>
          <a:xfrm>
            <a:off x="1101150" y="158800"/>
            <a:ext cx="75048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Top 10 Highest Rated Anime in the Data Set &amp; Their Genres</a:t>
            </a:r>
            <a:endParaRPr b="1"/>
          </a:p>
        </p:txBody>
      </p:sp>
      <p:sp>
        <p:nvSpPr>
          <p:cNvPr id="119" name="Google Shape;119;p22"/>
          <p:cNvSpPr txBox="1"/>
          <p:nvPr>
            <p:ph idx="1" type="body"/>
          </p:nvPr>
        </p:nvSpPr>
        <p:spPr>
          <a:xfrm>
            <a:off x="175075" y="1089525"/>
            <a:ext cx="4946100" cy="38127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sz="1200"/>
              <a:t>Looking at the top 10 highest rated anime, all of them score very closely as you can see in the bar chart. Most of them are between 8.5 and 9, showing that they are all considered extremely high quality by viewers. Sousou no Frieren (Frieren: Beyond Journey’s End) stands slightly above the rest, but overall there isn’t a huge gap in scores, which suggests that multiple anime are seen as top-tier, not just one specific anime stands out. However, what’s more interesting is the variety in genres across these top-rated anime. While action and adventure appears quite frequently, there’s also a mix of drama, fantasy, sci-fi, and even comedy like in all of the Gintama animes.</a:t>
            </a:r>
            <a:endParaRPr sz="1200"/>
          </a:p>
          <a:p>
            <a:pPr indent="0" lvl="0" marL="0" rtl="0" algn="l">
              <a:spcBef>
                <a:spcPts val="1200"/>
              </a:spcBef>
              <a:spcAft>
                <a:spcPts val="1200"/>
              </a:spcAft>
              <a:buNone/>
            </a:pPr>
            <a:r>
              <a:rPr lang="en" sz="1200"/>
              <a:t>This shows that there isn’t just one “type” of anime that gets high ratings. There are different styles and genres that are all successful. For viewers, this means that sticking only to popular or trending genres might cause them to miss out on other highly rated anime that don’t get as much attention. Even though these anime are in the highly rated group, they may not all be the most popular (I will analyze this in later slides). This supports the idea that ratings and popularity don’t always match. Basically, this is encouraging viewers to look beyond the rankings and explore a wider range of anime, since some of the best-rated shows might not be the ones everyone is talking about.</a:t>
            </a:r>
            <a:endParaRPr sz="1200"/>
          </a:p>
        </p:txBody>
      </p:sp>
      <p:pic>
        <p:nvPicPr>
          <p:cNvPr id="120" name="Google Shape;120;p22" title="Screenshot 2026-04-08 at 5.46.23 PM.png"/>
          <p:cNvPicPr preferRelativeResize="0"/>
          <p:nvPr/>
        </p:nvPicPr>
        <p:blipFill>
          <a:blip r:embed="rId3">
            <a:alphaModFix/>
          </a:blip>
          <a:stretch>
            <a:fillRect/>
          </a:stretch>
        </p:blipFill>
        <p:spPr>
          <a:xfrm>
            <a:off x="5169338" y="777725"/>
            <a:ext cx="3470249" cy="1935049"/>
          </a:xfrm>
          <a:prstGeom prst="rect">
            <a:avLst/>
          </a:prstGeom>
          <a:noFill/>
          <a:ln>
            <a:noFill/>
          </a:ln>
        </p:spPr>
      </p:pic>
      <p:pic>
        <p:nvPicPr>
          <p:cNvPr id="121" name="Google Shape;121;p22" title="Screenshot 2026-04-08 at 5.51.44 PM.png"/>
          <p:cNvPicPr preferRelativeResize="0"/>
          <p:nvPr/>
        </p:nvPicPr>
        <p:blipFill>
          <a:blip r:embed="rId4">
            <a:alphaModFix/>
          </a:blip>
          <a:stretch>
            <a:fillRect/>
          </a:stretch>
        </p:blipFill>
        <p:spPr>
          <a:xfrm>
            <a:off x="5449963" y="2899188"/>
            <a:ext cx="2909000" cy="2003125"/>
          </a:xfrm>
          <a:prstGeom prst="rect">
            <a:avLst/>
          </a:prstGeom>
          <a:noFill/>
          <a:ln>
            <a:noFill/>
          </a:ln>
        </p:spPr>
      </p:pic>
      <p:pic>
        <p:nvPicPr>
          <p:cNvPr id="122" name="Google Shape;122;p22"/>
          <p:cNvPicPr preferRelativeResize="0"/>
          <p:nvPr/>
        </p:nvPicPr>
        <p:blipFill>
          <a:blip r:embed="rId5">
            <a:alphaModFix/>
          </a:blip>
          <a:stretch>
            <a:fillRect/>
          </a:stretch>
        </p:blipFill>
        <p:spPr>
          <a:xfrm>
            <a:off x="234325" y="276200"/>
            <a:ext cx="773725" cy="773725"/>
          </a:xfrm>
          <a:prstGeom prst="rect">
            <a:avLst/>
          </a:prstGeom>
          <a:noFill/>
          <a:ln>
            <a:noFill/>
          </a:ln>
          <a:effectLst>
            <a:outerShdw blurRad="57150" rotWithShape="0" algn="bl" dir="5400000" dist="19050">
              <a:srgbClr val="000000">
                <a:alpha val="50000"/>
              </a:srgbClr>
            </a:outerShdw>
          </a:effectLst>
        </p:spPr>
      </p:pic>
      <p:pic>
        <p:nvPicPr>
          <p:cNvPr id="123" name="Google Shape;123;p22"/>
          <p:cNvPicPr preferRelativeResize="0"/>
          <p:nvPr/>
        </p:nvPicPr>
        <p:blipFill rotWithShape="1">
          <a:blip r:embed="rId6">
            <a:alphaModFix/>
          </a:blip>
          <a:srcRect b="0" l="24139" r="24206" t="0"/>
          <a:stretch/>
        </p:blipFill>
        <p:spPr>
          <a:xfrm rot="-8561826">
            <a:off x="8063421" y="2519959"/>
            <a:ext cx="1012783" cy="122230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3"/>
          <p:cNvSpPr txBox="1"/>
          <p:nvPr>
            <p:ph type="title"/>
          </p:nvPr>
        </p:nvSpPr>
        <p:spPr>
          <a:xfrm>
            <a:off x="311700" y="139775"/>
            <a:ext cx="7168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Curious Question: Does Higher Score Mean More Popularity?</a:t>
            </a:r>
            <a:endParaRPr b="1"/>
          </a:p>
        </p:txBody>
      </p:sp>
      <p:sp>
        <p:nvSpPr>
          <p:cNvPr id="129" name="Google Shape;129;p23"/>
          <p:cNvSpPr txBox="1"/>
          <p:nvPr>
            <p:ph idx="1" type="body"/>
          </p:nvPr>
        </p:nvSpPr>
        <p:spPr>
          <a:xfrm>
            <a:off x="210900" y="1158675"/>
            <a:ext cx="4361100" cy="3772200"/>
          </a:xfrm>
          <a:prstGeom prst="rect">
            <a:avLst/>
          </a:prstGeom>
        </p:spPr>
        <p:txBody>
          <a:bodyPr anchorCtr="0" anchor="t" bIns="91425" lIns="91425" spcFirstLastPara="1" rIns="91425" wrap="square" tIns="91425">
            <a:normAutofit fontScale="70000"/>
          </a:bodyPr>
          <a:lstStyle/>
          <a:p>
            <a:pPr indent="0" lvl="0" marL="0" rtl="0" algn="l">
              <a:spcBef>
                <a:spcPts val="0"/>
              </a:spcBef>
              <a:spcAft>
                <a:spcPts val="0"/>
              </a:spcAft>
              <a:buNone/>
            </a:pPr>
            <a:r>
              <a:rPr lang="en"/>
              <a:t>This chart shows a really clear trend: as the score goes up, the average popularity number goes down. At the lower scores (around 5.5-6), the mean popularity is really high (around 14,000), but as the scores increase toward 9, the popularity drops to under 1,000. </a:t>
            </a:r>
            <a:endParaRPr/>
          </a:p>
          <a:p>
            <a:pPr indent="0" lvl="0" marL="0" rtl="0" algn="l">
              <a:spcBef>
                <a:spcPts val="1200"/>
              </a:spcBef>
              <a:spcAft>
                <a:spcPts val="0"/>
              </a:spcAft>
              <a:buNone/>
            </a:pPr>
            <a:r>
              <a:rPr lang="en"/>
              <a:t>Since lower popularity numbers usually mean more popular (ranked higher),</a:t>
            </a:r>
            <a:r>
              <a:rPr lang="en"/>
              <a:t> this suggests that higher-scored anime tend to be less popular. </a:t>
            </a:r>
            <a:r>
              <a:rPr lang="en"/>
              <a:t>The line steadily slopes downward, which makes the relationship pretty consistent, not random. </a:t>
            </a:r>
            <a:endParaRPr/>
          </a:p>
          <a:p>
            <a:pPr indent="0" lvl="0" marL="0" rtl="0" algn="l">
              <a:spcBef>
                <a:spcPts val="1200"/>
              </a:spcBef>
              <a:spcAft>
                <a:spcPts val="1200"/>
              </a:spcAft>
              <a:buNone/>
            </a:pPr>
            <a:r>
              <a:rPr lang="en"/>
              <a:t>This means that the higher scores do not necessarily lead to higher popularity,</a:t>
            </a:r>
            <a:r>
              <a:rPr lang="en"/>
              <a:t> which supports the earlier finding that highly rated anime are not always the most widely watched. For viewers, this suggests that relying on only popularity rankings can be misleading, and some of the best anime may be less well known.</a:t>
            </a:r>
            <a:endParaRPr/>
          </a:p>
        </p:txBody>
      </p:sp>
      <p:pic>
        <p:nvPicPr>
          <p:cNvPr id="130" name="Google Shape;130;p23" title="Screenshot 2026-04-15 at 4.59.27 PM.png"/>
          <p:cNvPicPr preferRelativeResize="0"/>
          <p:nvPr/>
        </p:nvPicPr>
        <p:blipFill rotWithShape="1">
          <a:blip r:embed="rId4">
            <a:alphaModFix/>
          </a:blip>
          <a:srcRect b="-3031" l="0" r="-1143" t="-8414"/>
          <a:stretch/>
        </p:blipFill>
        <p:spPr>
          <a:xfrm>
            <a:off x="4645175" y="1158675"/>
            <a:ext cx="4361172" cy="3525623"/>
          </a:xfrm>
          <a:prstGeom prst="rect">
            <a:avLst/>
          </a:prstGeom>
          <a:noFill/>
          <a:ln>
            <a:noFill/>
          </a:ln>
        </p:spPr>
      </p:pic>
      <p:pic>
        <p:nvPicPr>
          <p:cNvPr id="131" name="Google Shape;131;p23"/>
          <p:cNvPicPr preferRelativeResize="0"/>
          <p:nvPr/>
        </p:nvPicPr>
        <p:blipFill>
          <a:blip r:embed="rId5">
            <a:alphaModFix/>
          </a:blip>
          <a:stretch>
            <a:fillRect/>
          </a:stretch>
        </p:blipFill>
        <p:spPr>
          <a:xfrm>
            <a:off x="7853025" y="139775"/>
            <a:ext cx="955825" cy="9558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4"/>
          <p:cNvSpPr txBox="1"/>
          <p:nvPr>
            <p:ph type="title"/>
          </p:nvPr>
        </p:nvSpPr>
        <p:spPr>
          <a:xfrm>
            <a:off x="1205450" y="396950"/>
            <a:ext cx="5887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Project Progress Check for Update 2</a:t>
            </a:r>
            <a:endParaRPr b="1"/>
          </a:p>
        </p:txBody>
      </p:sp>
      <p:sp>
        <p:nvSpPr>
          <p:cNvPr id="137" name="Google Shape;137;p24"/>
          <p:cNvSpPr txBox="1"/>
          <p:nvPr>
            <p:ph idx="1" type="body"/>
          </p:nvPr>
        </p:nvSpPr>
        <p:spPr>
          <a:xfrm>
            <a:off x="311700" y="132772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This week, I tackled some of the curious questions that I had from Mini Update #1 including finding out the top 10 rated animes from the dataset and finding what genres they were. To find this, I first made a bar chart to see the anime name and their rating and then a table that lists their respective genre. Another curious question I aimed to answer was “Does higher score equal more popularity?”. For that, I made a scatter plot to see if there was any correlation between those two variables. Some obstacles I faced this week was trying to figure out what specific graphs I wanted to use to convey my data story and writing the correct code to generate those graphs. The resource I used was JupyterHub’s Python Notebook to make the plots.</a:t>
            </a:r>
            <a:endParaRPr/>
          </a:p>
          <a:p>
            <a:pPr indent="0" lvl="0" marL="0" rtl="0" algn="l">
              <a:spcBef>
                <a:spcPts val="1200"/>
              </a:spcBef>
              <a:spcAft>
                <a:spcPts val="1200"/>
              </a:spcAft>
              <a:buNone/>
            </a:pPr>
            <a:r>
              <a:t/>
            </a:r>
            <a:endParaRPr/>
          </a:p>
        </p:txBody>
      </p:sp>
      <p:pic>
        <p:nvPicPr>
          <p:cNvPr id="138" name="Google Shape;138;p24"/>
          <p:cNvPicPr preferRelativeResize="0"/>
          <p:nvPr/>
        </p:nvPicPr>
        <p:blipFill>
          <a:blip r:embed="rId3">
            <a:alphaModFix/>
          </a:blip>
          <a:stretch>
            <a:fillRect/>
          </a:stretch>
        </p:blipFill>
        <p:spPr>
          <a:xfrm>
            <a:off x="311700" y="214126"/>
            <a:ext cx="938349" cy="93834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5"/>
          <p:cNvSpPr txBox="1"/>
          <p:nvPr>
            <p:ph type="title"/>
          </p:nvPr>
        </p:nvSpPr>
        <p:spPr>
          <a:xfrm>
            <a:off x="1340400" y="426200"/>
            <a:ext cx="6780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Response to Feedback</a:t>
            </a:r>
            <a:r>
              <a:rPr b="1" lang="en"/>
              <a:t> from Mini Update #1</a:t>
            </a:r>
            <a:endParaRPr b="1"/>
          </a:p>
        </p:txBody>
      </p:sp>
      <p:sp>
        <p:nvSpPr>
          <p:cNvPr id="144" name="Google Shape;144;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From Mini Update #1, I </a:t>
            </a:r>
            <a:r>
              <a:rPr lang="en"/>
              <a:t>received</a:t>
            </a:r>
            <a:r>
              <a:rPr lang="en"/>
              <a:t> feedback regarding my Communication Goals and my Audience. Dr. Chen, suggested that the data analysts may not be a suitable audience member for my data story. Additionally, Dr. Chen suggested that my communication goal is more geared towards analysis and not the actual communication of the story to my audience. To address this, </a:t>
            </a:r>
            <a:r>
              <a:rPr lang="en"/>
              <a:t>I fixed that slide a</a:t>
            </a:r>
            <a:r>
              <a:rPr lang="en"/>
              <a:t>nd made sure to carefully reflect my communication goal to specifically relate to my audience and not focus primarily on the type of outcomes I want from my analysis. I think this feedback was definitely useful as it gave me a different perspective in what my message sound like to my audience. I don’t know of any additional feedback I may be seeking.</a:t>
            </a:r>
            <a:endParaRPr/>
          </a:p>
        </p:txBody>
      </p:sp>
      <p:pic>
        <p:nvPicPr>
          <p:cNvPr id="145" name="Google Shape;145;p25"/>
          <p:cNvPicPr preferRelativeResize="0"/>
          <p:nvPr/>
        </p:nvPicPr>
        <p:blipFill>
          <a:blip r:embed="rId3">
            <a:alphaModFix/>
          </a:blip>
          <a:stretch>
            <a:fillRect/>
          </a:stretch>
        </p:blipFill>
        <p:spPr>
          <a:xfrm>
            <a:off x="392100" y="272600"/>
            <a:ext cx="879875" cy="8798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9" name="Shape 149"/>
        <p:cNvGrpSpPr/>
        <p:nvPr/>
      </p:nvGrpSpPr>
      <p:grpSpPr>
        <a:xfrm>
          <a:off x="0" y="0"/>
          <a:ext cx="0" cy="0"/>
          <a:chOff x="0" y="0"/>
          <a:chExt cx="0" cy="0"/>
        </a:xfrm>
      </p:grpSpPr>
      <p:sp>
        <p:nvSpPr>
          <p:cNvPr id="150" name="Google Shape;150;p26"/>
          <p:cNvSpPr/>
          <p:nvPr/>
        </p:nvSpPr>
        <p:spPr>
          <a:xfrm>
            <a:off x="7650" y="15300"/>
            <a:ext cx="9144000" cy="5143500"/>
          </a:xfrm>
          <a:prstGeom prst="rect">
            <a:avLst/>
          </a:prstGeom>
          <a:solidFill>
            <a:srgbClr val="424242">
              <a:alpha val="6962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151" name="Google Shape;151;p26"/>
          <p:cNvSpPr txBox="1"/>
          <p:nvPr>
            <p:ph type="ctrTitle"/>
          </p:nvPr>
        </p:nvSpPr>
        <p:spPr>
          <a:xfrm>
            <a:off x="510450" y="1257300"/>
            <a:ext cx="8123100" cy="1588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a:t>Mini Update #3</a:t>
            </a:r>
            <a:endParaRPr b="1"/>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7"/>
          <p:cNvSpPr txBox="1"/>
          <p:nvPr>
            <p:ph type="title"/>
          </p:nvPr>
        </p:nvSpPr>
        <p:spPr>
          <a:xfrm>
            <a:off x="311700" y="2008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420"/>
              <a:t>Curious Question: Are Movies Rated Higher than TV Shows?</a:t>
            </a:r>
            <a:endParaRPr b="1" sz="2420"/>
          </a:p>
        </p:txBody>
      </p:sp>
      <p:sp>
        <p:nvSpPr>
          <p:cNvPr id="157" name="Google Shape;157;p27"/>
          <p:cNvSpPr txBox="1"/>
          <p:nvPr>
            <p:ph idx="1" type="body"/>
          </p:nvPr>
        </p:nvSpPr>
        <p:spPr>
          <a:xfrm>
            <a:off x="311700" y="1152475"/>
            <a:ext cx="5270100" cy="37275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Looking at the chart, both movies and TV shows have almost the same average scores, with both of them sitting just a little bit under a score of 7. The bars are nearly the same length, showing that there is very little difference in how audiences rate these two types of anime. This suggestst hat the format alone about whether it is a movie or TV series, does not have a strong impact on overall ratings. </a:t>
            </a:r>
            <a:endParaRPr/>
          </a:p>
          <a:p>
            <a:pPr indent="0" lvl="0" marL="0" rtl="0" algn="l">
              <a:spcBef>
                <a:spcPts val="1200"/>
              </a:spcBef>
              <a:spcAft>
                <a:spcPts val="1200"/>
              </a:spcAft>
              <a:buNone/>
            </a:pPr>
            <a:r>
              <a:rPr lang="en"/>
              <a:t>For viewers, this means that choosing between a movie or a TV show shouldn’t be based on the assumption that one is better than the other. Instead, other factors like the genre, story, or personal preferences are likely to matter more. This also supports the idea that simple categories don’t always determine the quality, so this encourages viewers to look beyond the basic filters when deciding what to watch.</a:t>
            </a:r>
            <a:endParaRPr/>
          </a:p>
        </p:txBody>
      </p:sp>
      <p:pic>
        <p:nvPicPr>
          <p:cNvPr id="158" name="Google Shape;158;p27"/>
          <p:cNvPicPr preferRelativeResize="0"/>
          <p:nvPr/>
        </p:nvPicPr>
        <p:blipFill>
          <a:blip r:embed="rId3">
            <a:alphaModFix/>
          </a:blip>
          <a:stretch>
            <a:fillRect/>
          </a:stretch>
        </p:blipFill>
        <p:spPr>
          <a:xfrm>
            <a:off x="8093925" y="200825"/>
            <a:ext cx="852076" cy="852076"/>
          </a:xfrm>
          <a:prstGeom prst="rect">
            <a:avLst/>
          </a:prstGeom>
          <a:noFill/>
          <a:ln>
            <a:noFill/>
          </a:ln>
        </p:spPr>
      </p:pic>
      <p:pic>
        <p:nvPicPr>
          <p:cNvPr id="159" name="Google Shape;159;p27" title="Screenshot 2026-04-15 at 5.42.56 PM.png"/>
          <p:cNvPicPr preferRelativeResize="0"/>
          <p:nvPr/>
        </p:nvPicPr>
        <p:blipFill>
          <a:blip r:embed="rId4">
            <a:alphaModFix/>
          </a:blip>
          <a:stretch>
            <a:fillRect/>
          </a:stretch>
        </p:blipFill>
        <p:spPr>
          <a:xfrm>
            <a:off x="5643749" y="1550400"/>
            <a:ext cx="3379326" cy="21789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8"/>
          <p:cNvSpPr txBox="1"/>
          <p:nvPr>
            <p:ph type="title"/>
          </p:nvPr>
        </p:nvSpPr>
        <p:spPr>
          <a:xfrm>
            <a:off x="311700" y="177943"/>
            <a:ext cx="7719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Curious Question: Do longer anime (more episodes) get higher ratings?</a:t>
            </a:r>
            <a:endParaRPr b="1"/>
          </a:p>
        </p:txBody>
      </p:sp>
      <p:sp>
        <p:nvSpPr>
          <p:cNvPr id="165" name="Google Shape;165;p28"/>
          <p:cNvSpPr txBox="1"/>
          <p:nvPr>
            <p:ph idx="1" type="body"/>
          </p:nvPr>
        </p:nvSpPr>
        <p:spPr>
          <a:xfrm>
            <a:off x="311700" y="1152475"/>
            <a:ext cx="4514700" cy="34164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lang="en"/>
              <a:t>The average scores for short anime (</a:t>
            </a:r>
            <a:r>
              <a:rPr lang="en"/>
              <a:t>1-12 episodes), medium (13-50 episodes), and long (more than 50 episodes)</a:t>
            </a:r>
            <a:r>
              <a:rPr lang="en"/>
              <a:t> are all really really close to each other, all around the mid to high 6 score range. Medium and long anime are just slightly higher than short ones, but the difference is super small. </a:t>
            </a:r>
            <a:endParaRPr/>
          </a:p>
          <a:p>
            <a:pPr indent="0" lvl="0" marL="0" rtl="0" algn="l">
              <a:spcBef>
                <a:spcPts val="1200"/>
              </a:spcBef>
              <a:spcAft>
                <a:spcPts val="1200"/>
              </a:spcAft>
              <a:buNone/>
            </a:pPr>
            <a:r>
              <a:rPr lang="en"/>
              <a:t>This shows that while longer anime do have a tiny edge in ratings, episode length doesn’t seem to make a big impact overall since the averages a nearly the same across all groups.</a:t>
            </a:r>
            <a:endParaRPr/>
          </a:p>
        </p:txBody>
      </p:sp>
      <p:pic>
        <p:nvPicPr>
          <p:cNvPr id="166" name="Google Shape;166;p28"/>
          <p:cNvPicPr preferRelativeResize="0"/>
          <p:nvPr/>
        </p:nvPicPr>
        <p:blipFill>
          <a:blip r:embed="rId4">
            <a:alphaModFix/>
          </a:blip>
          <a:stretch>
            <a:fillRect/>
          </a:stretch>
        </p:blipFill>
        <p:spPr>
          <a:xfrm>
            <a:off x="7979175" y="177943"/>
            <a:ext cx="897550" cy="897550"/>
          </a:xfrm>
          <a:prstGeom prst="rect">
            <a:avLst/>
          </a:prstGeom>
          <a:noFill/>
          <a:ln>
            <a:noFill/>
          </a:ln>
        </p:spPr>
      </p:pic>
      <p:pic>
        <p:nvPicPr>
          <p:cNvPr id="167" name="Google Shape;167;p28" title="Screenshot 2026-04-15 at 6.00.29 PM.png"/>
          <p:cNvPicPr preferRelativeResize="0"/>
          <p:nvPr/>
        </p:nvPicPr>
        <p:blipFill>
          <a:blip r:embed="rId5">
            <a:alphaModFix/>
          </a:blip>
          <a:stretch>
            <a:fillRect/>
          </a:stretch>
        </p:blipFill>
        <p:spPr>
          <a:xfrm>
            <a:off x="4910363" y="1578950"/>
            <a:ext cx="4134650" cy="21605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9"/>
          <p:cNvSpPr txBox="1"/>
          <p:nvPr>
            <p:ph type="title"/>
          </p:nvPr>
        </p:nvSpPr>
        <p:spPr>
          <a:xfrm>
            <a:off x="1205450" y="396950"/>
            <a:ext cx="5887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Project Progress Check for Update 3</a:t>
            </a:r>
            <a:endParaRPr b="1"/>
          </a:p>
        </p:txBody>
      </p:sp>
      <p:sp>
        <p:nvSpPr>
          <p:cNvPr id="173" name="Google Shape;173;p29"/>
          <p:cNvSpPr txBox="1"/>
          <p:nvPr>
            <p:ph idx="1" type="body"/>
          </p:nvPr>
        </p:nvSpPr>
        <p:spPr>
          <a:xfrm>
            <a:off x="311700" y="132772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This week, I answered more curious questions using data analysis and code from Python Notebook. I was able to gather more information to build my data story about finding different ways to help people choose which anime to watch. This week, my data analysis was not very supportive of my hypothesis because the data was so close together,</a:t>
            </a:r>
            <a:r>
              <a:rPr lang="en"/>
              <a:t> there wasn’t a clear yes or no answer to the influences of the ratings of different anime. </a:t>
            </a:r>
            <a:r>
              <a:rPr lang="en"/>
              <a:t>The length of the anime series and the type of format (TV or movie) didn’t really have a clear influence on the ratings the anime received. I will take that into account as I move into next week’s updates and find more reasons and data about what could contribute to an anime’s received rating.</a:t>
            </a:r>
            <a:endParaRPr/>
          </a:p>
        </p:txBody>
      </p:sp>
      <p:pic>
        <p:nvPicPr>
          <p:cNvPr id="174" name="Google Shape;174;p29"/>
          <p:cNvPicPr preferRelativeResize="0"/>
          <p:nvPr/>
        </p:nvPicPr>
        <p:blipFill>
          <a:blip r:embed="rId4">
            <a:alphaModFix/>
          </a:blip>
          <a:stretch>
            <a:fillRect/>
          </a:stretch>
        </p:blipFill>
        <p:spPr>
          <a:xfrm>
            <a:off x="311700" y="214126"/>
            <a:ext cx="938349" cy="93834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0"/>
          <p:cNvSpPr txBox="1"/>
          <p:nvPr>
            <p:ph type="title"/>
          </p:nvPr>
        </p:nvSpPr>
        <p:spPr>
          <a:xfrm>
            <a:off x="1340400" y="426200"/>
            <a:ext cx="6780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Response to Feedback from Mini Update #2</a:t>
            </a:r>
            <a:endParaRPr b="1"/>
          </a:p>
        </p:txBody>
      </p:sp>
      <p:sp>
        <p:nvSpPr>
          <p:cNvPr id="180" name="Google Shape;180;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From my Mini Update #2, I received feedback that my scatter plot was too convoluted and crowded, making it hard to read. Looking at it now, I can see that it is very clumped together and difficult to analyze. Dr. Chen recommended I use bins or create a 2D plot instead. So, I went back to to the Python Notebook and coded a linear depiction of the scatter plot to clean it up. I replaced the old graph on the slide with the new version and it is definitely much easier to read and interpret. This feedback is definitely useful as I can refine my plot to be more usable for analysis instead of a jumble of dots on the scatter plot. Other than that, I’m not looking for any particular feedback.</a:t>
            </a:r>
            <a:endParaRPr/>
          </a:p>
        </p:txBody>
      </p:sp>
      <p:pic>
        <p:nvPicPr>
          <p:cNvPr id="181" name="Google Shape;181;p30"/>
          <p:cNvPicPr preferRelativeResize="0"/>
          <p:nvPr/>
        </p:nvPicPr>
        <p:blipFill>
          <a:blip r:embed="rId3">
            <a:alphaModFix/>
          </a:blip>
          <a:stretch>
            <a:fillRect/>
          </a:stretch>
        </p:blipFill>
        <p:spPr>
          <a:xfrm>
            <a:off x="392100" y="272600"/>
            <a:ext cx="879875" cy="8798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5" name="Shape 185"/>
        <p:cNvGrpSpPr/>
        <p:nvPr/>
      </p:nvGrpSpPr>
      <p:grpSpPr>
        <a:xfrm>
          <a:off x="0" y="0"/>
          <a:ext cx="0" cy="0"/>
          <a:chOff x="0" y="0"/>
          <a:chExt cx="0" cy="0"/>
        </a:xfrm>
      </p:grpSpPr>
      <p:sp>
        <p:nvSpPr>
          <p:cNvPr id="186" name="Google Shape;186;p31"/>
          <p:cNvSpPr/>
          <p:nvPr/>
        </p:nvSpPr>
        <p:spPr>
          <a:xfrm>
            <a:off x="7650" y="15300"/>
            <a:ext cx="9144000" cy="5143500"/>
          </a:xfrm>
          <a:prstGeom prst="rect">
            <a:avLst/>
          </a:prstGeom>
          <a:solidFill>
            <a:srgbClr val="424242">
              <a:alpha val="6962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187" name="Google Shape;187;p31"/>
          <p:cNvSpPr txBox="1"/>
          <p:nvPr>
            <p:ph type="ctrTitle"/>
          </p:nvPr>
        </p:nvSpPr>
        <p:spPr>
          <a:xfrm>
            <a:off x="510450" y="1257300"/>
            <a:ext cx="8123100" cy="1588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a:t>Mini Update #4</a:t>
            </a:r>
            <a:endParaRPr b="1"/>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2"/>
          <p:cNvSpPr txBox="1"/>
          <p:nvPr>
            <p:ph type="title"/>
          </p:nvPr>
        </p:nvSpPr>
        <p:spPr>
          <a:xfrm>
            <a:off x="311700" y="913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Do manga-based anime perform better than originals?</a:t>
            </a:r>
            <a:endParaRPr b="1"/>
          </a:p>
        </p:txBody>
      </p:sp>
      <p:sp>
        <p:nvSpPr>
          <p:cNvPr id="193" name="Google Shape;193;p32"/>
          <p:cNvSpPr txBox="1"/>
          <p:nvPr>
            <p:ph idx="1" type="body"/>
          </p:nvPr>
        </p:nvSpPr>
        <p:spPr>
          <a:xfrm>
            <a:off x="311700" y="788400"/>
            <a:ext cx="5499300" cy="37806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Most of the </a:t>
            </a:r>
            <a:r>
              <a:rPr lang="en"/>
              <a:t>average</a:t>
            </a:r>
            <a:r>
              <a:rPr lang="en"/>
              <a:t> scores across different source materials fall really close together, mostly between 6.0 and 7.2. Manga, light novel, and web novel </a:t>
            </a:r>
            <a:r>
              <a:rPr lang="en"/>
              <a:t>adaptations</a:t>
            </a:r>
            <a:r>
              <a:rPr lang="en"/>
              <a:t> are near the higher end, but not by a huge margin. </a:t>
            </a:r>
            <a:r>
              <a:rPr lang="en"/>
              <a:t>Originals</a:t>
            </a:r>
            <a:r>
              <a:rPr lang="en"/>
              <a:t> are also in that same range, sitting just slightly lower than some of the top manga-based ones.</a:t>
            </a:r>
            <a:endParaRPr/>
          </a:p>
          <a:p>
            <a:pPr indent="0" lvl="0" marL="0" rtl="0" algn="l">
              <a:spcBef>
                <a:spcPts val="1200"/>
              </a:spcBef>
              <a:spcAft>
                <a:spcPts val="1200"/>
              </a:spcAft>
              <a:buNone/>
            </a:pPr>
            <a:r>
              <a:rPr lang="en"/>
              <a:t>This shows that manga-based anime don’t clearly outperform originals since both types score pretty similarly overall. However, web novel sources compared to music or game sourced anime have a clear gap between score means.</a:t>
            </a:r>
            <a:endParaRPr/>
          </a:p>
        </p:txBody>
      </p:sp>
      <p:pic>
        <p:nvPicPr>
          <p:cNvPr id="194" name="Google Shape;194;p32" title="Screenshot 2026-04-21 at 6.11.17 PM.png"/>
          <p:cNvPicPr preferRelativeResize="0"/>
          <p:nvPr/>
        </p:nvPicPr>
        <p:blipFill>
          <a:blip r:embed="rId4">
            <a:alphaModFix/>
          </a:blip>
          <a:stretch>
            <a:fillRect/>
          </a:stretch>
        </p:blipFill>
        <p:spPr>
          <a:xfrm>
            <a:off x="5925697" y="985862"/>
            <a:ext cx="3085550" cy="33856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3"/>
          <p:cNvSpPr txBox="1"/>
          <p:nvPr>
            <p:ph type="title"/>
          </p:nvPr>
        </p:nvSpPr>
        <p:spPr>
          <a:xfrm>
            <a:off x="222150" y="98700"/>
            <a:ext cx="8699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Do some studios </a:t>
            </a:r>
            <a:r>
              <a:rPr b="1" lang="en"/>
              <a:t>consistently</a:t>
            </a:r>
            <a:r>
              <a:rPr b="1" lang="en"/>
              <a:t> produce higher-rated anime?</a:t>
            </a:r>
            <a:endParaRPr b="1"/>
          </a:p>
        </p:txBody>
      </p:sp>
      <p:sp>
        <p:nvSpPr>
          <p:cNvPr id="200" name="Google Shape;200;p33"/>
          <p:cNvSpPr txBox="1"/>
          <p:nvPr>
            <p:ph idx="1" type="body"/>
          </p:nvPr>
        </p:nvSpPr>
        <p:spPr>
          <a:xfrm>
            <a:off x="304325" y="776650"/>
            <a:ext cx="4823700" cy="34164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0"/>
              </a:spcAft>
              <a:buNone/>
            </a:pPr>
            <a:r>
              <a:rPr lang="en"/>
              <a:t>The top studios all have really high average scores, mostly between 8.2 and 8.8, which is a </a:t>
            </a:r>
            <a:r>
              <a:rPr lang="en"/>
              <a:t>pretty</a:t>
            </a:r>
            <a:r>
              <a:rPr lang="en"/>
              <a:t> tight range. A few studios like K-Factory and Kitty Film are slightly higher, but overall the differences between the studios are small. </a:t>
            </a:r>
            <a:endParaRPr/>
          </a:p>
          <a:p>
            <a:pPr indent="0" lvl="0" marL="0" rtl="0" algn="l">
              <a:spcBef>
                <a:spcPts val="1200"/>
              </a:spcBef>
              <a:spcAft>
                <a:spcPts val="1200"/>
              </a:spcAft>
              <a:buNone/>
            </a:pPr>
            <a:r>
              <a:rPr lang="en"/>
              <a:t>This shows that while some studios do rank a little higher, there isn’t a huge gap. Most of these top studios </a:t>
            </a:r>
            <a:r>
              <a:rPr lang="en"/>
              <a:t>consistently</a:t>
            </a:r>
            <a:r>
              <a:rPr lang="en"/>
              <a:t> produce highly rated anime. So, studio can matter, but it’s not the only thing deciding how good an anime will be.</a:t>
            </a:r>
            <a:endParaRPr/>
          </a:p>
        </p:txBody>
      </p:sp>
      <p:pic>
        <p:nvPicPr>
          <p:cNvPr id="201" name="Google Shape;201;p33" title="Screenshot 2026-04-21 at 5.10.15 PM.png"/>
          <p:cNvPicPr preferRelativeResize="0"/>
          <p:nvPr/>
        </p:nvPicPr>
        <p:blipFill>
          <a:blip r:embed="rId4">
            <a:alphaModFix/>
          </a:blip>
          <a:stretch>
            <a:fillRect/>
          </a:stretch>
        </p:blipFill>
        <p:spPr>
          <a:xfrm>
            <a:off x="5302550" y="839638"/>
            <a:ext cx="3703801" cy="1875619"/>
          </a:xfrm>
          <a:prstGeom prst="rect">
            <a:avLst/>
          </a:prstGeom>
          <a:noFill/>
          <a:ln>
            <a:noFill/>
          </a:ln>
        </p:spPr>
      </p:pic>
      <p:pic>
        <p:nvPicPr>
          <p:cNvPr id="202" name="Google Shape;202;p33"/>
          <p:cNvPicPr preferRelativeResize="0"/>
          <p:nvPr/>
        </p:nvPicPr>
        <p:blipFill>
          <a:blip r:embed="rId5">
            <a:alphaModFix/>
          </a:blip>
          <a:stretch>
            <a:fillRect/>
          </a:stretch>
        </p:blipFill>
        <p:spPr>
          <a:xfrm>
            <a:off x="5590525" y="2794382"/>
            <a:ext cx="3127859" cy="2123443"/>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4"/>
          <p:cNvSpPr txBox="1"/>
          <p:nvPr>
            <p:ph type="title"/>
          </p:nvPr>
        </p:nvSpPr>
        <p:spPr>
          <a:xfrm>
            <a:off x="1205450" y="396950"/>
            <a:ext cx="5887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Project Progress Check for Update 4</a:t>
            </a:r>
            <a:endParaRPr b="1"/>
          </a:p>
        </p:txBody>
      </p:sp>
      <p:sp>
        <p:nvSpPr>
          <p:cNvPr id="208" name="Google Shape;208;p34"/>
          <p:cNvSpPr txBox="1"/>
          <p:nvPr>
            <p:ph idx="1" type="body"/>
          </p:nvPr>
        </p:nvSpPr>
        <p:spPr>
          <a:xfrm>
            <a:off x="311700" y="1327725"/>
            <a:ext cx="85206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This week, I explored more potential factors that people could look at to see what influences the popularity and scoring of an anime series. I tried to answer these two questions: “Do manga-based anime perform better than originals?” and “Do some studios consistently produce higher-rated anime?”. Clearly, a lot of the factors I thought would strongly affect anime ratings actually don’t make a huge difference. For example, different source materials (like manga vs. originals) all had really similar average scores, even though web novels did stand out a bit compared to things like music source or game-based anime. I also saw that top studios all produce highly rated anime, but their scores are really close to each other, so no single studio dominates by a lot. Overall, this week’s analysis hshowed me that things like source material and studio might have some influence, but again, they don’t fully determine how well an anime is rated.</a:t>
            </a:r>
            <a:endParaRPr/>
          </a:p>
          <a:p>
            <a:pPr indent="0" lvl="0" marL="0" rtl="0" algn="l">
              <a:spcBef>
                <a:spcPts val="1200"/>
              </a:spcBef>
              <a:spcAft>
                <a:spcPts val="1200"/>
              </a:spcAft>
              <a:buNone/>
            </a:pPr>
            <a:r>
              <a:t/>
            </a:r>
            <a:endParaRPr/>
          </a:p>
        </p:txBody>
      </p:sp>
      <p:pic>
        <p:nvPicPr>
          <p:cNvPr id="209" name="Google Shape;209;p34"/>
          <p:cNvPicPr preferRelativeResize="0"/>
          <p:nvPr/>
        </p:nvPicPr>
        <p:blipFill>
          <a:blip r:embed="rId3">
            <a:alphaModFix/>
          </a:blip>
          <a:stretch>
            <a:fillRect/>
          </a:stretch>
        </p:blipFill>
        <p:spPr>
          <a:xfrm>
            <a:off x="311700" y="214126"/>
            <a:ext cx="938349" cy="93834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5"/>
          <p:cNvSpPr txBox="1"/>
          <p:nvPr>
            <p:ph type="title"/>
          </p:nvPr>
        </p:nvSpPr>
        <p:spPr>
          <a:xfrm>
            <a:off x="1340400" y="426200"/>
            <a:ext cx="6780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Response to Feedback from Mini Update #3</a:t>
            </a:r>
            <a:endParaRPr b="1"/>
          </a:p>
        </p:txBody>
      </p:sp>
      <p:sp>
        <p:nvSpPr>
          <p:cNvPr id="215" name="Google Shape;215;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1200"/>
              </a:spcAft>
              <a:buNone/>
            </a:pPr>
            <a:r>
              <a:rPr lang="en"/>
              <a:t>From last week’s Mini Update #3, I received an inquiry from Dr. Chen about my choice of categorization in the plot. Dr. Chen asked, “Is there a reason to bin into those three categories? if your data is large, it doesn't hurt to use smaller-sized bins”. My response to the feedback is that those bin sizes and 3 categories are intentional. They reflect the most common anime production patterns where many series are 12 episodes long while the longer ones are 50+ episodes. The middle bin captures everything in between. Those are the typical series lengths commonly seen in anime. I can see where the feedback is coming from, however that is usually how anime series are. They are either exactly 12 episodes (or less) and are referred to as short amongst the anime community or super long with 50+ to almost thousands of episodes, or in between those values.</a:t>
            </a:r>
            <a:endParaRPr/>
          </a:p>
        </p:txBody>
      </p:sp>
      <p:pic>
        <p:nvPicPr>
          <p:cNvPr id="216" name="Google Shape;216;p35"/>
          <p:cNvPicPr preferRelativeResize="0"/>
          <p:nvPr/>
        </p:nvPicPr>
        <p:blipFill>
          <a:blip r:embed="rId3">
            <a:alphaModFix/>
          </a:blip>
          <a:stretch>
            <a:fillRect/>
          </a:stretch>
        </p:blipFill>
        <p:spPr>
          <a:xfrm>
            <a:off x="392100" y="272600"/>
            <a:ext cx="879875" cy="8798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0" name="Shape 220"/>
        <p:cNvGrpSpPr/>
        <p:nvPr/>
      </p:nvGrpSpPr>
      <p:grpSpPr>
        <a:xfrm>
          <a:off x="0" y="0"/>
          <a:ext cx="0" cy="0"/>
          <a:chOff x="0" y="0"/>
          <a:chExt cx="0" cy="0"/>
        </a:xfrm>
      </p:grpSpPr>
      <p:sp>
        <p:nvSpPr>
          <p:cNvPr id="221" name="Google Shape;221;p36"/>
          <p:cNvSpPr/>
          <p:nvPr/>
        </p:nvSpPr>
        <p:spPr>
          <a:xfrm>
            <a:off x="7650" y="15300"/>
            <a:ext cx="9144000" cy="5143500"/>
          </a:xfrm>
          <a:prstGeom prst="rect">
            <a:avLst/>
          </a:prstGeom>
          <a:solidFill>
            <a:srgbClr val="424242">
              <a:alpha val="6962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222" name="Google Shape;222;p36"/>
          <p:cNvSpPr txBox="1"/>
          <p:nvPr>
            <p:ph type="ctrTitle"/>
          </p:nvPr>
        </p:nvSpPr>
        <p:spPr>
          <a:xfrm>
            <a:off x="510450" y="1257300"/>
            <a:ext cx="8123100" cy="1588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a:t>Mini Update #5</a:t>
            </a:r>
            <a:endParaRPr b="1"/>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7EDF5"/>
        </a:solidFill>
      </p:bgPr>
    </p:bg>
    <p:spTree>
      <p:nvGrpSpPr>
        <p:cNvPr id="226" name="Shape 226"/>
        <p:cNvGrpSpPr/>
        <p:nvPr/>
      </p:nvGrpSpPr>
      <p:grpSpPr>
        <a:xfrm>
          <a:off x="0" y="0"/>
          <a:ext cx="0" cy="0"/>
          <a:chOff x="0" y="0"/>
          <a:chExt cx="0" cy="0"/>
        </a:xfrm>
      </p:grpSpPr>
      <p:sp>
        <p:nvSpPr>
          <p:cNvPr id="227" name="Google Shape;227;p37"/>
          <p:cNvSpPr/>
          <p:nvPr/>
        </p:nvSpPr>
        <p:spPr>
          <a:xfrm>
            <a:off x="3229050" y="2251025"/>
            <a:ext cx="2685900" cy="456300"/>
          </a:xfrm>
          <a:prstGeom prst="roundRect">
            <a:avLst>
              <a:gd fmla="val 16667" name="adj"/>
            </a:avLst>
          </a:prstGeom>
          <a:solidFill>
            <a:srgbClr val="005D84"/>
          </a:solidFill>
          <a:ln cap="flat" cmpd="sng" w="9525">
            <a:solidFill>
              <a:srgbClr val="E7EDF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228" name="Google Shape;228;p37"/>
          <p:cNvSpPr/>
          <p:nvPr/>
        </p:nvSpPr>
        <p:spPr>
          <a:xfrm>
            <a:off x="6199700" y="2251025"/>
            <a:ext cx="2685900" cy="456300"/>
          </a:xfrm>
          <a:prstGeom prst="roundRect">
            <a:avLst>
              <a:gd fmla="val 16667" name="adj"/>
            </a:avLst>
          </a:prstGeom>
          <a:solidFill>
            <a:srgbClr val="005D84"/>
          </a:solidFill>
          <a:ln cap="flat" cmpd="sng" w="9525">
            <a:solidFill>
              <a:srgbClr val="E7EDF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229" name="Google Shape;229;p37"/>
          <p:cNvSpPr/>
          <p:nvPr/>
        </p:nvSpPr>
        <p:spPr>
          <a:xfrm>
            <a:off x="224050" y="2251025"/>
            <a:ext cx="2685900" cy="456300"/>
          </a:xfrm>
          <a:prstGeom prst="roundRect">
            <a:avLst>
              <a:gd fmla="val 16667" name="adj"/>
            </a:avLst>
          </a:prstGeom>
          <a:solidFill>
            <a:srgbClr val="005D84"/>
          </a:solidFill>
          <a:ln cap="flat" cmpd="sng" w="9525">
            <a:solidFill>
              <a:srgbClr val="E7EDF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230" name="Google Shape;230;p37"/>
          <p:cNvSpPr txBox="1"/>
          <p:nvPr>
            <p:ph type="title"/>
          </p:nvPr>
        </p:nvSpPr>
        <p:spPr>
          <a:xfrm>
            <a:off x="152400" y="1506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Storyboard</a:t>
            </a:r>
            <a:endParaRPr b="1"/>
          </a:p>
        </p:txBody>
      </p:sp>
      <p:pic>
        <p:nvPicPr>
          <p:cNvPr id="231" name="Google Shape;231;p37" title="Screenshot 2026-04-27 at 9.51.45 PM.png"/>
          <p:cNvPicPr preferRelativeResize="0"/>
          <p:nvPr/>
        </p:nvPicPr>
        <p:blipFill rotWithShape="1">
          <a:blip r:embed="rId3">
            <a:alphaModFix/>
          </a:blip>
          <a:srcRect b="3848" l="0" r="0" t="4535"/>
          <a:stretch/>
        </p:blipFill>
        <p:spPr>
          <a:xfrm>
            <a:off x="115625" y="738092"/>
            <a:ext cx="8839199" cy="1427525"/>
          </a:xfrm>
          <a:prstGeom prst="rect">
            <a:avLst/>
          </a:prstGeom>
          <a:noFill/>
          <a:ln>
            <a:noFill/>
          </a:ln>
        </p:spPr>
      </p:pic>
      <p:sp>
        <p:nvSpPr>
          <p:cNvPr id="232" name="Google Shape;232;p37"/>
          <p:cNvSpPr txBox="1"/>
          <p:nvPr/>
        </p:nvSpPr>
        <p:spPr>
          <a:xfrm>
            <a:off x="224050" y="2251025"/>
            <a:ext cx="2685900" cy="45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900">
                <a:solidFill>
                  <a:schemeClr val="lt1"/>
                </a:solidFill>
                <a:latin typeface="Proxima Nova"/>
                <a:ea typeface="Proxima Nova"/>
                <a:cs typeface="Proxima Nova"/>
                <a:sym typeface="Proxima Nova"/>
              </a:rPr>
              <a:t>This group of data visualization revolve around the anime with Top 10 ratings and their scores.</a:t>
            </a:r>
            <a:endParaRPr sz="900">
              <a:solidFill>
                <a:schemeClr val="lt1"/>
              </a:solidFill>
              <a:latin typeface="Proxima Nova"/>
              <a:ea typeface="Proxima Nova"/>
              <a:cs typeface="Proxima Nova"/>
              <a:sym typeface="Proxima Nova"/>
            </a:endParaRPr>
          </a:p>
        </p:txBody>
      </p:sp>
      <p:sp>
        <p:nvSpPr>
          <p:cNvPr id="233" name="Google Shape;233;p37"/>
          <p:cNvSpPr txBox="1"/>
          <p:nvPr/>
        </p:nvSpPr>
        <p:spPr>
          <a:xfrm>
            <a:off x="3229050" y="2251025"/>
            <a:ext cx="2685900" cy="45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900">
                <a:solidFill>
                  <a:schemeClr val="lt1"/>
                </a:solidFill>
                <a:latin typeface="Proxima Nova"/>
                <a:ea typeface="Proxima Nova"/>
                <a:cs typeface="Proxima Nova"/>
                <a:sym typeface="Proxima Nova"/>
              </a:rPr>
              <a:t>This group of data visualizations revolve around the type of anime format and their specific scores.</a:t>
            </a:r>
            <a:endParaRPr sz="900">
              <a:solidFill>
                <a:schemeClr val="lt1"/>
              </a:solidFill>
              <a:latin typeface="Proxima Nova"/>
              <a:ea typeface="Proxima Nova"/>
              <a:cs typeface="Proxima Nova"/>
              <a:sym typeface="Proxima Nova"/>
            </a:endParaRPr>
          </a:p>
        </p:txBody>
      </p:sp>
      <p:sp>
        <p:nvSpPr>
          <p:cNvPr id="234" name="Google Shape;234;p37"/>
          <p:cNvSpPr txBox="1"/>
          <p:nvPr/>
        </p:nvSpPr>
        <p:spPr>
          <a:xfrm>
            <a:off x="6199700" y="2251025"/>
            <a:ext cx="2685900" cy="45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900">
                <a:solidFill>
                  <a:schemeClr val="lt1"/>
                </a:solidFill>
                <a:latin typeface="Proxima Nova"/>
                <a:ea typeface="Proxima Nova"/>
                <a:cs typeface="Proxima Nova"/>
                <a:sym typeface="Proxima Nova"/>
              </a:rPr>
              <a:t>This group of data visualizations revolve around the anime source and their scores.</a:t>
            </a:r>
            <a:endParaRPr sz="900">
              <a:solidFill>
                <a:schemeClr val="accent3"/>
              </a:solidFill>
              <a:latin typeface="Proxima Nova"/>
              <a:ea typeface="Proxima Nova"/>
              <a:cs typeface="Proxima Nova"/>
              <a:sym typeface="Proxima Nova"/>
            </a:endParaRPr>
          </a:p>
        </p:txBody>
      </p:sp>
      <p:sp>
        <p:nvSpPr>
          <p:cNvPr id="235" name="Google Shape;235;p37"/>
          <p:cNvSpPr txBox="1"/>
          <p:nvPr/>
        </p:nvSpPr>
        <p:spPr>
          <a:xfrm>
            <a:off x="263250" y="2941619"/>
            <a:ext cx="8617500" cy="1869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500">
                <a:solidFill>
                  <a:schemeClr val="accent3"/>
                </a:solidFill>
                <a:latin typeface="Proxima Nova"/>
                <a:ea typeface="Proxima Nova"/>
                <a:cs typeface="Proxima Nova"/>
                <a:sym typeface="Proxima Nova"/>
              </a:rPr>
              <a:t>This data story is organized from left to right to explore different factors that may influence anime ratings to help audience choose their next watch. The first section focuses on the top 10 highest rated anime and introduces the variety of genres and scores among them. The middle section looks at anime format, such as TV shows and movies, to see if format affects ratings. The last section explores anime source material, like manga or original stories, and how it relates to scores. The story examines multiple factors to show that there is not just one reason why anime became highly rated.</a:t>
            </a:r>
            <a:endParaRPr sz="1500">
              <a:solidFill>
                <a:schemeClr val="accent3"/>
              </a:solidFill>
              <a:latin typeface="Proxima Nova"/>
              <a:ea typeface="Proxima Nova"/>
              <a:cs typeface="Proxima Nova"/>
              <a:sym typeface="Proxima Nova"/>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9" name="Shape 239"/>
        <p:cNvGrpSpPr/>
        <p:nvPr/>
      </p:nvGrpSpPr>
      <p:grpSpPr>
        <a:xfrm>
          <a:off x="0" y="0"/>
          <a:ext cx="0" cy="0"/>
          <a:chOff x="0" y="0"/>
          <a:chExt cx="0" cy="0"/>
        </a:xfrm>
      </p:grpSpPr>
      <p:sp>
        <p:nvSpPr>
          <p:cNvPr id="240" name="Google Shape;240;p38"/>
          <p:cNvSpPr txBox="1"/>
          <p:nvPr>
            <p:ph type="title"/>
          </p:nvPr>
        </p:nvSpPr>
        <p:spPr>
          <a:xfrm>
            <a:off x="145775" y="1286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Micro Story (Also in the Google Doc)</a:t>
            </a:r>
            <a:endParaRPr b="1"/>
          </a:p>
        </p:txBody>
      </p:sp>
      <p:pic>
        <p:nvPicPr>
          <p:cNvPr id="241" name="Google Shape;241;p38"/>
          <p:cNvPicPr preferRelativeResize="0"/>
          <p:nvPr/>
        </p:nvPicPr>
        <p:blipFill rotWithShape="1">
          <a:blip r:embed="rId3">
            <a:alphaModFix/>
          </a:blip>
          <a:srcRect b="9804" l="0" r="0" t="0"/>
          <a:stretch/>
        </p:blipFill>
        <p:spPr>
          <a:xfrm>
            <a:off x="6521275" y="85075"/>
            <a:ext cx="2535776" cy="1178375"/>
          </a:xfrm>
          <a:prstGeom prst="rect">
            <a:avLst/>
          </a:prstGeom>
          <a:noFill/>
          <a:ln>
            <a:noFill/>
          </a:ln>
        </p:spPr>
      </p:pic>
      <p:sp>
        <p:nvSpPr>
          <p:cNvPr id="242" name="Google Shape;242;p38"/>
          <p:cNvSpPr txBox="1"/>
          <p:nvPr/>
        </p:nvSpPr>
        <p:spPr>
          <a:xfrm>
            <a:off x="112475" y="701325"/>
            <a:ext cx="6567300" cy="4106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100">
                <a:solidFill>
                  <a:schemeClr val="accent3"/>
                </a:solidFill>
                <a:latin typeface="Proxima Nova"/>
                <a:ea typeface="Proxima Nova"/>
                <a:cs typeface="Proxima Nova"/>
                <a:sym typeface="Proxima Nova"/>
              </a:rPr>
              <a:t>For my PI project, I looked at anime ratings and compared them to different factors, such as the genre, popularity, format, and episode length. The overall goal of my analysis was to figure out what factors actually influence anime ratings and whether popularity really reflects the quality of the anime. In this slide that I’ve chosen, the data compares the average scores of short anime (1-12 episodes), medium anime (13-50) episodes, and long anime (50+ episodes). I grouped them into 3 of the most common anime series lengths to calculate the average ratings, and the graph helps to show whether longer anime tend to receive better scores from viewers. As you can see, the results show that medium and long anime have slightly higher average ratings than shorter anime, although the differences are pretty small overall.</a:t>
            </a:r>
            <a:endParaRPr sz="1100">
              <a:solidFill>
                <a:schemeClr val="accent3"/>
              </a:solidFill>
              <a:latin typeface="Proxima Nova"/>
              <a:ea typeface="Proxima Nova"/>
              <a:cs typeface="Proxima Nova"/>
              <a:sym typeface="Proxima Nova"/>
            </a:endParaRPr>
          </a:p>
          <a:p>
            <a:pPr indent="0" lvl="0" marL="0" rtl="0" algn="l">
              <a:lnSpc>
                <a:spcPct val="115000"/>
              </a:lnSpc>
              <a:spcBef>
                <a:spcPts val="0"/>
              </a:spcBef>
              <a:spcAft>
                <a:spcPts val="0"/>
              </a:spcAft>
              <a:buNone/>
            </a:pPr>
            <a:r>
              <a:t/>
            </a:r>
            <a:endParaRPr sz="700">
              <a:solidFill>
                <a:schemeClr val="accent3"/>
              </a:solidFill>
              <a:latin typeface="Proxima Nova"/>
              <a:ea typeface="Proxima Nova"/>
              <a:cs typeface="Proxima Nova"/>
              <a:sym typeface="Proxima Nova"/>
            </a:endParaRPr>
          </a:p>
          <a:p>
            <a:pPr indent="0" lvl="0" marL="0" rtl="0" algn="l">
              <a:lnSpc>
                <a:spcPct val="115000"/>
              </a:lnSpc>
              <a:spcBef>
                <a:spcPts val="0"/>
              </a:spcBef>
              <a:spcAft>
                <a:spcPts val="0"/>
              </a:spcAft>
              <a:buNone/>
            </a:pPr>
            <a:r>
              <a:rPr lang="en" sz="1100">
                <a:solidFill>
                  <a:schemeClr val="accent3"/>
                </a:solidFill>
                <a:latin typeface="Proxima Nova"/>
                <a:ea typeface="Proxima Nova"/>
                <a:cs typeface="Proxima Nova"/>
                <a:sym typeface="Proxima Nova"/>
              </a:rPr>
              <a:t>This particular data matters to me because I personally prefer watching medium-length anime over shorter 12-episode ones. A lot of the 12-episode anime feel rushed to me, especially when it comes to character development or the ending. I usually feel more satisfied watching anime that have enough episodes to fully build the story and characters. Because of that, it was interesting to see that medium-length anime also scored a little bit higher on average in the data.</a:t>
            </a:r>
            <a:endParaRPr sz="1100">
              <a:solidFill>
                <a:schemeClr val="accent3"/>
              </a:solidFill>
              <a:latin typeface="Proxima Nova"/>
              <a:ea typeface="Proxima Nova"/>
              <a:cs typeface="Proxima Nova"/>
              <a:sym typeface="Proxima Nova"/>
            </a:endParaRPr>
          </a:p>
          <a:p>
            <a:pPr indent="0" lvl="0" marL="0" rtl="0" algn="l">
              <a:lnSpc>
                <a:spcPct val="115000"/>
              </a:lnSpc>
              <a:spcBef>
                <a:spcPts val="0"/>
              </a:spcBef>
              <a:spcAft>
                <a:spcPts val="0"/>
              </a:spcAft>
              <a:buNone/>
            </a:pPr>
            <a:r>
              <a:t/>
            </a:r>
            <a:endParaRPr sz="700">
              <a:solidFill>
                <a:schemeClr val="accent3"/>
              </a:solidFill>
              <a:latin typeface="Proxima Nova"/>
              <a:ea typeface="Proxima Nova"/>
              <a:cs typeface="Proxima Nova"/>
              <a:sym typeface="Proxima Nova"/>
            </a:endParaRPr>
          </a:p>
          <a:p>
            <a:pPr indent="0" lvl="0" marL="0" rtl="0" algn="l">
              <a:lnSpc>
                <a:spcPct val="115000"/>
              </a:lnSpc>
              <a:spcBef>
                <a:spcPts val="0"/>
              </a:spcBef>
              <a:spcAft>
                <a:spcPts val="0"/>
              </a:spcAft>
              <a:buNone/>
            </a:pPr>
            <a:r>
              <a:rPr lang="en" sz="1100">
                <a:solidFill>
                  <a:schemeClr val="accent3"/>
                </a:solidFill>
                <a:latin typeface="Proxima Nova"/>
                <a:ea typeface="Proxima Nova"/>
                <a:cs typeface="Proxima Nova"/>
                <a:sym typeface="Proxima Nova"/>
              </a:rPr>
              <a:t>I think this matters to other people because many anime viewers choose what to watch based only on popularity and what is currently trending. Looking at episode length helped show that there is not one single reason why anime becomes highly rated. Instead, multiple factors work together, and viewers may discover better anime experiences if they look beyond basic popularity ranking and explore anime more thoughtfully.</a:t>
            </a:r>
            <a:endParaRPr sz="1100">
              <a:solidFill>
                <a:schemeClr val="accent3"/>
              </a:solidFill>
              <a:latin typeface="Proxima Nova"/>
              <a:ea typeface="Proxima Nova"/>
              <a:cs typeface="Proxima Nova"/>
              <a:sym typeface="Proxima Nova"/>
            </a:endParaRPr>
          </a:p>
        </p:txBody>
      </p:sp>
      <p:pic>
        <p:nvPicPr>
          <p:cNvPr id="243" name="Google Shape;243;p38"/>
          <p:cNvPicPr preferRelativeResize="0"/>
          <p:nvPr/>
        </p:nvPicPr>
        <p:blipFill>
          <a:blip r:embed="rId4">
            <a:alphaModFix/>
          </a:blip>
          <a:stretch>
            <a:fillRect/>
          </a:stretch>
        </p:blipFill>
        <p:spPr>
          <a:xfrm>
            <a:off x="6405525" y="1044500"/>
            <a:ext cx="2159424" cy="2162133"/>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7EDF5"/>
        </a:solidFill>
      </p:bgPr>
    </p:bg>
    <p:spTree>
      <p:nvGrpSpPr>
        <p:cNvPr id="247" name="Shape 247"/>
        <p:cNvGrpSpPr/>
        <p:nvPr/>
      </p:nvGrpSpPr>
      <p:grpSpPr>
        <a:xfrm>
          <a:off x="0" y="0"/>
          <a:ext cx="0" cy="0"/>
          <a:chOff x="0" y="0"/>
          <a:chExt cx="0" cy="0"/>
        </a:xfrm>
      </p:grpSpPr>
      <p:sp>
        <p:nvSpPr>
          <p:cNvPr id="248" name="Google Shape;248;p39"/>
          <p:cNvSpPr txBox="1"/>
          <p:nvPr>
            <p:ph type="title"/>
          </p:nvPr>
        </p:nvSpPr>
        <p:spPr>
          <a:xfrm>
            <a:off x="1205450" y="396950"/>
            <a:ext cx="5887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Project Progress Check for Update 5</a:t>
            </a:r>
            <a:endParaRPr b="1"/>
          </a:p>
        </p:txBody>
      </p:sp>
      <p:sp>
        <p:nvSpPr>
          <p:cNvPr id="249" name="Google Shape;249;p39"/>
          <p:cNvSpPr txBox="1"/>
          <p:nvPr>
            <p:ph idx="1" type="body"/>
          </p:nvPr>
        </p:nvSpPr>
        <p:spPr>
          <a:xfrm>
            <a:off x="311700" y="1556850"/>
            <a:ext cx="8520600" cy="2519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This week, I utilized Story Studio to upload my data visualizations and create a storyboard of my data. I was able to see my data from the past couple of weeks as a whole picture and arrange them in a way to help me organize my data story. I also wrote a 200+ word data story about one of my presentation slides about anime series lengths to explain why this matter to my audience and my general findings. This was a great way to sum up all of the data analysis I’ve been doing for the past month. </a:t>
            </a:r>
            <a:endParaRPr/>
          </a:p>
        </p:txBody>
      </p:sp>
      <p:pic>
        <p:nvPicPr>
          <p:cNvPr id="250" name="Google Shape;250;p39"/>
          <p:cNvPicPr preferRelativeResize="0"/>
          <p:nvPr/>
        </p:nvPicPr>
        <p:blipFill>
          <a:blip r:embed="rId3">
            <a:alphaModFix/>
          </a:blip>
          <a:stretch>
            <a:fillRect/>
          </a:stretch>
        </p:blipFill>
        <p:spPr>
          <a:xfrm>
            <a:off x="86942" y="94242"/>
            <a:ext cx="1118500" cy="1021239"/>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54" name="Shape 254"/>
        <p:cNvGrpSpPr/>
        <p:nvPr/>
      </p:nvGrpSpPr>
      <p:grpSpPr>
        <a:xfrm>
          <a:off x="0" y="0"/>
          <a:ext cx="0" cy="0"/>
          <a:chOff x="0" y="0"/>
          <a:chExt cx="0" cy="0"/>
        </a:xfrm>
      </p:grpSpPr>
      <p:sp>
        <p:nvSpPr>
          <p:cNvPr id="255" name="Google Shape;255;p40"/>
          <p:cNvSpPr/>
          <p:nvPr/>
        </p:nvSpPr>
        <p:spPr>
          <a:xfrm>
            <a:off x="7650" y="15300"/>
            <a:ext cx="9144000" cy="5143500"/>
          </a:xfrm>
          <a:prstGeom prst="rect">
            <a:avLst/>
          </a:prstGeom>
          <a:solidFill>
            <a:srgbClr val="424242">
              <a:alpha val="6962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256" name="Google Shape;256;p40"/>
          <p:cNvSpPr txBox="1"/>
          <p:nvPr>
            <p:ph type="ctrTitle"/>
          </p:nvPr>
        </p:nvSpPr>
        <p:spPr>
          <a:xfrm>
            <a:off x="510450" y="1257300"/>
            <a:ext cx="8123100" cy="1588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a:t>Mini Update #6</a:t>
            </a:r>
            <a:endParaRPr b="1"/>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7EDF5"/>
        </a:solidFill>
      </p:bgPr>
    </p:bg>
    <p:spTree>
      <p:nvGrpSpPr>
        <p:cNvPr id="260" name="Shape 260"/>
        <p:cNvGrpSpPr/>
        <p:nvPr/>
      </p:nvGrpSpPr>
      <p:grpSpPr>
        <a:xfrm>
          <a:off x="0" y="0"/>
          <a:ext cx="0" cy="0"/>
          <a:chOff x="0" y="0"/>
          <a:chExt cx="0" cy="0"/>
        </a:xfrm>
      </p:grpSpPr>
      <p:sp>
        <p:nvSpPr>
          <p:cNvPr id="261" name="Google Shape;261;p41"/>
          <p:cNvSpPr/>
          <p:nvPr/>
        </p:nvSpPr>
        <p:spPr>
          <a:xfrm>
            <a:off x="3229050" y="2251025"/>
            <a:ext cx="2685900" cy="456300"/>
          </a:xfrm>
          <a:prstGeom prst="roundRect">
            <a:avLst>
              <a:gd fmla="val 16667" name="adj"/>
            </a:avLst>
          </a:prstGeom>
          <a:solidFill>
            <a:srgbClr val="005D84"/>
          </a:solidFill>
          <a:ln cap="flat" cmpd="sng" w="9525">
            <a:solidFill>
              <a:srgbClr val="E7EDF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262" name="Google Shape;262;p41"/>
          <p:cNvSpPr/>
          <p:nvPr/>
        </p:nvSpPr>
        <p:spPr>
          <a:xfrm>
            <a:off x="6199700" y="2251025"/>
            <a:ext cx="2685900" cy="456300"/>
          </a:xfrm>
          <a:prstGeom prst="roundRect">
            <a:avLst>
              <a:gd fmla="val 16667" name="adj"/>
            </a:avLst>
          </a:prstGeom>
          <a:solidFill>
            <a:srgbClr val="005D84"/>
          </a:solidFill>
          <a:ln cap="flat" cmpd="sng" w="9525">
            <a:solidFill>
              <a:srgbClr val="E7EDF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263" name="Google Shape;263;p41"/>
          <p:cNvSpPr/>
          <p:nvPr/>
        </p:nvSpPr>
        <p:spPr>
          <a:xfrm>
            <a:off x="224050" y="2251025"/>
            <a:ext cx="2685900" cy="456300"/>
          </a:xfrm>
          <a:prstGeom prst="roundRect">
            <a:avLst>
              <a:gd fmla="val 16667" name="adj"/>
            </a:avLst>
          </a:prstGeom>
          <a:solidFill>
            <a:srgbClr val="005D84"/>
          </a:solidFill>
          <a:ln cap="flat" cmpd="sng" w="9525">
            <a:solidFill>
              <a:srgbClr val="E7EDF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264" name="Google Shape;264;p41"/>
          <p:cNvSpPr txBox="1"/>
          <p:nvPr>
            <p:ph type="title"/>
          </p:nvPr>
        </p:nvSpPr>
        <p:spPr>
          <a:xfrm>
            <a:off x="152400" y="1506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Final </a:t>
            </a:r>
            <a:r>
              <a:rPr b="1" lang="en"/>
              <a:t>Storyboard</a:t>
            </a:r>
            <a:endParaRPr b="1"/>
          </a:p>
        </p:txBody>
      </p:sp>
      <p:pic>
        <p:nvPicPr>
          <p:cNvPr id="265" name="Google Shape;265;p41" title="Screenshot 2026-04-27 at 9.51.45 PM.png"/>
          <p:cNvPicPr preferRelativeResize="0"/>
          <p:nvPr/>
        </p:nvPicPr>
        <p:blipFill rotWithShape="1">
          <a:blip r:embed="rId3">
            <a:alphaModFix/>
          </a:blip>
          <a:srcRect b="3848" l="0" r="0" t="4535"/>
          <a:stretch/>
        </p:blipFill>
        <p:spPr>
          <a:xfrm>
            <a:off x="115625" y="738092"/>
            <a:ext cx="8839199" cy="1427525"/>
          </a:xfrm>
          <a:prstGeom prst="rect">
            <a:avLst/>
          </a:prstGeom>
          <a:noFill/>
          <a:ln>
            <a:noFill/>
          </a:ln>
        </p:spPr>
      </p:pic>
      <p:sp>
        <p:nvSpPr>
          <p:cNvPr id="266" name="Google Shape;266;p41"/>
          <p:cNvSpPr txBox="1"/>
          <p:nvPr/>
        </p:nvSpPr>
        <p:spPr>
          <a:xfrm>
            <a:off x="224050" y="2251025"/>
            <a:ext cx="2685900" cy="45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900">
                <a:solidFill>
                  <a:schemeClr val="lt1"/>
                </a:solidFill>
                <a:latin typeface="Proxima Nova"/>
                <a:ea typeface="Proxima Nova"/>
                <a:cs typeface="Proxima Nova"/>
                <a:sym typeface="Proxima Nova"/>
              </a:rPr>
              <a:t>This group of data visualization revolve around the anime with Top 10 ratings and their scores.</a:t>
            </a:r>
            <a:endParaRPr sz="900">
              <a:solidFill>
                <a:schemeClr val="lt1"/>
              </a:solidFill>
              <a:latin typeface="Proxima Nova"/>
              <a:ea typeface="Proxima Nova"/>
              <a:cs typeface="Proxima Nova"/>
              <a:sym typeface="Proxima Nova"/>
            </a:endParaRPr>
          </a:p>
        </p:txBody>
      </p:sp>
      <p:sp>
        <p:nvSpPr>
          <p:cNvPr id="267" name="Google Shape;267;p41"/>
          <p:cNvSpPr txBox="1"/>
          <p:nvPr/>
        </p:nvSpPr>
        <p:spPr>
          <a:xfrm>
            <a:off x="3229050" y="2251025"/>
            <a:ext cx="2685900" cy="45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900">
                <a:solidFill>
                  <a:schemeClr val="lt1"/>
                </a:solidFill>
                <a:latin typeface="Proxima Nova"/>
                <a:ea typeface="Proxima Nova"/>
                <a:cs typeface="Proxima Nova"/>
                <a:sym typeface="Proxima Nova"/>
              </a:rPr>
              <a:t>This group of data visualizations revolve around the type of anime format and their specific scores.</a:t>
            </a:r>
            <a:endParaRPr sz="900">
              <a:solidFill>
                <a:schemeClr val="lt1"/>
              </a:solidFill>
              <a:latin typeface="Proxima Nova"/>
              <a:ea typeface="Proxima Nova"/>
              <a:cs typeface="Proxima Nova"/>
              <a:sym typeface="Proxima Nova"/>
            </a:endParaRPr>
          </a:p>
        </p:txBody>
      </p:sp>
      <p:sp>
        <p:nvSpPr>
          <p:cNvPr id="268" name="Google Shape;268;p41"/>
          <p:cNvSpPr txBox="1"/>
          <p:nvPr/>
        </p:nvSpPr>
        <p:spPr>
          <a:xfrm>
            <a:off x="6199700" y="2251025"/>
            <a:ext cx="2685900" cy="45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900">
                <a:solidFill>
                  <a:schemeClr val="lt1"/>
                </a:solidFill>
                <a:latin typeface="Proxima Nova"/>
                <a:ea typeface="Proxima Nova"/>
                <a:cs typeface="Proxima Nova"/>
                <a:sym typeface="Proxima Nova"/>
              </a:rPr>
              <a:t>This group of data visualizations revolve around the anime source and their scores.</a:t>
            </a:r>
            <a:endParaRPr sz="900">
              <a:solidFill>
                <a:schemeClr val="accent3"/>
              </a:solidFill>
              <a:latin typeface="Proxima Nova"/>
              <a:ea typeface="Proxima Nova"/>
              <a:cs typeface="Proxima Nova"/>
              <a:sym typeface="Proxima Nova"/>
            </a:endParaRPr>
          </a:p>
        </p:txBody>
      </p:sp>
      <p:sp>
        <p:nvSpPr>
          <p:cNvPr id="269" name="Google Shape;269;p41"/>
          <p:cNvSpPr txBox="1"/>
          <p:nvPr/>
        </p:nvSpPr>
        <p:spPr>
          <a:xfrm>
            <a:off x="263250" y="2941619"/>
            <a:ext cx="8617500" cy="1869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500">
                <a:solidFill>
                  <a:schemeClr val="accent3"/>
                </a:solidFill>
                <a:latin typeface="Proxima Nova"/>
                <a:ea typeface="Proxima Nova"/>
                <a:cs typeface="Proxima Nova"/>
                <a:sym typeface="Proxima Nova"/>
              </a:rPr>
              <a:t>This data story is organized from left to right to explore different factors that may influence anime ratings to help audience choose their next watch. The first section focuses on the top 10 highest rated anime and introduces the variety of genres and scores among them. The middle section looks at anime format, such as TV shows and movies, to see if format affects ratings. The last section explores anime source material, like manga or original stories, and how it relates to scores. The story examines multiple factors to show that there is not just one reason why anime became highly rated.</a:t>
            </a:r>
            <a:endParaRPr sz="1500">
              <a:solidFill>
                <a:schemeClr val="accent3"/>
              </a:solidFill>
              <a:latin typeface="Proxima Nova"/>
              <a:ea typeface="Proxima Nova"/>
              <a:cs typeface="Proxima Nova"/>
              <a:sym typeface="Proxima Nova"/>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Final Summary of Data Story</a:t>
            </a:r>
            <a:endParaRPr/>
          </a:p>
        </p:txBody>
      </p:sp>
      <p:sp>
        <p:nvSpPr>
          <p:cNvPr id="275" name="Google Shape;275;p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400"/>
              <a:t>In the world of anime, ratings and popularity often tell different stories. the exploration of anime ratings and popularity reveals a complex landscape where multiple factors, including genre, source material, studio, format, and length, influence perceptions of quality. By considering these diverse elements, viewers can discover a wider range of anime that align with their personal preferences and interests. The exploration of anime ratings and popularity reveals a complex landscape where multiple factors, including genre, source material, studio, format, and length, influence perceptions of quality. By considering these diverse elements, viewers can discover a wider range of anime that align with their personal preferences and interests. The figures collectively convey the nuanced relationship between anime ratings,</a:t>
            </a:r>
            <a:endParaRPr sz="1400"/>
          </a:p>
          <a:p>
            <a:pPr indent="0" lvl="0" marL="0" rtl="0" algn="l">
              <a:spcBef>
                <a:spcPts val="0"/>
              </a:spcBef>
              <a:spcAft>
                <a:spcPts val="0"/>
              </a:spcAft>
              <a:buNone/>
            </a:pPr>
            <a:r>
              <a:rPr lang="en" sz="1400"/>
              <a:t>popularity, and various influencing factors such as genre, source material, studio, format, and length.</a:t>
            </a:r>
            <a:endParaRPr sz="1400"/>
          </a:p>
          <a:p>
            <a:pPr indent="0" lvl="0" marL="0" rtl="0" algn="l">
              <a:spcBef>
                <a:spcPts val="0"/>
              </a:spcBef>
              <a:spcAft>
                <a:spcPts val="0"/>
              </a:spcAft>
              <a:buNone/>
            </a:pPr>
            <a:r>
              <a:rPr lang="en" sz="1400"/>
              <a:t>They illustrate that high ratings do not necessarily equate to high popularity and that quality anime</a:t>
            </a:r>
            <a:endParaRPr sz="1400"/>
          </a:p>
          <a:p>
            <a:pPr indent="0" lvl="0" marL="0" rtl="0" algn="l">
              <a:spcBef>
                <a:spcPts val="0"/>
              </a:spcBef>
              <a:spcAft>
                <a:spcPts val="0"/>
              </a:spcAft>
              <a:buNone/>
            </a:pPr>
            <a:r>
              <a:rPr lang="en" sz="1400"/>
              <a:t>can come from diverse genres and sources. The data encourages viewers to explore beyond</a:t>
            </a:r>
            <a:endParaRPr sz="1400"/>
          </a:p>
          <a:p>
            <a:pPr indent="0" lvl="0" marL="0" rtl="0" algn="l">
              <a:spcBef>
                <a:spcPts val="0"/>
              </a:spcBef>
              <a:spcAft>
                <a:spcPts val="0"/>
              </a:spcAft>
              <a:buNone/>
            </a:pPr>
            <a:r>
              <a:rPr lang="en" sz="1400"/>
              <a:t>conventional popularity metrics and consider a wider range of anime based on personal preferences</a:t>
            </a:r>
            <a:endParaRPr sz="1400"/>
          </a:p>
          <a:p>
            <a:pPr indent="0" lvl="0" marL="0" rtl="0" algn="l">
              <a:spcBef>
                <a:spcPts val="0"/>
              </a:spcBef>
              <a:spcAft>
                <a:spcPts val="0"/>
              </a:spcAft>
              <a:buNone/>
            </a:pPr>
            <a:r>
              <a:rPr lang="en" sz="1400"/>
              <a:t>and interests.</a:t>
            </a:r>
            <a:endParaRPr sz="14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7EDF5"/>
        </a:solidFill>
      </p:bgPr>
    </p:bg>
    <p:spTree>
      <p:nvGrpSpPr>
        <p:cNvPr id="279" name="Shape 279"/>
        <p:cNvGrpSpPr/>
        <p:nvPr/>
      </p:nvGrpSpPr>
      <p:grpSpPr>
        <a:xfrm>
          <a:off x="0" y="0"/>
          <a:ext cx="0" cy="0"/>
          <a:chOff x="0" y="0"/>
          <a:chExt cx="0" cy="0"/>
        </a:xfrm>
      </p:grpSpPr>
      <p:sp>
        <p:nvSpPr>
          <p:cNvPr id="280" name="Google Shape;280;p43"/>
          <p:cNvSpPr txBox="1"/>
          <p:nvPr>
            <p:ph type="title"/>
          </p:nvPr>
        </p:nvSpPr>
        <p:spPr>
          <a:xfrm>
            <a:off x="1205450" y="396950"/>
            <a:ext cx="5887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Project Progress Check for Update 6</a:t>
            </a:r>
            <a:endParaRPr b="1"/>
          </a:p>
        </p:txBody>
      </p:sp>
      <p:sp>
        <p:nvSpPr>
          <p:cNvPr id="281" name="Google Shape;281;p43"/>
          <p:cNvSpPr txBox="1"/>
          <p:nvPr>
            <p:ph idx="1" type="body"/>
          </p:nvPr>
        </p:nvSpPr>
        <p:spPr>
          <a:xfrm>
            <a:off x="311700" y="1556850"/>
            <a:ext cx="8520600" cy="2519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This week, I refined my Story Studio storyboard and created a final storyboard and summary data story. I tried my best to capture the data in an intuitive structure and order to tell the my data story about looking beyond popularity and ratings to choose the next watch. I made sure my data visualization groupings made sense to go together and the labels were appropriate and clear. This week’s work simply consisted of minor adjustments being made and final storytelling tweaks.</a:t>
            </a:r>
            <a:endParaRPr/>
          </a:p>
        </p:txBody>
      </p:sp>
      <p:pic>
        <p:nvPicPr>
          <p:cNvPr id="282" name="Google Shape;282;p43"/>
          <p:cNvPicPr preferRelativeResize="0"/>
          <p:nvPr/>
        </p:nvPicPr>
        <p:blipFill>
          <a:blip r:embed="rId3">
            <a:alphaModFix/>
          </a:blip>
          <a:stretch>
            <a:fillRect/>
          </a:stretch>
        </p:blipFill>
        <p:spPr>
          <a:xfrm>
            <a:off x="86942" y="94242"/>
            <a:ext cx="1118500" cy="102123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