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10.xml"/>
  <Override ContentType="application/vnd.openxmlformats-officedocument.presentationml.comments+xml" PartName="/ppt/comments/comment17.xml"/>
  <Override ContentType="application/vnd.openxmlformats-officedocument.presentationml.comments+xml" PartName="/ppt/comments/comment8.xml"/>
  <Override ContentType="application/vnd.openxmlformats-officedocument.presentationml.comments+xml" PartName="/ppt/comments/comment21.xml"/>
  <Override ContentType="application/vnd.openxmlformats-officedocument.presentationml.comments+xml" PartName="/ppt/comments/comment6.xml"/>
  <Override ContentType="application/vnd.openxmlformats-officedocument.presentationml.comments+xml" PartName="/ppt/comments/comment19.xml"/>
  <Override ContentType="application/vnd.openxmlformats-officedocument.presentationml.comments+xml" PartName="/ppt/comments/comment20.xml"/>
  <Override ContentType="application/vnd.openxmlformats-officedocument.presentationml.comments+xml" PartName="/ppt/comments/comment3.xml"/>
  <Override ContentType="application/vnd.openxmlformats-officedocument.presentationml.comments+xml" PartName="/ppt/comments/comment15.xml"/>
  <Override ContentType="application/vnd.openxmlformats-officedocument.presentationml.comments+xml" PartName="/ppt/comments/comment13.xml"/>
  <Override ContentType="application/vnd.openxmlformats-officedocument.presentationml.comments+xml" PartName="/ppt/comments/comment16.xml"/>
  <Override ContentType="application/vnd.openxmlformats-officedocument.presentationml.comments+xml" PartName="/ppt/comments/comment11.xml"/>
  <Override ContentType="application/vnd.openxmlformats-officedocument.presentationml.comments+xml" PartName="/ppt/comments/comment2.xml"/>
  <Override ContentType="application/vnd.openxmlformats-officedocument.presentationml.comments+xml" PartName="/ppt/comments/comment5.xml"/>
  <Override ContentType="application/vnd.openxmlformats-officedocument.presentationml.comments+xml" PartName="/ppt/comments/comment7.xml"/>
  <Override ContentType="application/vnd.openxmlformats-officedocument.presentationml.comments+xml" PartName="/ppt/comments/comment4.xml"/>
  <Override ContentType="application/vnd.openxmlformats-officedocument.presentationml.comments+xml" PartName="/ppt/comments/comment9.xml"/>
  <Override ContentType="application/vnd.openxmlformats-officedocument.presentationml.comments+xml" PartName="/ppt/comments/comment18.xml"/>
  <Override ContentType="application/vnd.openxmlformats-officedocument.presentationml.comments+xml" PartName="/ppt/comments/comment12.xml"/>
  <Override ContentType="application/vnd.openxmlformats-officedocument.presentationml.comments+xml" PartName="/ppt/comments/comment14.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Lst>
  <p:sldSz cy="5143500" cx="9144000"/>
  <p:notesSz cx="6858000" cy="9144000"/>
  <p:embeddedFontLst>
    <p:embeddedFont>
      <p:font typeface="Nunito"/>
      <p:regular r:id="rId50"/>
      <p:bold r:id="rId51"/>
      <p:italic r:id="rId52"/>
      <p:boldItalic r:id="rId53"/>
    </p:embeddedFont>
    <p:embeddedFont>
      <p:font typeface="Maven Pro"/>
      <p:regular r:id="rId54"/>
      <p:bold r:id="rId5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26" name="Karen Chen"/>
  <p:cmAuthor clrIdx="1" id="1" initials="" lastIdx="1" name="Alyssa Silmon"/>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8A4D223-EC07-4144-BB5C-E1EA1BCDE6FE}">
  <a:tblStyle styleId="{F8A4D223-EC07-4144-BB5C-E1EA1BCDE6FE}"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5" Type="http://schemas.openxmlformats.org/officeDocument/2006/relationships/commentAuthors" Target="commentAuthors.xml"/><Relationship Id="rId6" Type="http://schemas.openxmlformats.org/officeDocument/2006/relationships/slideMaster" Target="slideMasters/slideMaster1.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font" Target="fonts/Nunito-bold.fntdata"/><Relationship Id="rId50" Type="http://schemas.openxmlformats.org/officeDocument/2006/relationships/font" Target="fonts/Nunito-regular.fntdata"/><Relationship Id="rId53" Type="http://schemas.openxmlformats.org/officeDocument/2006/relationships/font" Target="fonts/Nunito-boldItalic.fntdata"/><Relationship Id="rId52" Type="http://schemas.openxmlformats.org/officeDocument/2006/relationships/font" Target="fonts/Nunito-italic.fntdata"/><Relationship Id="rId11" Type="http://schemas.openxmlformats.org/officeDocument/2006/relationships/slide" Target="slides/slide4.xml"/><Relationship Id="rId55" Type="http://schemas.openxmlformats.org/officeDocument/2006/relationships/font" Target="fonts/MavenPro-bold.fntdata"/><Relationship Id="rId10" Type="http://schemas.openxmlformats.org/officeDocument/2006/relationships/slide" Target="slides/slide3.xml"/><Relationship Id="rId54" Type="http://schemas.openxmlformats.org/officeDocument/2006/relationships/font" Target="fonts/MavenPro-regular.fntdata"/><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4-28T23:11:54.511">
    <p:pos x="220" y="1006"/>
    <p:text>@nabbasi1@umbc.edu the information is useful, but the data is a bit boring, would it be more interesting to show a distribution of preparation time, then highlight those at the tail and observe the patterns of types of receipt, how about those taking long?</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6-04-28T23:13:31.601">
    <p:pos x="2738" y="906"/>
    <p:text>glad that you are plotting the CI. it usually better to plot the CI (as line) along with mean also as line. @lh11450@umbc.edu</p:tex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3" dt="2026-04-28T23:14:19.953">
    <p:pos x="2626" y="953"/>
    <p:text>to be honest, it is hard to discern with dots are overlapping, considering plotting similar as your previous slide</p:text>
  </p:cm>
</p:cmLst>
</file>

<file path=ppt/comments/comment4.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4" dt="2026-04-28T23:15:38.344">
    <p:pos x="220" y="776"/>
    <p:text>@agilman1@umbc.edu interesting metrics!</p:text>
  </p:cm>
</p:cmLst>
</file>

<file path=ppt/comments/comment5.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5" dt="2026-04-28T23:16:20.025">
    <p:pos x="220" y="1006"/>
    <p:text>great detective work!</p:text>
  </p:cm>
</p:cmLst>
</file>

<file path=ppt/comments/comment6.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6" dt="2026-04-21T04:27:27.086">
    <p:pos x="295" y="931"/>
    <p:text>This list bit confusing, some of the items are not country,</p:text>
  </p:cm>
</p:cmLst>
</file>

<file path=ppt/comments/comment7.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7" dt="2026-04-21T04:30:53.429">
    <p:pos x="214" y="947"/>
    <p:text>you don't measure, you illustrate, display, or show</p:text>
  </p:cm>
  <p:cm authorId="0" idx="8" dt="2026-04-21T04:36:48.934">
    <p:pos x="214" y="1047"/>
    <p:text>what do you mean by this, obviously, there are recipe for which the number of rating are not that high, do you notice for them?</p:text>
  </p:cm>
  <p:cm authorId="0" idx="9" dt="2026-04-21T04:33:39.979">
    <p:pos x="214" y="1147"/>
    <p:text>what is your explanation for this?</p:text>
  </p:cm>
</p:cmLst>
</file>

<file path=ppt/comments/comment8.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0" dt="2026-04-21T04:38:54.905">
    <p:pos x="2761" y="913"/>
    <p:text>reader will be lost now when you suddenly talk about cooking time, if you do want to mention cooking time, you could bring in the plot with cooking data</p:text>
  </p:cm>
  <p:cm authorId="0" idx="11" dt="2026-04-21T04:39:36.565">
    <p:pos x="2761" y="1013"/>
    <p:text>this type of explanation of histogram is not necessary</p:text>
  </p:cm>
</p:cmLst>
</file>

<file path=ppt/comments/comment9.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2" dt="2026-04-21T04:42:33.002">
    <p:pos x="2825" y="848"/>
    <p:text>think about a better way to answer this question, for example, you can create a bin for calories count and calculate mean and confidence intervals</p:text>
  </p:cm>
</p:cmLst>
</file>

<file path=ppt/comments/comment10.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3" dt="2026-04-21T04:44:05.363">
    <p:pos x="2825" y="848"/>
    <p:text>interesting, suggest providing citation and highlighting this ideal region in the plot</p:text>
  </p:cm>
</p:cmLst>
</file>

<file path=ppt/comments/comment1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4" dt="2026-04-21T04:49:13.662">
    <p:pos x="2825" y="848"/>
    <p:text>interesting analysis, I like you use AI to clean the data and get some interesting result, I am wondering whether there is a better way to present the data, for example, would it make sense to group the ingredients? or even a scatter plot, or a plot with two parallel line, see next slide for illustration. @agilman1@umbc.edu</p:text>
  </p:cm>
</p:cmLst>
</file>

<file path=ppt/comments/comment1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5" dt="2026-04-21T04:50:26.846">
    <p:pos x="821" y="853"/>
    <p:text>@nabbasi1@umbc.edu this type of question can be answer through discord, TA/TF will be a great resources</p:text>
  </p:cm>
</p:cmLst>
</file>

<file path=ppt/comments/comment1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6" dt="2026-04-15T02:59:40.834">
    <p:pos x="519" y="1016"/>
    <p:text>please move the most recent week upfront</p:text>
  </p:cm>
</p:cmLst>
</file>

<file path=ppt/comments/comment14.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7" dt="2026-04-15T03:01:57.021">
    <p:pos x="736" y="596"/>
    <p:text>a cleaner presentation could be bin the data into category and show a bar plot @nabbasi1@umbc.edu</p:text>
  </p:cm>
</p:cmLst>
</file>

<file path=ppt/comments/comment15.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8" dt="2026-04-15T03:03:17.866">
    <p:pos x="510" y="844"/>
    <p:text>this is an interesting angle, you apply this to the complete dataset instead of just top 10</p:text>
  </p:cm>
</p:cmLst>
</file>

<file path=ppt/comments/comment16.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9" dt="2026-04-15T03:05:34.864">
    <p:pos x="2708" y="929"/>
    <p:text>is this something you assume or can be validated through data? I would be curious to know how the variation of rating can be explained by any of those factors</p:text>
  </p:cm>
  <p:cm authorId="0" idx="20" dt="2026-04-15T03:07:40.539">
    <p:pos x="2708" y="1029"/>
    <p:text>I am not sure if I agree with you on this. how do you define "highlgy rated"?</p:text>
  </p:cm>
</p:cmLst>
</file>

<file path=ppt/comments/comment17.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1" dt="2026-04-15T03:09:24.497">
    <p:pos x="2708" y="806"/>
    <p:text>interesting, to make more interesting, you could explore overlaying histogram, comparing high rated vs. relataively average rated recipe</p:text>
  </p:cm>
</p:cmLst>
</file>

<file path=ppt/comments/comment18.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2" dt="2026-04-15T03:10:15.047">
    <p:pos x="2708" y="806"/>
    <p:text>@agilman1@umbc.edu great idea</p:text>
  </p:cm>
  <p:cm authorId="0" idx="23" dt="2026-04-15T03:11:12.826">
    <p:pos x="2708" y="906"/>
    <p:text>yes, r-only test linear relationship, you can check out LOWESS plot to show non-linear relationship</p:text>
  </p:cm>
</p:cmLst>
</file>

<file path=ppt/comments/comment19.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4" dt="2026-04-15T03:12:26.848">
    <p:pos x="2708" y="806"/>
    <p:text>interesting hypothesis, yes, the pattern is unclear, how about other factors that might impact preparation time, cooking method?</p:text>
  </p:cm>
</p:cmLst>
</file>

<file path=ppt/comments/comment20.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1" idx="1" dt="2026-04-12T17:47:32.323">
    <p:pos x="329" y="830"/>
    <p:text>(therefore I want to let you know I used ClaudeAI because my whole server was down, and then I answered the questions on my own).</p:text>
  </p:cm>
  <p:cm authorId="0" idx="25" dt="2026-04-15T03:13:44.233">
    <p:pos x="329" y="930"/>
    <p:text>@agilman1@umbc.edu as long as you use AI to do something not taught in the class, yes, it is acceptable</p:text>
  </p:cm>
</p:cmLst>
</file>

<file path=ppt/comments/comment2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6" dt="2026-04-08T04:16:45.426">
    <p:pos x="328" y="1006"/>
    <p:text>good start! with the project evolve, you might want to narrow it down specific type of audience and zone in relevant communication goals for them. It doesn't hurt to be more general at the beginning</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9a6782c6d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39a6782c6d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3dbc222427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3dbc222427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9a6782c6d4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39a6782c6d4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39a6782c6d4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39a6782c6d4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3d824d54319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3d824d54319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3d824d54319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3d824d54319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3d824d54319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3d824d54319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3d9816e991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3d9816e991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3d9816e991f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3d9816e991f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3d961ee4ae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0" name="Google Shape;340;g3d961ee4ae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3d97cce9138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8" name="Google Shape;348;g3d97cce9138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3d97cce9138_2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5" name="Google Shape;355;g3d97cce9138_2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3d824d54319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3" name="Google Shape;363;g3d824d54319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3d824d54319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9" name="Google Shape;369;g3d824d54319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3d72dab5b4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5" name="Google Shape;375;g3d72dab5b4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3d75c3183c7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0" name="Google Shape;380;g3d75c3183c7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3d75c3183c7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0" name="Google Shape;390;g3d75c3183c7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3976b0b8f0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8" name="Google Shape;398;g3976b0b8f0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3976b0b8f0e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6" name="Google Shape;406;g3976b0b8f0e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g3d76be9a4e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4" name="Google Shape;414;g3d76be9a4e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g3d76be9a4e2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2" name="Google Shape;422;g3d76be9a4e2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3d8378997f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0" name="Google Shape;430;g3d8378997f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g3d75c3183c7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3" name="Google Shape;443;g3d75c3183c7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g3d75c3183c7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9" name="Google Shape;449;g3d75c3183c7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g3d5150cd28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5" name="Google Shape;455;g3d5150cd28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g3d5150cd284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0" name="Google Shape;460;g3d5150cd284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3d57188f0b2_2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0" name="Google Shape;470;g3d57188f0b2_2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g3d59c2822b8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8" name="Google Shape;478;g3d59c2822b8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g3d59c2822b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6" name="Google Shape;486;g3d59c2822b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g3d5a6609d61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4" name="Google Shape;494;g3d5a6609d61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g3d5a6609d61_1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2" name="Google Shape;502;g3d5a6609d61_1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g3d5150cd284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0" name="Google Shape;510;g3d5150cd284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g3d5150cd284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6" name="Google Shape;516;g3d5150cd284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g3d4a6a2dd69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2" name="Google Shape;522;g3d4a6a2dd69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g3d4a6a2dd69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7" name="Google Shape;527;g3d4a6a2dd69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g3d4a6a2dd6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3" name="Google Shape;533;g3d4a6a2dd6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g3d4a6a2dd69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1" name="Google Shape;541;g3d4a6a2dd69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g3d4a6a2dd69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8" name="Google Shape;548;g3d4a6a2dd69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g3d4a6a2dd69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5" name="Google Shape;555;g3d4a6a2dd69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g3d492aa9b16_0_2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2" name="Google Shape;562;g3d492aa9b16_0_2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g3d492aa9b16_0_2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8" name="Google Shape;568;g3d492aa9b16_0_2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3"/>
        </a:solidFill>
      </p:bgPr>
    </p:bg>
    <p:spTree>
      <p:nvGrpSpPr>
        <p:cNvPr id="9" name="Shape 9"/>
        <p:cNvGrpSpPr/>
        <p:nvPr/>
      </p:nvGrpSpPr>
      <p:grpSpPr>
        <a:xfrm>
          <a:off x="0" y="0"/>
          <a:ext cx="0" cy="0"/>
          <a:chOff x="0" y="0"/>
          <a:chExt cx="0" cy="0"/>
        </a:xfrm>
      </p:grpSpPr>
      <p:grpSp>
        <p:nvGrpSpPr>
          <p:cNvPr id="10" name="Google Shape;10;p2"/>
          <p:cNvGrpSpPr/>
          <p:nvPr/>
        </p:nvGrpSpPr>
        <p:grpSpPr>
          <a:xfrm>
            <a:off x="7343003" y="3409675"/>
            <a:ext cx="1691422" cy="1732548"/>
            <a:chOff x="7343003" y="3409675"/>
            <a:chExt cx="1691422" cy="1732548"/>
          </a:xfrm>
        </p:grpSpPr>
        <p:grpSp>
          <p:nvGrpSpPr>
            <p:cNvPr id="11" name="Google Shape;11;p2"/>
            <p:cNvGrpSpPr/>
            <p:nvPr/>
          </p:nvGrpSpPr>
          <p:grpSpPr>
            <a:xfrm>
              <a:off x="7343003" y="4453711"/>
              <a:ext cx="316800" cy="688513"/>
              <a:chOff x="7343003" y="4453711"/>
              <a:chExt cx="316800" cy="688513"/>
            </a:xfrm>
          </p:grpSpPr>
          <p:sp>
            <p:nvSpPr>
              <p:cNvPr id="12" name="Google Shape;12;p2"/>
              <p:cNvSpPr/>
              <p:nvPr/>
            </p:nvSpPr>
            <p:spPr>
              <a:xfrm>
                <a:off x="7343003"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7343003"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 name="Google Shape;14;p2"/>
            <p:cNvGrpSpPr/>
            <p:nvPr/>
          </p:nvGrpSpPr>
          <p:grpSpPr>
            <a:xfrm>
              <a:off x="7801210" y="4105700"/>
              <a:ext cx="316800" cy="1036523"/>
              <a:chOff x="7801210" y="4105700"/>
              <a:chExt cx="316800" cy="1036523"/>
            </a:xfrm>
          </p:grpSpPr>
          <p:sp>
            <p:nvSpPr>
              <p:cNvPr id="15" name="Google Shape;15;p2"/>
              <p:cNvSpPr/>
              <p:nvPr/>
            </p:nvSpPr>
            <p:spPr>
              <a:xfrm>
                <a:off x="7801210"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7801210"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7801210"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8259418" y="3757688"/>
              <a:ext cx="316800" cy="1384535"/>
              <a:chOff x="8259418" y="3757688"/>
              <a:chExt cx="316800" cy="1384535"/>
            </a:xfrm>
          </p:grpSpPr>
          <p:sp>
            <p:nvSpPr>
              <p:cNvPr id="19" name="Google Shape;19;p2"/>
              <p:cNvSpPr/>
              <p:nvPr/>
            </p:nvSpPr>
            <p:spPr>
              <a:xfrm>
                <a:off x="8259418"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8259418"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8259418"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8259418"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 name="Google Shape;23;p2"/>
            <p:cNvGrpSpPr/>
            <p:nvPr/>
          </p:nvGrpSpPr>
          <p:grpSpPr>
            <a:xfrm>
              <a:off x="8717625" y="3409675"/>
              <a:ext cx="316800" cy="1732548"/>
              <a:chOff x="8717625" y="3409675"/>
              <a:chExt cx="316800" cy="1732548"/>
            </a:xfrm>
          </p:grpSpPr>
          <p:sp>
            <p:nvSpPr>
              <p:cNvPr id="24" name="Google Shape;24;p2"/>
              <p:cNvSpPr/>
              <p:nvPr/>
            </p:nvSpPr>
            <p:spPr>
              <a:xfrm>
                <a:off x="8717625"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8717625"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8717625"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8717625" y="3409675"/>
                <a:ext cx="316800" cy="1732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8717625"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9" name="Google Shape;29;p2"/>
          <p:cNvGrpSpPr/>
          <p:nvPr/>
        </p:nvGrpSpPr>
        <p:grpSpPr>
          <a:xfrm>
            <a:off x="5043503" y="0"/>
            <a:ext cx="3814072" cy="3839102"/>
            <a:chOff x="5043503" y="0"/>
            <a:chExt cx="3814072" cy="3839102"/>
          </a:xfrm>
        </p:grpSpPr>
        <p:sp>
          <p:nvSpPr>
            <p:cNvPr id="30" name="Google Shape;30;p2"/>
            <p:cNvSpPr/>
            <p:nvPr/>
          </p:nvSpPr>
          <p:spPr>
            <a:xfrm>
              <a:off x="8460975" y="1817775"/>
              <a:ext cx="396600" cy="3966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rot="-9830444">
              <a:off x="6469759" y="3480728"/>
              <a:ext cx="320148" cy="32014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 name="Google Shape;32;p2"/>
            <p:cNvGrpSpPr/>
            <p:nvPr/>
          </p:nvGrpSpPr>
          <p:grpSpPr>
            <a:xfrm>
              <a:off x="7647812" y="2704283"/>
              <a:ext cx="635219" cy="635219"/>
              <a:chOff x="6725724" y="2701260"/>
              <a:chExt cx="1208101" cy="1208100"/>
            </a:xfrm>
          </p:grpSpPr>
          <p:sp>
            <p:nvSpPr>
              <p:cNvPr id="33" name="Google Shape;33;p2"/>
              <p:cNvSpPr/>
              <p:nvPr/>
            </p:nvSpPr>
            <p:spPr>
              <a:xfrm rot="5400000">
                <a:off x="6725725" y="2701260"/>
                <a:ext cx="1208100" cy="12081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rot="5400000">
                <a:off x="6725724" y="2701260"/>
                <a:ext cx="1208100" cy="1208100"/>
              </a:xfrm>
              <a:prstGeom prst="pie">
                <a:avLst>
                  <a:gd fmla="val 8244818" name="adj1"/>
                  <a:gd fmla="val 16246175"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rot="5400000">
                <a:off x="6954988" y="2930398"/>
                <a:ext cx="749700" cy="7497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2"/>
            <p:cNvSpPr/>
            <p:nvPr/>
          </p:nvSpPr>
          <p:spPr>
            <a:xfrm>
              <a:off x="8460975" y="1817775"/>
              <a:ext cx="396600" cy="396600"/>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 name="Google Shape;37;p2"/>
            <p:cNvGrpSpPr/>
            <p:nvPr/>
          </p:nvGrpSpPr>
          <p:grpSpPr>
            <a:xfrm>
              <a:off x="7952720" y="179238"/>
              <a:ext cx="873165" cy="873003"/>
              <a:chOff x="7754428" y="208725"/>
              <a:chExt cx="541800" cy="541800"/>
            </a:xfrm>
          </p:grpSpPr>
          <p:sp>
            <p:nvSpPr>
              <p:cNvPr id="38" name="Google Shape;38;p2"/>
              <p:cNvSpPr/>
              <p:nvPr/>
            </p:nvSpPr>
            <p:spPr>
              <a:xfrm rot="-8647347">
                <a:off x="7831319" y="285616"/>
                <a:ext cx="388018" cy="38801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rot="-8647347">
                <a:off x="7831319" y="285616"/>
                <a:ext cx="388018" cy="388018"/>
              </a:xfrm>
              <a:prstGeom prst="pie">
                <a:avLst>
                  <a:gd fmla="val 19376841" name="adj1"/>
                  <a:gd fmla="val 12313574"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 name="Google Shape;40;p2"/>
            <p:cNvSpPr/>
            <p:nvPr/>
          </p:nvSpPr>
          <p:spPr>
            <a:xfrm>
              <a:off x="5399840" y="356365"/>
              <a:ext cx="2577000" cy="25770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rot="2043858">
              <a:off x="5503813" y="460310"/>
              <a:ext cx="2369480" cy="236948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5399795" y="360281"/>
              <a:ext cx="2577000" cy="2577000"/>
            </a:xfrm>
            <a:prstGeom prst="pie">
              <a:avLst>
                <a:gd fmla="val 8801158"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rot="2044777">
              <a:off x="5911449" y="867729"/>
              <a:ext cx="1554223" cy="1554223"/>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5399795" y="356358"/>
              <a:ext cx="2577000" cy="2577000"/>
            </a:xfrm>
            <a:prstGeom prst="pie">
              <a:avLst>
                <a:gd fmla="val 1255410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rot="-9830444">
              <a:off x="6469759" y="3480727"/>
              <a:ext cx="320148" cy="320148"/>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 name="Google Shape;46;p2"/>
          <p:cNvSpPr txBox="1"/>
          <p:nvPr>
            <p:ph type="ctrTitle"/>
          </p:nvPr>
        </p:nvSpPr>
        <p:spPr>
          <a:xfrm>
            <a:off x="824000" y="1613813"/>
            <a:ext cx="42555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47" name="Google Shape;47;p2"/>
          <p:cNvSpPr txBox="1"/>
          <p:nvPr>
            <p:ph idx="1" type="subTitle"/>
          </p:nvPr>
        </p:nvSpPr>
        <p:spPr>
          <a:xfrm>
            <a:off x="824000" y="3596300"/>
            <a:ext cx="4255500" cy="6954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48" name="Google Shape;48;p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49" name="Shape 49"/>
        <p:cNvGrpSpPr/>
        <p:nvPr/>
      </p:nvGrpSpPr>
      <p:grpSpPr>
        <a:xfrm>
          <a:off x="0" y="0"/>
          <a:ext cx="0" cy="0"/>
          <a:chOff x="0" y="0"/>
          <a:chExt cx="0" cy="0"/>
        </a:xfrm>
      </p:grpSpPr>
      <p:grpSp>
        <p:nvGrpSpPr>
          <p:cNvPr id="50" name="Google Shape;50;p3"/>
          <p:cNvGrpSpPr/>
          <p:nvPr/>
        </p:nvGrpSpPr>
        <p:grpSpPr>
          <a:xfrm>
            <a:off x="146769" y="3406"/>
            <a:ext cx="1233215" cy="1384535"/>
            <a:chOff x="146769" y="3406"/>
            <a:chExt cx="1233215" cy="1384535"/>
          </a:xfrm>
        </p:grpSpPr>
        <p:grpSp>
          <p:nvGrpSpPr>
            <p:cNvPr id="51" name="Google Shape;51;p3"/>
            <p:cNvGrpSpPr/>
            <p:nvPr/>
          </p:nvGrpSpPr>
          <p:grpSpPr>
            <a:xfrm>
              <a:off x="1063183" y="3406"/>
              <a:ext cx="316800" cy="688513"/>
              <a:chOff x="1063183" y="3406"/>
              <a:chExt cx="316800" cy="688513"/>
            </a:xfrm>
          </p:grpSpPr>
          <p:sp>
            <p:nvSpPr>
              <p:cNvPr id="52" name="Google Shape;52;p3"/>
              <p:cNvSpPr/>
              <p:nvPr/>
            </p:nvSpPr>
            <p:spPr>
              <a:xfrm rot="10800000">
                <a:off x="1063183"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3"/>
              <p:cNvSpPr/>
              <p:nvPr/>
            </p:nvSpPr>
            <p:spPr>
              <a:xfrm rot="10800000">
                <a:off x="1063183"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 name="Google Shape;54;p3"/>
            <p:cNvGrpSpPr/>
            <p:nvPr/>
          </p:nvGrpSpPr>
          <p:grpSpPr>
            <a:xfrm>
              <a:off x="604976" y="3406"/>
              <a:ext cx="316800" cy="1036524"/>
              <a:chOff x="604976" y="3406"/>
              <a:chExt cx="316800" cy="1036524"/>
            </a:xfrm>
          </p:grpSpPr>
          <p:sp>
            <p:nvSpPr>
              <p:cNvPr id="55" name="Google Shape;55;p3"/>
              <p:cNvSpPr/>
              <p:nvPr/>
            </p:nvSpPr>
            <p:spPr>
              <a:xfrm rot="10800000">
                <a:off x="604976"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3"/>
              <p:cNvSpPr/>
              <p:nvPr/>
            </p:nvSpPr>
            <p:spPr>
              <a:xfrm rot="10800000">
                <a:off x="604976"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p:nvPr/>
            </p:nvSpPr>
            <p:spPr>
              <a:xfrm rot="10800000">
                <a:off x="604976"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 name="Google Shape;58;p3"/>
            <p:cNvGrpSpPr/>
            <p:nvPr/>
          </p:nvGrpSpPr>
          <p:grpSpPr>
            <a:xfrm>
              <a:off x="146769" y="3406"/>
              <a:ext cx="316800" cy="1384535"/>
              <a:chOff x="146769" y="3406"/>
              <a:chExt cx="316800" cy="1384535"/>
            </a:xfrm>
          </p:grpSpPr>
          <p:sp>
            <p:nvSpPr>
              <p:cNvPr id="59" name="Google Shape;59;p3"/>
              <p:cNvSpPr/>
              <p:nvPr/>
            </p:nvSpPr>
            <p:spPr>
              <a:xfrm rot="10800000">
                <a:off x="146769"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
              <p:cNvSpPr/>
              <p:nvPr/>
            </p:nvSpPr>
            <p:spPr>
              <a:xfrm rot="10800000">
                <a:off x="146769" y="3441"/>
                <a:ext cx="316800" cy="1384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p:nvPr/>
            </p:nvSpPr>
            <p:spPr>
              <a:xfrm rot="10800000">
                <a:off x="146769"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
              <p:cNvSpPr/>
              <p:nvPr/>
            </p:nvSpPr>
            <p:spPr>
              <a:xfrm rot="10800000">
                <a:off x="146769"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3" name="Google Shape;63;p3"/>
          <p:cNvGrpSpPr/>
          <p:nvPr/>
        </p:nvGrpSpPr>
        <p:grpSpPr>
          <a:xfrm>
            <a:off x="6775084" y="2904008"/>
            <a:ext cx="2186148" cy="2239500"/>
            <a:chOff x="6775084" y="2904008"/>
            <a:chExt cx="2186148" cy="2239500"/>
          </a:xfrm>
        </p:grpSpPr>
        <p:grpSp>
          <p:nvGrpSpPr>
            <p:cNvPr id="64" name="Google Shape;64;p3"/>
            <p:cNvGrpSpPr/>
            <p:nvPr/>
          </p:nvGrpSpPr>
          <p:grpSpPr>
            <a:xfrm>
              <a:off x="6775084" y="4253708"/>
              <a:ext cx="409500" cy="889800"/>
              <a:chOff x="6775084" y="4253708"/>
              <a:chExt cx="409500" cy="889800"/>
            </a:xfrm>
          </p:grpSpPr>
          <p:sp>
            <p:nvSpPr>
              <p:cNvPr id="65" name="Google Shape;65;p3"/>
              <p:cNvSpPr/>
              <p:nvPr/>
            </p:nvSpPr>
            <p:spPr>
              <a:xfrm>
                <a:off x="6775084"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
              <p:cNvSpPr/>
              <p:nvPr/>
            </p:nvSpPr>
            <p:spPr>
              <a:xfrm>
                <a:off x="6775084"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 name="Google Shape;67;p3"/>
            <p:cNvGrpSpPr/>
            <p:nvPr/>
          </p:nvGrpSpPr>
          <p:grpSpPr>
            <a:xfrm>
              <a:off x="7367299" y="3804008"/>
              <a:ext cx="409500" cy="1339500"/>
              <a:chOff x="7367299" y="3804008"/>
              <a:chExt cx="409500" cy="1339500"/>
            </a:xfrm>
          </p:grpSpPr>
          <p:sp>
            <p:nvSpPr>
              <p:cNvPr id="68" name="Google Shape;68;p3"/>
              <p:cNvSpPr/>
              <p:nvPr/>
            </p:nvSpPr>
            <p:spPr>
              <a:xfrm>
                <a:off x="7367299"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
              <p:cNvSpPr/>
              <p:nvPr/>
            </p:nvSpPr>
            <p:spPr>
              <a:xfrm>
                <a:off x="7367299"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a:off x="7367299"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 name="Google Shape;71;p3"/>
            <p:cNvGrpSpPr/>
            <p:nvPr/>
          </p:nvGrpSpPr>
          <p:grpSpPr>
            <a:xfrm>
              <a:off x="7959516" y="3354008"/>
              <a:ext cx="409500" cy="1789500"/>
              <a:chOff x="7959516" y="3354008"/>
              <a:chExt cx="409500" cy="1789500"/>
            </a:xfrm>
          </p:grpSpPr>
          <p:sp>
            <p:nvSpPr>
              <p:cNvPr id="72" name="Google Shape;72;p3"/>
              <p:cNvSpPr/>
              <p:nvPr/>
            </p:nvSpPr>
            <p:spPr>
              <a:xfrm>
                <a:off x="7959516"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
              <p:cNvSpPr/>
              <p:nvPr/>
            </p:nvSpPr>
            <p:spPr>
              <a:xfrm>
                <a:off x="7959516"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
              <p:cNvSpPr/>
              <p:nvPr/>
            </p:nvSpPr>
            <p:spPr>
              <a:xfrm>
                <a:off x="7959516"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a:off x="7959516"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 name="Google Shape;76;p3"/>
            <p:cNvGrpSpPr/>
            <p:nvPr/>
          </p:nvGrpSpPr>
          <p:grpSpPr>
            <a:xfrm>
              <a:off x="8551731" y="2904008"/>
              <a:ext cx="409500" cy="2239500"/>
              <a:chOff x="8551731" y="2904008"/>
              <a:chExt cx="409500" cy="2239500"/>
            </a:xfrm>
          </p:grpSpPr>
          <p:sp>
            <p:nvSpPr>
              <p:cNvPr id="77" name="Google Shape;77;p3"/>
              <p:cNvSpPr/>
              <p:nvPr/>
            </p:nvSpPr>
            <p:spPr>
              <a:xfrm>
                <a:off x="8551731"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
              <p:cNvSpPr/>
              <p:nvPr/>
            </p:nvSpPr>
            <p:spPr>
              <a:xfrm>
                <a:off x="8551731"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3"/>
              <p:cNvSpPr/>
              <p:nvPr/>
            </p:nvSpPr>
            <p:spPr>
              <a:xfrm>
                <a:off x="8551731"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
              <p:cNvSpPr/>
              <p:nvPr/>
            </p:nvSpPr>
            <p:spPr>
              <a:xfrm>
                <a:off x="8551731" y="2904008"/>
                <a:ext cx="409500" cy="22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
              <p:cNvSpPr/>
              <p:nvPr/>
            </p:nvSpPr>
            <p:spPr>
              <a:xfrm>
                <a:off x="8551731"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2" name="Google Shape;82;p3"/>
          <p:cNvSpPr txBox="1"/>
          <p:nvPr>
            <p:ph type="title"/>
          </p:nvPr>
        </p:nvSpPr>
        <p:spPr>
          <a:xfrm>
            <a:off x="824000" y="1613825"/>
            <a:ext cx="58578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83" name="Google Shape;83;p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4" name="Shape 84"/>
        <p:cNvGrpSpPr/>
        <p:nvPr/>
      </p:nvGrpSpPr>
      <p:grpSpPr>
        <a:xfrm>
          <a:off x="0" y="0"/>
          <a:ext cx="0" cy="0"/>
          <a:chOff x="0" y="0"/>
          <a:chExt cx="0" cy="0"/>
        </a:xfrm>
      </p:grpSpPr>
      <p:grpSp>
        <p:nvGrpSpPr>
          <p:cNvPr id="85" name="Google Shape;85;p4"/>
          <p:cNvGrpSpPr/>
          <p:nvPr/>
        </p:nvGrpSpPr>
        <p:grpSpPr>
          <a:xfrm>
            <a:off x="625966" y="299376"/>
            <a:ext cx="999312" cy="999312"/>
            <a:chOff x="348199" y="179450"/>
            <a:chExt cx="1116300" cy="1116300"/>
          </a:xfrm>
        </p:grpSpPr>
        <p:sp>
          <p:nvSpPr>
            <p:cNvPr id="86" name="Google Shape;86;p4"/>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4"/>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8" name="Google Shape;88;p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9" name="Google Shape;89;p4"/>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0" name="Google Shape;90;p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1" name="Shape 91"/>
        <p:cNvGrpSpPr/>
        <p:nvPr/>
      </p:nvGrpSpPr>
      <p:grpSpPr>
        <a:xfrm>
          <a:off x="0" y="0"/>
          <a:ext cx="0" cy="0"/>
          <a:chOff x="0" y="0"/>
          <a:chExt cx="0" cy="0"/>
        </a:xfrm>
      </p:grpSpPr>
      <p:grpSp>
        <p:nvGrpSpPr>
          <p:cNvPr id="92" name="Google Shape;92;p5"/>
          <p:cNvGrpSpPr/>
          <p:nvPr/>
        </p:nvGrpSpPr>
        <p:grpSpPr>
          <a:xfrm>
            <a:off x="625966" y="299376"/>
            <a:ext cx="999312" cy="999312"/>
            <a:chOff x="348199" y="179450"/>
            <a:chExt cx="1116300" cy="1116300"/>
          </a:xfrm>
        </p:grpSpPr>
        <p:sp>
          <p:nvSpPr>
            <p:cNvPr id="93" name="Google Shape;93;p5"/>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5"/>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6" name="Google Shape;96;p5"/>
          <p:cNvSpPr txBox="1"/>
          <p:nvPr>
            <p:ph idx="1" type="body"/>
          </p:nvPr>
        </p:nvSpPr>
        <p:spPr>
          <a:xfrm>
            <a:off x="130380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7" name="Google Shape;97;p5"/>
          <p:cNvSpPr txBox="1"/>
          <p:nvPr>
            <p:ph idx="2" type="body"/>
          </p:nvPr>
        </p:nvSpPr>
        <p:spPr>
          <a:xfrm>
            <a:off x="490365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9" name="Shape 99"/>
        <p:cNvGrpSpPr/>
        <p:nvPr/>
      </p:nvGrpSpPr>
      <p:grpSpPr>
        <a:xfrm>
          <a:off x="0" y="0"/>
          <a:ext cx="0" cy="0"/>
          <a:chOff x="0" y="0"/>
          <a:chExt cx="0" cy="0"/>
        </a:xfrm>
      </p:grpSpPr>
      <p:grpSp>
        <p:nvGrpSpPr>
          <p:cNvPr id="100" name="Google Shape;100;p6"/>
          <p:cNvGrpSpPr/>
          <p:nvPr/>
        </p:nvGrpSpPr>
        <p:grpSpPr>
          <a:xfrm>
            <a:off x="625966" y="299376"/>
            <a:ext cx="999312" cy="999312"/>
            <a:chOff x="348199" y="179450"/>
            <a:chExt cx="1116300" cy="1116300"/>
          </a:xfrm>
        </p:grpSpPr>
        <p:sp>
          <p:nvSpPr>
            <p:cNvPr id="101" name="Google Shape;101;p6"/>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6"/>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4" name="Google Shape;104;p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5" name="Shape 105"/>
        <p:cNvGrpSpPr/>
        <p:nvPr/>
      </p:nvGrpSpPr>
      <p:grpSpPr>
        <a:xfrm>
          <a:off x="0" y="0"/>
          <a:ext cx="0" cy="0"/>
          <a:chOff x="0" y="0"/>
          <a:chExt cx="0" cy="0"/>
        </a:xfrm>
      </p:grpSpPr>
      <p:grpSp>
        <p:nvGrpSpPr>
          <p:cNvPr id="106" name="Google Shape;106;p7"/>
          <p:cNvGrpSpPr/>
          <p:nvPr/>
        </p:nvGrpSpPr>
        <p:grpSpPr>
          <a:xfrm>
            <a:off x="625966" y="299376"/>
            <a:ext cx="999312" cy="999312"/>
            <a:chOff x="348199" y="179450"/>
            <a:chExt cx="1116300" cy="1116300"/>
          </a:xfrm>
        </p:grpSpPr>
        <p:sp>
          <p:nvSpPr>
            <p:cNvPr id="107" name="Google Shape;107;p7"/>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7"/>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9" name="Google Shape;109;p7"/>
          <p:cNvSpPr txBox="1"/>
          <p:nvPr>
            <p:ph type="title"/>
          </p:nvPr>
        </p:nvSpPr>
        <p:spPr>
          <a:xfrm>
            <a:off x="1303800" y="598575"/>
            <a:ext cx="3312000" cy="15900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0" name="Google Shape;110;p7"/>
          <p:cNvSpPr txBox="1"/>
          <p:nvPr>
            <p:ph idx="1" type="body"/>
          </p:nvPr>
        </p:nvSpPr>
        <p:spPr>
          <a:xfrm>
            <a:off x="1303800" y="2309675"/>
            <a:ext cx="3312000" cy="2221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11" name="Google Shape;111;p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dk1"/>
        </a:solidFill>
      </p:bgPr>
    </p:bg>
    <p:spTree>
      <p:nvGrpSpPr>
        <p:cNvPr id="112" name="Shape 112"/>
        <p:cNvGrpSpPr/>
        <p:nvPr/>
      </p:nvGrpSpPr>
      <p:grpSpPr>
        <a:xfrm>
          <a:off x="0" y="0"/>
          <a:ext cx="0" cy="0"/>
          <a:chOff x="0" y="0"/>
          <a:chExt cx="0" cy="0"/>
        </a:xfrm>
      </p:grpSpPr>
      <p:grpSp>
        <p:nvGrpSpPr>
          <p:cNvPr id="113" name="Google Shape;113;p8"/>
          <p:cNvGrpSpPr/>
          <p:nvPr/>
        </p:nvGrpSpPr>
        <p:grpSpPr>
          <a:xfrm>
            <a:off x="6866714" y="1306"/>
            <a:ext cx="2267451" cy="2601690"/>
            <a:chOff x="6790514" y="1306"/>
            <a:chExt cx="2267451" cy="2601690"/>
          </a:xfrm>
        </p:grpSpPr>
        <p:grpSp>
          <p:nvGrpSpPr>
            <p:cNvPr id="114" name="Google Shape;114;p8"/>
            <p:cNvGrpSpPr/>
            <p:nvPr/>
          </p:nvGrpSpPr>
          <p:grpSpPr>
            <a:xfrm>
              <a:off x="7067465" y="1306"/>
              <a:ext cx="1990500" cy="1990200"/>
              <a:chOff x="7067465" y="1306"/>
              <a:chExt cx="1990500" cy="1990200"/>
            </a:xfrm>
          </p:grpSpPr>
          <p:sp>
            <p:nvSpPr>
              <p:cNvPr id="115" name="Google Shape;115;p8"/>
              <p:cNvSpPr/>
              <p:nvPr/>
            </p:nvSpPr>
            <p:spPr>
              <a:xfrm rot="-8648551">
                <a:off x="7594313" y="527721"/>
                <a:ext cx="937226" cy="937226"/>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8"/>
              <p:cNvSpPr/>
              <p:nvPr/>
            </p:nvSpPr>
            <p:spPr>
              <a:xfrm rot="-8648551">
                <a:off x="7594313" y="527721"/>
                <a:ext cx="937226" cy="937226"/>
              </a:xfrm>
              <a:prstGeom prst="pie">
                <a:avLst>
                  <a:gd fmla="val 19376841"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8"/>
              <p:cNvSpPr/>
              <p:nvPr/>
            </p:nvSpPr>
            <p:spPr>
              <a:xfrm rot="-8649154">
                <a:off x="7349891" y="283705"/>
                <a:ext cx="1425647" cy="14254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8" name="Google Shape;118;p8"/>
            <p:cNvGrpSpPr/>
            <p:nvPr/>
          </p:nvGrpSpPr>
          <p:grpSpPr>
            <a:xfrm>
              <a:off x="8207126" y="1807996"/>
              <a:ext cx="795000" cy="795000"/>
              <a:chOff x="8207126" y="1807996"/>
              <a:chExt cx="795000" cy="795000"/>
            </a:xfrm>
          </p:grpSpPr>
          <p:sp>
            <p:nvSpPr>
              <p:cNvPr id="119" name="Google Shape;119;p8"/>
              <p:cNvSpPr/>
              <p:nvPr/>
            </p:nvSpPr>
            <p:spPr>
              <a:xfrm rot="2152054">
                <a:off x="8319942" y="1920813"/>
                <a:ext cx="569367" cy="569367"/>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8"/>
              <p:cNvSpPr/>
              <p:nvPr/>
            </p:nvSpPr>
            <p:spPr>
              <a:xfrm rot="2150259">
                <a:off x="8408218" y="2008610"/>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8"/>
              <p:cNvSpPr/>
              <p:nvPr/>
            </p:nvSpPr>
            <p:spPr>
              <a:xfrm rot="2150259">
                <a:off x="8408218" y="2008610"/>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 name="Google Shape;122;p8"/>
            <p:cNvGrpSpPr/>
            <p:nvPr/>
          </p:nvGrpSpPr>
          <p:grpSpPr>
            <a:xfrm>
              <a:off x="6790514" y="118857"/>
              <a:ext cx="548700" cy="548700"/>
              <a:chOff x="6790514" y="118857"/>
              <a:chExt cx="548700" cy="548700"/>
            </a:xfrm>
          </p:grpSpPr>
          <p:sp>
            <p:nvSpPr>
              <p:cNvPr id="123" name="Google Shape;123;p8"/>
              <p:cNvSpPr/>
              <p:nvPr/>
            </p:nvSpPr>
            <p:spPr>
              <a:xfrm rot="2150259">
                <a:off x="6868362" y="196705"/>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8"/>
              <p:cNvSpPr/>
              <p:nvPr/>
            </p:nvSpPr>
            <p:spPr>
              <a:xfrm rot="2150259">
                <a:off x="6868362" y="196705"/>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25" name="Google Shape;125;p8"/>
          <p:cNvSpPr txBox="1"/>
          <p:nvPr>
            <p:ph type="title"/>
          </p:nvPr>
        </p:nvSpPr>
        <p:spPr>
          <a:xfrm>
            <a:off x="824000" y="763600"/>
            <a:ext cx="5857800" cy="35733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26" name="Google Shape;126;p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7" name="Shape 127"/>
        <p:cNvGrpSpPr/>
        <p:nvPr/>
      </p:nvGrpSpPr>
      <p:grpSpPr>
        <a:xfrm>
          <a:off x="0" y="0"/>
          <a:ext cx="0" cy="0"/>
          <a:chOff x="0" y="0"/>
          <a:chExt cx="0" cy="0"/>
        </a:xfrm>
      </p:grpSpPr>
      <p:grpSp>
        <p:nvGrpSpPr>
          <p:cNvPr id="128" name="Google Shape;128;p9"/>
          <p:cNvGrpSpPr/>
          <p:nvPr/>
        </p:nvGrpSpPr>
        <p:grpSpPr>
          <a:xfrm>
            <a:off x="625966" y="299376"/>
            <a:ext cx="999312" cy="999312"/>
            <a:chOff x="348199" y="179450"/>
            <a:chExt cx="1116300" cy="1116300"/>
          </a:xfrm>
        </p:grpSpPr>
        <p:sp>
          <p:nvSpPr>
            <p:cNvPr id="129" name="Google Shape;129;p9"/>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9"/>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1" name="Google Shape;131;p9"/>
          <p:cNvSpPr txBox="1"/>
          <p:nvPr>
            <p:ph type="title"/>
          </p:nvPr>
        </p:nvSpPr>
        <p:spPr>
          <a:xfrm>
            <a:off x="1303800" y="598575"/>
            <a:ext cx="3430500" cy="19902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2" name="Google Shape;132;p9"/>
          <p:cNvSpPr txBox="1"/>
          <p:nvPr>
            <p:ph idx="1" type="subTitle"/>
          </p:nvPr>
        </p:nvSpPr>
        <p:spPr>
          <a:xfrm>
            <a:off x="1303800" y="2743203"/>
            <a:ext cx="3430500" cy="7260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33" name="Google Shape;133;p9"/>
          <p:cNvSpPr txBox="1"/>
          <p:nvPr>
            <p:ph idx="2" type="body"/>
          </p:nvPr>
        </p:nvSpPr>
        <p:spPr>
          <a:xfrm>
            <a:off x="4903700" y="661000"/>
            <a:ext cx="3430500" cy="38706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34" name="Google Shape;134;p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5" name="Shape 135"/>
        <p:cNvGrpSpPr/>
        <p:nvPr/>
      </p:nvGrpSpPr>
      <p:grpSpPr>
        <a:xfrm>
          <a:off x="0" y="0"/>
          <a:ext cx="0" cy="0"/>
          <a:chOff x="0" y="0"/>
          <a:chExt cx="0" cy="0"/>
        </a:xfrm>
      </p:grpSpPr>
      <p:grpSp>
        <p:nvGrpSpPr>
          <p:cNvPr id="136" name="Google Shape;136;p10"/>
          <p:cNvGrpSpPr/>
          <p:nvPr/>
        </p:nvGrpSpPr>
        <p:grpSpPr>
          <a:xfrm>
            <a:off x="713373" y="3847119"/>
            <a:ext cx="825392" cy="825392"/>
            <a:chOff x="348199" y="179450"/>
            <a:chExt cx="1116300" cy="1116300"/>
          </a:xfrm>
        </p:grpSpPr>
        <p:sp>
          <p:nvSpPr>
            <p:cNvPr id="137" name="Google Shape;137;p10"/>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0"/>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9" name="Google Shape;139;p10"/>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40" name="Google Shape;140;p1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41" name="Shape 141"/>
        <p:cNvGrpSpPr/>
        <p:nvPr/>
      </p:nvGrpSpPr>
      <p:grpSpPr>
        <a:xfrm>
          <a:off x="0" y="0"/>
          <a:ext cx="0" cy="0"/>
          <a:chOff x="0" y="0"/>
          <a:chExt cx="0" cy="0"/>
        </a:xfrm>
      </p:grpSpPr>
      <p:grpSp>
        <p:nvGrpSpPr>
          <p:cNvPr id="142" name="Google Shape;142;p11"/>
          <p:cNvGrpSpPr/>
          <p:nvPr/>
        </p:nvGrpSpPr>
        <p:grpSpPr>
          <a:xfrm>
            <a:off x="52" y="4099200"/>
            <a:ext cx="9144036" cy="1044300"/>
            <a:chOff x="52" y="4099200"/>
            <a:chExt cx="9144036" cy="1044300"/>
          </a:xfrm>
        </p:grpSpPr>
        <p:grpSp>
          <p:nvGrpSpPr>
            <p:cNvPr id="143" name="Google Shape;143;p11"/>
            <p:cNvGrpSpPr/>
            <p:nvPr/>
          </p:nvGrpSpPr>
          <p:grpSpPr>
            <a:xfrm>
              <a:off x="52" y="4309200"/>
              <a:ext cx="231622" cy="834300"/>
              <a:chOff x="2688737" y="4301380"/>
              <a:chExt cx="231900" cy="834300"/>
            </a:xfrm>
          </p:grpSpPr>
          <p:sp>
            <p:nvSpPr>
              <p:cNvPr id="144" name="Google Shape;144;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8" name="Google Shape;148;p11"/>
            <p:cNvGrpSpPr/>
            <p:nvPr/>
          </p:nvGrpSpPr>
          <p:grpSpPr>
            <a:xfrm>
              <a:off x="371406" y="4099200"/>
              <a:ext cx="231622" cy="1044300"/>
              <a:chOff x="2688737" y="4091380"/>
              <a:chExt cx="231900" cy="1044300"/>
            </a:xfrm>
          </p:grpSpPr>
          <p:sp>
            <p:nvSpPr>
              <p:cNvPr id="149" name="Google Shape;149;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1"/>
              <p:cNvSpPr/>
              <p:nvPr/>
            </p:nvSpPr>
            <p:spPr>
              <a:xfrm flipH="1">
                <a:off x="2688737" y="4091380"/>
                <a:ext cx="2319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4" name="Google Shape;154;p11"/>
            <p:cNvGrpSpPr/>
            <p:nvPr/>
          </p:nvGrpSpPr>
          <p:grpSpPr>
            <a:xfrm>
              <a:off x="742761" y="4309200"/>
              <a:ext cx="231622" cy="834300"/>
              <a:chOff x="2688737" y="4301380"/>
              <a:chExt cx="231900" cy="834300"/>
            </a:xfrm>
          </p:grpSpPr>
          <p:sp>
            <p:nvSpPr>
              <p:cNvPr id="155" name="Google Shape;155;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9" name="Google Shape;159;p11"/>
            <p:cNvGrpSpPr/>
            <p:nvPr/>
          </p:nvGrpSpPr>
          <p:grpSpPr>
            <a:xfrm>
              <a:off x="1114115" y="4518900"/>
              <a:ext cx="231622" cy="624600"/>
              <a:chOff x="2688737" y="4511080"/>
              <a:chExt cx="231900" cy="624600"/>
            </a:xfrm>
          </p:grpSpPr>
          <p:sp>
            <p:nvSpPr>
              <p:cNvPr id="160" name="Google Shape;160;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3" name="Google Shape;163;p11"/>
            <p:cNvGrpSpPr/>
            <p:nvPr/>
          </p:nvGrpSpPr>
          <p:grpSpPr>
            <a:xfrm>
              <a:off x="1856753" y="4099200"/>
              <a:ext cx="231600" cy="1044300"/>
              <a:chOff x="1856753" y="4099200"/>
              <a:chExt cx="231600" cy="1044300"/>
            </a:xfrm>
          </p:grpSpPr>
          <p:sp>
            <p:nvSpPr>
              <p:cNvPr id="164" name="Google Shape;164;p11"/>
              <p:cNvSpPr/>
              <p:nvPr/>
            </p:nvSpPr>
            <p:spPr>
              <a:xfrm flipH="1">
                <a:off x="185675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1"/>
              <p:cNvSpPr/>
              <p:nvPr/>
            </p:nvSpPr>
            <p:spPr>
              <a:xfrm flipH="1">
                <a:off x="185675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1"/>
              <p:cNvSpPr/>
              <p:nvPr/>
            </p:nvSpPr>
            <p:spPr>
              <a:xfrm flipH="1">
                <a:off x="185675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1"/>
              <p:cNvSpPr/>
              <p:nvPr/>
            </p:nvSpPr>
            <p:spPr>
              <a:xfrm flipH="1">
                <a:off x="1856753"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1"/>
              <p:cNvSpPr/>
              <p:nvPr/>
            </p:nvSpPr>
            <p:spPr>
              <a:xfrm flipH="1">
                <a:off x="185675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9" name="Google Shape;169;p11"/>
            <p:cNvGrpSpPr/>
            <p:nvPr/>
          </p:nvGrpSpPr>
          <p:grpSpPr>
            <a:xfrm>
              <a:off x="2228107" y="4309200"/>
              <a:ext cx="231600" cy="834300"/>
              <a:chOff x="2228107" y="4309200"/>
              <a:chExt cx="231600" cy="834300"/>
            </a:xfrm>
          </p:grpSpPr>
          <p:sp>
            <p:nvSpPr>
              <p:cNvPr id="170" name="Google Shape;170;p11"/>
              <p:cNvSpPr/>
              <p:nvPr/>
            </p:nvSpPr>
            <p:spPr>
              <a:xfrm flipH="1">
                <a:off x="222810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1"/>
              <p:cNvSpPr/>
              <p:nvPr/>
            </p:nvSpPr>
            <p:spPr>
              <a:xfrm flipH="1">
                <a:off x="2228107"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1"/>
              <p:cNvSpPr/>
              <p:nvPr/>
            </p:nvSpPr>
            <p:spPr>
              <a:xfrm flipH="1">
                <a:off x="222810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1"/>
              <p:cNvSpPr/>
              <p:nvPr/>
            </p:nvSpPr>
            <p:spPr>
              <a:xfrm flipH="1">
                <a:off x="222810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4" name="Google Shape;174;p11"/>
            <p:cNvGrpSpPr/>
            <p:nvPr/>
          </p:nvGrpSpPr>
          <p:grpSpPr>
            <a:xfrm>
              <a:off x="2599462" y="4518900"/>
              <a:ext cx="231600" cy="624600"/>
              <a:chOff x="2599462" y="4518900"/>
              <a:chExt cx="231600" cy="624600"/>
            </a:xfrm>
          </p:grpSpPr>
          <p:sp>
            <p:nvSpPr>
              <p:cNvPr id="175" name="Google Shape;175;p11"/>
              <p:cNvSpPr/>
              <p:nvPr/>
            </p:nvSpPr>
            <p:spPr>
              <a:xfrm flipH="1">
                <a:off x="259946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1"/>
              <p:cNvSpPr/>
              <p:nvPr/>
            </p:nvSpPr>
            <p:spPr>
              <a:xfrm flipH="1">
                <a:off x="259946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1"/>
              <p:cNvSpPr/>
              <p:nvPr/>
            </p:nvSpPr>
            <p:spPr>
              <a:xfrm flipH="1">
                <a:off x="259946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8" name="Google Shape;178;p11"/>
            <p:cNvGrpSpPr/>
            <p:nvPr/>
          </p:nvGrpSpPr>
          <p:grpSpPr>
            <a:xfrm>
              <a:off x="3342171" y="4099200"/>
              <a:ext cx="231600" cy="1044300"/>
              <a:chOff x="3342171" y="4099200"/>
              <a:chExt cx="231600" cy="1044300"/>
            </a:xfrm>
          </p:grpSpPr>
          <p:sp>
            <p:nvSpPr>
              <p:cNvPr id="179" name="Google Shape;179;p11"/>
              <p:cNvSpPr/>
              <p:nvPr/>
            </p:nvSpPr>
            <p:spPr>
              <a:xfrm flipH="1">
                <a:off x="334217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1"/>
              <p:cNvSpPr/>
              <p:nvPr/>
            </p:nvSpPr>
            <p:spPr>
              <a:xfrm flipH="1">
                <a:off x="334217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1"/>
              <p:cNvSpPr/>
              <p:nvPr/>
            </p:nvSpPr>
            <p:spPr>
              <a:xfrm flipH="1">
                <a:off x="334217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1"/>
              <p:cNvSpPr/>
              <p:nvPr/>
            </p:nvSpPr>
            <p:spPr>
              <a:xfrm flipH="1">
                <a:off x="3342171"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1"/>
              <p:cNvSpPr/>
              <p:nvPr/>
            </p:nvSpPr>
            <p:spPr>
              <a:xfrm flipH="1">
                <a:off x="334217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4" name="Google Shape;184;p11"/>
            <p:cNvGrpSpPr/>
            <p:nvPr/>
          </p:nvGrpSpPr>
          <p:grpSpPr>
            <a:xfrm>
              <a:off x="3713525" y="4309200"/>
              <a:ext cx="231600" cy="834300"/>
              <a:chOff x="3713525" y="4309200"/>
              <a:chExt cx="231600" cy="834300"/>
            </a:xfrm>
          </p:grpSpPr>
          <p:sp>
            <p:nvSpPr>
              <p:cNvPr id="185" name="Google Shape;185;p11"/>
              <p:cNvSpPr/>
              <p:nvPr/>
            </p:nvSpPr>
            <p:spPr>
              <a:xfrm flipH="1">
                <a:off x="371352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1"/>
              <p:cNvSpPr/>
              <p:nvPr/>
            </p:nvSpPr>
            <p:spPr>
              <a:xfrm flipH="1">
                <a:off x="3713525"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1"/>
              <p:cNvSpPr/>
              <p:nvPr/>
            </p:nvSpPr>
            <p:spPr>
              <a:xfrm flipH="1">
                <a:off x="371352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1"/>
              <p:cNvSpPr/>
              <p:nvPr/>
            </p:nvSpPr>
            <p:spPr>
              <a:xfrm flipH="1">
                <a:off x="371352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9" name="Google Shape;189;p11"/>
            <p:cNvGrpSpPr/>
            <p:nvPr/>
          </p:nvGrpSpPr>
          <p:grpSpPr>
            <a:xfrm>
              <a:off x="1485398" y="4309200"/>
              <a:ext cx="231600" cy="834300"/>
              <a:chOff x="1485398" y="4309200"/>
              <a:chExt cx="231600" cy="834300"/>
            </a:xfrm>
          </p:grpSpPr>
          <p:sp>
            <p:nvSpPr>
              <p:cNvPr id="190" name="Google Shape;190;p11"/>
              <p:cNvSpPr/>
              <p:nvPr/>
            </p:nvSpPr>
            <p:spPr>
              <a:xfrm flipH="1">
                <a:off x="148539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1"/>
              <p:cNvSpPr/>
              <p:nvPr/>
            </p:nvSpPr>
            <p:spPr>
              <a:xfrm flipH="1">
                <a:off x="148539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1"/>
              <p:cNvSpPr/>
              <p:nvPr/>
            </p:nvSpPr>
            <p:spPr>
              <a:xfrm flipH="1">
                <a:off x="148539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1"/>
              <p:cNvSpPr/>
              <p:nvPr/>
            </p:nvSpPr>
            <p:spPr>
              <a:xfrm flipH="1">
                <a:off x="148539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4" name="Google Shape;194;p11"/>
            <p:cNvGrpSpPr/>
            <p:nvPr/>
          </p:nvGrpSpPr>
          <p:grpSpPr>
            <a:xfrm>
              <a:off x="4084879" y="4518900"/>
              <a:ext cx="231600" cy="624600"/>
              <a:chOff x="4084879" y="4518900"/>
              <a:chExt cx="231600" cy="624600"/>
            </a:xfrm>
          </p:grpSpPr>
          <p:sp>
            <p:nvSpPr>
              <p:cNvPr id="195" name="Google Shape;195;p11"/>
              <p:cNvSpPr/>
              <p:nvPr/>
            </p:nvSpPr>
            <p:spPr>
              <a:xfrm flipH="1">
                <a:off x="40848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1"/>
              <p:cNvSpPr/>
              <p:nvPr/>
            </p:nvSpPr>
            <p:spPr>
              <a:xfrm flipH="1">
                <a:off x="40848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1"/>
              <p:cNvSpPr/>
              <p:nvPr/>
            </p:nvSpPr>
            <p:spPr>
              <a:xfrm flipH="1">
                <a:off x="40848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8" name="Google Shape;198;p11"/>
            <p:cNvGrpSpPr/>
            <p:nvPr/>
          </p:nvGrpSpPr>
          <p:grpSpPr>
            <a:xfrm>
              <a:off x="2970816" y="4309200"/>
              <a:ext cx="231600" cy="834300"/>
              <a:chOff x="2970816" y="4309200"/>
              <a:chExt cx="231600" cy="834300"/>
            </a:xfrm>
          </p:grpSpPr>
          <p:sp>
            <p:nvSpPr>
              <p:cNvPr id="199" name="Google Shape;199;p11"/>
              <p:cNvSpPr/>
              <p:nvPr/>
            </p:nvSpPr>
            <p:spPr>
              <a:xfrm flipH="1">
                <a:off x="297081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1"/>
              <p:cNvSpPr/>
              <p:nvPr/>
            </p:nvSpPr>
            <p:spPr>
              <a:xfrm flipH="1">
                <a:off x="297081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1"/>
              <p:cNvSpPr/>
              <p:nvPr/>
            </p:nvSpPr>
            <p:spPr>
              <a:xfrm flipH="1">
                <a:off x="297081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1"/>
              <p:cNvSpPr/>
              <p:nvPr/>
            </p:nvSpPr>
            <p:spPr>
              <a:xfrm flipH="1">
                <a:off x="297081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3" name="Google Shape;203;p11"/>
            <p:cNvGrpSpPr/>
            <p:nvPr/>
          </p:nvGrpSpPr>
          <p:grpSpPr>
            <a:xfrm>
              <a:off x="4456234" y="4309200"/>
              <a:ext cx="231600" cy="834300"/>
              <a:chOff x="4456234" y="4309200"/>
              <a:chExt cx="231600" cy="834300"/>
            </a:xfrm>
          </p:grpSpPr>
          <p:sp>
            <p:nvSpPr>
              <p:cNvPr id="204" name="Google Shape;204;p11"/>
              <p:cNvSpPr/>
              <p:nvPr/>
            </p:nvSpPr>
            <p:spPr>
              <a:xfrm flipH="1">
                <a:off x="445623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1"/>
              <p:cNvSpPr/>
              <p:nvPr/>
            </p:nvSpPr>
            <p:spPr>
              <a:xfrm flipH="1">
                <a:off x="445623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1"/>
              <p:cNvSpPr/>
              <p:nvPr/>
            </p:nvSpPr>
            <p:spPr>
              <a:xfrm flipH="1">
                <a:off x="445623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1"/>
              <p:cNvSpPr/>
              <p:nvPr/>
            </p:nvSpPr>
            <p:spPr>
              <a:xfrm flipH="1">
                <a:off x="445623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8" name="Google Shape;208;p11"/>
            <p:cNvGrpSpPr/>
            <p:nvPr/>
          </p:nvGrpSpPr>
          <p:grpSpPr>
            <a:xfrm>
              <a:off x="4827588" y="4099200"/>
              <a:ext cx="231600" cy="1044300"/>
              <a:chOff x="4827588" y="4099200"/>
              <a:chExt cx="231600" cy="1044300"/>
            </a:xfrm>
          </p:grpSpPr>
          <p:sp>
            <p:nvSpPr>
              <p:cNvPr id="209" name="Google Shape;209;p11"/>
              <p:cNvSpPr/>
              <p:nvPr/>
            </p:nvSpPr>
            <p:spPr>
              <a:xfrm flipH="1">
                <a:off x="48275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1"/>
              <p:cNvSpPr/>
              <p:nvPr/>
            </p:nvSpPr>
            <p:spPr>
              <a:xfrm flipH="1">
                <a:off x="48275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1"/>
              <p:cNvSpPr/>
              <p:nvPr/>
            </p:nvSpPr>
            <p:spPr>
              <a:xfrm flipH="1">
                <a:off x="48275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1"/>
              <p:cNvSpPr/>
              <p:nvPr/>
            </p:nvSpPr>
            <p:spPr>
              <a:xfrm flipH="1">
                <a:off x="4827588"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1"/>
              <p:cNvSpPr/>
              <p:nvPr/>
            </p:nvSpPr>
            <p:spPr>
              <a:xfrm flipH="1">
                <a:off x="48275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4" name="Google Shape;214;p11"/>
            <p:cNvGrpSpPr/>
            <p:nvPr/>
          </p:nvGrpSpPr>
          <p:grpSpPr>
            <a:xfrm>
              <a:off x="5198943" y="4309200"/>
              <a:ext cx="231600" cy="834300"/>
              <a:chOff x="5198943" y="4309200"/>
              <a:chExt cx="231600" cy="834300"/>
            </a:xfrm>
          </p:grpSpPr>
          <p:sp>
            <p:nvSpPr>
              <p:cNvPr id="215" name="Google Shape;215;p11"/>
              <p:cNvSpPr/>
              <p:nvPr/>
            </p:nvSpPr>
            <p:spPr>
              <a:xfrm flipH="1">
                <a:off x="519894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1"/>
              <p:cNvSpPr/>
              <p:nvPr/>
            </p:nvSpPr>
            <p:spPr>
              <a:xfrm flipH="1">
                <a:off x="519894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1"/>
              <p:cNvSpPr/>
              <p:nvPr/>
            </p:nvSpPr>
            <p:spPr>
              <a:xfrm flipH="1">
                <a:off x="519894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1"/>
              <p:cNvSpPr/>
              <p:nvPr/>
            </p:nvSpPr>
            <p:spPr>
              <a:xfrm flipH="1">
                <a:off x="519894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9" name="Google Shape;219;p11"/>
            <p:cNvGrpSpPr/>
            <p:nvPr/>
          </p:nvGrpSpPr>
          <p:grpSpPr>
            <a:xfrm>
              <a:off x="5570297" y="4518900"/>
              <a:ext cx="231600" cy="624600"/>
              <a:chOff x="5570297" y="4518900"/>
              <a:chExt cx="231600" cy="624600"/>
            </a:xfrm>
          </p:grpSpPr>
          <p:sp>
            <p:nvSpPr>
              <p:cNvPr id="220" name="Google Shape;220;p11"/>
              <p:cNvSpPr/>
              <p:nvPr/>
            </p:nvSpPr>
            <p:spPr>
              <a:xfrm flipH="1">
                <a:off x="557029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1"/>
              <p:cNvSpPr/>
              <p:nvPr/>
            </p:nvSpPr>
            <p:spPr>
              <a:xfrm flipH="1">
                <a:off x="557029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1"/>
              <p:cNvSpPr/>
              <p:nvPr/>
            </p:nvSpPr>
            <p:spPr>
              <a:xfrm flipH="1">
                <a:off x="557029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3" name="Google Shape;223;p11"/>
            <p:cNvGrpSpPr/>
            <p:nvPr/>
          </p:nvGrpSpPr>
          <p:grpSpPr>
            <a:xfrm>
              <a:off x="5941652" y="4309200"/>
              <a:ext cx="231600" cy="834300"/>
              <a:chOff x="5941652" y="4309200"/>
              <a:chExt cx="231600" cy="834300"/>
            </a:xfrm>
          </p:grpSpPr>
          <p:sp>
            <p:nvSpPr>
              <p:cNvPr id="224" name="Google Shape;224;p11"/>
              <p:cNvSpPr/>
              <p:nvPr/>
            </p:nvSpPr>
            <p:spPr>
              <a:xfrm flipH="1">
                <a:off x="594165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1"/>
              <p:cNvSpPr/>
              <p:nvPr/>
            </p:nvSpPr>
            <p:spPr>
              <a:xfrm flipH="1">
                <a:off x="5941652"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1"/>
              <p:cNvSpPr/>
              <p:nvPr/>
            </p:nvSpPr>
            <p:spPr>
              <a:xfrm flipH="1">
                <a:off x="594165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1"/>
              <p:cNvSpPr/>
              <p:nvPr/>
            </p:nvSpPr>
            <p:spPr>
              <a:xfrm flipH="1">
                <a:off x="594165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8" name="Google Shape;228;p11"/>
            <p:cNvGrpSpPr/>
            <p:nvPr/>
          </p:nvGrpSpPr>
          <p:grpSpPr>
            <a:xfrm>
              <a:off x="6313006" y="4099200"/>
              <a:ext cx="231600" cy="1044300"/>
              <a:chOff x="6313006" y="4099200"/>
              <a:chExt cx="231600" cy="1044300"/>
            </a:xfrm>
          </p:grpSpPr>
          <p:sp>
            <p:nvSpPr>
              <p:cNvPr id="229" name="Google Shape;229;p11"/>
              <p:cNvSpPr/>
              <p:nvPr/>
            </p:nvSpPr>
            <p:spPr>
              <a:xfrm flipH="1">
                <a:off x="631300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1"/>
              <p:cNvSpPr/>
              <p:nvPr/>
            </p:nvSpPr>
            <p:spPr>
              <a:xfrm flipH="1">
                <a:off x="631300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1"/>
              <p:cNvSpPr/>
              <p:nvPr/>
            </p:nvSpPr>
            <p:spPr>
              <a:xfrm flipH="1">
                <a:off x="631300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1"/>
              <p:cNvSpPr/>
              <p:nvPr/>
            </p:nvSpPr>
            <p:spPr>
              <a:xfrm flipH="1">
                <a:off x="6313006"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1"/>
              <p:cNvSpPr/>
              <p:nvPr/>
            </p:nvSpPr>
            <p:spPr>
              <a:xfrm flipH="1">
                <a:off x="631300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4" name="Google Shape;234;p11"/>
            <p:cNvGrpSpPr/>
            <p:nvPr/>
          </p:nvGrpSpPr>
          <p:grpSpPr>
            <a:xfrm>
              <a:off x="6684361" y="4309200"/>
              <a:ext cx="231600" cy="834300"/>
              <a:chOff x="6684361" y="4309200"/>
              <a:chExt cx="231600" cy="834300"/>
            </a:xfrm>
          </p:grpSpPr>
          <p:sp>
            <p:nvSpPr>
              <p:cNvPr id="235" name="Google Shape;235;p11"/>
              <p:cNvSpPr/>
              <p:nvPr/>
            </p:nvSpPr>
            <p:spPr>
              <a:xfrm flipH="1">
                <a:off x="668436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1"/>
              <p:cNvSpPr/>
              <p:nvPr/>
            </p:nvSpPr>
            <p:spPr>
              <a:xfrm flipH="1">
                <a:off x="668436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1"/>
              <p:cNvSpPr/>
              <p:nvPr/>
            </p:nvSpPr>
            <p:spPr>
              <a:xfrm flipH="1">
                <a:off x="668436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1"/>
              <p:cNvSpPr/>
              <p:nvPr/>
            </p:nvSpPr>
            <p:spPr>
              <a:xfrm flipH="1">
                <a:off x="668436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9" name="Google Shape;239;p11"/>
            <p:cNvGrpSpPr/>
            <p:nvPr/>
          </p:nvGrpSpPr>
          <p:grpSpPr>
            <a:xfrm>
              <a:off x="7055715" y="4518900"/>
              <a:ext cx="231600" cy="624600"/>
              <a:chOff x="7055715" y="4518900"/>
              <a:chExt cx="231600" cy="624600"/>
            </a:xfrm>
          </p:grpSpPr>
          <p:sp>
            <p:nvSpPr>
              <p:cNvPr id="240" name="Google Shape;240;p11"/>
              <p:cNvSpPr/>
              <p:nvPr/>
            </p:nvSpPr>
            <p:spPr>
              <a:xfrm flipH="1">
                <a:off x="705571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1"/>
              <p:cNvSpPr/>
              <p:nvPr/>
            </p:nvSpPr>
            <p:spPr>
              <a:xfrm flipH="1">
                <a:off x="705571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1"/>
              <p:cNvSpPr/>
              <p:nvPr/>
            </p:nvSpPr>
            <p:spPr>
              <a:xfrm flipH="1">
                <a:off x="705571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3" name="Google Shape;243;p11"/>
            <p:cNvGrpSpPr/>
            <p:nvPr/>
          </p:nvGrpSpPr>
          <p:grpSpPr>
            <a:xfrm>
              <a:off x="7798424" y="4099200"/>
              <a:ext cx="231600" cy="1044300"/>
              <a:chOff x="7798424" y="4099200"/>
              <a:chExt cx="231600" cy="1044300"/>
            </a:xfrm>
          </p:grpSpPr>
          <p:sp>
            <p:nvSpPr>
              <p:cNvPr id="244" name="Google Shape;244;p11"/>
              <p:cNvSpPr/>
              <p:nvPr/>
            </p:nvSpPr>
            <p:spPr>
              <a:xfrm flipH="1">
                <a:off x="779842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1"/>
              <p:cNvSpPr/>
              <p:nvPr/>
            </p:nvSpPr>
            <p:spPr>
              <a:xfrm flipH="1">
                <a:off x="779842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1"/>
              <p:cNvSpPr/>
              <p:nvPr/>
            </p:nvSpPr>
            <p:spPr>
              <a:xfrm flipH="1">
                <a:off x="779842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1"/>
              <p:cNvSpPr/>
              <p:nvPr/>
            </p:nvSpPr>
            <p:spPr>
              <a:xfrm flipH="1">
                <a:off x="7798424"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1"/>
              <p:cNvSpPr/>
              <p:nvPr/>
            </p:nvSpPr>
            <p:spPr>
              <a:xfrm flipH="1">
                <a:off x="779842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9" name="Google Shape;249;p11"/>
            <p:cNvGrpSpPr/>
            <p:nvPr/>
          </p:nvGrpSpPr>
          <p:grpSpPr>
            <a:xfrm>
              <a:off x="8169779" y="4309200"/>
              <a:ext cx="231600" cy="834300"/>
              <a:chOff x="8169779" y="4309200"/>
              <a:chExt cx="231600" cy="834300"/>
            </a:xfrm>
          </p:grpSpPr>
          <p:sp>
            <p:nvSpPr>
              <p:cNvPr id="250" name="Google Shape;250;p11"/>
              <p:cNvSpPr/>
              <p:nvPr/>
            </p:nvSpPr>
            <p:spPr>
              <a:xfrm flipH="1">
                <a:off x="81697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1"/>
              <p:cNvSpPr/>
              <p:nvPr/>
            </p:nvSpPr>
            <p:spPr>
              <a:xfrm flipH="1">
                <a:off x="8169779"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1"/>
              <p:cNvSpPr/>
              <p:nvPr/>
            </p:nvSpPr>
            <p:spPr>
              <a:xfrm flipH="1">
                <a:off x="81697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1"/>
              <p:cNvSpPr/>
              <p:nvPr/>
            </p:nvSpPr>
            <p:spPr>
              <a:xfrm flipH="1">
                <a:off x="81697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4" name="Google Shape;254;p11"/>
            <p:cNvGrpSpPr/>
            <p:nvPr/>
          </p:nvGrpSpPr>
          <p:grpSpPr>
            <a:xfrm>
              <a:off x="7427070" y="4309200"/>
              <a:ext cx="231600" cy="834300"/>
              <a:chOff x="7427070" y="4309200"/>
              <a:chExt cx="231600" cy="834300"/>
            </a:xfrm>
          </p:grpSpPr>
          <p:sp>
            <p:nvSpPr>
              <p:cNvPr id="255" name="Google Shape;255;p11"/>
              <p:cNvSpPr/>
              <p:nvPr/>
            </p:nvSpPr>
            <p:spPr>
              <a:xfrm flipH="1">
                <a:off x="7427070"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1"/>
              <p:cNvSpPr/>
              <p:nvPr/>
            </p:nvSpPr>
            <p:spPr>
              <a:xfrm flipH="1">
                <a:off x="7427070"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1"/>
              <p:cNvSpPr/>
              <p:nvPr/>
            </p:nvSpPr>
            <p:spPr>
              <a:xfrm flipH="1">
                <a:off x="7427070"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1"/>
              <p:cNvSpPr/>
              <p:nvPr/>
            </p:nvSpPr>
            <p:spPr>
              <a:xfrm flipH="1">
                <a:off x="7427070"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9" name="Google Shape;259;p11"/>
            <p:cNvGrpSpPr/>
            <p:nvPr/>
          </p:nvGrpSpPr>
          <p:grpSpPr>
            <a:xfrm>
              <a:off x="8541133" y="4518900"/>
              <a:ext cx="231600" cy="624600"/>
              <a:chOff x="8541133" y="4518900"/>
              <a:chExt cx="231600" cy="624600"/>
            </a:xfrm>
          </p:grpSpPr>
          <p:sp>
            <p:nvSpPr>
              <p:cNvPr id="260" name="Google Shape;260;p11"/>
              <p:cNvSpPr/>
              <p:nvPr/>
            </p:nvSpPr>
            <p:spPr>
              <a:xfrm flipH="1">
                <a:off x="854113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1"/>
              <p:cNvSpPr/>
              <p:nvPr/>
            </p:nvSpPr>
            <p:spPr>
              <a:xfrm flipH="1">
                <a:off x="854113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1"/>
              <p:cNvSpPr/>
              <p:nvPr/>
            </p:nvSpPr>
            <p:spPr>
              <a:xfrm flipH="1">
                <a:off x="854113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3" name="Google Shape;263;p11"/>
            <p:cNvGrpSpPr/>
            <p:nvPr/>
          </p:nvGrpSpPr>
          <p:grpSpPr>
            <a:xfrm>
              <a:off x="8912488" y="4309200"/>
              <a:ext cx="231600" cy="834300"/>
              <a:chOff x="8912488" y="4309200"/>
              <a:chExt cx="231600" cy="834300"/>
            </a:xfrm>
          </p:grpSpPr>
          <p:sp>
            <p:nvSpPr>
              <p:cNvPr id="264" name="Google Shape;264;p11"/>
              <p:cNvSpPr/>
              <p:nvPr/>
            </p:nvSpPr>
            <p:spPr>
              <a:xfrm flipH="1">
                <a:off x="89124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1"/>
              <p:cNvSpPr/>
              <p:nvPr/>
            </p:nvSpPr>
            <p:spPr>
              <a:xfrm flipH="1">
                <a:off x="89124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1"/>
              <p:cNvSpPr/>
              <p:nvPr/>
            </p:nvSpPr>
            <p:spPr>
              <a:xfrm flipH="1">
                <a:off x="89124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1"/>
              <p:cNvSpPr/>
              <p:nvPr/>
            </p:nvSpPr>
            <p:spPr>
              <a:xfrm flipH="1">
                <a:off x="89124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68" name="Google Shape;268;p11"/>
          <p:cNvSpPr txBox="1"/>
          <p:nvPr>
            <p:ph hasCustomPrompt="1" type="title"/>
          </p:nvPr>
        </p:nvSpPr>
        <p:spPr>
          <a:xfrm>
            <a:off x="1388625" y="772725"/>
            <a:ext cx="6366900" cy="18633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8000"/>
              <a:buNone/>
              <a:defRPr sz="8000">
                <a:solidFill>
                  <a:schemeClr val="lt1"/>
                </a:solidFill>
              </a:defRPr>
            </a:lvl1pPr>
            <a:lvl2pPr lvl="1" algn="ctr">
              <a:spcBef>
                <a:spcPts val="0"/>
              </a:spcBef>
              <a:spcAft>
                <a:spcPts val="0"/>
              </a:spcAft>
              <a:buClr>
                <a:schemeClr val="lt1"/>
              </a:buClr>
              <a:buSzPts val="8000"/>
              <a:buNone/>
              <a:defRPr sz="8000">
                <a:solidFill>
                  <a:schemeClr val="lt1"/>
                </a:solidFill>
              </a:defRPr>
            </a:lvl2pPr>
            <a:lvl3pPr lvl="2" algn="ctr">
              <a:spcBef>
                <a:spcPts val="0"/>
              </a:spcBef>
              <a:spcAft>
                <a:spcPts val="0"/>
              </a:spcAft>
              <a:buClr>
                <a:schemeClr val="lt1"/>
              </a:buClr>
              <a:buSzPts val="8000"/>
              <a:buNone/>
              <a:defRPr sz="8000">
                <a:solidFill>
                  <a:schemeClr val="lt1"/>
                </a:solidFill>
              </a:defRPr>
            </a:lvl3pPr>
            <a:lvl4pPr lvl="3" algn="ctr">
              <a:spcBef>
                <a:spcPts val="0"/>
              </a:spcBef>
              <a:spcAft>
                <a:spcPts val="0"/>
              </a:spcAft>
              <a:buClr>
                <a:schemeClr val="lt1"/>
              </a:buClr>
              <a:buSzPts val="8000"/>
              <a:buNone/>
              <a:defRPr sz="8000">
                <a:solidFill>
                  <a:schemeClr val="lt1"/>
                </a:solidFill>
              </a:defRPr>
            </a:lvl4pPr>
            <a:lvl5pPr lvl="4" algn="ctr">
              <a:spcBef>
                <a:spcPts val="0"/>
              </a:spcBef>
              <a:spcAft>
                <a:spcPts val="0"/>
              </a:spcAft>
              <a:buClr>
                <a:schemeClr val="lt1"/>
              </a:buClr>
              <a:buSzPts val="8000"/>
              <a:buNone/>
              <a:defRPr sz="8000">
                <a:solidFill>
                  <a:schemeClr val="lt1"/>
                </a:solidFill>
              </a:defRPr>
            </a:lvl5pPr>
            <a:lvl6pPr lvl="5" algn="ctr">
              <a:spcBef>
                <a:spcPts val="0"/>
              </a:spcBef>
              <a:spcAft>
                <a:spcPts val="0"/>
              </a:spcAft>
              <a:buClr>
                <a:schemeClr val="lt1"/>
              </a:buClr>
              <a:buSzPts val="8000"/>
              <a:buNone/>
              <a:defRPr sz="8000">
                <a:solidFill>
                  <a:schemeClr val="lt1"/>
                </a:solidFill>
              </a:defRPr>
            </a:lvl6pPr>
            <a:lvl7pPr lvl="6" algn="ctr">
              <a:spcBef>
                <a:spcPts val="0"/>
              </a:spcBef>
              <a:spcAft>
                <a:spcPts val="0"/>
              </a:spcAft>
              <a:buClr>
                <a:schemeClr val="lt1"/>
              </a:buClr>
              <a:buSzPts val="8000"/>
              <a:buNone/>
              <a:defRPr sz="8000">
                <a:solidFill>
                  <a:schemeClr val="lt1"/>
                </a:solidFill>
              </a:defRPr>
            </a:lvl7pPr>
            <a:lvl8pPr lvl="7" algn="ctr">
              <a:spcBef>
                <a:spcPts val="0"/>
              </a:spcBef>
              <a:spcAft>
                <a:spcPts val="0"/>
              </a:spcAft>
              <a:buClr>
                <a:schemeClr val="lt1"/>
              </a:buClr>
              <a:buSzPts val="8000"/>
              <a:buNone/>
              <a:defRPr sz="8000">
                <a:solidFill>
                  <a:schemeClr val="lt1"/>
                </a:solidFill>
              </a:defRPr>
            </a:lvl8pPr>
            <a:lvl9pPr lvl="8" algn="ctr">
              <a:spcBef>
                <a:spcPts val="0"/>
              </a:spcBef>
              <a:spcAft>
                <a:spcPts val="0"/>
              </a:spcAft>
              <a:buClr>
                <a:schemeClr val="lt1"/>
              </a:buClr>
              <a:buSzPts val="8000"/>
              <a:buNone/>
              <a:defRPr sz="8000">
                <a:solidFill>
                  <a:schemeClr val="lt1"/>
                </a:solidFill>
              </a:defRPr>
            </a:lvl9pPr>
          </a:lstStyle>
          <a:p>
            <a:r>
              <a:t>xx%</a:t>
            </a:r>
          </a:p>
        </p:txBody>
      </p:sp>
      <p:sp>
        <p:nvSpPr>
          <p:cNvPr id="269" name="Google Shape;269;p11"/>
          <p:cNvSpPr txBox="1"/>
          <p:nvPr>
            <p:ph idx="1" type="body"/>
          </p:nvPr>
        </p:nvSpPr>
        <p:spPr>
          <a:xfrm>
            <a:off x="1388625" y="2712300"/>
            <a:ext cx="6366900" cy="11112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Clr>
                <a:schemeClr val="lt1"/>
              </a:buClr>
              <a:buSzPts val="1300"/>
              <a:buChar char="●"/>
              <a:defRPr>
                <a:solidFill>
                  <a:schemeClr val="lt1"/>
                </a:solidFill>
              </a:defRPr>
            </a:lvl1pPr>
            <a:lvl2pPr indent="-298450" lvl="1" marL="914400" algn="ctr">
              <a:spcBef>
                <a:spcPts val="0"/>
              </a:spcBef>
              <a:spcAft>
                <a:spcPts val="0"/>
              </a:spcAft>
              <a:buClr>
                <a:schemeClr val="lt1"/>
              </a:buClr>
              <a:buSzPts val="1100"/>
              <a:buChar char="○"/>
              <a:defRPr>
                <a:solidFill>
                  <a:schemeClr val="lt1"/>
                </a:solidFill>
              </a:defRPr>
            </a:lvl2pPr>
            <a:lvl3pPr indent="-298450" lvl="2" marL="1371600" algn="ctr">
              <a:spcBef>
                <a:spcPts val="0"/>
              </a:spcBef>
              <a:spcAft>
                <a:spcPts val="0"/>
              </a:spcAft>
              <a:buClr>
                <a:schemeClr val="lt1"/>
              </a:buClr>
              <a:buSzPts val="1100"/>
              <a:buChar char="■"/>
              <a:defRPr>
                <a:solidFill>
                  <a:schemeClr val="lt1"/>
                </a:solidFill>
              </a:defRPr>
            </a:lvl3pPr>
            <a:lvl4pPr indent="-298450" lvl="3" marL="1828800" algn="ctr">
              <a:spcBef>
                <a:spcPts val="0"/>
              </a:spcBef>
              <a:spcAft>
                <a:spcPts val="0"/>
              </a:spcAft>
              <a:buClr>
                <a:schemeClr val="lt1"/>
              </a:buClr>
              <a:buSzPts val="1100"/>
              <a:buChar char="●"/>
              <a:defRPr>
                <a:solidFill>
                  <a:schemeClr val="lt1"/>
                </a:solidFill>
              </a:defRPr>
            </a:lvl4pPr>
            <a:lvl5pPr indent="-298450" lvl="4" marL="2286000" algn="ctr">
              <a:spcBef>
                <a:spcPts val="0"/>
              </a:spcBef>
              <a:spcAft>
                <a:spcPts val="0"/>
              </a:spcAft>
              <a:buClr>
                <a:schemeClr val="lt1"/>
              </a:buClr>
              <a:buSzPts val="1100"/>
              <a:buChar char="○"/>
              <a:defRPr>
                <a:solidFill>
                  <a:schemeClr val="lt1"/>
                </a:solidFill>
              </a:defRPr>
            </a:lvl5pPr>
            <a:lvl6pPr indent="-298450" lvl="5" marL="2743200" algn="ctr">
              <a:spcBef>
                <a:spcPts val="0"/>
              </a:spcBef>
              <a:spcAft>
                <a:spcPts val="0"/>
              </a:spcAft>
              <a:buClr>
                <a:schemeClr val="lt1"/>
              </a:buClr>
              <a:buSzPts val="1100"/>
              <a:buChar char="■"/>
              <a:defRPr>
                <a:solidFill>
                  <a:schemeClr val="lt1"/>
                </a:solidFill>
              </a:defRPr>
            </a:lvl6pPr>
            <a:lvl7pPr indent="-298450" lvl="6" marL="3200400" algn="ctr">
              <a:spcBef>
                <a:spcPts val="0"/>
              </a:spcBef>
              <a:spcAft>
                <a:spcPts val="0"/>
              </a:spcAft>
              <a:buClr>
                <a:schemeClr val="lt1"/>
              </a:buClr>
              <a:buSzPts val="1100"/>
              <a:buChar char="●"/>
              <a:defRPr>
                <a:solidFill>
                  <a:schemeClr val="lt1"/>
                </a:solidFill>
              </a:defRPr>
            </a:lvl7pPr>
            <a:lvl8pPr indent="-298450" lvl="7" marL="3657600" algn="ctr">
              <a:spcBef>
                <a:spcPts val="0"/>
              </a:spcBef>
              <a:spcAft>
                <a:spcPts val="0"/>
              </a:spcAft>
              <a:buClr>
                <a:schemeClr val="lt1"/>
              </a:buClr>
              <a:buSzPts val="1100"/>
              <a:buChar char="○"/>
              <a:defRPr>
                <a:solidFill>
                  <a:schemeClr val="lt1"/>
                </a:solidFill>
              </a:defRPr>
            </a:lvl8pPr>
            <a:lvl9pPr indent="-298450" lvl="8" marL="4114800" algn="ctr">
              <a:spcBef>
                <a:spcPts val="0"/>
              </a:spcBef>
              <a:spcAft>
                <a:spcPts val="0"/>
              </a:spcAft>
              <a:buClr>
                <a:schemeClr val="lt1"/>
              </a:buClr>
              <a:buSzPts val="1100"/>
              <a:buChar char="■"/>
              <a:defRPr>
                <a:solidFill>
                  <a:schemeClr val="lt1"/>
                </a:solidFill>
              </a:defRPr>
            </a:lvl9pPr>
          </a:lstStyle>
          <a:p/>
        </p:txBody>
      </p:sp>
      <p:sp>
        <p:nvSpPr>
          <p:cNvPr id="270" name="Google Shape;270;p1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1" name="Shape 271"/>
        <p:cNvGrpSpPr/>
        <p:nvPr/>
      </p:nvGrpSpPr>
      <p:grpSpPr>
        <a:xfrm>
          <a:off x="0" y="0"/>
          <a:ext cx="0" cy="0"/>
          <a:chOff x="0" y="0"/>
          <a:chExt cx="0" cy="0"/>
        </a:xfrm>
      </p:grpSpPr>
      <p:sp>
        <p:nvSpPr>
          <p:cNvPr id="272" name="Google Shape;272;p1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mentu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1pPr>
            <a:lvl2pPr lvl="1">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2pPr>
            <a:lvl3pPr lvl="2">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3pPr>
            <a:lvl4pPr lvl="3">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4pPr>
            <a:lvl5pPr lvl="4">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5pPr>
            <a:lvl6pPr lvl="5">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6pPr>
            <a:lvl7pPr lvl="6">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7pPr>
            <a:lvl8pPr lvl="7">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8pPr>
            <a:lvl9pPr lvl="8">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Nunito"/>
              <a:buChar char="●"/>
              <a:defRPr sz="1300">
                <a:solidFill>
                  <a:schemeClr val="dk2"/>
                </a:solidFill>
                <a:latin typeface="Nunito"/>
                <a:ea typeface="Nunito"/>
                <a:cs typeface="Nunito"/>
                <a:sym typeface="Nunito"/>
              </a:defRPr>
            </a:lvl1pPr>
            <a:lvl2pPr indent="-298450" lvl="1" marL="914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2pPr>
            <a:lvl3pPr indent="-298450" lvl="2" marL="1371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3pPr>
            <a:lvl4pPr indent="-298450" lvl="3" marL="1828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4pPr>
            <a:lvl5pPr indent="-298450" lvl="4" marL="22860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5pPr>
            <a:lvl6pPr indent="-298450" lvl="5" marL="27432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6pPr>
            <a:lvl7pPr indent="-298450" lvl="6" marL="3200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7pPr>
            <a:lvl8pPr indent="-298450" lvl="7" marL="3657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8pPr>
            <a:lvl9pPr indent="-298450" lvl="8" marL="4114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9pPr>
          </a:lstStyle>
          <a:p/>
        </p:txBody>
      </p:sp>
      <p:sp>
        <p:nvSpPr>
          <p:cNvPr id="8" name="Google Shape;8;p1"/>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lvl="0" algn="r">
              <a:buNone/>
              <a:defRPr sz="900">
                <a:solidFill>
                  <a:schemeClr val="dk2"/>
                </a:solidFill>
                <a:latin typeface="Nunito"/>
                <a:ea typeface="Nunito"/>
                <a:cs typeface="Nunito"/>
                <a:sym typeface="Nunito"/>
              </a:defRPr>
            </a:lvl1pPr>
            <a:lvl2pPr lvl="1" algn="r">
              <a:buNone/>
              <a:defRPr sz="900">
                <a:solidFill>
                  <a:schemeClr val="dk2"/>
                </a:solidFill>
                <a:latin typeface="Nunito"/>
                <a:ea typeface="Nunito"/>
                <a:cs typeface="Nunito"/>
                <a:sym typeface="Nunito"/>
              </a:defRPr>
            </a:lvl2pPr>
            <a:lvl3pPr lvl="2" algn="r">
              <a:buNone/>
              <a:defRPr sz="900">
                <a:solidFill>
                  <a:schemeClr val="dk2"/>
                </a:solidFill>
                <a:latin typeface="Nunito"/>
                <a:ea typeface="Nunito"/>
                <a:cs typeface="Nunito"/>
                <a:sym typeface="Nunito"/>
              </a:defRPr>
            </a:lvl3pPr>
            <a:lvl4pPr lvl="3" algn="r">
              <a:buNone/>
              <a:defRPr sz="900">
                <a:solidFill>
                  <a:schemeClr val="dk2"/>
                </a:solidFill>
                <a:latin typeface="Nunito"/>
                <a:ea typeface="Nunito"/>
                <a:cs typeface="Nunito"/>
                <a:sym typeface="Nunito"/>
              </a:defRPr>
            </a:lvl4pPr>
            <a:lvl5pPr lvl="4" algn="r">
              <a:buNone/>
              <a:defRPr sz="900">
                <a:solidFill>
                  <a:schemeClr val="dk2"/>
                </a:solidFill>
                <a:latin typeface="Nunito"/>
                <a:ea typeface="Nunito"/>
                <a:cs typeface="Nunito"/>
                <a:sym typeface="Nunito"/>
              </a:defRPr>
            </a:lvl5pPr>
            <a:lvl6pPr lvl="5" algn="r">
              <a:buNone/>
              <a:defRPr sz="900">
                <a:solidFill>
                  <a:schemeClr val="dk2"/>
                </a:solidFill>
                <a:latin typeface="Nunito"/>
                <a:ea typeface="Nunito"/>
                <a:cs typeface="Nunito"/>
                <a:sym typeface="Nunito"/>
              </a:defRPr>
            </a:lvl6pPr>
            <a:lvl7pPr lvl="6" algn="r">
              <a:buNone/>
              <a:defRPr sz="900">
                <a:solidFill>
                  <a:schemeClr val="dk2"/>
                </a:solidFill>
                <a:latin typeface="Nunito"/>
                <a:ea typeface="Nunito"/>
                <a:cs typeface="Nunito"/>
                <a:sym typeface="Nunito"/>
              </a:defRPr>
            </a:lvl7pPr>
            <a:lvl8pPr lvl="7" algn="r">
              <a:buNone/>
              <a:defRPr sz="900">
                <a:solidFill>
                  <a:schemeClr val="dk2"/>
                </a:solidFill>
                <a:latin typeface="Nunito"/>
                <a:ea typeface="Nunito"/>
                <a:cs typeface="Nunito"/>
                <a:sym typeface="Nunito"/>
              </a:defRPr>
            </a:lvl8pPr>
            <a:lvl9pPr lvl="8" algn="r">
              <a:buNone/>
              <a:defRPr sz="9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comments" Target="../comments/comment1.xml"/><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comments" Target="../comments/comment2.xml"/><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comments" Target="../comments/comment3.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7.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comments" Target="../comments/comment4.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comments" Target="../comments/comment5.xml"/><Relationship Id="rId4" Type="http://schemas.openxmlformats.org/officeDocument/2006/relationships/image" Target="../media/image12.png"/><Relationship Id="rId5"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comments" Target="../comments/comment6.xml"/><Relationship Id="rId4" Type="http://schemas.openxmlformats.org/officeDocument/2006/relationships/image" Target="../media/image20.png"/><Relationship Id="rId5" Type="http://schemas.openxmlformats.org/officeDocument/2006/relationships/image" Target="../media/image2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comments" Target="../comments/comment7.xml"/><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comments" Target="../comments/comment8.xml"/><Relationship Id="rId4" Type="http://schemas.openxmlformats.org/officeDocument/2006/relationships/image" Target="../media/image1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comments" Target="../comments/comment9.xml"/><Relationship Id="rId4" Type="http://schemas.openxmlformats.org/officeDocument/2006/relationships/image" Target="../media/image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comments" Target="../comments/comment10.xml"/><Relationship Id="rId4" Type="http://schemas.openxmlformats.org/officeDocument/2006/relationships/image" Target="../media/image1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comments" Target="../comments/comment11.xml"/><Relationship Id="rId4" Type="http://schemas.openxmlformats.org/officeDocument/2006/relationships/image" Target="../media/image1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comments" Target="../comments/commen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comments" Target="../comments/commen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comments" Target="../comments/comment14.xml"/><Relationship Id="rId4" Type="http://schemas.openxmlformats.org/officeDocument/2006/relationships/image" Target="../media/image8.png"/><Relationship Id="rId5" Type="http://schemas.openxmlformats.org/officeDocument/2006/relationships/image" Target="../media/image1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comments" Target="../comments/comment15.xml"/><Relationship Id="rId4" Type="http://schemas.openxmlformats.org/officeDocument/2006/relationships/image" Target="../media/image2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comments" Target="../comments/comment16.xml"/><Relationship Id="rId4" Type="http://schemas.openxmlformats.org/officeDocument/2006/relationships/image" Target="../media/image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comments" Target="../comments/comment17.xml"/><Relationship Id="rId4" Type="http://schemas.openxmlformats.org/officeDocument/2006/relationships/image" Target="../media/image1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comments" Target="../comments/comment18.xml"/><Relationship Id="rId4" Type="http://schemas.openxmlformats.org/officeDocument/2006/relationships/image" Target="../media/image1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comments" Target="../comments/comment19.xml"/><Relationship Id="rId4" Type="http://schemas.openxmlformats.org/officeDocument/2006/relationships/image" Target="../media/image2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comments" Target="../comments/comment2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comments" Target="../comments/comment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13"/>
          <p:cNvSpPr txBox="1"/>
          <p:nvPr>
            <p:ph type="ctrTitle"/>
          </p:nvPr>
        </p:nvSpPr>
        <p:spPr>
          <a:xfrm>
            <a:off x="824000" y="1308888"/>
            <a:ext cx="4255500" cy="18729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All Recipes</a:t>
            </a:r>
            <a:endParaRPr/>
          </a:p>
        </p:txBody>
      </p:sp>
      <p:sp>
        <p:nvSpPr>
          <p:cNvPr id="278" name="Google Shape;278;p13"/>
          <p:cNvSpPr txBox="1"/>
          <p:nvPr>
            <p:ph idx="1" type="subTitle"/>
          </p:nvPr>
        </p:nvSpPr>
        <p:spPr>
          <a:xfrm>
            <a:off x="824000" y="3443850"/>
            <a:ext cx="4255500" cy="695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By: Noor A, Alyssa S, Ava G</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14"/>
          <p:cNvSpPr txBox="1"/>
          <p:nvPr>
            <p:ph type="ctrTitle"/>
          </p:nvPr>
        </p:nvSpPr>
        <p:spPr>
          <a:xfrm>
            <a:off x="824000" y="1613825"/>
            <a:ext cx="6493800" cy="18729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Week 5: MINI UPDATE #5</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15"/>
          <p:cNvSpPr txBox="1"/>
          <p:nvPr>
            <p:ph type="title"/>
          </p:nvPr>
        </p:nvSpPr>
        <p:spPr>
          <a:xfrm>
            <a:off x="268700" y="2053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300"/>
              <a:t>Storyboarding</a:t>
            </a:r>
            <a:endParaRPr sz="2300"/>
          </a:p>
        </p:txBody>
      </p:sp>
      <p:sp>
        <p:nvSpPr>
          <p:cNvPr id="289" name="Google Shape;289;p15"/>
          <p:cNvSpPr txBox="1"/>
          <p:nvPr>
            <p:ph idx="1" type="body"/>
          </p:nvPr>
        </p:nvSpPr>
        <p:spPr>
          <a:xfrm>
            <a:off x="5900450" y="630300"/>
            <a:ext cx="3053700" cy="4180800"/>
          </a:xfrm>
          <a:prstGeom prst="rect">
            <a:avLst/>
          </a:prstGeom>
        </p:spPr>
        <p:txBody>
          <a:bodyPr anchorCtr="0" anchor="t" bIns="91425" lIns="91425" spcFirstLastPara="1" rIns="91425" wrap="square" tIns="91425">
            <a:normAutofit fontScale="92500"/>
          </a:bodyPr>
          <a:lstStyle/>
          <a:p>
            <a:pPr indent="0" lvl="0" marL="0" rtl="0" algn="l">
              <a:lnSpc>
                <a:spcPct val="150000"/>
              </a:lnSpc>
              <a:spcBef>
                <a:spcPts val="0"/>
              </a:spcBef>
              <a:spcAft>
                <a:spcPts val="1200"/>
              </a:spcAft>
              <a:buNone/>
            </a:pPr>
            <a:r>
              <a:rPr lang="en">
                <a:solidFill>
                  <a:srgbClr val="000000"/>
                </a:solidFill>
              </a:rPr>
              <a:t>When exploring recipes, cook time and calories share an inverse relationship, while most cooking happens under 500 minutes with widely varying serving sizes. Interestingly, many users leave silent ratings and numbers without any written review. This raises questions about engagement. Despite this, average ratings remain consistently high between 4.4 and 4.6 across all calorie levels and cuisines, suggesting that people generally enjoy the recipes they make regardless of where they originate or how indulgent they are.</a:t>
            </a:r>
            <a:endParaRPr>
              <a:solidFill>
                <a:srgbClr val="000000"/>
              </a:solidFill>
            </a:endParaRPr>
          </a:p>
        </p:txBody>
      </p:sp>
      <p:pic>
        <p:nvPicPr>
          <p:cNvPr id="290" name="Google Shape;290;p15" title="IS 296 Mini Update storyboarding recipes 5 3 2026.png"/>
          <p:cNvPicPr preferRelativeResize="0"/>
          <p:nvPr/>
        </p:nvPicPr>
        <p:blipFill rotWithShape="1">
          <a:blip r:embed="rId3">
            <a:alphaModFix/>
          </a:blip>
          <a:srcRect b="2818" l="1507" r="0" t="0"/>
          <a:stretch/>
        </p:blipFill>
        <p:spPr>
          <a:xfrm>
            <a:off x="71125" y="778675"/>
            <a:ext cx="5670849" cy="423377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1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Progress:</a:t>
            </a:r>
            <a:endParaRPr/>
          </a:p>
        </p:txBody>
      </p:sp>
      <p:sp>
        <p:nvSpPr>
          <p:cNvPr id="296" name="Google Shape;296;p16"/>
          <p:cNvSpPr txBox="1"/>
          <p:nvPr>
            <p:ph idx="1" type="body"/>
          </p:nvPr>
        </p:nvSpPr>
        <p:spPr>
          <a:xfrm>
            <a:off x="939650" y="1597875"/>
            <a:ext cx="7394700" cy="3100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100">
                <a:solidFill>
                  <a:srgbClr val="000000"/>
                </a:solidFill>
              </a:rPr>
              <a:t>Alyssa</a:t>
            </a:r>
            <a:r>
              <a:rPr lang="en" sz="1100">
                <a:solidFill>
                  <a:srgbClr val="000000"/>
                </a:solidFill>
              </a:rPr>
              <a:t>: </a:t>
            </a:r>
            <a:r>
              <a:rPr lang="en" sz="1100">
                <a:solidFill>
                  <a:srgbClr val="000000"/>
                </a:solidFill>
              </a:rPr>
              <a:t>We created our first storyboard as a group after learning from class. Overall, I think we did a good job telling a story with all of the </a:t>
            </a:r>
            <a:r>
              <a:rPr lang="en" sz="1100">
                <a:solidFill>
                  <a:srgbClr val="000000"/>
                </a:solidFill>
              </a:rPr>
              <a:t>data plots that we have made via JupyterHub over the course of around five weeks. It was very cool to place each of our plots into groups to see which ones go together based off of our datasets. From that, we could tell a story about these graphs that we couldn’t before. </a:t>
            </a:r>
            <a:endParaRPr sz="1100">
              <a:solidFill>
                <a:srgbClr val="000000"/>
              </a:solidFill>
            </a:endParaRPr>
          </a:p>
          <a:p>
            <a:pPr indent="0" lvl="0" marL="0" rtl="0" algn="l">
              <a:spcBef>
                <a:spcPts val="1200"/>
              </a:spcBef>
              <a:spcAft>
                <a:spcPts val="0"/>
              </a:spcAft>
              <a:buNone/>
            </a:pPr>
            <a:r>
              <a:rPr lang="en" sz="1100">
                <a:solidFill>
                  <a:srgbClr val="000000"/>
                </a:solidFill>
              </a:rPr>
              <a:t>Ava: I agree with Alyssa. It was interesting to see which variables we focused on over these last few weeks, and which variables we didn’t analyze at all. We focused a lot on calories per serving, time (cook/prep/total), and ratings. Macros were largely ignored, as were countries somewhat. The ingredients variable was hard to analyze due to the sheer amount of data cleaning that would be necessary. The URL, author, and date published were ignored. I do wonder if the date or author could have been explored more. </a:t>
            </a:r>
            <a:endParaRPr sz="1100">
              <a:solidFill>
                <a:srgbClr val="000000"/>
              </a:solidFill>
            </a:endParaRPr>
          </a:p>
          <a:p>
            <a:pPr indent="0" lvl="0" marL="0" rtl="0" algn="l">
              <a:spcBef>
                <a:spcPts val="1200"/>
              </a:spcBef>
              <a:spcAft>
                <a:spcPts val="1200"/>
              </a:spcAft>
              <a:buNone/>
            </a:pPr>
            <a:r>
              <a:rPr lang="en" sz="1100">
                <a:solidFill>
                  <a:srgbClr val="000000"/>
                </a:solidFill>
              </a:rPr>
              <a:t>Noor- I agree with Alyssa and Ava. I think we did a good job with gathering our data and making insights. Although, we struggled on the instructors expectations of the project, we worked together as a group and communicated with each other very effectively. </a:t>
            </a:r>
            <a:endParaRPr sz="1100">
              <a:solidFill>
                <a:srgbClr val="00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17"/>
          <p:cNvSpPr txBox="1"/>
          <p:nvPr>
            <p:ph type="title"/>
          </p:nvPr>
        </p:nvSpPr>
        <p:spPr>
          <a:xfrm>
            <a:off x="1303800" y="598575"/>
            <a:ext cx="7030500" cy="999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Feedback:</a:t>
            </a:r>
            <a:endParaRPr/>
          </a:p>
          <a:p>
            <a:pPr indent="0" lvl="0" marL="0" rtl="0" algn="l">
              <a:spcBef>
                <a:spcPts val="0"/>
              </a:spcBef>
              <a:spcAft>
                <a:spcPts val="0"/>
              </a:spcAft>
              <a:buNone/>
            </a:pPr>
            <a:r>
              <a:t/>
            </a:r>
            <a:endParaRPr/>
          </a:p>
        </p:txBody>
      </p:sp>
      <p:sp>
        <p:nvSpPr>
          <p:cNvPr id="302" name="Google Shape;302;p17"/>
          <p:cNvSpPr txBox="1"/>
          <p:nvPr>
            <p:ph idx="1" type="body"/>
          </p:nvPr>
        </p:nvSpPr>
        <p:spPr>
          <a:xfrm>
            <a:off x="948325" y="1695150"/>
            <a:ext cx="7386000" cy="2873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200">
                <a:solidFill>
                  <a:srgbClr val="000000"/>
                </a:solidFill>
              </a:rPr>
              <a:t>Alyssa</a:t>
            </a:r>
            <a:r>
              <a:rPr lang="en" sz="1200">
                <a:solidFill>
                  <a:srgbClr val="000000"/>
                </a:solidFill>
              </a:rPr>
              <a:t>: I’m glad that I was able to create a plot that </a:t>
            </a:r>
            <a:r>
              <a:rPr lang="en" sz="1200">
                <a:solidFill>
                  <a:srgbClr val="000000"/>
                </a:solidFill>
              </a:rPr>
              <a:t>almost</a:t>
            </a:r>
            <a:r>
              <a:rPr lang="en" sz="1200">
                <a:solidFill>
                  <a:srgbClr val="000000"/>
                </a:solidFill>
              </a:rPr>
              <a:t> perfectly </a:t>
            </a:r>
            <a:r>
              <a:rPr lang="en" sz="1200">
                <a:solidFill>
                  <a:srgbClr val="000000"/>
                </a:solidFill>
              </a:rPr>
              <a:t>matched</a:t>
            </a:r>
            <a:r>
              <a:rPr lang="en" sz="1200">
                <a:solidFill>
                  <a:srgbClr val="000000"/>
                </a:solidFill>
              </a:rPr>
              <a:t> with my data provided by my </a:t>
            </a:r>
            <a:r>
              <a:rPr lang="en" sz="1200">
                <a:solidFill>
                  <a:srgbClr val="000000"/>
                </a:solidFill>
              </a:rPr>
              <a:t>instructor</a:t>
            </a:r>
            <a:r>
              <a:rPr lang="en" sz="1200">
                <a:solidFill>
                  <a:srgbClr val="000000"/>
                </a:solidFill>
              </a:rPr>
              <a:t> the week before. For my other </a:t>
            </a:r>
            <a:r>
              <a:rPr lang="en" sz="1200">
                <a:solidFill>
                  <a:srgbClr val="000000"/>
                </a:solidFill>
              </a:rPr>
              <a:t>graph, I can see now that using a scatter plot was harder to see where the data plots actually were. For graphs like that, I will use a line plot so it is easier to see. </a:t>
            </a:r>
            <a:endParaRPr sz="1200">
              <a:solidFill>
                <a:srgbClr val="000000"/>
              </a:solidFill>
            </a:endParaRPr>
          </a:p>
          <a:p>
            <a:pPr indent="0" lvl="0" marL="0" rtl="0" algn="l">
              <a:spcBef>
                <a:spcPts val="1200"/>
              </a:spcBef>
              <a:spcAft>
                <a:spcPts val="0"/>
              </a:spcAft>
              <a:buNone/>
            </a:pPr>
            <a:r>
              <a:rPr lang="en" sz="1200">
                <a:solidFill>
                  <a:srgbClr val="000000"/>
                </a:solidFill>
              </a:rPr>
              <a:t>Ava: I’m still not sure what to do with the strange clump of outliers in the “silent raters” scatterplot I made last week. </a:t>
            </a:r>
            <a:endParaRPr sz="1200">
              <a:solidFill>
                <a:srgbClr val="000000"/>
              </a:solidFill>
            </a:endParaRPr>
          </a:p>
          <a:p>
            <a:pPr indent="0" lvl="0" marL="0" rtl="0" algn="l">
              <a:spcBef>
                <a:spcPts val="1200"/>
              </a:spcBef>
              <a:spcAft>
                <a:spcPts val="1200"/>
              </a:spcAft>
              <a:buNone/>
            </a:pPr>
            <a:r>
              <a:rPr lang="en" sz="1200">
                <a:solidFill>
                  <a:srgbClr val="000000"/>
                </a:solidFill>
              </a:rPr>
              <a:t>Noor- This week, I got to practice making storyboards on story studio. It was fascinating to use real world examples and grouping them in story studio.</a:t>
            </a:r>
            <a:endParaRPr sz="1200">
              <a:solidFill>
                <a:srgbClr val="00000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18"/>
          <p:cNvSpPr txBox="1"/>
          <p:nvPr>
            <p:ph type="ctrTitle"/>
          </p:nvPr>
        </p:nvSpPr>
        <p:spPr>
          <a:xfrm>
            <a:off x="824000" y="1613825"/>
            <a:ext cx="6473100" cy="18729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Week 4: MINI UPDATE #4</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19"/>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MINI UPDATE #4- Noor Abbasi</a:t>
            </a:r>
            <a:endParaRPr/>
          </a:p>
        </p:txBody>
      </p:sp>
      <p:sp>
        <p:nvSpPr>
          <p:cNvPr id="313" name="Google Shape;313;p19"/>
          <p:cNvSpPr txBox="1"/>
          <p:nvPr>
            <p:ph idx="1" type="body"/>
          </p:nvPr>
        </p:nvSpPr>
        <p:spPr>
          <a:xfrm>
            <a:off x="695275" y="1597875"/>
            <a:ext cx="4024800" cy="25416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1200"/>
              </a:spcAft>
              <a:buNone/>
            </a:pPr>
            <a:r>
              <a:rPr lang="en"/>
              <a:t>To reach my </a:t>
            </a:r>
            <a:r>
              <a:rPr lang="en"/>
              <a:t>audience</a:t>
            </a:r>
            <a:r>
              <a:rPr lang="en"/>
              <a:t> goals, this week I plan to find fast and convenient recipes from the </a:t>
            </a:r>
            <a:r>
              <a:rPr i="1" lang="en"/>
              <a:t>recipes</a:t>
            </a:r>
            <a:r>
              <a:rPr lang="en"/>
              <a:t> data that are easily </a:t>
            </a:r>
            <a:r>
              <a:rPr lang="en"/>
              <a:t>accessible</a:t>
            </a:r>
            <a:r>
              <a:rPr lang="en"/>
              <a:t> to college students and people who are looking for quick and easy recipes that have a cook time of less than 10 minutes and a prep time thats less than 10 </a:t>
            </a:r>
            <a:r>
              <a:rPr lang="en"/>
              <a:t>minutes</a:t>
            </a:r>
            <a:r>
              <a:rPr lang="en"/>
              <a:t>. I graphed a scatter plot that shows the cooking time and the prep time of preparing </a:t>
            </a:r>
            <a:r>
              <a:rPr lang="en"/>
              <a:t>recipes</a:t>
            </a:r>
            <a:r>
              <a:rPr lang="en"/>
              <a:t>. </a:t>
            </a:r>
            <a:r>
              <a:rPr lang="en"/>
              <a:t>This</a:t>
            </a:r>
            <a:r>
              <a:rPr lang="en"/>
              <a:t> graph shows the </a:t>
            </a:r>
            <a:r>
              <a:rPr lang="en"/>
              <a:t>viewer</a:t>
            </a:r>
            <a:r>
              <a:rPr lang="en"/>
              <a:t> that there are many different options of recipes to choose from that they can make to help them save time!</a:t>
            </a:r>
            <a:endParaRPr/>
          </a:p>
        </p:txBody>
      </p:sp>
      <p:pic>
        <p:nvPicPr>
          <p:cNvPr id="314" name="Google Shape;314;p19" title="Screenshot 2026-04-27 at 12.52.56 AM.png"/>
          <p:cNvPicPr preferRelativeResize="0"/>
          <p:nvPr/>
        </p:nvPicPr>
        <p:blipFill>
          <a:blip r:embed="rId3">
            <a:alphaModFix/>
          </a:blip>
          <a:stretch>
            <a:fillRect/>
          </a:stretch>
        </p:blipFill>
        <p:spPr>
          <a:xfrm>
            <a:off x="5416600" y="1645125"/>
            <a:ext cx="3165899" cy="249434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20"/>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MINI UPDATE #4- Noor Abbasi</a:t>
            </a:r>
            <a:endParaRPr/>
          </a:p>
        </p:txBody>
      </p:sp>
      <p:sp>
        <p:nvSpPr>
          <p:cNvPr id="320" name="Google Shape;320;p20"/>
          <p:cNvSpPr txBox="1"/>
          <p:nvPr>
            <p:ph idx="1" type="body"/>
          </p:nvPr>
        </p:nvSpPr>
        <p:spPr>
          <a:xfrm>
            <a:off x="350425" y="1597875"/>
            <a:ext cx="4157400" cy="28278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To find the fastest recipes in the </a:t>
            </a:r>
            <a:r>
              <a:rPr i="1" lang="en"/>
              <a:t>recipes</a:t>
            </a:r>
            <a:r>
              <a:rPr lang="en"/>
              <a:t> table, I used a barchart to display the top 10 recipes that take the 5 minutes or less to make. As you can see, most of them are either smoothie or drinks. Some are very nutritious and other are not. This data is very helpful to students or people who need quick and easy recipes by providing them with recipes that can be </a:t>
            </a:r>
            <a:r>
              <a:rPr lang="en"/>
              <a:t>easily</a:t>
            </a:r>
            <a:r>
              <a:rPr lang="en"/>
              <a:t> made in 5 minutes or less! Not only does it save time but also provides the nutrients one needs!</a:t>
            </a:r>
            <a:endParaRPr/>
          </a:p>
        </p:txBody>
      </p:sp>
      <p:pic>
        <p:nvPicPr>
          <p:cNvPr id="321" name="Google Shape;321;p20" title="Screenshot 2026-04-27 at 1.14.29 PM.png"/>
          <p:cNvPicPr preferRelativeResize="0"/>
          <p:nvPr/>
        </p:nvPicPr>
        <p:blipFill>
          <a:blip r:embed="rId4">
            <a:alphaModFix/>
          </a:blip>
          <a:stretch>
            <a:fillRect/>
          </a:stretch>
        </p:blipFill>
        <p:spPr>
          <a:xfrm>
            <a:off x="5199525" y="1480625"/>
            <a:ext cx="3435426" cy="267412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21"/>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rgbClr val="000000"/>
                </a:solidFill>
              </a:rPr>
              <a:t>Alyssa S - Mini Update #4</a:t>
            </a:r>
            <a:endParaRPr>
              <a:solidFill>
                <a:srgbClr val="000000"/>
              </a:solidFill>
            </a:endParaRPr>
          </a:p>
        </p:txBody>
      </p:sp>
      <p:sp>
        <p:nvSpPr>
          <p:cNvPr id="327" name="Google Shape;327;p21"/>
          <p:cNvSpPr txBox="1"/>
          <p:nvPr>
            <p:ph idx="1" type="body"/>
          </p:nvPr>
        </p:nvSpPr>
        <p:spPr>
          <a:xfrm>
            <a:off x="4346700" y="1438575"/>
            <a:ext cx="4362300" cy="3236700"/>
          </a:xfrm>
          <a:prstGeom prst="rect">
            <a:avLst/>
          </a:prstGeom>
          <a:ln cap="flat" cmpd="sng" w="38100">
            <a:solidFill>
              <a:srgbClr val="D1D9E0"/>
            </a:solidFill>
            <a:prstDash val="solid"/>
            <a:round/>
            <a:headEnd len="sm" w="sm" type="none"/>
            <a:tailEnd len="sm" w="sm" type="none"/>
          </a:ln>
        </p:spPr>
        <p:txBody>
          <a:bodyPr anchorCtr="0" anchor="t" bIns="91425" lIns="91425" spcFirstLastPara="1" rIns="91425" wrap="square" tIns="91425">
            <a:normAutofit fontScale="92500" lnSpcReduction="10000"/>
          </a:bodyPr>
          <a:lstStyle/>
          <a:p>
            <a:pPr indent="0" lvl="0" marL="0" rtl="0" algn="l">
              <a:lnSpc>
                <a:spcPct val="200000"/>
              </a:lnSpc>
              <a:spcBef>
                <a:spcPts val="0"/>
              </a:spcBef>
              <a:spcAft>
                <a:spcPts val="1200"/>
              </a:spcAft>
              <a:buNone/>
            </a:pPr>
            <a:r>
              <a:rPr b="1" lang="en" u="sng">
                <a:solidFill>
                  <a:srgbClr val="000000"/>
                </a:solidFill>
              </a:rPr>
              <a:t>ANALYSIS</a:t>
            </a:r>
            <a:r>
              <a:rPr lang="en">
                <a:solidFill>
                  <a:srgbClr val="000000"/>
                </a:solidFill>
              </a:rPr>
              <a:t>: </a:t>
            </a:r>
            <a:r>
              <a:rPr lang="en">
                <a:solidFill>
                  <a:srgbClr val="000000"/>
                </a:solidFill>
              </a:rPr>
              <a:t>To better answer whether calorie count affects how a recipe is rated, recipes were grouped into 200-calorie bins and the mean rating w</a:t>
            </a:r>
            <a:r>
              <a:rPr lang="en">
                <a:solidFill>
                  <a:srgbClr val="000000"/>
                </a:solidFill>
              </a:rPr>
              <a:t>ith 95% confidence interval </a:t>
            </a:r>
            <a:r>
              <a:rPr lang="en">
                <a:solidFill>
                  <a:srgbClr val="000000"/>
                </a:solidFill>
              </a:rPr>
              <a:t>was calculated for each. The mean ratings across all bins falls between a narrow/slim range between 4.48 and 4.62, and every confidence interval overlaps with the others. This means there is no statistically meaningful difference in ratings between low- and high-calorie recipes. Calorie count alone does not predict how well a recipe is received.</a:t>
            </a:r>
            <a:endParaRPr>
              <a:solidFill>
                <a:srgbClr val="000000"/>
              </a:solidFill>
            </a:endParaRPr>
          </a:p>
        </p:txBody>
      </p:sp>
      <p:pic>
        <p:nvPicPr>
          <p:cNvPr id="328" name="Google Shape;328;p21"/>
          <p:cNvPicPr preferRelativeResize="0"/>
          <p:nvPr/>
        </p:nvPicPr>
        <p:blipFill>
          <a:blip r:embed="rId4">
            <a:alphaModFix/>
          </a:blip>
          <a:stretch>
            <a:fillRect/>
          </a:stretch>
        </p:blipFill>
        <p:spPr>
          <a:xfrm>
            <a:off x="612875" y="1823475"/>
            <a:ext cx="3421900" cy="2748050"/>
          </a:xfrm>
          <a:prstGeom prst="rect">
            <a:avLst/>
          </a:prstGeom>
          <a:noFill/>
          <a:ln>
            <a:noFill/>
          </a:ln>
        </p:spPr>
      </p:pic>
      <p:sp>
        <p:nvSpPr>
          <p:cNvPr id="329" name="Google Shape;329;p21"/>
          <p:cNvSpPr txBox="1"/>
          <p:nvPr/>
        </p:nvSpPr>
        <p:spPr>
          <a:xfrm>
            <a:off x="612875" y="1438575"/>
            <a:ext cx="3296700" cy="384900"/>
          </a:xfrm>
          <a:prstGeom prst="rect">
            <a:avLst/>
          </a:prstGeom>
          <a:noFill/>
          <a:ln cap="flat" cmpd="sng" w="28575">
            <a:solidFill>
              <a:srgbClr val="D1D9E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300">
                <a:latin typeface="Nunito"/>
                <a:ea typeface="Nunito"/>
                <a:cs typeface="Nunito"/>
                <a:sym typeface="Nunito"/>
              </a:rPr>
              <a:t>Graph between calories and cook time</a:t>
            </a:r>
            <a:endParaRPr sz="1300">
              <a:latin typeface="Nunito"/>
              <a:ea typeface="Nunito"/>
              <a:cs typeface="Nunito"/>
              <a:sym typeface="Nuni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22"/>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rgbClr val="000000"/>
                </a:solidFill>
              </a:rPr>
              <a:t>Alyssa S - Mini Update #4</a:t>
            </a:r>
            <a:endParaRPr>
              <a:solidFill>
                <a:srgbClr val="000000"/>
              </a:solidFill>
            </a:endParaRPr>
          </a:p>
        </p:txBody>
      </p:sp>
      <p:sp>
        <p:nvSpPr>
          <p:cNvPr id="335" name="Google Shape;335;p22"/>
          <p:cNvSpPr txBox="1"/>
          <p:nvPr>
            <p:ph idx="1" type="body"/>
          </p:nvPr>
        </p:nvSpPr>
        <p:spPr>
          <a:xfrm>
            <a:off x="4169975" y="1512975"/>
            <a:ext cx="4594800" cy="3018600"/>
          </a:xfrm>
          <a:prstGeom prst="rect">
            <a:avLst/>
          </a:prstGeom>
          <a:ln cap="flat" cmpd="sng" w="38100">
            <a:solidFill>
              <a:srgbClr val="D1D9E0"/>
            </a:solidFill>
            <a:prstDash val="solid"/>
            <a:round/>
            <a:headEnd len="sm" w="sm" type="none"/>
            <a:tailEnd len="sm" w="sm" type="none"/>
          </a:ln>
        </p:spPr>
        <p:txBody>
          <a:bodyPr anchorCtr="0" anchor="t" bIns="91425" lIns="91425" spcFirstLastPara="1" rIns="91425" wrap="square" tIns="91425">
            <a:normAutofit fontScale="92500" lnSpcReduction="10000"/>
          </a:bodyPr>
          <a:lstStyle/>
          <a:p>
            <a:pPr indent="0" lvl="0" marL="0" rtl="0" algn="l">
              <a:lnSpc>
                <a:spcPct val="200000"/>
              </a:lnSpc>
              <a:spcBef>
                <a:spcPts val="0"/>
              </a:spcBef>
              <a:spcAft>
                <a:spcPts val="1200"/>
              </a:spcAft>
              <a:buNone/>
            </a:pPr>
            <a:r>
              <a:rPr b="1" lang="en" sz="1200" u="sng">
                <a:solidFill>
                  <a:srgbClr val="000000"/>
                </a:solidFill>
              </a:rPr>
              <a:t>ANALYSIS</a:t>
            </a:r>
            <a:r>
              <a:rPr lang="en" sz="1200">
                <a:solidFill>
                  <a:srgbClr val="000000"/>
                </a:solidFill>
              </a:rPr>
              <a:t>: This scatter plot shows the relationship between calories per serving and cook time across all recipes. The vast majority cluster tightly under 600 calories and 60 minutes, confirming that most AllRecipes content is quick, moderate-calorie everyday cooking. A small number of recipes extend into higher calorie counts or longer cook times, forming a sparse right tail in both directions. The two dimensions do not move together strongly. A high-calorie recipe is not necessarily a long-cook one taking into consideration that they are influenced by different factors.</a:t>
            </a:r>
            <a:endParaRPr sz="1200">
              <a:solidFill>
                <a:srgbClr val="000000"/>
              </a:solidFill>
            </a:endParaRPr>
          </a:p>
        </p:txBody>
      </p:sp>
      <p:pic>
        <p:nvPicPr>
          <p:cNvPr id="336" name="Google Shape;336;p22"/>
          <p:cNvPicPr preferRelativeResize="0"/>
          <p:nvPr/>
        </p:nvPicPr>
        <p:blipFill rotWithShape="1">
          <a:blip r:embed="rId4">
            <a:alphaModFix/>
          </a:blip>
          <a:srcRect b="0" l="4158" r="1136" t="0"/>
          <a:stretch/>
        </p:blipFill>
        <p:spPr>
          <a:xfrm>
            <a:off x="293825" y="1750275"/>
            <a:ext cx="3625025" cy="2841350"/>
          </a:xfrm>
          <a:prstGeom prst="rect">
            <a:avLst/>
          </a:prstGeom>
          <a:noFill/>
          <a:ln>
            <a:noFill/>
          </a:ln>
        </p:spPr>
      </p:pic>
      <p:sp>
        <p:nvSpPr>
          <p:cNvPr id="337" name="Google Shape;337;p22"/>
          <p:cNvSpPr txBox="1"/>
          <p:nvPr/>
        </p:nvSpPr>
        <p:spPr>
          <a:xfrm>
            <a:off x="293825" y="1429275"/>
            <a:ext cx="3504000" cy="384900"/>
          </a:xfrm>
          <a:prstGeom prst="rect">
            <a:avLst/>
          </a:prstGeom>
          <a:noFill/>
          <a:ln cap="flat" cmpd="sng" w="28575">
            <a:solidFill>
              <a:srgbClr val="D1D9E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300">
                <a:latin typeface="Nunito"/>
                <a:ea typeface="Nunito"/>
                <a:cs typeface="Nunito"/>
                <a:sym typeface="Nunito"/>
              </a:rPr>
              <a:t>Graph between calories and cook time</a:t>
            </a:r>
            <a:endParaRPr sz="1300">
              <a:latin typeface="Nunito"/>
              <a:ea typeface="Nunito"/>
              <a:cs typeface="Nunito"/>
              <a:sym typeface="Nuni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23"/>
          <p:cNvSpPr txBox="1"/>
          <p:nvPr>
            <p:ph type="title"/>
          </p:nvPr>
        </p:nvSpPr>
        <p:spPr>
          <a:xfrm>
            <a:off x="1303800" y="598575"/>
            <a:ext cx="42903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MINI UPDATE #4- Ava G</a:t>
            </a:r>
            <a:endParaRPr/>
          </a:p>
        </p:txBody>
      </p:sp>
      <p:sp>
        <p:nvSpPr>
          <p:cNvPr id="343" name="Google Shape;343;p23"/>
          <p:cNvSpPr txBox="1"/>
          <p:nvPr>
            <p:ph idx="1" type="body"/>
          </p:nvPr>
        </p:nvSpPr>
        <p:spPr>
          <a:xfrm>
            <a:off x="350425" y="1597875"/>
            <a:ext cx="4157400" cy="28278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I used lab 12’s guide to analyze permutation of two continuous variables. I chose to analyze the average rating and total ratings. I made a scatterplot first, then found the observed correlation of 0.06 and found the p-value which is incredibly close to zero. This data shows that these two </a:t>
            </a:r>
            <a:r>
              <a:rPr lang="en"/>
              <a:t>variables</a:t>
            </a:r>
            <a:r>
              <a:rPr lang="en"/>
              <a:t> are highly correlated and we reject the null hypothesis. In other words, this means that as a recipe has more ratings logged, it’s more likely to have a higher average rating out of 5. </a:t>
            </a:r>
            <a:endParaRPr/>
          </a:p>
        </p:txBody>
      </p:sp>
      <p:pic>
        <p:nvPicPr>
          <p:cNvPr id="344" name="Google Shape;344;p23" title="Screenshot 2026-04-25 at 8.00.07 PM.png"/>
          <p:cNvPicPr preferRelativeResize="0"/>
          <p:nvPr/>
        </p:nvPicPr>
        <p:blipFill>
          <a:blip r:embed="rId3">
            <a:alphaModFix/>
          </a:blip>
          <a:stretch>
            <a:fillRect/>
          </a:stretch>
        </p:blipFill>
        <p:spPr>
          <a:xfrm>
            <a:off x="6116999" y="2886412"/>
            <a:ext cx="2923876" cy="2133362"/>
          </a:xfrm>
          <a:prstGeom prst="rect">
            <a:avLst/>
          </a:prstGeom>
          <a:noFill/>
          <a:ln>
            <a:noFill/>
          </a:ln>
        </p:spPr>
      </p:pic>
      <p:pic>
        <p:nvPicPr>
          <p:cNvPr id="345" name="Google Shape;345;p23" title="Screenshot 2026-04-25 at 7.59.58 PM.png"/>
          <p:cNvPicPr preferRelativeResize="0"/>
          <p:nvPr/>
        </p:nvPicPr>
        <p:blipFill>
          <a:blip r:embed="rId4">
            <a:alphaModFix/>
          </a:blip>
          <a:stretch>
            <a:fillRect/>
          </a:stretch>
        </p:blipFill>
        <p:spPr>
          <a:xfrm>
            <a:off x="6045600" y="122100"/>
            <a:ext cx="2923874" cy="275897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24"/>
          <p:cNvSpPr txBox="1"/>
          <p:nvPr>
            <p:ph type="title"/>
          </p:nvPr>
        </p:nvSpPr>
        <p:spPr>
          <a:xfrm>
            <a:off x="1303800" y="598575"/>
            <a:ext cx="42903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MINI UPDATE #4- Ava G</a:t>
            </a:r>
            <a:endParaRPr/>
          </a:p>
        </p:txBody>
      </p:sp>
      <p:sp>
        <p:nvSpPr>
          <p:cNvPr id="351" name="Google Shape;351;p24"/>
          <p:cNvSpPr txBox="1"/>
          <p:nvPr>
            <p:ph idx="1" type="body"/>
          </p:nvPr>
        </p:nvSpPr>
        <p:spPr>
          <a:xfrm>
            <a:off x="350425" y="1232900"/>
            <a:ext cx="4157400" cy="3758100"/>
          </a:xfrm>
          <a:prstGeom prst="rect">
            <a:avLst/>
          </a:prstGeom>
        </p:spPr>
        <p:txBody>
          <a:bodyPr anchorCtr="0" anchor="t" bIns="91425" lIns="91425" spcFirstLastPara="1" rIns="91425" wrap="square" tIns="91425">
            <a:normAutofit fontScale="92500" lnSpcReduction="10000"/>
          </a:bodyPr>
          <a:lstStyle/>
          <a:p>
            <a:pPr indent="0" lvl="0" marL="0" rtl="0" algn="l">
              <a:spcBef>
                <a:spcPts val="0"/>
              </a:spcBef>
              <a:spcAft>
                <a:spcPts val="1200"/>
              </a:spcAft>
              <a:buNone/>
            </a:pPr>
            <a:r>
              <a:rPr lang="en"/>
              <a:t>I noticed two different columns- total ratings and reviews. To my knowledge, ratings are when someone leaves a star out of 5, and reviews are when someone writes and posts something about the recipe beyond just a number. I created a column to represent the difference between these two variables, dubbed the “silent raters.” These are people who leave a number rating without saying anything in a review. </a:t>
            </a:r>
            <a:r>
              <a:rPr lang="en"/>
              <a:t>Silent raters = total ratings minus reviews. </a:t>
            </a:r>
            <a:r>
              <a:rPr lang="en"/>
              <a:t>The higher the silent raters, the more total ratings and the less reviews a recipe got. This scatterplot shows a trend between the variable silent ratings and the </a:t>
            </a:r>
            <a:r>
              <a:rPr lang="en"/>
              <a:t>average</a:t>
            </a:r>
            <a:r>
              <a:rPr lang="en"/>
              <a:t> </a:t>
            </a:r>
            <a:r>
              <a:rPr lang="en"/>
              <a:t>rating</a:t>
            </a:r>
            <a:r>
              <a:rPr lang="en"/>
              <a:t> of a recipe. I notice a </a:t>
            </a:r>
            <a:r>
              <a:rPr lang="en"/>
              <a:t>correlation</a:t>
            </a:r>
            <a:r>
              <a:rPr lang="en"/>
              <a:t> between the two variables. As the number of silent raters goes up, the score of rating for a recipe tends to increase. The opposite is also true. This makes sense, because if someone likes a recipe, they’ll give it some stars. But if someone hates a recipe, they have something to say about it, and are more likely to leave a review. </a:t>
            </a:r>
            <a:endParaRPr/>
          </a:p>
        </p:txBody>
      </p:sp>
      <p:pic>
        <p:nvPicPr>
          <p:cNvPr id="352" name="Google Shape;352;p24" title="Screenshot 2026-04-26 at 5.54.40 PM.png"/>
          <p:cNvPicPr preferRelativeResize="0"/>
          <p:nvPr/>
        </p:nvPicPr>
        <p:blipFill>
          <a:blip r:embed="rId4">
            <a:alphaModFix/>
          </a:blip>
          <a:stretch>
            <a:fillRect/>
          </a:stretch>
        </p:blipFill>
        <p:spPr>
          <a:xfrm>
            <a:off x="4660225" y="1188875"/>
            <a:ext cx="4221600" cy="38022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25"/>
          <p:cNvSpPr txBox="1"/>
          <p:nvPr>
            <p:ph type="title"/>
          </p:nvPr>
        </p:nvSpPr>
        <p:spPr>
          <a:xfrm>
            <a:off x="1303800" y="598575"/>
            <a:ext cx="42903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MINI UPDATE #4- Ava G</a:t>
            </a:r>
            <a:endParaRPr/>
          </a:p>
        </p:txBody>
      </p:sp>
      <p:sp>
        <p:nvSpPr>
          <p:cNvPr id="358" name="Google Shape;358;p25"/>
          <p:cNvSpPr txBox="1"/>
          <p:nvPr>
            <p:ph idx="1" type="body"/>
          </p:nvPr>
        </p:nvSpPr>
        <p:spPr>
          <a:xfrm>
            <a:off x="350425" y="1597875"/>
            <a:ext cx="5024100" cy="33435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sz="1400"/>
              <a:t>There was an issue with the “silent raters” variable. For the </a:t>
            </a:r>
            <a:r>
              <a:rPr lang="en" sz="1400"/>
              <a:t>previous</a:t>
            </a:r>
            <a:r>
              <a:rPr lang="en" sz="1400"/>
              <a:t> slide, I highlighted where silent raters was above zero. However, as pictured in the top graph, there were two “clumps” of data in the scatterplot. The top clump (from the previous slide) makes sense, but the bottom one doesnt. Why would a recipe have more reviews than ratings, let alone 700-1000 more? There are no data points of a recipe having 1-600 more </a:t>
            </a:r>
            <a:r>
              <a:rPr lang="en" sz="1400"/>
              <a:t>reviews</a:t>
            </a:r>
            <a:r>
              <a:rPr lang="en" sz="1400"/>
              <a:t> than ratings, which I find odd. Of these strange recipes from that second clump, they’re all rated an average of 4-5 stars. </a:t>
            </a:r>
            <a:r>
              <a:rPr lang="en" sz="1400"/>
              <a:t>Why would anyone leave a review on a recipe and not give it a rating while they’re at it? Very strange.</a:t>
            </a:r>
            <a:endParaRPr sz="1400"/>
          </a:p>
        </p:txBody>
      </p:sp>
      <p:pic>
        <p:nvPicPr>
          <p:cNvPr id="359" name="Google Shape;359;p25" title="Screenshot 2026-04-26 at 5.54.25 PM.png"/>
          <p:cNvPicPr preferRelativeResize="0"/>
          <p:nvPr/>
        </p:nvPicPr>
        <p:blipFill>
          <a:blip r:embed="rId4">
            <a:alphaModFix/>
          </a:blip>
          <a:stretch>
            <a:fillRect/>
          </a:stretch>
        </p:blipFill>
        <p:spPr>
          <a:xfrm>
            <a:off x="5938875" y="2410075"/>
            <a:ext cx="3090326" cy="2667701"/>
          </a:xfrm>
          <a:prstGeom prst="rect">
            <a:avLst/>
          </a:prstGeom>
          <a:noFill/>
          <a:ln>
            <a:noFill/>
          </a:ln>
        </p:spPr>
      </p:pic>
      <p:pic>
        <p:nvPicPr>
          <p:cNvPr id="360" name="Google Shape;360;p25" title="Screenshot 2026-04-26 at 6.02.08 PM.png"/>
          <p:cNvPicPr preferRelativeResize="0"/>
          <p:nvPr/>
        </p:nvPicPr>
        <p:blipFill>
          <a:blip r:embed="rId5">
            <a:alphaModFix/>
          </a:blip>
          <a:stretch>
            <a:fillRect/>
          </a:stretch>
        </p:blipFill>
        <p:spPr>
          <a:xfrm>
            <a:off x="6407300" y="88075"/>
            <a:ext cx="2621901" cy="228040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2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Progress:</a:t>
            </a:r>
            <a:endParaRPr/>
          </a:p>
        </p:txBody>
      </p:sp>
      <p:sp>
        <p:nvSpPr>
          <p:cNvPr id="366" name="Google Shape;366;p26"/>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Noor- This week, I looked for different ways to display the prep, cook, and total time into graphs while also trying to find more methods into analyzing this data more efficiently. Next week, I plan to use my knowledge that I learned in class and attempt to incorporate into my work.</a:t>
            </a:r>
            <a:endParaRPr/>
          </a:p>
          <a:p>
            <a:pPr indent="0" lvl="0" marL="0" rtl="0" algn="l">
              <a:spcBef>
                <a:spcPts val="1200"/>
              </a:spcBef>
              <a:spcAft>
                <a:spcPts val="0"/>
              </a:spcAft>
              <a:buNone/>
            </a:pPr>
            <a:r>
              <a:rPr lang="en"/>
              <a:t>Alyssa- So far, I used the confidence interval that I’ve learned in class and tried to see how it works here including mean. I don’t know if I did it correct as I am still learning, but currently I think it has been helping with my overall analysis for both mini update graphs.. </a:t>
            </a:r>
            <a:endParaRPr/>
          </a:p>
          <a:p>
            <a:pPr indent="0" lvl="0" marL="0" rtl="0" algn="l">
              <a:spcBef>
                <a:spcPts val="1200"/>
              </a:spcBef>
              <a:spcAft>
                <a:spcPts val="1200"/>
              </a:spcAft>
              <a:buNone/>
            </a:pPr>
            <a:r>
              <a:rPr lang="en"/>
              <a:t>Ava- This week, I looked more into ratings and reviews. There were some interesting findings. I don’t know how to interpret some of them, but overall it was very interesting to dive into.</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27"/>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Feedback:</a:t>
            </a:r>
            <a:endParaRPr/>
          </a:p>
        </p:txBody>
      </p:sp>
      <p:sp>
        <p:nvSpPr>
          <p:cNvPr id="372" name="Google Shape;372;p27"/>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fontScale="92500" lnSpcReduction="10000"/>
          </a:bodyPr>
          <a:lstStyle/>
          <a:p>
            <a:pPr indent="0" lvl="0" marL="0" rtl="0" algn="l">
              <a:spcBef>
                <a:spcPts val="0"/>
              </a:spcBef>
              <a:spcAft>
                <a:spcPts val="0"/>
              </a:spcAft>
              <a:buNone/>
            </a:pPr>
            <a:r>
              <a:rPr lang="en"/>
              <a:t>Noor- Looking at the feedback, I understand what I may have done incorrectly. Hopefully throughout the weeks, I can learn from my mistakes and improve my data analysis skills as well as trying new methods to graph my data.</a:t>
            </a:r>
            <a:endParaRPr/>
          </a:p>
          <a:p>
            <a:pPr indent="0" lvl="0" marL="0" rtl="0" algn="l">
              <a:spcBef>
                <a:spcPts val="1200"/>
              </a:spcBef>
              <a:spcAft>
                <a:spcPts val="0"/>
              </a:spcAft>
              <a:buNone/>
            </a:pPr>
            <a:r>
              <a:rPr lang="en"/>
              <a:t>Alyssa- I appreciates the feedback as it makes sense of how I can compare cook time and other variables that correlate with this mini update. I was still struggling to seeing if I did the confidence intervals and finding the mean correctly as I we did or if I needed to with the graph I used. </a:t>
            </a:r>
            <a:endParaRPr/>
          </a:p>
          <a:p>
            <a:pPr indent="0" lvl="0" marL="0" rtl="0" algn="l">
              <a:spcBef>
                <a:spcPts val="1200"/>
              </a:spcBef>
              <a:spcAft>
                <a:spcPts val="1200"/>
              </a:spcAft>
              <a:buNone/>
            </a:pPr>
            <a:r>
              <a:rPr lang="en"/>
              <a:t>Ava- I agree its a good idea to highlight certain areas on graphs as “ideal” so the audience knows what to look for. As for the ingredients feedback, I was struggling to come up with a  better way to represent the data. The example graph that was provided is new to me, but could be very useful to represent data such as ingredients.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28"/>
          <p:cNvSpPr txBox="1"/>
          <p:nvPr>
            <p:ph type="ctrTitle"/>
          </p:nvPr>
        </p:nvSpPr>
        <p:spPr>
          <a:xfrm>
            <a:off x="824000" y="1613825"/>
            <a:ext cx="6473100" cy="18729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Week 3: MINI UPDATE #3</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29"/>
          <p:cNvSpPr txBox="1"/>
          <p:nvPr>
            <p:ph type="title"/>
          </p:nvPr>
        </p:nvSpPr>
        <p:spPr>
          <a:xfrm>
            <a:off x="1164800" y="681200"/>
            <a:ext cx="7030500" cy="659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200"/>
              <a:t>Noor Abbasi-MINI UPDATE #3</a:t>
            </a:r>
            <a:endParaRPr sz="2200"/>
          </a:p>
        </p:txBody>
      </p:sp>
      <p:sp>
        <p:nvSpPr>
          <p:cNvPr id="383" name="Google Shape;383;p29"/>
          <p:cNvSpPr txBox="1"/>
          <p:nvPr>
            <p:ph idx="1" type="body"/>
          </p:nvPr>
        </p:nvSpPr>
        <p:spPr>
          <a:xfrm>
            <a:off x="469700" y="1479275"/>
            <a:ext cx="4275300" cy="26541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sz="1500"/>
              <a:t>This week, I have decided to focus on the </a:t>
            </a:r>
            <a:r>
              <a:rPr i="1" lang="en" sz="1500"/>
              <a:t>cuisines</a:t>
            </a:r>
            <a:r>
              <a:rPr lang="en" sz="1500"/>
              <a:t> data. I am going to analyze the first top 10 most popular in the </a:t>
            </a:r>
            <a:r>
              <a:rPr i="1" lang="en" sz="1500"/>
              <a:t>cuisines</a:t>
            </a:r>
            <a:r>
              <a:rPr lang="en" sz="1500"/>
              <a:t> data (similar to what I did in the </a:t>
            </a:r>
            <a:r>
              <a:rPr i="1" lang="en" sz="1500"/>
              <a:t>recipes</a:t>
            </a:r>
            <a:r>
              <a:rPr lang="en" sz="1500"/>
              <a:t> data)(Refer back to Week 2). I also included fig. 1 </a:t>
            </a:r>
            <a:r>
              <a:rPr lang="en" sz="1500"/>
              <a:t>to display the countries that are also the most popular along</a:t>
            </a:r>
            <a:r>
              <a:rPr lang="en" sz="1500"/>
              <a:t> with their recipes. I can see that Turkish Eggs are rated #1 and I also notice that Cuban and Brazilian dishes are the most popular among the top ten. </a:t>
            </a:r>
            <a:endParaRPr sz="1500"/>
          </a:p>
        </p:txBody>
      </p:sp>
      <p:pic>
        <p:nvPicPr>
          <p:cNvPr id="384" name="Google Shape;384;p29" title="Screenshot 2026-04-19 at 11.31.25 PM.png"/>
          <p:cNvPicPr preferRelativeResize="0"/>
          <p:nvPr/>
        </p:nvPicPr>
        <p:blipFill>
          <a:blip r:embed="rId4">
            <a:alphaModFix/>
          </a:blip>
          <a:stretch>
            <a:fillRect/>
          </a:stretch>
        </p:blipFill>
        <p:spPr>
          <a:xfrm>
            <a:off x="5616150" y="2627375"/>
            <a:ext cx="3355273" cy="2445974"/>
          </a:xfrm>
          <a:prstGeom prst="rect">
            <a:avLst/>
          </a:prstGeom>
          <a:noFill/>
          <a:ln>
            <a:noFill/>
          </a:ln>
        </p:spPr>
      </p:pic>
      <p:pic>
        <p:nvPicPr>
          <p:cNvPr id="385" name="Google Shape;385;p29" title="Screenshot 2026-04-19 at 11.40.36 PM.png"/>
          <p:cNvPicPr preferRelativeResize="0"/>
          <p:nvPr/>
        </p:nvPicPr>
        <p:blipFill>
          <a:blip r:embed="rId5">
            <a:alphaModFix/>
          </a:blip>
          <a:stretch>
            <a:fillRect/>
          </a:stretch>
        </p:blipFill>
        <p:spPr>
          <a:xfrm>
            <a:off x="5569825" y="171475"/>
            <a:ext cx="3355275" cy="2285075"/>
          </a:xfrm>
          <a:prstGeom prst="rect">
            <a:avLst/>
          </a:prstGeom>
          <a:noFill/>
          <a:ln>
            <a:noFill/>
          </a:ln>
        </p:spPr>
      </p:pic>
      <p:sp>
        <p:nvSpPr>
          <p:cNvPr id="386" name="Google Shape;386;p29"/>
          <p:cNvSpPr txBox="1"/>
          <p:nvPr/>
        </p:nvSpPr>
        <p:spPr>
          <a:xfrm>
            <a:off x="5551275" y="55600"/>
            <a:ext cx="2131500" cy="11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dk2"/>
                </a:solidFill>
                <a:latin typeface="Nunito"/>
                <a:ea typeface="Nunito"/>
                <a:cs typeface="Nunito"/>
                <a:sym typeface="Nunito"/>
              </a:rPr>
              <a:t>f</a:t>
            </a:r>
            <a:r>
              <a:rPr lang="en" sz="1300">
                <a:solidFill>
                  <a:schemeClr val="dk2"/>
                </a:solidFill>
                <a:latin typeface="Nunito"/>
                <a:ea typeface="Nunito"/>
                <a:cs typeface="Nunito"/>
                <a:sym typeface="Nunito"/>
              </a:rPr>
              <a:t>ig.1</a:t>
            </a:r>
            <a:endParaRPr sz="1300">
              <a:solidFill>
                <a:schemeClr val="dk2"/>
              </a:solidFill>
              <a:latin typeface="Nunito"/>
              <a:ea typeface="Nunito"/>
              <a:cs typeface="Nunito"/>
              <a:sym typeface="Nunito"/>
            </a:endParaRPr>
          </a:p>
        </p:txBody>
      </p:sp>
      <p:sp>
        <p:nvSpPr>
          <p:cNvPr id="387" name="Google Shape;387;p29"/>
          <p:cNvSpPr txBox="1"/>
          <p:nvPr/>
        </p:nvSpPr>
        <p:spPr>
          <a:xfrm>
            <a:off x="5551275" y="2571749"/>
            <a:ext cx="2131500" cy="11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dk2"/>
                </a:solidFill>
                <a:latin typeface="Nunito"/>
                <a:ea typeface="Nunito"/>
                <a:cs typeface="Nunito"/>
                <a:sym typeface="Nunito"/>
              </a:rPr>
              <a:t>fig.2</a:t>
            </a:r>
            <a:endParaRPr sz="1300">
              <a:solidFill>
                <a:schemeClr val="dk2"/>
              </a:solidFill>
              <a:latin typeface="Nunito"/>
              <a:ea typeface="Nunito"/>
              <a:cs typeface="Nunito"/>
              <a:sym typeface="Nuni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30"/>
          <p:cNvSpPr txBox="1"/>
          <p:nvPr>
            <p:ph type="title"/>
          </p:nvPr>
        </p:nvSpPr>
        <p:spPr>
          <a:xfrm>
            <a:off x="1482925" y="647650"/>
            <a:ext cx="7030500" cy="65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200"/>
              <a:t>Noor Abbasi-MINI UPDATE #3</a:t>
            </a:r>
            <a:endParaRPr sz="2200"/>
          </a:p>
          <a:p>
            <a:pPr indent="0" lvl="0" marL="0" rtl="0" algn="l">
              <a:spcBef>
                <a:spcPts val="0"/>
              </a:spcBef>
              <a:spcAft>
                <a:spcPts val="0"/>
              </a:spcAft>
              <a:buNone/>
            </a:pPr>
            <a:r>
              <a:t/>
            </a:r>
            <a:endParaRPr/>
          </a:p>
        </p:txBody>
      </p:sp>
      <p:sp>
        <p:nvSpPr>
          <p:cNvPr id="393" name="Google Shape;393;p30"/>
          <p:cNvSpPr txBox="1"/>
          <p:nvPr>
            <p:ph idx="1" type="body"/>
          </p:nvPr>
        </p:nvSpPr>
        <p:spPr>
          <a:xfrm>
            <a:off x="339950" y="1503825"/>
            <a:ext cx="3737700" cy="3157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400"/>
              <a:t>In this scatter plot, I </a:t>
            </a:r>
            <a:r>
              <a:rPr lang="en" sz="1400"/>
              <a:t>measured</a:t>
            </a:r>
            <a:r>
              <a:rPr lang="en" sz="1400"/>
              <a:t> the total number of ratings to the average ratings of the entire data instead of only the top ten. </a:t>
            </a:r>
            <a:r>
              <a:rPr lang="en" sz="1400"/>
              <a:t>Similarly</a:t>
            </a:r>
            <a:r>
              <a:rPr lang="en" sz="1400"/>
              <a:t> to the </a:t>
            </a:r>
            <a:r>
              <a:rPr i="1" lang="en" sz="1400"/>
              <a:t>recipes</a:t>
            </a:r>
            <a:r>
              <a:rPr lang="en" sz="1400"/>
              <a:t> table in week 2, fig. 3, </a:t>
            </a:r>
            <a:r>
              <a:rPr lang="en" sz="1400"/>
              <a:t>displays a higher total and average ratings from 4.4 to 4.8.</a:t>
            </a:r>
            <a:r>
              <a:rPr lang="en" sz="1400"/>
              <a:t> I also see that at a </a:t>
            </a:r>
            <a:r>
              <a:rPr lang="en" sz="1400"/>
              <a:t>5.0 rating, the total number of ratings does not exceed 200. </a:t>
            </a:r>
            <a:r>
              <a:rPr lang="en" sz="1400"/>
              <a:t>I also noticed that </a:t>
            </a:r>
            <a:r>
              <a:rPr lang="en" sz="1400"/>
              <a:t>there is very little total ratings with people who rated a recipe less than 3.5.</a:t>
            </a:r>
            <a:endParaRPr sz="1400"/>
          </a:p>
          <a:p>
            <a:pPr indent="0" lvl="0" marL="0" rtl="0" algn="l">
              <a:lnSpc>
                <a:spcPct val="105000"/>
              </a:lnSpc>
              <a:spcBef>
                <a:spcPts val="1200"/>
              </a:spcBef>
              <a:spcAft>
                <a:spcPts val="1200"/>
              </a:spcAft>
              <a:buNone/>
            </a:pPr>
            <a:r>
              <a:t/>
            </a:r>
            <a:endParaRPr/>
          </a:p>
        </p:txBody>
      </p:sp>
      <p:pic>
        <p:nvPicPr>
          <p:cNvPr id="394" name="Google Shape;394;p30" title="Screenshot 2026-04-19 at 11.11.09 PM.png"/>
          <p:cNvPicPr preferRelativeResize="0"/>
          <p:nvPr/>
        </p:nvPicPr>
        <p:blipFill>
          <a:blip r:embed="rId4">
            <a:alphaModFix/>
          </a:blip>
          <a:stretch>
            <a:fillRect/>
          </a:stretch>
        </p:blipFill>
        <p:spPr>
          <a:xfrm>
            <a:off x="4513300" y="1296287"/>
            <a:ext cx="3957200" cy="3572575"/>
          </a:xfrm>
          <a:prstGeom prst="rect">
            <a:avLst/>
          </a:prstGeom>
          <a:noFill/>
          <a:ln>
            <a:noFill/>
          </a:ln>
        </p:spPr>
      </p:pic>
      <p:sp>
        <p:nvSpPr>
          <p:cNvPr id="395" name="Google Shape;395;p30"/>
          <p:cNvSpPr txBox="1"/>
          <p:nvPr/>
        </p:nvSpPr>
        <p:spPr>
          <a:xfrm>
            <a:off x="4572000" y="1117499"/>
            <a:ext cx="2131500" cy="11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dk2"/>
                </a:solidFill>
                <a:latin typeface="Nunito"/>
                <a:ea typeface="Nunito"/>
                <a:cs typeface="Nunito"/>
                <a:sym typeface="Nunito"/>
              </a:rPr>
              <a:t>fig.3</a:t>
            </a:r>
            <a:endParaRPr sz="1300">
              <a:solidFill>
                <a:schemeClr val="dk2"/>
              </a:solidFill>
              <a:latin typeface="Nunito"/>
              <a:ea typeface="Nunito"/>
              <a:cs typeface="Nunito"/>
              <a:sym typeface="Nunit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31"/>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Alyssa S - Mini Update #3</a:t>
            </a:r>
            <a:endParaRPr/>
          </a:p>
        </p:txBody>
      </p:sp>
      <p:sp>
        <p:nvSpPr>
          <p:cNvPr id="401" name="Google Shape;401;p31"/>
          <p:cNvSpPr txBox="1"/>
          <p:nvPr>
            <p:ph idx="1" type="body"/>
          </p:nvPr>
        </p:nvSpPr>
        <p:spPr>
          <a:xfrm>
            <a:off x="4383100" y="1449500"/>
            <a:ext cx="4440900" cy="3387600"/>
          </a:xfrm>
          <a:prstGeom prst="rect">
            <a:avLst/>
          </a:prstGeom>
        </p:spPr>
        <p:txBody>
          <a:bodyPr anchorCtr="0" anchor="t" bIns="91425" lIns="91425" spcFirstLastPara="1" rIns="91425" wrap="square" tIns="91425">
            <a:normAutofit fontScale="92500" lnSpcReduction="10000"/>
          </a:bodyPr>
          <a:lstStyle/>
          <a:p>
            <a:pPr indent="0" lvl="0" marL="0" rtl="0" algn="l">
              <a:lnSpc>
                <a:spcPct val="200000"/>
              </a:lnSpc>
              <a:spcBef>
                <a:spcPts val="0"/>
              </a:spcBef>
              <a:spcAft>
                <a:spcPts val="1200"/>
              </a:spcAft>
              <a:buNone/>
            </a:pPr>
            <a:r>
              <a:rPr b="1" lang="en" sz="1100"/>
              <a:t>ANALYSIS</a:t>
            </a:r>
            <a:r>
              <a:rPr lang="en" sz="1100"/>
              <a:t>: </a:t>
            </a:r>
            <a:r>
              <a:rPr lang="en" sz="1100"/>
              <a:t>This histogram breaks down all the recipes by calorie count, with each bar representing a calorie range and the height showing how many recipes fall in it</a:t>
            </a:r>
            <a:r>
              <a:rPr lang="en" sz="1100"/>
              <a:t>. The tallest bars are in the 200 to 400 calorie range, which tells us that most recipes on ‘AllRecipes’ are moderate in calories and are typical everyday home cooking. The distribution has a long right tail, meaning high-calorie recipes exist but they're the minority. This connects directly to my curious question about ingredient count and </a:t>
            </a:r>
            <a:r>
              <a:rPr lang="en" sz="1100"/>
              <a:t>cook time </a:t>
            </a:r>
            <a:r>
              <a:rPr lang="en" sz="1100"/>
              <a:t>since we can see where most recipes sit calorically, we have a baseline for understanding what pushes a recipe above or below that 200–400 area. More ingredients and longer cook times move the recipes toward that right tail.</a:t>
            </a:r>
            <a:endParaRPr sz="1100"/>
          </a:p>
        </p:txBody>
      </p:sp>
      <p:pic>
        <p:nvPicPr>
          <p:cNvPr id="402" name="Google Shape;402;p31"/>
          <p:cNvPicPr preferRelativeResize="0"/>
          <p:nvPr/>
        </p:nvPicPr>
        <p:blipFill>
          <a:blip r:embed="rId4">
            <a:alphaModFix/>
          </a:blip>
          <a:stretch>
            <a:fillRect/>
          </a:stretch>
        </p:blipFill>
        <p:spPr>
          <a:xfrm>
            <a:off x="218819" y="1818800"/>
            <a:ext cx="3994951" cy="2474125"/>
          </a:xfrm>
          <a:prstGeom prst="rect">
            <a:avLst/>
          </a:prstGeom>
          <a:noFill/>
          <a:ln cap="flat" cmpd="sng" w="28575">
            <a:solidFill>
              <a:srgbClr val="D1D9E0"/>
            </a:solidFill>
            <a:prstDash val="solid"/>
            <a:round/>
            <a:headEnd len="sm" w="sm" type="none"/>
            <a:tailEnd len="sm" w="sm" type="none"/>
          </a:ln>
        </p:spPr>
      </p:pic>
      <p:sp>
        <p:nvSpPr>
          <p:cNvPr id="403" name="Google Shape;403;p31"/>
          <p:cNvSpPr txBox="1"/>
          <p:nvPr/>
        </p:nvSpPr>
        <p:spPr>
          <a:xfrm>
            <a:off x="218825" y="1449500"/>
            <a:ext cx="2904900" cy="369300"/>
          </a:xfrm>
          <a:prstGeom prst="rect">
            <a:avLst/>
          </a:prstGeom>
          <a:noFill/>
          <a:ln cap="flat" cmpd="sng" w="28575">
            <a:solidFill>
              <a:srgbClr val="D1D9E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chemeClr val="dk2"/>
                </a:solidFill>
                <a:latin typeface="Nunito"/>
                <a:ea typeface="Nunito"/>
                <a:cs typeface="Nunito"/>
                <a:sym typeface="Nunito"/>
              </a:rPr>
              <a:t>Graph between Calories &amp; Ingredients</a:t>
            </a:r>
            <a:endParaRPr b="1" sz="1200">
              <a:solidFill>
                <a:schemeClr val="dk2"/>
              </a:solidFill>
              <a:latin typeface="Nunito"/>
              <a:ea typeface="Nunito"/>
              <a:cs typeface="Nunito"/>
              <a:sym typeface="Nunito"/>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32"/>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Alyssa S - Mini Update #3</a:t>
            </a:r>
            <a:endParaRPr/>
          </a:p>
        </p:txBody>
      </p:sp>
      <p:sp>
        <p:nvSpPr>
          <p:cNvPr id="409" name="Google Shape;409;p32"/>
          <p:cNvSpPr txBox="1"/>
          <p:nvPr>
            <p:ph idx="1" type="body"/>
          </p:nvPr>
        </p:nvSpPr>
        <p:spPr>
          <a:xfrm>
            <a:off x="4485275" y="1346325"/>
            <a:ext cx="4529700" cy="3534000"/>
          </a:xfrm>
          <a:prstGeom prst="rect">
            <a:avLst/>
          </a:prstGeom>
        </p:spPr>
        <p:txBody>
          <a:bodyPr anchorCtr="0" anchor="t" bIns="91425" lIns="91425" spcFirstLastPara="1" rIns="91425" wrap="square" tIns="91425">
            <a:noAutofit/>
          </a:bodyPr>
          <a:lstStyle/>
          <a:p>
            <a:pPr indent="0" lvl="0" marL="0" rtl="0" algn="l">
              <a:lnSpc>
                <a:spcPct val="200000"/>
              </a:lnSpc>
              <a:spcBef>
                <a:spcPts val="0"/>
              </a:spcBef>
              <a:spcAft>
                <a:spcPts val="1200"/>
              </a:spcAft>
              <a:buSzPts val="935"/>
              <a:buNone/>
            </a:pPr>
            <a:r>
              <a:rPr b="1" lang="en" sz="1035"/>
              <a:t>ANALYSIS</a:t>
            </a:r>
            <a:r>
              <a:rPr lang="en" sz="1035"/>
              <a:t>: This scatter plot shows every recipe in the dataset as a single dot, with calories per serving on the x-axis and the average rating on the y-axis. What immediately gets my attention is how dense the left side is with the vast majority of recipes cluster under 500 calories. They span the full range of ratings from 1 to 5. As calories go up past 1,000, the dots get sparse but they still reach ratings of 4 and 5. T</a:t>
            </a:r>
            <a:r>
              <a:rPr lang="en" sz="1035"/>
              <a:t>his tells us that calorie count doesn't really explain how well a recipe is rated and how people enjoy both light and heavy dishes equally. </a:t>
            </a:r>
            <a:r>
              <a:rPr lang="en" sz="1035"/>
              <a:t>The graph answers part of my curious question by showing that high calorie recipes aren't penalized in ratings, which means popularity is driven by something other than nutrition. </a:t>
            </a:r>
            <a:endParaRPr sz="1035"/>
          </a:p>
        </p:txBody>
      </p:sp>
      <p:pic>
        <p:nvPicPr>
          <p:cNvPr id="410" name="Google Shape;410;p32"/>
          <p:cNvPicPr preferRelativeResize="0"/>
          <p:nvPr/>
        </p:nvPicPr>
        <p:blipFill>
          <a:blip r:embed="rId4">
            <a:alphaModFix/>
          </a:blip>
          <a:stretch>
            <a:fillRect/>
          </a:stretch>
        </p:blipFill>
        <p:spPr>
          <a:xfrm>
            <a:off x="304322" y="1783450"/>
            <a:ext cx="4059023" cy="2541599"/>
          </a:xfrm>
          <a:prstGeom prst="rect">
            <a:avLst/>
          </a:prstGeom>
          <a:noFill/>
          <a:ln cap="flat" cmpd="sng" w="28575">
            <a:solidFill>
              <a:srgbClr val="D1D9E0"/>
            </a:solidFill>
            <a:prstDash val="solid"/>
            <a:round/>
            <a:headEnd len="sm" w="sm" type="none"/>
            <a:tailEnd len="sm" w="sm" type="none"/>
          </a:ln>
        </p:spPr>
      </p:pic>
      <p:sp>
        <p:nvSpPr>
          <p:cNvPr id="411" name="Google Shape;411;p32"/>
          <p:cNvSpPr txBox="1"/>
          <p:nvPr/>
        </p:nvSpPr>
        <p:spPr>
          <a:xfrm>
            <a:off x="304325" y="1414150"/>
            <a:ext cx="2904900" cy="369300"/>
          </a:xfrm>
          <a:prstGeom prst="rect">
            <a:avLst/>
          </a:prstGeom>
          <a:noFill/>
          <a:ln cap="flat" cmpd="sng" w="28575">
            <a:solidFill>
              <a:srgbClr val="D1D9E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chemeClr val="dk2"/>
                </a:solidFill>
                <a:latin typeface="Nunito"/>
                <a:ea typeface="Nunito"/>
                <a:cs typeface="Nunito"/>
                <a:sym typeface="Nunito"/>
              </a:rPr>
              <a:t>Graph between Calories &amp; Ingredients</a:t>
            </a:r>
            <a:endParaRPr b="1" sz="1200">
              <a:solidFill>
                <a:schemeClr val="dk2"/>
              </a:solidFill>
              <a:latin typeface="Nunito"/>
              <a:ea typeface="Nunito"/>
              <a:cs typeface="Nunito"/>
              <a:sym typeface="Nunito"/>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33"/>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Ava G - Mini Update #3</a:t>
            </a:r>
            <a:endParaRPr/>
          </a:p>
        </p:txBody>
      </p:sp>
      <p:sp>
        <p:nvSpPr>
          <p:cNvPr id="417" name="Google Shape;417;p33"/>
          <p:cNvSpPr txBox="1"/>
          <p:nvPr>
            <p:ph idx="1" type="body"/>
          </p:nvPr>
        </p:nvSpPr>
        <p:spPr>
          <a:xfrm>
            <a:off x="4485275" y="1346325"/>
            <a:ext cx="4529700" cy="3534000"/>
          </a:xfrm>
          <a:prstGeom prst="rect">
            <a:avLst/>
          </a:prstGeom>
        </p:spPr>
        <p:txBody>
          <a:bodyPr anchorCtr="0" anchor="t" bIns="91425" lIns="91425" spcFirstLastPara="1" rIns="91425" wrap="square" tIns="91425">
            <a:noAutofit/>
          </a:bodyPr>
          <a:lstStyle/>
          <a:p>
            <a:pPr indent="0" lvl="0" marL="0" rtl="0" algn="l">
              <a:lnSpc>
                <a:spcPct val="200000"/>
              </a:lnSpc>
              <a:spcBef>
                <a:spcPts val="0"/>
              </a:spcBef>
              <a:spcAft>
                <a:spcPts val="1200"/>
              </a:spcAft>
              <a:buSzPts val="935"/>
              <a:buNone/>
            </a:pPr>
            <a:r>
              <a:rPr b="1" lang="en" sz="1235"/>
              <a:t>ANALYSIS</a:t>
            </a:r>
            <a:r>
              <a:rPr lang="en" sz="1235"/>
              <a:t>: I looked at the proportion of calories from fat the equation is (9xfat in grams)/total calories. Then, I created a histogram to demonstrate the distribution of recipes based on fat proportion, or the amount of calories in a </a:t>
            </a:r>
            <a:r>
              <a:rPr lang="en" sz="1235"/>
              <a:t>recipe</a:t>
            </a:r>
            <a:r>
              <a:rPr lang="en" sz="1235"/>
              <a:t> from fat. The ideal fat proportion sits somewhere around </a:t>
            </a:r>
            <a:r>
              <a:rPr lang="en" sz="1235"/>
              <a:t>20-30% </a:t>
            </a:r>
            <a:r>
              <a:rPr lang="en" sz="1235"/>
              <a:t>(ideally 25-25-50 for fat protein and carbs, the three macronutrients of our diets). However, the graph shows that the </a:t>
            </a:r>
            <a:r>
              <a:rPr lang="en" sz="1235"/>
              <a:t>majority</a:t>
            </a:r>
            <a:r>
              <a:rPr lang="en" sz="1235"/>
              <a:t> of recipes are from 30%-50% calories from fat, which is moderately high. However, there are more low-fat recipes than there are high high fat recipes.</a:t>
            </a:r>
            <a:endParaRPr sz="1235"/>
          </a:p>
        </p:txBody>
      </p:sp>
      <p:sp>
        <p:nvSpPr>
          <p:cNvPr id="418" name="Google Shape;418;p33"/>
          <p:cNvSpPr txBox="1"/>
          <p:nvPr/>
        </p:nvSpPr>
        <p:spPr>
          <a:xfrm>
            <a:off x="304325" y="1414150"/>
            <a:ext cx="2904900" cy="554100"/>
          </a:xfrm>
          <a:prstGeom prst="rect">
            <a:avLst/>
          </a:prstGeom>
          <a:noFill/>
          <a:ln cap="flat" cmpd="sng" w="28575">
            <a:solidFill>
              <a:srgbClr val="D1D9E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chemeClr val="dk2"/>
                </a:solidFill>
                <a:latin typeface="Nunito"/>
                <a:ea typeface="Nunito"/>
                <a:cs typeface="Nunito"/>
                <a:sym typeface="Nunito"/>
              </a:rPr>
              <a:t>Distribution of recipes based on fat proportion</a:t>
            </a:r>
            <a:endParaRPr b="1" sz="1200">
              <a:solidFill>
                <a:schemeClr val="dk2"/>
              </a:solidFill>
              <a:latin typeface="Nunito"/>
              <a:ea typeface="Nunito"/>
              <a:cs typeface="Nunito"/>
              <a:sym typeface="Nunito"/>
            </a:endParaRPr>
          </a:p>
        </p:txBody>
      </p:sp>
      <p:pic>
        <p:nvPicPr>
          <p:cNvPr id="419" name="Google Shape;419;p33" title="Screenshot 2026-04-19 at 10.56.25 PM.png"/>
          <p:cNvPicPr preferRelativeResize="0"/>
          <p:nvPr/>
        </p:nvPicPr>
        <p:blipFill>
          <a:blip r:embed="rId4">
            <a:alphaModFix/>
          </a:blip>
          <a:stretch>
            <a:fillRect/>
          </a:stretch>
        </p:blipFill>
        <p:spPr>
          <a:xfrm>
            <a:off x="152400" y="2120650"/>
            <a:ext cx="4180475" cy="2776407"/>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p3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Ava G - Mini Update #3</a:t>
            </a:r>
            <a:endParaRPr/>
          </a:p>
        </p:txBody>
      </p:sp>
      <p:sp>
        <p:nvSpPr>
          <p:cNvPr id="425" name="Google Shape;425;p34"/>
          <p:cNvSpPr txBox="1"/>
          <p:nvPr>
            <p:ph idx="1" type="body"/>
          </p:nvPr>
        </p:nvSpPr>
        <p:spPr>
          <a:xfrm>
            <a:off x="4485275" y="1346325"/>
            <a:ext cx="4529700" cy="3534000"/>
          </a:xfrm>
          <a:prstGeom prst="rect">
            <a:avLst/>
          </a:prstGeom>
        </p:spPr>
        <p:txBody>
          <a:bodyPr anchorCtr="0" anchor="t" bIns="91425" lIns="91425" spcFirstLastPara="1" rIns="91425" wrap="square" tIns="91425">
            <a:noAutofit/>
          </a:bodyPr>
          <a:lstStyle/>
          <a:p>
            <a:pPr indent="0" lvl="0" marL="0" rtl="0" algn="l">
              <a:lnSpc>
                <a:spcPct val="200000"/>
              </a:lnSpc>
              <a:spcBef>
                <a:spcPts val="0"/>
              </a:spcBef>
              <a:spcAft>
                <a:spcPts val="1200"/>
              </a:spcAft>
              <a:buSzPts val="935"/>
              <a:buNone/>
            </a:pPr>
            <a:r>
              <a:rPr b="1" lang="en" sz="935"/>
              <a:t>ANALYSIS</a:t>
            </a:r>
            <a:r>
              <a:rPr lang="en" sz="935"/>
              <a:t>: I grouped the recipes by country and sorted them by average calories, and Swiss recipes were the highest calories at an average of 386.5, and Argentinian recipes had the lowest average calories of 292.2. I then looked at the ingredients for all argentinian and swiss recipes, and used AI to clean the ingredients lists into arrays, dropping the measurements and instructions. I kept the top ten most commonly </a:t>
            </a:r>
            <a:r>
              <a:rPr lang="en" sz="935"/>
              <a:t>recurring</a:t>
            </a:r>
            <a:r>
              <a:rPr lang="en" sz="935"/>
              <a:t> ingredients for both countries and used AI to compare the proportion of recipes that have each ingredient (because comparing counts wouldnt be helpful when the countries have different amounts of total </a:t>
            </a:r>
            <a:r>
              <a:rPr lang="en" sz="935"/>
              <a:t>recipes</a:t>
            </a:r>
            <a:r>
              <a:rPr lang="en" sz="935"/>
              <a:t>. The graph shows argentinian recipes mostly have ingredients that are low calorie like vinegar, veggies, and seaonsing. In comparison, swiss recipes have more </a:t>
            </a:r>
            <a:r>
              <a:rPr lang="en" sz="935"/>
              <a:t>flour and sugar, which are calorically dense. There arent many major differences, however. Salt, of course, is the top ingredient for both, because all food needs salt.</a:t>
            </a:r>
            <a:endParaRPr sz="935"/>
          </a:p>
        </p:txBody>
      </p:sp>
      <p:sp>
        <p:nvSpPr>
          <p:cNvPr id="426" name="Google Shape;426;p34"/>
          <p:cNvSpPr txBox="1"/>
          <p:nvPr/>
        </p:nvSpPr>
        <p:spPr>
          <a:xfrm>
            <a:off x="304325" y="1414150"/>
            <a:ext cx="2904900" cy="554100"/>
          </a:xfrm>
          <a:prstGeom prst="rect">
            <a:avLst/>
          </a:prstGeom>
          <a:noFill/>
          <a:ln cap="flat" cmpd="sng" w="28575">
            <a:solidFill>
              <a:srgbClr val="D1D9E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chemeClr val="dk2"/>
                </a:solidFill>
                <a:latin typeface="Nunito"/>
                <a:ea typeface="Nunito"/>
                <a:cs typeface="Nunito"/>
                <a:sym typeface="Nunito"/>
              </a:rPr>
              <a:t>Most common ingredients for swiss and argentinian recipes</a:t>
            </a:r>
            <a:endParaRPr b="1" sz="1200">
              <a:solidFill>
                <a:schemeClr val="dk2"/>
              </a:solidFill>
              <a:latin typeface="Nunito"/>
              <a:ea typeface="Nunito"/>
              <a:cs typeface="Nunito"/>
              <a:sym typeface="Nunito"/>
            </a:endParaRPr>
          </a:p>
        </p:txBody>
      </p:sp>
      <p:pic>
        <p:nvPicPr>
          <p:cNvPr id="427" name="Google Shape;427;p34" title="Screenshot 2026-04-19 at 11.11.04 PM.png"/>
          <p:cNvPicPr preferRelativeResize="0"/>
          <p:nvPr/>
        </p:nvPicPr>
        <p:blipFill>
          <a:blip r:embed="rId4">
            <a:alphaModFix/>
          </a:blip>
          <a:stretch>
            <a:fillRect/>
          </a:stretch>
        </p:blipFill>
        <p:spPr>
          <a:xfrm>
            <a:off x="152400" y="1935850"/>
            <a:ext cx="4180474" cy="2833261"/>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3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cxnSp>
        <p:nvCxnSpPr>
          <p:cNvPr id="433" name="Google Shape;433;p35"/>
          <p:cNvCxnSpPr/>
          <p:nvPr/>
        </p:nvCxnSpPr>
        <p:spPr>
          <a:xfrm flipH="1">
            <a:off x="1813875" y="2001525"/>
            <a:ext cx="19200" cy="2162100"/>
          </a:xfrm>
          <a:prstGeom prst="straightConnector1">
            <a:avLst/>
          </a:prstGeom>
          <a:noFill/>
          <a:ln cap="flat" cmpd="sng" w="9525">
            <a:solidFill>
              <a:schemeClr val="dk2"/>
            </a:solidFill>
            <a:prstDash val="solid"/>
            <a:round/>
            <a:headEnd len="med" w="med" type="none"/>
            <a:tailEnd len="med" w="med" type="none"/>
          </a:ln>
        </p:spPr>
      </p:cxnSp>
      <p:cxnSp>
        <p:nvCxnSpPr>
          <p:cNvPr id="434" name="Google Shape;434;p35"/>
          <p:cNvCxnSpPr/>
          <p:nvPr/>
        </p:nvCxnSpPr>
        <p:spPr>
          <a:xfrm flipH="1">
            <a:off x="3614175" y="1997300"/>
            <a:ext cx="9600" cy="2057400"/>
          </a:xfrm>
          <a:prstGeom prst="straightConnector1">
            <a:avLst/>
          </a:prstGeom>
          <a:noFill/>
          <a:ln cap="flat" cmpd="sng" w="9525">
            <a:solidFill>
              <a:schemeClr val="dk2"/>
            </a:solidFill>
            <a:prstDash val="solid"/>
            <a:round/>
            <a:headEnd len="med" w="med" type="none"/>
            <a:tailEnd len="med" w="med" type="none"/>
          </a:ln>
        </p:spPr>
      </p:cxnSp>
      <p:sp>
        <p:nvSpPr>
          <p:cNvPr id="435" name="Google Shape;435;p35"/>
          <p:cNvSpPr txBox="1"/>
          <p:nvPr/>
        </p:nvSpPr>
        <p:spPr>
          <a:xfrm>
            <a:off x="1261575" y="1711550"/>
            <a:ext cx="11334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dk2"/>
                </a:solidFill>
                <a:latin typeface="Nunito"/>
                <a:ea typeface="Nunito"/>
                <a:cs typeface="Nunito"/>
                <a:sym typeface="Nunito"/>
              </a:rPr>
              <a:t>Country A</a:t>
            </a:r>
            <a:endParaRPr sz="1300">
              <a:solidFill>
                <a:schemeClr val="dk2"/>
              </a:solidFill>
              <a:latin typeface="Nunito"/>
              <a:ea typeface="Nunito"/>
              <a:cs typeface="Nunito"/>
              <a:sym typeface="Nunito"/>
            </a:endParaRPr>
          </a:p>
        </p:txBody>
      </p:sp>
      <p:sp>
        <p:nvSpPr>
          <p:cNvPr id="436" name="Google Shape;436;p35"/>
          <p:cNvSpPr txBox="1"/>
          <p:nvPr/>
        </p:nvSpPr>
        <p:spPr>
          <a:xfrm>
            <a:off x="3138000" y="1663925"/>
            <a:ext cx="11334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dk2"/>
                </a:solidFill>
                <a:latin typeface="Nunito"/>
                <a:ea typeface="Nunito"/>
                <a:cs typeface="Nunito"/>
                <a:sym typeface="Nunito"/>
              </a:rPr>
              <a:t>Country B</a:t>
            </a:r>
            <a:endParaRPr sz="1300">
              <a:solidFill>
                <a:schemeClr val="dk2"/>
              </a:solidFill>
              <a:latin typeface="Nunito"/>
              <a:ea typeface="Nunito"/>
              <a:cs typeface="Nunito"/>
              <a:sym typeface="Nunito"/>
            </a:endParaRPr>
          </a:p>
        </p:txBody>
      </p:sp>
      <p:sp>
        <p:nvSpPr>
          <p:cNvPr id="437" name="Google Shape;437;p35"/>
          <p:cNvSpPr txBox="1"/>
          <p:nvPr/>
        </p:nvSpPr>
        <p:spPr>
          <a:xfrm>
            <a:off x="-129075" y="2273525"/>
            <a:ext cx="11715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dk2"/>
                </a:solidFill>
                <a:latin typeface="Nunito"/>
                <a:ea typeface="Nunito"/>
                <a:cs typeface="Nunito"/>
                <a:sym typeface="Nunito"/>
              </a:rPr>
              <a:t>Ingredient 1</a:t>
            </a:r>
            <a:endParaRPr sz="1300">
              <a:solidFill>
                <a:schemeClr val="dk2"/>
              </a:solidFill>
              <a:latin typeface="Nunito"/>
              <a:ea typeface="Nunito"/>
              <a:cs typeface="Nunito"/>
              <a:sym typeface="Nunito"/>
            </a:endParaRPr>
          </a:p>
        </p:txBody>
      </p:sp>
      <p:sp>
        <p:nvSpPr>
          <p:cNvPr id="438" name="Google Shape;438;p35"/>
          <p:cNvSpPr txBox="1"/>
          <p:nvPr/>
        </p:nvSpPr>
        <p:spPr>
          <a:xfrm>
            <a:off x="-129075" y="2940275"/>
            <a:ext cx="11715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dk2"/>
                </a:solidFill>
                <a:latin typeface="Nunito"/>
                <a:ea typeface="Nunito"/>
                <a:cs typeface="Nunito"/>
                <a:sym typeface="Nunito"/>
              </a:rPr>
              <a:t>Ingredient 2</a:t>
            </a:r>
            <a:endParaRPr sz="1300">
              <a:solidFill>
                <a:schemeClr val="dk2"/>
              </a:solidFill>
              <a:latin typeface="Nunito"/>
              <a:ea typeface="Nunito"/>
              <a:cs typeface="Nunito"/>
              <a:sym typeface="Nunito"/>
            </a:endParaRPr>
          </a:p>
        </p:txBody>
      </p:sp>
      <p:cxnSp>
        <p:nvCxnSpPr>
          <p:cNvPr id="439" name="Google Shape;439;p35"/>
          <p:cNvCxnSpPr/>
          <p:nvPr/>
        </p:nvCxnSpPr>
        <p:spPr>
          <a:xfrm>
            <a:off x="1852125" y="2311625"/>
            <a:ext cx="1819200" cy="390600"/>
          </a:xfrm>
          <a:prstGeom prst="straightConnector1">
            <a:avLst/>
          </a:prstGeom>
          <a:noFill/>
          <a:ln cap="flat" cmpd="sng" w="9525">
            <a:solidFill>
              <a:schemeClr val="dk2"/>
            </a:solidFill>
            <a:prstDash val="solid"/>
            <a:round/>
            <a:headEnd len="med" w="med" type="none"/>
            <a:tailEnd len="med" w="med" type="none"/>
          </a:ln>
        </p:spPr>
      </p:cxnSp>
      <p:cxnSp>
        <p:nvCxnSpPr>
          <p:cNvPr id="440" name="Google Shape;440;p35"/>
          <p:cNvCxnSpPr/>
          <p:nvPr/>
        </p:nvCxnSpPr>
        <p:spPr>
          <a:xfrm flipH="1" rot="10800000">
            <a:off x="1947375" y="2321150"/>
            <a:ext cx="1619400" cy="5715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3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Progress:</a:t>
            </a:r>
            <a:endParaRPr/>
          </a:p>
        </p:txBody>
      </p:sp>
      <p:sp>
        <p:nvSpPr>
          <p:cNvPr id="446" name="Google Shape;446;p36"/>
          <p:cNvSpPr txBox="1"/>
          <p:nvPr>
            <p:ph idx="1" type="body"/>
          </p:nvPr>
        </p:nvSpPr>
        <p:spPr>
          <a:xfrm>
            <a:off x="948325" y="1469725"/>
            <a:ext cx="7537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000"/>
              <a:t>Noor- </a:t>
            </a:r>
            <a:r>
              <a:rPr lang="en" sz="1000"/>
              <a:t>This week, I decided to give my attention to the </a:t>
            </a:r>
            <a:r>
              <a:rPr i="1" lang="en" sz="1000"/>
              <a:t>cuisines</a:t>
            </a:r>
            <a:r>
              <a:rPr lang="en" sz="1000"/>
              <a:t> table. In my data analysis, I graphed the top ten most </a:t>
            </a:r>
            <a:r>
              <a:rPr lang="en" sz="1000"/>
              <a:t>popular</a:t>
            </a:r>
            <a:r>
              <a:rPr lang="en" sz="1000"/>
              <a:t> dishes in the </a:t>
            </a:r>
            <a:r>
              <a:rPr i="1" lang="en" sz="1000"/>
              <a:t>cuisines</a:t>
            </a:r>
            <a:r>
              <a:rPr lang="en" sz="1000"/>
              <a:t> table along with their countries similar to what I did in week #2 but with a different table. At first, I struggled on making the code for the graphs but as I played around with it by using my resources provided by my instructor, I was able to somewhat graph what I intended to. </a:t>
            </a:r>
            <a:endParaRPr sz="1000"/>
          </a:p>
          <a:p>
            <a:pPr indent="0" lvl="0" marL="0" rtl="0" algn="l">
              <a:spcBef>
                <a:spcPts val="1200"/>
              </a:spcBef>
              <a:spcAft>
                <a:spcPts val="0"/>
              </a:spcAft>
              <a:buNone/>
            </a:pPr>
            <a:r>
              <a:rPr b="1" lang="en" sz="1000"/>
              <a:t>Alyssa</a:t>
            </a:r>
            <a:r>
              <a:rPr lang="en" sz="1000"/>
              <a:t>: I chose to focus on this curious question, "How does the calorie amount correlate with the cook time or ingredients list?" Both of these graphs answer this </a:t>
            </a:r>
            <a:r>
              <a:rPr lang="en" sz="1000"/>
              <a:t>question</a:t>
            </a:r>
            <a:r>
              <a:rPr lang="en" sz="1000"/>
              <a:t> because they show how calories connect to the number of ingredients a recipe has and how long it takes to cook, based on the actual tables. Currently, I haven't faced any problems other than JupyterHub not loading my graphs at first, and I've made good progress generating both visuals that directly answer my curious question.</a:t>
            </a:r>
            <a:endParaRPr sz="1000"/>
          </a:p>
          <a:p>
            <a:pPr indent="0" lvl="0" marL="0" rtl="0" algn="l">
              <a:spcBef>
                <a:spcPts val="1200"/>
              </a:spcBef>
              <a:spcAft>
                <a:spcPts val="1200"/>
              </a:spcAft>
              <a:buNone/>
            </a:pPr>
            <a:r>
              <a:rPr lang="en" sz="1000"/>
              <a:t>Ava: This week I looked at specific ingredients from countries, as well as a bit into macro proportions. I used AI to help clean the ingredients, as well as some of the more difficult lines of code for sorting the ingredients. AI is a helpful tool to do repetitive boring tasks such as data cleaning. </a:t>
            </a:r>
            <a:endParaRPr sz="10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p37"/>
          <p:cNvSpPr txBox="1"/>
          <p:nvPr>
            <p:ph type="title"/>
          </p:nvPr>
        </p:nvSpPr>
        <p:spPr>
          <a:xfrm>
            <a:off x="1303800" y="598575"/>
            <a:ext cx="7030500" cy="999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Feedback:</a:t>
            </a:r>
            <a:endParaRPr/>
          </a:p>
          <a:p>
            <a:pPr indent="0" lvl="0" marL="0" rtl="0" algn="l">
              <a:spcBef>
                <a:spcPts val="0"/>
              </a:spcBef>
              <a:spcAft>
                <a:spcPts val="0"/>
              </a:spcAft>
              <a:buNone/>
            </a:pPr>
            <a:r>
              <a:t/>
            </a:r>
            <a:endParaRPr/>
          </a:p>
        </p:txBody>
      </p:sp>
      <p:sp>
        <p:nvSpPr>
          <p:cNvPr id="452" name="Google Shape;452;p37"/>
          <p:cNvSpPr txBox="1"/>
          <p:nvPr>
            <p:ph idx="1" type="body"/>
          </p:nvPr>
        </p:nvSpPr>
        <p:spPr>
          <a:xfrm>
            <a:off x="1303800" y="1354625"/>
            <a:ext cx="7030500" cy="34137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Ava: After being given the go-ahead to use AI to clean the data, I cleaned up the ingredients column with AI so i could better understand the most common ingredients. Unfortunately, the other bit of feedback was that perhaps cooking method impacts </a:t>
            </a:r>
            <a:r>
              <a:rPr lang="en"/>
              <a:t>preparation</a:t>
            </a:r>
            <a:r>
              <a:rPr lang="en"/>
              <a:t> time (which i agree with) and I cannot implement this feedback as the data given doesn’t share how the recipes are cooked. </a:t>
            </a:r>
            <a:endParaRPr/>
          </a:p>
          <a:p>
            <a:pPr indent="0" lvl="0" marL="0" rtl="0" algn="l">
              <a:spcBef>
                <a:spcPts val="1200"/>
              </a:spcBef>
              <a:spcAft>
                <a:spcPts val="0"/>
              </a:spcAft>
              <a:buNone/>
            </a:pPr>
            <a:r>
              <a:rPr lang="en"/>
              <a:t>Noor: To create my graphs, I used a bar chart. My </a:t>
            </a:r>
            <a:r>
              <a:rPr lang="en"/>
              <a:t>instructor</a:t>
            </a:r>
            <a:r>
              <a:rPr lang="en"/>
              <a:t> had given me feedback to use </a:t>
            </a:r>
            <a:r>
              <a:rPr lang="en"/>
              <a:t>bins but I was unable to fiure out how to incorporate that into my analysis</a:t>
            </a:r>
            <a:r>
              <a:rPr lang="en"/>
              <a:t>. Also I used a bar chart rather than a histogram. Going forward, I plan to find unique ways to use different graphing techniques for my analysis. Personally, I believe that my analysis could have been more detailed and I could have added more insight to the patterns I observed this week.</a:t>
            </a:r>
            <a:endParaRPr/>
          </a:p>
          <a:p>
            <a:pPr indent="0" lvl="0" marL="0" rtl="0" algn="l">
              <a:spcBef>
                <a:spcPts val="1200"/>
              </a:spcBef>
              <a:spcAft>
                <a:spcPts val="1200"/>
              </a:spcAft>
              <a:buNone/>
            </a:pPr>
            <a:r>
              <a:rPr lang="en"/>
              <a:t>Alyssa: I decided to use a histogram as given my by </a:t>
            </a:r>
            <a:r>
              <a:rPr lang="en"/>
              <a:t>instructor</a:t>
            </a:r>
            <a:r>
              <a:rPr lang="en"/>
              <a:t> to make it more interesting.</a:t>
            </a:r>
            <a:r>
              <a:rPr lang="en">
                <a:solidFill>
                  <a:srgbClr val="444746"/>
                </a:solidFill>
              </a:rPr>
              <a:t>, I compared two variables using this type of graph. The graphs made sense to me when i plotted them from the previous week because i can see how they correlate with each other. I hope this week I did better with seeing the calorie/ingredient </a:t>
            </a:r>
            <a:r>
              <a:rPr lang="en">
                <a:solidFill>
                  <a:srgbClr val="444746"/>
                </a:solidFill>
              </a:rPr>
              <a:t>count</a:t>
            </a:r>
            <a:r>
              <a:rPr lang="en">
                <a:solidFill>
                  <a:srgbClr val="444746"/>
                </a:solidFill>
              </a:rPr>
              <a:t> and how those correlate with one another.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p38"/>
          <p:cNvSpPr txBox="1"/>
          <p:nvPr>
            <p:ph type="ctrTitle"/>
          </p:nvPr>
        </p:nvSpPr>
        <p:spPr>
          <a:xfrm>
            <a:off x="824000" y="1613825"/>
            <a:ext cx="7014600" cy="18729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Week 2:MINI UPDATE #2</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39"/>
          <p:cNvSpPr txBox="1"/>
          <p:nvPr>
            <p:ph idx="1" type="body"/>
          </p:nvPr>
        </p:nvSpPr>
        <p:spPr>
          <a:xfrm>
            <a:off x="1168500" y="946887"/>
            <a:ext cx="4188900" cy="40095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1200"/>
              </a:spcAft>
              <a:buNone/>
            </a:pPr>
            <a:r>
              <a:rPr lang="en"/>
              <a:t>For this part of the project, I answered the curious question, ‘</a:t>
            </a:r>
            <a:r>
              <a:rPr lang="en"/>
              <a:t>Which recipes are the most popular? Do they prefer to bake sweet or savory dishes? High or low calorie?</a:t>
            </a:r>
            <a:r>
              <a:rPr lang="en"/>
              <a:t>’. Figure 1 demonstrates the top 10 most popular recipes in the data whereas Figure 2 presents a scatter plot showing the average rating and the number of ratings in ALL the recipes included in the data. For both of the figures, I made sure to include the highest average rating while also looking at the total number of reviewers. </a:t>
            </a:r>
            <a:r>
              <a:rPr lang="en"/>
              <a:t>From looking at Figure 2, I noticed that it was less common to get a 5.0 rating.</a:t>
            </a:r>
            <a:r>
              <a:rPr lang="en"/>
              <a:t> I observed how a 5.0 rating had fewer total ratings compared to 4.0-4.9 ratings. Ratings that ranged from 4.0 to 4.9 had an increased number of total ratings. </a:t>
            </a:r>
            <a:r>
              <a:rPr lang="en"/>
              <a:t>I think this is because when there are more people reviewing a recipe, the average rating decreases due to the fact that more people are trying it and may not like it as much.</a:t>
            </a:r>
            <a:endParaRPr/>
          </a:p>
        </p:txBody>
      </p:sp>
      <p:sp>
        <p:nvSpPr>
          <p:cNvPr id="463" name="Google Shape;463;p39"/>
          <p:cNvSpPr txBox="1"/>
          <p:nvPr>
            <p:ph type="title"/>
          </p:nvPr>
        </p:nvSpPr>
        <p:spPr>
          <a:xfrm>
            <a:off x="1303800" y="200050"/>
            <a:ext cx="7030500" cy="597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Analysis: Noor</a:t>
            </a:r>
            <a:endParaRPr/>
          </a:p>
        </p:txBody>
      </p:sp>
      <p:pic>
        <p:nvPicPr>
          <p:cNvPr id="464" name="Google Shape;464;p39" title="Screenshot 2026-04-11 at 1.11.31 AM.png"/>
          <p:cNvPicPr preferRelativeResize="0"/>
          <p:nvPr/>
        </p:nvPicPr>
        <p:blipFill>
          <a:blip r:embed="rId4">
            <a:alphaModFix/>
          </a:blip>
          <a:stretch>
            <a:fillRect/>
          </a:stretch>
        </p:blipFill>
        <p:spPr>
          <a:xfrm>
            <a:off x="5809500" y="2687250"/>
            <a:ext cx="2589876" cy="2259149"/>
          </a:xfrm>
          <a:prstGeom prst="rect">
            <a:avLst/>
          </a:prstGeom>
          <a:noFill/>
          <a:ln>
            <a:noFill/>
          </a:ln>
        </p:spPr>
      </p:pic>
      <p:pic>
        <p:nvPicPr>
          <p:cNvPr id="465" name="Google Shape;465;p39" title="Screenshot 2026-04-11 at 1.11.10 AM.png"/>
          <p:cNvPicPr preferRelativeResize="0"/>
          <p:nvPr/>
        </p:nvPicPr>
        <p:blipFill>
          <a:blip r:embed="rId5">
            <a:alphaModFix/>
          </a:blip>
          <a:stretch>
            <a:fillRect/>
          </a:stretch>
        </p:blipFill>
        <p:spPr>
          <a:xfrm>
            <a:off x="5258988" y="347850"/>
            <a:ext cx="3690900" cy="2339401"/>
          </a:xfrm>
          <a:prstGeom prst="rect">
            <a:avLst/>
          </a:prstGeom>
          <a:noFill/>
          <a:ln>
            <a:noFill/>
          </a:ln>
        </p:spPr>
      </p:pic>
      <p:sp>
        <p:nvSpPr>
          <p:cNvPr id="466" name="Google Shape;466;p39"/>
          <p:cNvSpPr txBox="1"/>
          <p:nvPr/>
        </p:nvSpPr>
        <p:spPr>
          <a:xfrm>
            <a:off x="5453100" y="49925"/>
            <a:ext cx="1877700" cy="21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dk2"/>
                </a:solidFill>
                <a:latin typeface="Nunito"/>
                <a:ea typeface="Nunito"/>
                <a:cs typeface="Nunito"/>
                <a:sym typeface="Nunito"/>
              </a:rPr>
              <a:t>fig.1</a:t>
            </a:r>
            <a:endParaRPr sz="1300">
              <a:solidFill>
                <a:schemeClr val="dk2"/>
              </a:solidFill>
              <a:latin typeface="Nunito"/>
              <a:ea typeface="Nunito"/>
              <a:cs typeface="Nunito"/>
              <a:sym typeface="Nunito"/>
            </a:endParaRPr>
          </a:p>
        </p:txBody>
      </p:sp>
      <p:sp>
        <p:nvSpPr>
          <p:cNvPr id="467" name="Google Shape;467;p39"/>
          <p:cNvSpPr txBox="1"/>
          <p:nvPr/>
        </p:nvSpPr>
        <p:spPr>
          <a:xfrm>
            <a:off x="5905100" y="4845511"/>
            <a:ext cx="1877700" cy="21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dk2"/>
                </a:solidFill>
                <a:latin typeface="Nunito"/>
                <a:ea typeface="Nunito"/>
                <a:cs typeface="Nunito"/>
                <a:sym typeface="Nunito"/>
              </a:rPr>
              <a:t>fig.2</a:t>
            </a:r>
            <a:endParaRPr sz="1300">
              <a:solidFill>
                <a:schemeClr val="dk2"/>
              </a:solidFill>
              <a:latin typeface="Nunito"/>
              <a:ea typeface="Nunito"/>
              <a:cs typeface="Nunito"/>
              <a:sym typeface="Nunito"/>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40"/>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Continued Data Analysis: Noor</a:t>
            </a:r>
            <a:endParaRPr/>
          </a:p>
        </p:txBody>
      </p:sp>
      <p:sp>
        <p:nvSpPr>
          <p:cNvPr id="473" name="Google Shape;473;p40"/>
          <p:cNvSpPr txBox="1"/>
          <p:nvPr>
            <p:ph idx="1" type="body"/>
          </p:nvPr>
        </p:nvSpPr>
        <p:spPr>
          <a:xfrm>
            <a:off x="810450" y="1341400"/>
            <a:ext cx="4059000" cy="3604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In the bar chart, are listed, the top 10 most popular recipes and their given calories. For the items, ‘Pumpkin Swirl Cheesecake’ and ‘Peanut Butter and Banana Dog Biscuits’, the calorie number is not listed. </a:t>
            </a:r>
            <a:r>
              <a:rPr lang="en"/>
              <a:t>Looking</a:t>
            </a:r>
            <a:r>
              <a:rPr lang="en"/>
              <a:t> at the other </a:t>
            </a:r>
            <a:r>
              <a:rPr lang="en"/>
              <a:t>recipes,</a:t>
            </a:r>
            <a:r>
              <a:rPr lang="en"/>
              <a:t> I see that most of the popular recipes have a higher number of calories and there are very few recipes that have less than 300 calories.</a:t>
            </a:r>
            <a:r>
              <a:rPr lang="en"/>
              <a:t> I also notice that most of the recipes range from 300 to 500 calories. Although, you cannot tell whether the recipe is a sweet or savoury dish, you can definitely pay attention to the details in the ingredients, name, and/or images of that specific dish. </a:t>
            </a:r>
            <a:endParaRPr/>
          </a:p>
        </p:txBody>
      </p:sp>
      <p:pic>
        <p:nvPicPr>
          <p:cNvPr id="474" name="Google Shape;474;p40" title="Screenshot 2026-04-11 at 2.49.59 AM.png"/>
          <p:cNvPicPr preferRelativeResize="0"/>
          <p:nvPr/>
        </p:nvPicPr>
        <p:blipFill>
          <a:blip r:embed="rId4">
            <a:alphaModFix/>
          </a:blip>
          <a:stretch>
            <a:fillRect/>
          </a:stretch>
        </p:blipFill>
        <p:spPr>
          <a:xfrm>
            <a:off x="5029402" y="1890250"/>
            <a:ext cx="3951120" cy="3055299"/>
          </a:xfrm>
          <a:prstGeom prst="rect">
            <a:avLst/>
          </a:prstGeom>
          <a:noFill/>
          <a:ln>
            <a:noFill/>
          </a:ln>
        </p:spPr>
      </p:pic>
      <p:sp>
        <p:nvSpPr>
          <p:cNvPr id="475" name="Google Shape;475;p40"/>
          <p:cNvSpPr txBox="1"/>
          <p:nvPr/>
        </p:nvSpPr>
        <p:spPr>
          <a:xfrm>
            <a:off x="5070425" y="1597875"/>
            <a:ext cx="33621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2"/>
                </a:solidFill>
                <a:latin typeface="Nunito"/>
                <a:ea typeface="Nunito"/>
                <a:cs typeface="Nunito"/>
                <a:sym typeface="Nunito"/>
              </a:rPr>
              <a:t>fig.3</a:t>
            </a:r>
            <a:endParaRPr sz="1000">
              <a:solidFill>
                <a:schemeClr val="dk2"/>
              </a:solidFill>
              <a:latin typeface="Nunito"/>
              <a:ea typeface="Nunito"/>
              <a:cs typeface="Nunito"/>
              <a:sym typeface="Nunito"/>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p41"/>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Alyssa’s Mini Update </a:t>
            </a:r>
            <a:endParaRPr/>
          </a:p>
        </p:txBody>
      </p:sp>
      <p:sp>
        <p:nvSpPr>
          <p:cNvPr id="481" name="Google Shape;481;p41"/>
          <p:cNvSpPr txBox="1"/>
          <p:nvPr>
            <p:ph idx="1" type="body"/>
          </p:nvPr>
        </p:nvSpPr>
        <p:spPr>
          <a:xfrm>
            <a:off x="4300200" y="1475775"/>
            <a:ext cx="4668000" cy="3441300"/>
          </a:xfrm>
          <a:prstGeom prst="rect">
            <a:avLst/>
          </a:prstGeom>
          <a:ln cap="flat" cmpd="sng" w="28575">
            <a:solidFill>
              <a:srgbClr val="D9D9D9"/>
            </a:solidFill>
            <a:prstDash val="solid"/>
            <a:round/>
            <a:headEnd len="sm" w="sm" type="none"/>
            <a:tailEnd len="sm" w="sm" type="none"/>
          </a:ln>
        </p:spPr>
        <p:txBody>
          <a:bodyPr anchorCtr="0" anchor="t" bIns="91425" lIns="91425" spcFirstLastPara="1" rIns="91425" wrap="square" tIns="91425">
            <a:normAutofit fontScale="92500" lnSpcReduction="20000"/>
          </a:bodyPr>
          <a:lstStyle/>
          <a:p>
            <a:pPr indent="0" lvl="0" marL="0" rtl="0" algn="l">
              <a:lnSpc>
                <a:spcPct val="150000"/>
              </a:lnSpc>
              <a:spcBef>
                <a:spcPts val="0"/>
              </a:spcBef>
              <a:spcAft>
                <a:spcPts val="0"/>
              </a:spcAft>
              <a:buNone/>
            </a:pPr>
            <a:r>
              <a:rPr lang="en">
                <a:solidFill>
                  <a:srgbClr val="666666"/>
                </a:solidFill>
              </a:rPr>
              <a:t>I see how high the average and total ratings are of the recipes/cuisines by the consumers and the groups of people who tried making the food. The recipes have gotten a 1.0 star rating or higher. Though it ranges solely between the 4.0 and 5.0 star rating which is a good sign. Around 1000 people rated the food after they made it. I also see that almost all of these recipes have high ratings because of c</a:t>
            </a:r>
            <a:r>
              <a:rPr lang="en">
                <a:solidFill>
                  <a:srgbClr val="666666"/>
                </a:solidFill>
              </a:rPr>
              <a:t>ertain factors including ingredients, cook preparation, feasibility of making the food, the calories, etc</a:t>
            </a:r>
            <a:r>
              <a:rPr lang="en">
                <a:solidFill>
                  <a:srgbClr val="666666"/>
                </a:solidFill>
              </a:rPr>
              <a:t>. These recipes that attract large numbers of reviewers tend to be well-liked as a whole. </a:t>
            </a:r>
            <a:r>
              <a:rPr lang="en">
                <a:solidFill>
                  <a:srgbClr val="666666"/>
                </a:solidFill>
              </a:rPr>
              <a:t>There are very few highly-rated recipes with over 800 total ratings, indicating that most popular recipes still sit in a moderate range of engagement.</a:t>
            </a:r>
            <a:endParaRPr>
              <a:solidFill>
                <a:srgbClr val="666666"/>
              </a:solidFill>
            </a:endParaRPr>
          </a:p>
          <a:p>
            <a:pPr indent="0" lvl="0" marL="0" rtl="0" algn="l">
              <a:spcBef>
                <a:spcPts val="1200"/>
              </a:spcBef>
              <a:spcAft>
                <a:spcPts val="1200"/>
              </a:spcAft>
              <a:buNone/>
            </a:pPr>
            <a:r>
              <a:t/>
            </a:r>
            <a:endParaRPr/>
          </a:p>
        </p:txBody>
      </p:sp>
      <p:sp>
        <p:nvSpPr>
          <p:cNvPr id="482" name="Google Shape;482;p41"/>
          <p:cNvSpPr txBox="1"/>
          <p:nvPr/>
        </p:nvSpPr>
        <p:spPr>
          <a:xfrm>
            <a:off x="354525" y="1361175"/>
            <a:ext cx="2729400" cy="384900"/>
          </a:xfrm>
          <a:prstGeom prst="rect">
            <a:avLst/>
          </a:prstGeom>
          <a:noFill/>
          <a:ln cap="flat" cmpd="sng" w="19050">
            <a:solidFill>
              <a:srgbClr val="D9D9D9"/>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dk2"/>
                </a:solidFill>
                <a:latin typeface="Nunito"/>
                <a:ea typeface="Nunito"/>
                <a:cs typeface="Nunito"/>
                <a:sym typeface="Nunito"/>
              </a:rPr>
              <a:t>Graph Storytelling #1</a:t>
            </a:r>
            <a:endParaRPr sz="1300">
              <a:solidFill>
                <a:schemeClr val="dk2"/>
              </a:solidFill>
              <a:latin typeface="Nunito"/>
              <a:ea typeface="Nunito"/>
              <a:cs typeface="Nunito"/>
              <a:sym typeface="Nunito"/>
            </a:endParaRPr>
          </a:p>
        </p:txBody>
      </p:sp>
      <p:pic>
        <p:nvPicPr>
          <p:cNvPr id="483" name="Google Shape;483;p41"/>
          <p:cNvPicPr preferRelativeResize="0"/>
          <p:nvPr/>
        </p:nvPicPr>
        <p:blipFill>
          <a:blip r:embed="rId4">
            <a:alphaModFix/>
          </a:blip>
          <a:stretch>
            <a:fillRect/>
          </a:stretch>
        </p:blipFill>
        <p:spPr>
          <a:xfrm>
            <a:off x="354525" y="1687925"/>
            <a:ext cx="3799006" cy="322915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42"/>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Alyssa’s Mini Update </a:t>
            </a:r>
            <a:endParaRPr/>
          </a:p>
        </p:txBody>
      </p:sp>
      <p:sp>
        <p:nvSpPr>
          <p:cNvPr id="489" name="Google Shape;489;p42"/>
          <p:cNvSpPr txBox="1"/>
          <p:nvPr>
            <p:ph idx="1" type="body"/>
          </p:nvPr>
        </p:nvSpPr>
        <p:spPr>
          <a:xfrm>
            <a:off x="4300200" y="1279800"/>
            <a:ext cx="4743600" cy="3607800"/>
          </a:xfrm>
          <a:prstGeom prst="rect">
            <a:avLst/>
          </a:prstGeom>
          <a:ln cap="flat" cmpd="sng" w="19050">
            <a:solidFill>
              <a:srgbClr val="D9D9D9"/>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30000"/>
              </a:lnSpc>
              <a:spcBef>
                <a:spcPts val="1200"/>
              </a:spcBef>
              <a:spcAft>
                <a:spcPts val="1200"/>
              </a:spcAft>
              <a:buSzPts val="1018"/>
              <a:buNone/>
            </a:pPr>
            <a:r>
              <a:rPr lang="en" sz="1210">
                <a:solidFill>
                  <a:srgbClr val="666666"/>
                </a:solidFill>
              </a:rPr>
              <a:t>The vast majority of recipes in the dataset have a cook time under 30 minutes, with the tallest bar sitting between 15 and 30 minutes. After that, the count drops sharply and continues to fall gradually as cook times increase toward 300 minutes. This right-skewed distribution shows that most recipes on the platform are designed to be quick, with only a small number of dishes requiring lengthy cooking times like braises or slow roasts. The graph has one dominant tall bar on the left side of the chart that towers over everything else, then the bars rapidly shrink as you move right toward longer cook times. When you reach the 150 minute bar, they are hardly visible, and beyond 200 minute bar, they are almost flat against the x-axis. The shape looks like a skewed cliff dropping off to the right side, making it known that short cook times take a lead in this dataset.</a:t>
            </a:r>
            <a:endParaRPr sz="1395">
              <a:solidFill>
                <a:srgbClr val="666666"/>
              </a:solidFill>
            </a:endParaRPr>
          </a:p>
        </p:txBody>
      </p:sp>
      <p:pic>
        <p:nvPicPr>
          <p:cNvPr id="490" name="Google Shape;490;p42"/>
          <p:cNvPicPr preferRelativeResize="0"/>
          <p:nvPr/>
        </p:nvPicPr>
        <p:blipFill>
          <a:blip r:embed="rId4">
            <a:alphaModFix/>
          </a:blip>
          <a:stretch>
            <a:fillRect/>
          </a:stretch>
        </p:blipFill>
        <p:spPr>
          <a:xfrm>
            <a:off x="272200" y="1664700"/>
            <a:ext cx="3787249" cy="2946900"/>
          </a:xfrm>
          <a:prstGeom prst="rect">
            <a:avLst/>
          </a:prstGeom>
          <a:noFill/>
          <a:ln>
            <a:noFill/>
          </a:ln>
        </p:spPr>
      </p:pic>
      <p:sp>
        <p:nvSpPr>
          <p:cNvPr id="491" name="Google Shape;491;p42"/>
          <p:cNvSpPr txBox="1"/>
          <p:nvPr/>
        </p:nvSpPr>
        <p:spPr>
          <a:xfrm>
            <a:off x="272200" y="1279800"/>
            <a:ext cx="2328000" cy="384900"/>
          </a:xfrm>
          <a:prstGeom prst="rect">
            <a:avLst/>
          </a:prstGeom>
          <a:noFill/>
          <a:ln cap="flat" cmpd="sng" w="19050">
            <a:solidFill>
              <a:srgbClr val="D9D9D9"/>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dk2"/>
                </a:solidFill>
                <a:latin typeface="Nunito"/>
                <a:ea typeface="Nunito"/>
                <a:cs typeface="Nunito"/>
                <a:sym typeface="Nunito"/>
              </a:rPr>
              <a:t>Graph Storytelling #2</a:t>
            </a:r>
            <a:endParaRPr sz="1300">
              <a:solidFill>
                <a:schemeClr val="dk2"/>
              </a:solidFill>
              <a:latin typeface="Nunito"/>
              <a:ea typeface="Nunito"/>
              <a:cs typeface="Nunito"/>
              <a:sym typeface="Nunito"/>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43"/>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Ava’s Mini Update </a:t>
            </a:r>
            <a:endParaRPr/>
          </a:p>
        </p:txBody>
      </p:sp>
      <p:sp>
        <p:nvSpPr>
          <p:cNvPr id="497" name="Google Shape;497;p43"/>
          <p:cNvSpPr txBox="1"/>
          <p:nvPr>
            <p:ph idx="1" type="body"/>
          </p:nvPr>
        </p:nvSpPr>
        <p:spPr>
          <a:xfrm>
            <a:off x="4300200" y="1279800"/>
            <a:ext cx="4743600" cy="3607800"/>
          </a:xfrm>
          <a:prstGeom prst="rect">
            <a:avLst/>
          </a:prstGeom>
          <a:ln cap="flat" cmpd="sng" w="19050">
            <a:solidFill>
              <a:srgbClr val="D9D9D9"/>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30000"/>
              </a:lnSpc>
              <a:spcBef>
                <a:spcPts val="1200"/>
              </a:spcBef>
              <a:spcAft>
                <a:spcPts val="1200"/>
              </a:spcAft>
              <a:buSzPts val="1018"/>
              <a:buNone/>
            </a:pPr>
            <a:r>
              <a:rPr lang="en" sz="1310">
                <a:solidFill>
                  <a:srgbClr val="666666"/>
                </a:solidFill>
              </a:rPr>
              <a:t>I was curious about whether recipes were rated higher based on a high caloric value (implying higher sugar and fat content, and a better over-all tasting recipe). However, the table didn’t have calories per serving,</a:t>
            </a:r>
            <a:r>
              <a:rPr lang="en" sz="1310">
                <a:solidFill>
                  <a:srgbClr val="666666"/>
                </a:solidFill>
              </a:rPr>
              <a:t> so I divided the calories column by the servings column, and threw out the</a:t>
            </a:r>
            <a:r>
              <a:rPr lang="en" sz="1310">
                <a:solidFill>
                  <a:srgbClr val="666666"/>
                </a:solidFill>
              </a:rPr>
              <a:t> one recipe which said an entire 5000 calorie pie was one serving. Overall, I identified a slight trend, but </a:t>
            </a:r>
            <a:r>
              <a:rPr lang="en" sz="1310">
                <a:solidFill>
                  <a:srgbClr val="666666"/>
                </a:solidFill>
              </a:rPr>
              <a:t>after</a:t>
            </a:r>
            <a:r>
              <a:rPr lang="en" sz="1310">
                <a:solidFill>
                  <a:srgbClr val="666666"/>
                </a:solidFill>
              </a:rPr>
              <a:t> using ai to find the r value of 0.02, I have determined that the strength of the correlation between these two variables as a linear relationship is SUPER weak. </a:t>
            </a:r>
            <a:r>
              <a:rPr lang="en" sz="1310">
                <a:solidFill>
                  <a:srgbClr val="666666"/>
                </a:solidFill>
              </a:rPr>
              <a:t>However, there is definitely a visual trend, s</a:t>
            </a:r>
            <a:r>
              <a:rPr lang="en" sz="1310">
                <a:solidFill>
                  <a:srgbClr val="666666"/>
                </a:solidFill>
              </a:rPr>
              <a:t>o maybe the trend is a non-linear relationship.</a:t>
            </a:r>
            <a:r>
              <a:rPr lang="en" sz="1310">
                <a:solidFill>
                  <a:srgbClr val="666666"/>
                </a:solidFill>
              </a:rPr>
              <a:t> This shows that maybe higher calorie foods taste better and in turn get higher ratings. </a:t>
            </a:r>
            <a:endParaRPr sz="1495">
              <a:solidFill>
                <a:srgbClr val="666666"/>
              </a:solidFill>
            </a:endParaRPr>
          </a:p>
        </p:txBody>
      </p:sp>
      <p:sp>
        <p:nvSpPr>
          <p:cNvPr id="498" name="Google Shape;498;p43"/>
          <p:cNvSpPr txBox="1"/>
          <p:nvPr/>
        </p:nvSpPr>
        <p:spPr>
          <a:xfrm>
            <a:off x="272200" y="1279800"/>
            <a:ext cx="2328000" cy="384900"/>
          </a:xfrm>
          <a:prstGeom prst="rect">
            <a:avLst/>
          </a:prstGeom>
          <a:noFill/>
          <a:ln cap="flat" cmpd="sng" w="19050">
            <a:solidFill>
              <a:srgbClr val="D9D9D9"/>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dk2"/>
                </a:solidFill>
                <a:latin typeface="Nunito"/>
                <a:ea typeface="Nunito"/>
                <a:cs typeface="Nunito"/>
                <a:sym typeface="Nunito"/>
              </a:rPr>
              <a:t>Graph Storytelling #1</a:t>
            </a:r>
            <a:endParaRPr sz="1300">
              <a:solidFill>
                <a:schemeClr val="dk2"/>
              </a:solidFill>
              <a:latin typeface="Nunito"/>
              <a:ea typeface="Nunito"/>
              <a:cs typeface="Nunito"/>
              <a:sym typeface="Nunito"/>
            </a:endParaRPr>
          </a:p>
        </p:txBody>
      </p:sp>
      <p:pic>
        <p:nvPicPr>
          <p:cNvPr id="499" name="Google Shape;499;p43" title="Screenshot 2026-04-12 at 7.57.39 PM.png"/>
          <p:cNvPicPr preferRelativeResize="0"/>
          <p:nvPr/>
        </p:nvPicPr>
        <p:blipFill>
          <a:blip r:embed="rId4">
            <a:alphaModFix/>
          </a:blip>
          <a:stretch>
            <a:fillRect/>
          </a:stretch>
        </p:blipFill>
        <p:spPr>
          <a:xfrm>
            <a:off x="152400" y="1597875"/>
            <a:ext cx="3710204" cy="339322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04" name="Google Shape;504;p4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Ava’s Mini Update </a:t>
            </a:r>
            <a:endParaRPr/>
          </a:p>
        </p:txBody>
      </p:sp>
      <p:sp>
        <p:nvSpPr>
          <p:cNvPr id="505" name="Google Shape;505;p44"/>
          <p:cNvSpPr txBox="1"/>
          <p:nvPr>
            <p:ph idx="1" type="body"/>
          </p:nvPr>
        </p:nvSpPr>
        <p:spPr>
          <a:xfrm>
            <a:off x="4300200" y="1279800"/>
            <a:ext cx="4743600" cy="3607800"/>
          </a:xfrm>
          <a:prstGeom prst="rect">
            <a:avLst/>
          </a:prstGeom>
          <a:ln cap="flat" cmpd="sng" w="19050">
            <a:solidFill>
              <a:srgbClr val="D9D9D9"/>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30000"/>
              </a:lnSpc>
              <a:spcBef>
                <a:spcPts val="1200"/>
              </a:spcBef>
              <a:spcAft>
                <a:spcPts val="1200"/>
              </a:spcAft>
              <a:buSzPts val="1018"/>
              <a:buNone/>
            </a:pPr>
            <a:r>
              <a:rPr lang="en" sz="1710">
                <a:solidFill>
                  <a:srgbClr val="666666"/>
                </a:solidFill>
              </a:rPr>
              <a:t>This scatterplot addresses the relationship between the total time (cook time and prep time) and the serving size for a recipe. I was curious to know if bigger recipes took longer to make. Honestly, I don’t see much of anything but the slight trend I do see is the opposite direction of what I expected. There are also too many data points to </a:t>
            </a:r>
            <a:r>
              <a:rPr lang="en" sz="1710">
                <a:solidFill>
                  <a:srgbClr val="666666"/>
                </a:solidFill>
              </a:rPr>
              <a:t>really see any clear trend. The story being told here is unclear.</a:t>
            </a:r>
            <a:endParaRPr sz="1895">
              <a:solidFill>
                <a:srgbClr val="666666"/>
              </a:solidFill>
            </a:endParaRPr>
          </a:p>
        </p:txBody>
      </p:sp>
      <p:sp>
        <p:nvSpPr>
          <p:cNvPr id="506" name="Google Shape;506;p44"/>
          <p:cNvSpPr txBox="1"/>
          <p:nvPr/>
        </p:nvSpPr>
        <p:spPr>
          <a:xfrm>
            <a:off x="272200" y="1279800"/>
            <a:ext cx="2328000" cy="384900"/>
          </a:xfrm>
          <a:prstGeom prst="rect">
            <a:avLst/>
          </a:prstGeom>
          <a:noFill/>
          <a:ln cap="flat" cmpd="sng" w="19050">
            <a:solidFill>
              <a:srgbClr val="D9D9D9"/>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dk2"/>
                </a:solidFill>
                <a:latin typeface="Nunito"/>
                <a:ea typeface="Nunito"/>
                <a:cs typeface="Nunito"/>
                <a:sym typeface="Nunito"/>
              </a:rPr>
              <a:t>Graph Storytelling #2</a:t>
            </a:r>
            <a:endParaRPr sz="1300">
              <a:solidFill>
                <a:schemeClr val="dk2"/>
              </a:solidFill>
              <a:latin typeface="Nunito"/>
              <a:ea typeface="Nunito"/>
              <a:cs typeface="Nunito"/>
              <a:sym typeface="Nunito"/>
            </a:endParaRPr>
          </a:p>
        </p:txBody>
      </p:sp>
      <p:pic>
        <p:nvPicPr>
          <p:cNvPr id="507" name="Google Shape;507;p44" title="Screenshot 2026-04-12 at 8.46.09 PM.png"/>
          <p:cNvPicPr preferRelativeResize="0"/>
          <p:nvPr/>
        </p:nvPicPr>
        <p:blipFill>
          <a:blip r:embed="rId4">
            <a:alphaModFix/>
          </a:blip>
          <a:stretch>
            <a:fillRect/>
          </a:stretch>
        </p:blipFill>
        <p:spPr>
          <a:xfrm>
            <a:off x="359900" y="1713600"/>
            <a:ext cx="3452886" cy="3173999"/>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p4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Progress:</a:t>
            </a:r>
            <a:endParaRPr/>
          </a:p>
        </p:txBody>
      </p:sp>
      <p:sp>
        <p:nvSpPr>
          <p:cNvPr id="513" name="Google Shape;513;p45"/>
          <p:cNvSpPr txBox="1"/>
          <p:nvPr>
            <p:ph idx="1" type="body"/>
          </p:nvPr>
        </p:nvSpPr>
        <p:spPr>
          <a:xfrm>
            <a:off x="522750" y="1319175"/>
            <a:ext cx="8246100" cy="3627900"/>
          </a:xfrm>
          <a:prstGeom prst="rect">
            <a:avLst/>
          </a:prstGeom>
          <a:ln cap="flat" cmpd="sng" w="28575">
            <a:solidFill>
              <a:srgbClr val="CCCCCC"/>
            </a:solidFill>
            <a:prstDash val="solid"/>
            <a:round/>
            <a:headEnd len="sm" w="sm" type="none"/>
            <a:tailEnd len="sm" w="sm" type="none"/>
          </a:ln>
        </p:spPr>
        <p:txBody>
          <a:bodyPr anchorCtr="0" anchor="t" bIns="91425" lIns="91425" spcFirstLastPara="1" rIns="91425" wrap="square" tIns="91425">
            <a:normAutofit fontScale="92500"/>
          </a:bodyPr>
          <a:lstStyle/>
          <a:p>
            <a:pPr indent="0" lvl="0" marL="0" rtl="0" algn="l">
              <a:lnSpc>
                <a:spcPct val="150000"/>
              </a:lnSpc>
              <a:spcBef>
                <a:spcPts val="0"/>
              </a:spcBef>
              <a:spcAft>
                <a:spcPts val="0"/>
              </a:spcAft>
              <a:buNone/>
            </a:pPr>
            <a:r>
              <a:rPr b="1" lang="en" sz="1100">
                <a:solidFill>
                  <a:srgbClr val="666666"/>
                </a:solidFill>
              </a:rPr>
              <a:t>Noor</a:t>
            </a:r>
            <a:r>
              <a:rPr lang="en" sz="1100">
                <a:solidFill>
                  <a:srgbClr val="666666"/>
                </a:solidFill>
              </a:rPr>
              <a:t>: This week we have gained a deeper understanding of the data </a:t>
            </a:r>
            <a:r>
              <a:rPr lang="en" sz="1100">
                <a:solidFill>
                  <a:srgbClr val="666666"/>
                </a:solidFill>
              </a:rPr>
              <a:t>provided</a:t>
            </a:r>
            <a:r>
              <a:rPr lang="en" sz="1100">
                <a:solidFill>
                  <a:srgbClr val="666666"/>
                </a:solidFill>
              </a:rPr>
              <a:t> to us by looking at the most popular recipes, comparing them to the total ratings, and viewing their number of calories. Some obstacles I have faced was formatting the data in a way to make it look presentable and understandable and figuring out what details to include and what to leave out.  Next week, I plan to incorporate the </a:t>
            </a:r>
            <a:r>
              <a:rPr lang="en" sz="1100">
                <a:solidFill>
                  <a:srgbClr val="666666"/>
                </a:solidFill>
              </a:rPr>
              <a:t>cuisines</a:t>
            </a:r>
            <a:r>
              <a:rPr lang="en" sz="1100">
                <a:solidFill>
                  <a:srgbClr val="666666"/>
                </a:solidFill>
              </a:rPr>
              <a:t> table into my data analysis!</a:t>
            </a:r>
            <a:endParaRPr sz="1100">
              <a:solidFill>
                <a:srgbClr val="666666"/>
              </a:solidFill>
            </a:endParaRPr>
          </a:p>
          <a:p>
            <a:pPr indent="0" lvl="0" marL="0" rtl="0" algn="l">
              <a:lnSpc>
                <a:spcPct val="150000"/>
              </a:lnSpc>
              <a:spcBef>
                <a:spcPts val="1200"/>
              </a:spcBef>
              <a:spcAft>
                <a:spcPts val="0"/>
              </a:spcAft>
              <a:buNone/>
            </a:pPr>
            <a:r>
              <a:rPr b="1" lang="en" sz="1100">
                <a:solidFill>
                  <a:srgbClr val="666666"/>
                </a:solidFill>
              </a:rPr>
              <a:t>Alyssa</a:t>
            </a:r>
            <a:r>
              <a:rPr lang="en" sz="1100">
                <a:solidFill>
                  <a:srgbClr val="666666"/>
                </a:solidFill>
              </a:rPr>
              <a:t>: I chose to focus on the curious question, “</a:t>
            </a:r>
            <a:r>
              <a:rPr lang="en" sz="1100">
                <a:solidFill>
                  <a:srgbClr val="666666"/>
                </a:solidFill>
              </a:rPr>
              <a:t>Which recipes are the most popular? Do they prefer to bake sweet or savory dishes? High or low calorie?” and, “What do the highly rated recipes have in common?” Both of my graph revolve around these because they explain which recipes are rated the most popular and what they have in common based on the actual tables. </a:t>
            </a:r>
            <a:r>
              <a:rPr lang="en" sz="1100">
                <a:solidFill>
                  <a:srgbClr val="666666"/>
                </a:solidFill>
              </a:rPr>
              <a:t>Currently, I haven’t faced any problems other than JupyterHub not loading my graphs</a:t>
            </a:r>
            <a:r>
              <a:rPr lang="en" sz="1100">
                <a:solidFill>
                  <a:srgbClr val="666666"/>
                </a:solidFill>
              </a:rPr>
              <a:t>. I’ve given a show/tell of the graphs I generated, included graphs in the Mini update that revolve around the curious questions, targeting the correct audience, and more. </a:t>
            </a:r>
            <a:endParaRPr sz="1100">
              <a:solidFill>
                <a:srgbClr val="666666"/>
              </a:solidFill>
            </a:endParaRPr>
          </a:p>
          <a:p>
            <a:pPr indent="0" lvl="0" marL="0" rtl="0" algn="l">
              <a:lnSpc>
                <a:spcPct val="150000"/>
              </a:lnSpc>
              <a:spcBef>
                <a:spcPts val="1200"/>
              </a:spcBef>
              <a:spcAft>
                <a:spcPts val="1200"/>
              </a:spcAft>
              <a:buNone/>
            </a:pPr>
            <a:r>
              <a:rPr b="1" lang="en" sz="1100">
                <a:solidFill>
                  <a:srgbClr val="666666"/>
                </a:solidFill>
              </a:rPr>
              <a:t>Ava</a:t>
            </a:r>
            <a:r>
              <a:rPr lang="en" sz="1100">
                <a:solidFill>
                  <a:srgbClr val="666666"/>
                </a:solidFill>
              </a:rPr>
              <a:t>: (I used AI for the r-value generation.) This week we accomplished some surface level data analysis and started getting into comparing multiple variables. In the coming weeks, if its possible it could be cool to clean the “ingredients” column so its analyzable and possibly sort the countries by continent and catagorize the dishes by sweet and savory or other categories to provide further analysis. I’m not sure how to do this. It would be incredibly tedious unless I used AI.</a:t>
            </a:r>
            <a:r>
              <a:rPr lang="en" sz="1100">
                <a:solidFill>
                  <a:srgbClr val="666666"/>
                </a:solidFill>
              </a:rPr>
              <a:t> Is that a suitable usage of AI?</a:t>
            </a:r>
            <a:endParaRPr sz="1100">
              <a:solidFill>
                <a:srgbClr val="666666"/>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4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Feedback:</a:t>
            </a:r>
            <a:endParaRPr/>
          </a:p>
        </p:txBody>
      </p:sp>
      <p:sp>
        <p:nvSpPr>
          <p:cNvPr id="519" name="Google Shape;519;p46"/>
          <p:cNvSpPr txBox="1"/>
          <p:nvPr>
            <p:ph idx="1" type="body"/>
          </p:nvPr>
        </p:nvSpPr>
        <p:spPr>
          <a:xfrm>
            <a:off x="709975" y="1438575"/>
            <a:ext cx="7624200" cy="3093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The feedback that our professor gave us allowed us to better understand who the audience is and what </a:t>
            </a:r>
            <a:r>
              <a:rPr lang="en"/>
              <a:t>the</a:t>
            </a:r>
            <a:r>
              <a:rPr lang="en"/>
              <a:t> communication goal is. To </a:t>
            </a:r>
            <a:r>
              <a:rPr lang="en"/>
              <a:t>address</a:t>
            </a:r>
            <a:r>
              <a:rPr lang="en"/>
              <a:t> the feedback given, the audience could be beginners who are looking for simple and easy recipes, students who need fast and convenient recipes, and/o</a:t>
            </a:r>
            <a:r>
              <a:rPr lang="en"/>
              <a:t>r people who have dietary restrictions. Some communication goals we may have are to change the perspective of people who may believe that it is difficult  to find good, fast, and easy recipes and to </a:t>
            </a:r>
            <a:r>
              <a:rPr lang="en"/>
              <a:t>encourage</a:t>
            </a:r>
            <a:r>
              <a:rPr lang="en"/>
              <a:t> people to try out different </a:t>
            </a:r>
            <a:r>
              <a:rPr lang="en"/>
              <a:t>recipes. </a:t>
            </a:r>
            <a:r>
              <a:rPr lang="en"/>
              <a:t>The feedback was useful be</a:t>
            </a:r>
            <a:r>
              <a:rPr lang="en">
                <a:solidFill>
                  <a:srgbClr val="1F2328"/>
                </a:solidFill>
              </a:rPr>
              <a:t>cause it allowed us to explore a </a:t>
            </a:r>
            <a:r>
              <a:rPr lang="en">
                <a:solidFill>
                  <a:srgbClr val="1F2328"/>
                </a:solidFill>
              </a:rPr>
              <a:t>variety</a:t>
            </a:r>
            <a:r>
              <a:rPr lang="en">
                <a:solidFill>
                  <a:srgbClr val="1F2328"/>
                </a:solidFill>
              </a:rPr>
              <a:t> of options on how to improve the feedback given. Some additional suggestions that we are seeking is about the plots/graphs we created and </a:t>
            </a:r>
            <a:r>
              <a:rPr lang="en">
                <a:solidFill>
                  <a:srgbClr val="1F2328"/>
                </a:solidFill>
              </a:rPr>
              <a:t>whether our explanation was easy to follow and well-covered. </a:t>
            </a:r>
            <a:endParaRPr>
              <a:solidFill>
                <a:srgbClr val="1F2328"/>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p47"/>
          <p:cNvSpPr txBox="1"/>
          <p:nvPr>
            <p:ph type="ctrTitle"/>
          </p:nvPr>
        </p:nvSpPr>
        <p:spPr>
          <a:xfrm>
            <a:off x="824000" y="1613825"/>
            <a:ext cx="7014600" cy="18729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Week 1:</a:t>
            </a:r>
            <a:r>
              <a:rPr lang="en"/>
              <a:t>MINI UPDATE #1</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p48"/>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Introduction</a:t>
            </a:r>
            <a:endParaRPr/>
          </a:p>
        </p:txBody>
      </p:sp>
      <p:sp>
        <p:nvSpPr>
          <p:cNvPr id="530" name="Google Shape;530;p48"/>
          <p:cNvSpPr txBox="1"/>
          <p:nvPr>
            <p:ph idx="1" type="body"/>
          </p:nvPr>
        </p:nvSpPr>
        <p:spPr>
          <a:xfrm>
            <a:off x="674700" y="1504875"/>
            <a:ext cx="7794600" cy="3151800"/>
          </a:xfrm>
          <a:prstGeom prst="rect">
            <a:avLst/>
          </a:prstGeom>
        </p:spPr>
        <p:txBody>
          <a:bodyPr anchorCtr="0" anchor="t" bIns="91425" lIns="91425" spcFirstLastPara="1" rIns="91425" wrap="square" tIns="91425">
            <a:normAutofit lnSpcReduction="10000"/>
          </a:bodyPr>
          <a:lstStyle/>
          <a:p>
            <a:pPr indent="0" lvl="0" marL="0" rtl="0" algn="l">
              <a:lnSpc>
                <a:spcPct val="200000"/>
              </a:lnSpc>
              <a:spcBef>
                <a:spcPts val="0"/>
              </a:spcBef>
              <a:spcAft>
                <a:spcPts val="1200"/>
              </a:spcAft>
              <a:buNone/>
            </a:pPr>
            <a:r>
              <a:rPr lang="en"/>
              <a:t>Across the world, people face challenges related to food such as what to cook for dinner, what recipes I can make that are </a:t>
            </a:r>
            <a:r>
              <a:rPr lang="en"/>
              <a:t>efficient</a:t>
            </a:r>
            <a:r>
              <a:rPr lang="en"/>
              <a:t>, healthy, inexpensive, or filling. With the amount of recipes and cuisines that are out there, it gets overwhelming. When cooking, people want to know the </a:t>
            </a:r>
            <a:r>
              <a:rPr lang="en"/>
              <a:t>nutrition</a:t>
            </a:r>
            <a:r>
              <a:rPr lang="en"/>
              <a:t> facts, the ingredients list, the amount of time it takes, how many people it </a:t>
            </a:r>
            <a:r>
              <a:rPr lang="en"/>
              <a:t>will</a:t>
            </a:r>
            <a:r>
              <a:rPr lang="en"/>
              <a:t> feed, etc. A structured recipe dataset captures ingredients, cook times, cuisines, and nutritional information that offers a different opportunity to show patterns that can simplify a decision. </a:t>
            </a:r>
            <a:r>
              <a:rPr lang="en"/>
              <a:t>Through</a:t>
            </a:r>
            <a:r>
              <a:rPr lang="en"/>
              <a:t> this data analysis, we will be able to help people know what food </a:t>
            </a:r>
            <a:r>
              <a:rPr lang="en"/>
              <a:t>recipes</a:t>
            </a:r>
            <a:r>
              <a:rPr lang="en"/>
              <a:t> </a:t>
            </a:r>
            <a:r>
              <a:rPr lang="en"/>
              <a:t>work</a:t>
            </a:r>
            <a:r>
              <a:rPr lang="en"/>
              <a:t> best for them. They will be able to discover what kinds of recipe work for them that are (for example) more efficient and inexpensive. </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sp>
        <p:nvSpPr>
          <p:cNvPr id="535" name="Google Shape;535;p49"/>
          <p:cNvSpPr txBox="1"/>
          <p:nvPr>
            <p:ph type="title"/>
          </p:nvPr>
        </p:nvSpPr>
        <p:spPr>
          <a:xfrm>
            <a:off x="1303800" y="378853"/>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MINI UPDATE #1- DATA PROFILE</a:t>
            </a:r>
            <a:endParaRPr/>
          </a:p>
        </p:txBody>
      </p:sp>
      <p:sp>
        <p:nvSpPr>
          <p:cNvPr id="536" name="Google Shape;536;p49"/>
          <p:cNvSpPr txBox="1"/>
          <p:nvPr/>
        </p:nvSpPr>
        <p:spPr>
          <a:xfrm>
            <a:off x="1318325" y="948804"/>
            <a:ext cx="6691500" cy="28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dk2"/>
                </a:solidFill>
                <a:latin typeface="Nunito"/>
                <a:ea typeface="Nunito"/>
                <a:cs typeface="Nunito"/>
                <a:sym typeface="Nunito"/>
              </a:rPr>
              <a:t>The </a:t>
            </a:r>
            <a:r>
              <a:rPr i="1" lang="en" sz="1300">
                <a:solidFill>
                  <a:schemeClr val="dk2"/>
                </a:solidFill>
                <a:latin typeface="Nunito"/>
                <a:ea typeface="Nunito"/>
                <a:cs typeface="Nunito"/>
                <a:sym typeface="Nunito"/>
              </a:rPr>
              <a:t>all_recipes</a:t>
            </a:r>
            <a:r>
              <a:rPr lang="en" sz="1300">
                <a:solidFill>
                  <a:schemeClr val="dk2"/>
                </a:solidFill>
                <a:latin typeface="Nunito"/>
                <a:ea typeface="Nunito"/>
                <a:cs typeface="Nunito"/>
                <a:sym typeface="Nunito"/>
              </a:rPr>
              <a:t> dataset has 16 columns and 14,426 rows. The </a:t>
            </a:r>
            <a:r>
              <a:rPr i="1" lang="en" sz="1300">
                <a:solidFill>
                  <a:schemeClr val="dk2"/>
                </a:solidFill>
                <a:latin typeface="Nunito"/>
                <a:ea typeface="Nunito"/>
                <a:cs typeface="Nunito"/>
                <a:sym typeface="Nunito"/>
              </a:rPr>
              <a:t>cuisines</a:t>
            </a:r>
            <a:r>
              <a:rPr lang="en" sz="1300">
                <a:solidFill>
                  <a:schemeClr val="dk2"/>
                </a:solidFill>
                <a:latin typeface="Nunito"/>
                <a:ea typeface="Nunito"/>
                <a:cs typeface="Nunito"/>
                <a:sym typeface="Nunito"/>
              </a:rPr>
              <a:t> dataset has 17 columns and 2,218 rows. </a:t>
            </a:r>
            <a:endParaRPr sz="1300">
              <a:solidFill>
                <a:schemeClr val="dk2"/>
              </a:solidFill>
              <a:latin typeface="Nunito"/>
              <a:ea typeface="Nunito"/>
              <a:cs typeface="Nunito"/>
              <a:sym typeface="Nunito"/>
            </a:endParaRPr>
          </a:p>
        </p:txBody>
      </p:sp>
      <p:sp>
        <p:nvSpPr>
          <p:cNvPr id="537" name="Google Shape;537;p49"/>
          <p:cNvSpPr txBox="1"/>
          <p:nvPr/>
        </p:nvSpPr>
        <p:spPr>
          <a:xfrm>
            <a:off x="579258" y="1318343"/>
            <a:ext cx="13584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200">
                <a:solidFill>
                  <a:schemeClr val="dk2"/>
                </a:solidFill>
                <a:latin typeface="Nunito"/>
                <a:ea typeface="Nunito"/>
                <a:cs typeface="Nunito"/>
                <a:sym typeface="Nunito"/>
              </a:rPr>
              <a:t>all_recipes:</a:t>
            </a:r>
            <a:endParaRPr i="1" sz="1200">
              <a:solidFill>
                <a:schemeClr val="dk2"/>
              </a:solidFill>
              <a:latin typeface="Nunito"/>
              <a:ea typeface="Nunito"/>
              <a:cs typeface="Nunito"/>
              <a:sym typeface="Nunito"/>
            </a:endParaRPr>
          </a:p>
        </p:txBody>
      </p:sp>
      <p:graphicFrame>
        <p:nvGraphicFramePr>
          <p:cNvPr id="538" name="Google Shape;538;p49"/>
          <p:cNvGraphicFramePr/>
          <p:nvPr/>
        </p:nvGraphicFramePr>
        <p:xfrm>
          <a:off x="550038" y="1601817"/>
          <a:ext cx="3000000" cy="3000000"/>
        </p:xfrm>
        <a:graphic>
          <a:graphicData uri="http://schemas.openxmlformats.org/drawingml/2006/table">
            <a:tbl>
              <a:tblPr>
                <a:noFill/>
                <a:tableStyleId>{F8A4D223-EC07-4144-BB5C-E1EA1BCDE6FE}</a:tableStyleId>
              </a:tblPr>
              <a:tblGrid>
                <a:gridCol w="1561425"/>
                <a:gridCol w="1561425"/>
                <a:gridCol w="2021600"/>
                <a:gridCol w="1336675"/>
                <a:gridCol w="1647050"/>
              </a:tblGrid>
              <a:tr h="397200">
                <a:tc>
                  <a:txBody>
                    <a:bodyPr/>
                    <a:lstStyle/>
                    <a:p>
                      <a:pPr indent="0" lvl="0" marL="0" rtl="0" algn="l">
                        <a:spcBef>
                          <a:spcPts val="0"/>
                        </a:spcBef>
                        <a:spcAft>
                          <a:spcPts val="0"/>
                        </a:spcAft>
                        <a:buNone/>
                      </a:pPr>
                      <a:r>
                        <a:rPr lang="en" sz="1200"/>
                        <a:t>Column Name</a:t>
                      </a:r>
                      <a:endParaRPr sz="1200"/>
                    </a:p>
                  </a:txBody>
                  <a:tcPr marT="91425" marB="91425" marR="91425" marL="91425">
                    <a:lnB cap="flat" cmpd="sng" w="5300">
                      <a:solidFill>
                        <a:srgbClr val="D1D9E0"/>
                      </a:solidFill>
                      <a:prstDash val="solid"/>
                      <a:round/>
                      <a:headEnd len="sm" w="sm" type="none"/>
                      <a:tailEnd len="sm" w="sm" type="none"/>
                    </a:lnB>
                  </a:tcPr>
                </a:tc>
                <a:tc>
                  <a:txBody>
                    <a:bodyPr/>
                    <a:lstStyle/>
                    <a:p>
                      <a:pPr indent="0" lvl="0" marL="0" rtl="0" algn="l">
                        <a:spcBef>
                          <a:spcPts val="0"/>
                        </a:spcBef>
                        <a:spcAft>
                          <a:spcPts val="0"/>
                        </a:spcAft>
                        <a:buNone/>
                      </a:pPr>
                      <a:r>
                        <a:rPr lang="en" sz="1200"/>
                        <a:t>Has missing value?</a:t>
                      </a:r>
                      <a:endParaRPr sz="1200"/>
                    </a:p>
                  </a:txBody>
                  <a:tcPr marT="91425" marB="91425" marR="91425" marL="91425"/>
                </a:tc>
                <a:tc>
                  <a:txBody>
                    <a:bodyPr/>
                    <a:lstStyle/>
                    <a:p>
                      <a:pPr indent="0" lvl="0" marL="0" rtl="0" algn="l">
                        <a:spcBef>
                          <a:spcPts val="0"/>
                        </a:spcBef>
                        <a:spcAft>
                          <a:spcPts val="0"/>
                        </a:spcAft>
                        <a:buNone/>
                      </a:pPr>
                      <a:r>
                        <a:rPr lang="en" sz="1200"/>
                        <a:t>Data Type(Discrete or numeric or free text)</a:t>
                      </a:r>
                      <a:endParaRPr sz="1200"/>
                    </a:p>
                  </a:txBody>
                  <a:tcPr marT="91425" marB="91425" marR="91425" marL="91425"/>
                </a:tc>
                <a:tc>
                  <a:txBody>
                    <a:bodyPr/>
                    <a:lstStyle/>
                    <a:p>
                      <a:pPr indent="0" lvl="0" marL="0" rtl="0" algn="l">
                        <a:spcBef>
                          <a:spcPts val="0"/>
                        </a:spcBef>
                        <a:spcAft>
                          <a:spcPts val="0"/>
                        </a:spcAft>
                        <a:buNone/>
                      </a:pPr>
                      <a:r>
                        <a:rPr lang="en" sz="1200"/>
                        <a:t>Useful?</a:t>
                      </a:r>
                      <a:endParaRPr sz="1200"/>
                    </a:p>
                  </a:txBody>
                  <a:tcPr marT="91425" marB="91425" marR="91425" marL="91425"/>
                </a:tc>
                <a:tc>
                  <a:txBody>
                    <a:bodyPr/>
                    <a:lstStyle/>
                    <a:p>
                      <a:pPr indent="0" lvl="0" marL="0" rtl="0" algn="l">
                        <a:spcBef>
                          <a:spcPts val="0"/>
                        </a:spcBef>
                        <a:spcAft>
                          <a:spcPts val="0"/>
                        </a:spcAft>
                        <a:buNone/>
                      </a:pPr>
                      <a:r>
                        <a:rPr lang="en" sz="1200"/>
                        <a:t>Need cleaning or processing?</a:t>
                      </a:r>
                      <a:endParaRPr sz="1200"/>
                    </a:p>
                  </a:txBody>
                  <a:tcPr marT="91425" marB="91425" marR="91425" marL="91425"/>
                </a:tc>
              </a:tr>
              <a:tr h="264800">
                <a:tc>
                  <a:txBody>
                    <a:bodyPr/>
                    <a:lstStyle/>
                    <a:p>
                      <a:pPr indent="0" lvl="0" marL="0" rtl="0" algn="l">
                        <a:lnSpc>
                          <a:spcPct val="115000"/>
                        </a:lnSpc>
                        <a:spcBef>
                          <a:spcPts val="0"/>
                        </a:spcBef>
                        <a:spcAft>
                          <a:spcPts val="1200"/>
                        </a:spcAft>
                        <a:buNone/>
                      </a:pPr>
                      <a:r>
                        <a:rPr lang="en" sz="1200">
                          <a:solidFill>
                            <a:srgbClr val="1F2328"/>
                          </a:solidFill>
                          <a:highlight>
                            <a:srgbClr val="FFFFFF"/>
                          </a:highlight>
                        </a:rPr>
                        <a:t>name</a:t>
                      </a:r>
                      <a:endParaRPr sz="1200">
                        <a:solidFill>
                          <a:srgbClr val="1F2328"/>
                        </a:solidFill>
                        <a:highlight>
                          <a:srgbClr val="FFFFFF"/>
                        </a:highlight>
                      </a:endParaRPr>
                    </a:p>
                  </a:txBody>
                  <a:tcPr marT="63500" marB="63500" marR="127000" marL="127000">
                    <a:lnL cap="flat" cmpd="sng" w="5300">
                      <a:solidFill>
                        <a:srgbClr val="D1D9E0"/>
                      </a:solidFill>
                      <a:prstDash val="solid"/>
                      <a:round/>
                      <a:headEnd len="sm" w="sm" type="none"/>
                      <a:tailEnd len="sm" w="sm" type="none"/>
                    </a:lnL>
                    <a:lnR cap="flat" cmpd="sng" w="5300">
                      <a:solidFill>
                        <a:srgbClr val="D1D9E0"/>
                      </a:solidFill>
                      <a:prstDash val="solid"/>
                      <a:round/>
                      <a:headEnd len="sm" w="sm" type="none"/>
                      <a:tailEnd len="sm" w="sm" type="none"/>
                    </a:lnR>
                    <a:lnT cap="flat" cmpd="sng" w="5300">
                      <a:solidFill>
                        <a:srgbClr val="D1D9E0"/>
                      </a:solidFill>
                      <a:prstDash val="solid"/>
                      <a:round/>
                      <a:headEnd len="sm" w="sm" type="none"/>
                      <a:tailEnd len="sm" w="sm" type="none"/>
                    </a:lnT>
                    <a:lnB cap="flat" cmpd="sng" w="5300">
                      <a:solidFill>
                        <a:srgbClr val="D1D9E0"/>
                      </a:solidFill>
                      <a:prstDash val="solid"/>
                      <a:round/>
                      <a:headEnd len="sm" w="sm" type="none"/>
                      <a:tailEnd len="sm" w="sm" type="none"/>
                    </a:lnB>
                  </a:tcPr>
                </a:tc>
                <a:tc>
                  <a:txBody>
                    <a:bodyPr/>
                    <a:lstStyle/>
                    <a:p>
                      <a:pPr indent="0" lvl="0" marL="0" rtl="0" algn="l">
                        <a:spcBef>
                          <a:spcPts val="0"/>
                        </a:spcBef>
                        <a:spcAft>
                          <a:spcPts val="0"/>
                        </a:spcAft>
                        <a:buNone/>
                      </a:pPr>
                      <a:r>
                        <a:rPr lang="en" sz="1200"/>
                        <a:t>no</a:t>
                      </a:r>
                      <a:endParaRPr sz="1200"/>
                    </a:p>
                  </a:txBody>
                  <a:tcPr marT="91425" marB="91425" marR="91425" marL="91425">
                    <a:lnL cap="flat" cmpd="sng" w="5300">
                      <a:solidFill>
                        <a:srgbClr val="D1D9E0"/>
                      </a:solidFill>
                      <a:prstDash val="solid"/>
                      <a:round/>
                      <a:headEnd len="sm" w="sm" type="none"/>
                      <a:tailEnd len="sm" w="sm" type="none"/>
                    </a:lnL>
                  </a:tcPr>
                </a:tc>
                <a:tc>
                  <a:txBody>
                    <a:bodyPr/>
                    <a:lstStyle/>
                    <a:p>
                      <a:pPr indent="0" lvl="0" marL="0" rtl="0" algn="l">
                        <a:spcBef>
                          <a:spcPts val="0"/>
                        </a:spcBef>
                        <a:spcAft>
                          <a:spcPts val="0"/>
                        </a:spcAft>
                        <a:buNone/>
                      </a:pPr>
                      <a:r>
                        <a:rPr lang="en" sz="1200"/>
                        <a:t>Free text</a:t>
                      </a:r>
                      <a:endParaRPr sz="1200"/>
                    </a:p>
                  </a:txBody>
                  <a:tcPr marT="91425" marB="91425" marR="91425" marL="91425"/>
                </a:tc>
                <a:tc>
                  <a:txBody>
                    <a:bodyPr/>
                    <a:lstStyle/>
                    <a:p>
                      <a:pPr indent="0" lvl="0" marL="0" rtl="0" algn="l">
                        <a:spcBef>
                          <a:spcPts val="0"/>
                        </a:spcBef>
                        <a:spcAft>
                          <a:spcPts val="0"/>
                        </a:spcAft>
                        <a:buNone/>
                      </a:pPr>
                      <a:r>
                        <a:rPr lang="en" sz="1200"/>
                        <a:t>yes</a:t>
                      </a:r>
                      <a:endParaRPr sz="1200"/>
                    </a:p>
                  </a:txBody>
                  <a:tcPr marT="91425" marB="91425" marR="91425" marL="91425"/>
                </a:tc>
                <a:tc>
                  <a:txBody>
                    <a:bodyPr/>
                    <a:lstStyle/>
                    <a:p>
                      <a:pPr indent="0" lvl="0" marL="0" rtl="0" algn="l">
                        <a:spcBef>
                          <a:spcPts val="0"/>
                        </a:spcBef>
                        <a:spcAft>
                          <a:spcPts val="0"/>
                        </a:spcAft>
                        <a:buNone/>
                      </a:pPr>
                      <a:r>
                        <a:rPr lang="en" sz="1200"/>
                        <a:t>no</a:t>
                      </a:r>
                      <a:endParaRPr sz="1200"/>
                    </a:p>
                  </a:txBody>
                  <a:tcPr marT="91425" marB="91425" marR="91425" marL="91425"/>
                </a:tc>
              </a:tr>
              <a:tr h="264800">
                <a:tc>
                  <a:txBody>
                    <a:bodyPr/>
                    <a:lstStyle/>
                    <a:p>
                      <a:pPr indent="0" lvl="0" marL="0" rtl="0" algn="l">
                        <a:lnSpc>
                          <a:spcPct val="115000"/>
                        </a:lnSpc>
                        <a:spcBef>
                          <a:spcPts val="0"/>
                        </a:spcBef>
                        <a:spcAft>
                          <a:spcPts val="1200"/>
                        </a:spcAft>
                        <a:buNone/>
                      </a:pPr>
                      <a:r>
                        <a:rPr lang="en" sz="1200">
                          <a:solidFill>
                            <a:srgbClr val="1F2328"/>
                          </a:solidFill>
                          <a:highlight>
                            <a:srgbClr val="FFFFFF"/>
                          </a:highlight>
                        </a:rPr>
                        <a:t>url</a:t>
                      </a:r>
                      <a:endParaRPr sz="1200">
                        <a:solidFill>
                          <a:srgbClr val="1F2328"/>
                        </a:solidFill>
                        <a:highlight>
                          <a:srgbClr val="FFFFFF"/>
                        </a:highlight>
                      </a:endParaRPr>
                    </a:p>
                  </a:txBody>
                  <a:tcPr marT="63500" marB="63500" marR="127000" marL="127000">
                    <a:lnL cap="flat" cmpd="sng" w="5300">
                      <a:solidFill>
                        <a:srgbClr val="D1D9E0"/>
                      </a:solidFill>
                      <a:prstDash val="solid"/>
                      <a:round/>
                      <a:headEnd len="sm" w="sm" type="none"/>
                      <a:tailEnd len="sm" w="sm" type="none"/>
                    </a:lnL>
                    <a:lnR cap="flat" cmpd="sng" w="5300">
                      <a:solidFill>
                        <a:srgbClr val="D1D9E0"/>
                      </a:solidFill>
                      <a:prstDash val="solid"/>
                      <a:round/>
                      <a:headEnd len="sm" w="sm" type="none"/>
                      <a:tailEnd len="sm" w="sm" type="none"/>
                    </a:lnR>
                    <a:lnT cap="flat" cmpd="sng" w="5300">
                      <a:solidFill>
                        <a:srgbClr val="D1D9E0"/>
                      </a:solidFill>
                      <a:prstDash val="solid"/>
                      <a:round/>
                      <a:headEnd len="sm" w="sm" type="none"/>
                      <a:tailEnd len="sm" w="sm" type="none"/>
                    </a:lnT>
                    <a:lnB cap="flat" cmpd="sng" w="5300">
                      <a:solidFill>
                        <a:srgbClr val="D1D9E0"/>
                      </a:solidFill>
                      <a:prstDash val="solid"/>
                      <a:round/>
                      <a:headEnd len="sm" w="sm" type="none"/>
                      <a:tailEnd len="sm" w="sm" type="none"/>
                    </a:lnB>
                  </a:tcPr>
                </a:tc>
                <a:tc>
                  <a:txBody>
                    <a:bodyPr/>
                    <a:lstStyle/>
                    <a:p>
                      <a:pPr indent="0" lvl="0" marL="0" rtl="0" algn="l">
                        <a:spcBef>
                          <a:spcPts val="0"/>
                        </a:spcBef>
                        <a:spcAft>
                          <a:spcPts val="0"/>
                        </a:spcAft>
                        <a:buNone/>
                      </a:pPr>
                      <a:r>
                        <a:rPr lang="en" sz="1200"/>
                        <a:t>no</a:t>
                      </a:r>
                      <a:endParaRPr sz="1200"/>
                    </a:p>
                  </a:txBody>
                  <a:tcPr marT="91425" marB="91425" marR="91425" marL="91425">
                    <a:lnL cap="flat" cmpd="sng" w="5300">
                      <a:solidFill>
                        <a:srgbClr val="D1D9E0"/>
                      </a:solidFill>
                      <a:prstDash val="solid"/>
                      <a:round/>
                      <a:headEnd len="sm" w="sm" type="none"/>
                      <a:tailEnd len="sm" w="sm" type="none"/>
                    </a:lnL>
                  </a:tcPr>
                </a:tc>
                <a:tc>
                  <a:txBody>
                    <a:bodyPr/>
                    <a:lstStyle/>
                    <a:p>
                      <a:pPr indent="0" lvl="0" marL="0" rtl="0" algn="l">
                        <a:spcBef>
                          <a:spcPts val="0"/>
                        </a:spcBef>
                        <a:spcAft>
                          <a:spcPts val="0"/>
                        </a:spcAft>
                        <a:buNone/>
                      </a:pPr>
                      <a:r>
                        <a:rPr lang="en" sz="1200"/>
                        <a:t>Free text</a:t>
                      </a:r>
                      <a:endParaRPr sz="1200"/>
                    </a:p>
                  </a:txBody>
                  <a:tcPr marT="91425" marB="91425" marR="91425" marL="91425"/>
                </a:tc>
                <a:tc>
                  <a:txBody>
                    <a:bodyPr/>
                    <a:lstStyle/>
                    <a:p>
                      <a:pPr indent="0" lvl="0" marL="0" rtl="0" algn="l">
                        <a:spcBef>
                          <a:spcPts val="0"/>
                        </a:spcBef>
                        <a:spcAft>
                          <a:spcPts val="0"/>
                        </a:spcAft>
                        <a:buNone/>
                      </a:pPr>
                      <a:r>
                        <a:rPr lang="en" sz="1200"/>
                        <a:t>yes</a:t>
                      </a:r>
                      <a:endParaRPr sz="1200"/>
                    </a:p>
                  </a:txBody>
                  <a:tcPr marT="91425" marB="91425" marR="91425" marL="91425"/>
                </a:tc>
                <a:tc>
                  <a:txBody>
                    <a:bodyPr/>
                    <a:lstStyle/>
                    <a:p>
                      <a:pPr indent="0" lvl="0" marL="0" rtl="0" algn="l">
                        <a:spcBef>
                          <a:spcPts val="0"/>
                        </a:spcBef>
                        <a:spcAft>
                          <a:spcPts val="0"/>
                        </a:spcAft>
                        <a:buNone/>
                      </a:pPr>
                      <a:r>
                        <a:rPr lang="en" sz="1200"/>
                        <a:t>no</a:t>
                      </a:r>
                      <a:endParaRPr sz="1200"/>
                    </a:p>
                  </a:txBody>
                  <a:tcPr marT="91425" marB="91425" marR="91425" marL="91425">
                    <a:lnB cap="flat" cmpd="sng" w="9525">
                      <a:solidFill>
                        <a:srgbClr val="9E9E9E"/>
                      </a:solidFill>
                      <a:prstDash val="solid"/>
                      <a:round/>
                      <a:headEnd len="sm" w="sm" type="none"/>
                      <a:tailEnd len="sm" w="sm" type="none"/>
                    </a:lnB>
                  </a:tcPr>
                </a:tc>
              </a:tr>
              <a:tr h="264800">
                <a:tc>
                  <a:txBody>
                    <a:bodyPr/>
                    <a:lstStyle/>
                    <a:p>
                      <a:pPr indent="0" lvl="0" marL="0" rtl="0" algn="l">
                        <a:lnSpc>
                          <a:spcPct val="115000"/>
                        </a:lnSpc>
                        <a:spcBef>
                          <a:spcPts val="0"/>
                        </a:spcBef>
                        <a:spcAft>
                          <a:spcPts val="1200"/>
                        </a:spcAft>
                        <a:buNone/>
                      </a:pPr>
                      <a:r>
                        <a:rPr lang="en" sz="1200">
                          <a:solidFill>
                            <a:srgbClr val="1F2328"/>
                          </a:solidFill>
                          <a:highlight>
                            <a:srgbClr val="FFFFFF"/>
                          </a:highlight>
                        </a:rPr>
                        <a:t>author</a:t>
                      </a:r>
                      <a:endParaRPr sz="1200">
                        <a:solidFill>
                          <a:srgbClr val="1F2328"/>
                        </a:solidFill>
                        <a:highlight>
                          <a:srgbClr val="FFFFFF"/>
                        </a:highlight>
                      </a:endParaRPr>
                    </a:p>
                  </a:txBody>
                  <a:tcPr marT="63500" marB="63500" marR="127000" marL="127000">
                    <a:lnL cap="flat" cmpd="sng" w="5300">
                      <a:solidFill>
                        <a:srgbClr val="D1D9E0"/>
                      </a:solidFill>
                      <a:prstDash val="solid"/>
                      <a:round/>
                      <a:headEnd len="sm" w="sm" type="none"/>
                      <a:tailEnd len="sm" w="sm" type="none"/>
                    </a:lnL>
                    <a:lnR cap="flat" cmpd="sng" w="5300">
                      <a:solidFill>
                        <a:srgbClr val="D1D9E0"/>
                      </a:solidFill>
                      <a:prstDash val="solid"/>
                      <a:round/>
                      <a:headEnd len="sm" w="sm" type="none"/>
                      <a:tailEnd len="sm" w="sm" type="none"/>
                    </a:lnR>
                    <a:lnT cap="flat" cmpd="sng" w="5300">
                      <a:solidFill>
                        <a:srgbClr val="D1D9E0"/>
                      </a:solidFill>
                      <a:prstDash val="solid"/>
                      <a:round/>
                      <a:headEnd len="sm" w="sm" type="none"/>
                      <a:tailEnd len="sm" w="sm" type="none"/>
                    </a:lnT>
                    <a:lnB cap="flat" cmpd="sng" w="5300">
                      <a:solidFill>
                        <a:srgbClr val="D1D9E0"/>
                      </a:solidFill>
                      <a:prstDash val="solid"/>
                      <a:round/>
                      <a:headEnd len="sm" w="sm" type="none"/>
                      <a:tailEnd len="sm" w="sm" type="none"/>
                    </a:lnB>
                  </a:tcPr>
                </a:tc>
                <a:tc>
                  <a:txBody>
                    <a:bodyPr/>
                    <a:lstStyle/>
                    <a:p>
                      <a:pPr indent="0" lvl="0" marL="0" rtl="0" algn="l">
                        <a:spcBef>
                          <a:spcPts val="0"/>
                        </a:spcBef>
                        <a:spcAft>
                          <a:spcPts val="0"/>
                        </a:spcAft>
                        <a:buNone/>
                      </a:pPr>
                      <a:r>
                        <a:rPr lang="en" sz="1200"/>
                        <a:t>no</a:t>
                      </a:r>
                      <a:endParaRPr sz="1200"/>
                    </a:p>
                  </a:txBody>
                  <a:tcPr marT="91425" marB="91425" marR="91425" marL="91425">
                    <a:lnL cap="flat" cmpd="sng" w="5300">
                      <a:solidFill>
                        <a:srgbClr val="D1D9E0"/>
                      </a:solidFill>
                      <a:prstDash val="solid"/>
                      <a:round/>
                      <a:headEnd len="sm" w="sm" type="none"/>
                      <a:tailEnd len="sm" w="sm" type="none"/>
                    </a:lnL>
                  </a:tcPr>
                </a:tc>
                <a:tc>
                  <a:txBody>
                    <a:bodyPr/>
                    <a:lstStyle/>
                    <a:p>
                      <a:pPr indent="0" lvl="0" marL="0" rtl="0" algn="l">
                        <a:spcBef>
                          <a:spcPts val="0"/>
                        </a:spcBef>
                        <a:spcAft>
                          <a:spcPts val="0"/>
                        </a:spcAft>
                        <a:buNone/>
                      </a:pPr>
                      <a:r>
                        <a:rPr lang="en" sz="1200"/>
                        <a:t>Free text</a:t>
                      </a:r>
                      <a:endParaRPr sz="1200"/>
                    </a:p>
                  </a:txBody>
                  <a:tcPr marT="91425" marB="91425" marR="91425" marL="91425"/>
                </a:tc>
                <a:tc>
                  <a:txBody>
                    <a:bodyPr/>
                    <a:lstStyle/>
                    <a:p>
                      <a:pPr indent="0" lvl="0" marL="0" rtl="0" algn="l">
                        <a:spcBef>
                          <a:spcPts val="0"/>
                        </a:spcBef>
                        <a:spcAft>
                          <a:spcPts val="0"/>
                        </a:spcAft>
                        <a:buNone/>
                      </a:pPr>
                      <a:r>
                        <a:rPr lang="en" sz="1200"/>
                        <a:t>no</a:t>
                      </a:r>
                      <a:endParaRPr sz="1200"/>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 sz="1200"/>
                        <a:t>no</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264800">
                <a:tc>
                  <a:txBody>
                    <a:bodyPr/>
                    <a:lstStyle/>
                    <a:p>
                      <a:pPr indent="0" lvl="0" marL="0" rtl="0" algn="l">
                        <a:lnSpc>
                          <a:spcPct val="115000"/>
                        </a:lnSpc>
                        <a:spcBef>
                          <a:spcPts val="0"/>
                        </a:spcBef>
                        <a:spcAft>
                          <a:spcPts val="1200"/>
                        </a:spcAft>
                        <a:buNone/>
                      </a:pPr>
                      <a:r>
                        <a:rPr lang="en" sz="1200">
                          <a:solidFill>
                            <a:srgbClr val="1F2328"/>
                          </a:solidFill>
                          <a:highlight>
                            <a:srgbClr val="FFFFFF"/>
                          </a:highlight>
                        </a:rPr>
                        <a:t>date_published</a:t>
                      </a:r>
                      <a:endParaRPr sz="1200">
                        <a:solidFill>
                          <a:srgbClr val="1F2328"/>
                        </a:solidFill>
                        <a:highlight>
                          <a:srgbClr val="FFFFFF"/>
                        </a:highlight>
                      </a:endParaRPr>
                    </a:p>
                  </a:txBody>
                  <a:tcPr marT="63500" marB="63500" marR="127000" marL="127000">
                    <a:lnL cap="flat" cmpd="sng" w="5300">
                      <a:solidFill>
                        <a:srgbClr val="D1D9E0"/>
                      </a:solidFill>
                      <a:prstDash val="solid"/>
                      <a:round/>
                      <a:headEnd len="sm" w="sm" type="none"/>
                      <a:tailEnd len="sm" w="sm" type="none"/>
                    </a:lnL>
                    <a:lnR cap="flat" cmpd="sng" w="5300">
                      <a:solidFill>
                        <a:srgbClr val="D1D9E0"/>
                      </a:solidFill>
                      <a:prstDash val="solid"/>
                      <a:round/>
                      <a:headEnd len="sm" w="sm" type="none"/>
                      <a:tailEnd len="sm" w="sm" type="none"/>
                    </a:lnR>
                    <a:lnT cap="flat" cmpd="sng" w="5300">
                      <a:solidFill>
                        <a:srgbClr val="D1D9E0"/>
                      </a:solidFill>
                      <a:prstDash val="solid"/>
                      <a:round/>
                      <a:headEnd len="sm" w="sm" type="none"/>
                      <a:tailEnd len="sm" w="sm" type="none"/>
                    </a:lnT>
                    <a:lnB cap="flat" cmpd="sng" w="5300">
                      <a:solidFill>
                        <a:srgbClr val="D1D9E0"/>
                      </a:solidFill>
                      <a:prstDash val="solid"/>
                      <a:round/>
                      <a:headEnd len="sm" w="sm" type="none"/>
                      <a:tailEnd len="sm" w="sm" type="none"/>
                    </a:lnB>
                  </a:tcPr>
                </a:tc>
                <a:tc>
                  <a:txBody>
                    <a:bodyPr/>
                    <a:lstStyle/>
                    <a:p>
                      <a:pPr indent="0" lvl="0" marL="0" rtl="0" algn="l">
                        <a:spcBef>
                          <a:spcPts val="0"/>
                        </a:spcBef>
                        <a:spcAft>
                          <a:spcPts val="0"/>
                        </a:spcAft>
                        <a:buNone/>
                      </a:pPr>
                      <a:r>
                        <a:rPr lang="en" sz="1200"/>
                        <a:t>no</a:t>
                      </a:r>
                      <a:endParaRPr sz="1200"/>
                    </a:p>
                  </a:txBody>
                  <a:tcPr marT="91425" marB="91425" marR="91425" marL="91425">
                    <a:lnL cap="flat" cmpd="sng" w="5300">
                      <a:solidFill>
                        <a:srgbClr val="D1D9E0"/>
                      </a:solidFill>
                      <a:prstDash val="solid"/>
                      <a:round/>
                      <a:headEnd len="sm" w="sm" type="none"/>
                      <a:tailEnd len="sm" w="sm" type="none"/>
                    </a:lnL>
                  </a:tcPr>
                </a:tc>
                <a:tc>
                  <a:txBody>
                    <a:bodyPr/>
                    <a:lstStyle/>
                    <a:p>
                      <a:pPr indent="0" lvl="0" marL="0" rtl="0" algn="l">
                        <a:spcBef>
                          <a:spcPts val="0"/>
                        </a:spcBef>
                        <a:spcAft>
                          <a:spcPts val="0"/>
                        </a:spcAft>
                        <a:buNone/>
                      </a:pPr>
                      <a:r>
                        <a:rPr lang="en" sz="1200"/>
                        <a:t>date/time</a:t>
                      </a:r>
                      <a:endParaRPr sz="1200"/>
                    </a:p>
                  </a:txBody>
                  <a:tcPr marT="91425" marB="91425" marR="91425" marL="91425"/>
                </a:tc>
                <a:tc>
                  <a:txBody>
                    <a:bodyPr/>
                    <a:lstStyle/>
                    <a:p>
                      <a:pPr indent="0" lvl="0" marL="0" rtl="0" algn="l">
                        <a:spcBef>
                          <a:spcPts val="0"/>
                        </a:spcBef>
                        <a:spcAft>
                          <a:spcPts val="0"/>
                        </a:spcAft>
                        <a:buNone/>
                      </a:pPr>
                      <a:r>
                        <a:rPr lang="en" sz="1200"/>
                        <a:t>no</a:t>
                      </a:r>
                      <a:endParaRPr sz="1200"/>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 sz="1200"/>
                        <a:t>no</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264800">
                <a:tc>
                  <a:txBody>
                    <a:bodyPr/>
                    <a:lstStyle/>
                    <a:p>
                      <a:pPr indent="0" lvl="0" marL="0" rtl="0" algn="l">
                        <a:lnSpc>
                          <a:spcPct val="115000"/>
                        </a:lnSpc>
                        <a:spcBef>
                          <a:spcPts val="0"/>
                        </a:spcBef>
                        <a:spcAft>
                          <a:spcPts val="1200"/>
                        </a:spcAft>
                        <a:buNone/>
                      </a:pPr>
                      <a:r>
                        <a:rPr lang="en" sz="1200">
                          <a:solidFill>
                            <a:srgbClr val="1F2328"/>
                          </a:solidFill>
                          <a:highlight>
                            <a:srgbClr val="FFFFFF"/>
                          </a:highlight>
                        </a:rPr>
                        <a:t>ingredients</a:t>
                      </a:r>
                      <a:endParaRPr sz="1200">
                        <a:solidFill>
                          <a:srgbClr val="1F2328"/>
                        </a:solidFill>
                        <a:highlight>
                          <a:srgbClr val="FFFFFF"/>
                        </a:highlight>
                      </a:endParaRPr>
                    </a:p>
                  </a:txBody>
                  <a:tcPr marT="63500" marB="63500" marR="127000" marL="127000">
                    <a:lnL cap="flat" cmpd="sng" w="5300">
                      <a:solidFill>
                        <a:srgbClr val="D1D9E0"/>
                      </a:solidFill>
                      <a:prstDash val="solid"/>
                      <a:round/>
                      <a:headEnd len="sm" w="sm" type="none"/>
                      <a:tailEnd len="sm" w="sm" type="none"/>
                    </a:lnL>
                    <a:lnR cap="flat" cmpd="sng" w="5300">
                      <a:solidFill>
                        <a:srgbClr val="D1D9E0"/>
                      </a:solidFill>
                      <a:prstDash val="solid"/>
                      <a:round/>
                      <a:headEnd len="sm" w="sm" type="none"/>
                      <a:tailEnd len="sm" w="sm" type="none"/>
                    </a:lnR>
                    <a:lnT cap="flat" cmpd="sng" w="5300">
                      <a:solidFill>
                        <a:srgbClr val="D1D9E0"/>
                      </a:solidFill>
                      <a:prstDash val="solid"/>
                      <a:round/>
                      <a:headEnd len="sm" w="sm" type="none"/>
                      <a:tailEnd len="sm" w="sm" type="none"/>
                    </a:lnT>
                    <a:lnB cap="flat" cmpd="sng" w="5300">
                      <a:solidFill>
                        <a:srgbClr val="D1D9E0"/>
                      </a:solidFill>
                      <a:prstDash val="solid"/>
                      <a:round/>
                      <a:headEnd len="sm" w="sm" type="none"/>
                      <a:tailEnd len="sm" w="sm" type="none"/>
                    </a:lnB>
                  </a:tcPr>
                </a:tc>
                <a:tc>
                  <a:txBody>
                    <a:bodyPr/>
                    <a:lstStyle/>
                    <a:p>
                      <a:pPr indent="0" lvl="0" marL="0" rtl="0" algn="l">
                        <a:spcBef>
                          <a:spcPts val="0"/>
                        </a:spcBef>
                        <a:spcAft>
                          <a:spcPts val="0"/>
                        </a:spcAft>
                        <a:buNone/>
                      </a:pPr>
                      <a:r>
                        <a:rPr lang="en" sz="1200"/>
                        <a:t>no</a:t>
                      </a:r>
                      <a:endParaRPr sz="1200"/>
                    </a:p>
                  </a:txBody>
                  <a:tcPr marT="91425" marB="91425" marR="91425" marL="91425">
                    <a:lnL cap="flat" cmpd="sng" w="5300">
                      <a:solidFill>
                        <a:srgbClr val="D1D9E0"/>
                      </a:solidFill>
                      <a:prstDash val="solid"/>
                      <a:round/>
                      <a:headEnd len="sm" w="sm" type="none"/>
                      <a:tailEnd len="sm" w="sm" type="none"/>
                    </a:lnL>
                  </a:tcPr>
                </a:tc>
                <a:tc>
                  <a:txBody>
                    <a:bodyPr/>
                    <a:lstStyle/>
                    <a:p>
                      <a:pPr indent="0" lvl="0" marL="0" rtl="0" algn="l">
                        <a:spcBef>
                          <a:spcPts val="0"/>
                        </a:spcBef>
                        <a:spcAft>
                          <a:spcPts val="0"/>
                        </a:spcAft>
                        <a:buNone/>
                      </a:pPr>
                      <a:r>
                        <a:rPr lang="en" sz="1200"/>
                        <a:t>Free text</a:t>
                      </a:r>
                      <a:endParaRPr sz="1200"/>
                    </a:p>
                  </a:txBody>
                  <a:tcPr marT="91425" marB="91425" marR="91425" marL="91425"/>
                </a:tc>
                <a:tc>
                  <a:txBody>
                    <a:bodyPr/>
                    <a:lstStyle/>
                    <a:p>
                      <a:pPr indent="0" lvl="0" marL="0" rtl="0" algn="l">
                        <a:spcBef>
                          <a:spcPts val="0"/>
                        </a:spcBef>
                        <a:spcAft>
                          <a:spcPts val="0"/>
                        </a:spcAft>
                        <a:buNone/>
                      </a:pPr>
                      <a:r>
                        <a:rPr lang="en" sz="1200"/>
                        <a:t>yes</a:t>
                      </a:r>
                      <a:endParaRPr sz="1200"/>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 sz="1200"/>
                        <a:t>no</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264800">
                <a:tc>
                  <a:txBody>
                    <a:bodyPr/>
                    <a:lstStyle/>
                    <a:p>
                      <a:pPr indent="0" lvl="0" marL="0" rtl="0" algn="l">
                        <a:lnSpc>
                          <a:spcPct val="115000"/>
                        </a:lnSpc>
                        <a:spcBef>
                          <a:spcPts val="0"/>
                        </a:spcBef>
                        <a:spcAft>
                          <a:spcPts val="1200"/>
                        </a:spcAft>
                        <a:buNone/>
                      </a:pPr>
                      <a:r>
                        <a:rPr lang="en" sz="1200">
                          <a:solidFill>
                            <a:srgbClr val="1F2328"/>
                          </a:solidFill>
                          <a:highlight>
                            <a:srgbClr val="FFFFFF"/>
                          </a:highlight>
                        </a:rPr>
                        <a:t>calories</a:t>
                      </a:r>
                      <a:endParaRPr sz="1200">
                        <a:solidFill>
                          <a:srgbClr val="1F2328"/>
                        </a:solidFill>
                        <a:highlight>
                          <a:srgbClr val="FFFFFF"/>
                        </a:highlight>
                      </a:endParaRPr>
                    </a:p>
                  </a:txBody>
                  <a:tcPr marT="63500" marB="63500" marR="127000" marL="127000">
                    <a:lnL cap="flat" cmpd="sng" w="5300">
                      <a:solidFill>
                        <a:srgbClr val="D1D9E0"/>
                      </a:solidFill>
                      <a:prstDash val="solid"/>
                      <a:round/>
                      <a:headEnd len="sm" w="sm" type="none"/>
                      <a:tailEnd len="sm" w="sm" type="none"/>
                    </a:lnL>
                    <a:lnR cap="flat" cmpd="sng" w="5300">
                      <a:solidFill>
                        <a:srgbClr val="D1D9E0"/>
                      </a:solidFill>
                      <a:prstDash val="solid"/>
                      <a:round/>
                      <a:headEnd len="sm" w="sm" type="none"/>
                      <a:tailEnd len="sm" w="sm" type="none"/>
                    </a:lnR>
                    <a:lnT cap="flat" cmpd="sng" w="5300">
                      <a:solidFill>
                        <a:srgbClr val="D1D9E0"/>
                      </a:solidFill>
                      <a:prstDash val="solid"/>
                      <a:round/>
                      <a:headEnd len="sm" w="sm" type="none"/>
                      <a:tailEnd len="sm" w="sm" type="none"/>
                    </a:lnT>
                    <a:lnB cap="flat" cmpd="sng" w="5300">
                      <a:solidFill>
                        <a:srgbClr val="D1D9E0"/>
                      </a:solidFill>
                      <a:prstDash val="solid"/>
                      <a:round/>
                      <a:headEnd len="sm" w="sm" type="none"/>
                      <a:tailEnd len="sm" w="sm" type="none"/>
                    </a:lnB>
                  </a:tcPr>
                </a:tc>
                <a:tc>
                  <a:txBody>
                    <a:bodyPr/>
                    <a:lstStyle/>
                    <a:p>
                      <a:pPr indent="0" lvl="0" marL="0" rtl="0" algn="l">
                        <a:spcBef>
                          <a:spcPts val="0"/>
                        </a:spcBef>
                        <a:spcAft>
                          <a:spcPts val="0"/>
                        </a:spcAft>
                        <a:buNone/>
                      </a:pPr>
                      <a:r>
                        <a:rPr lang="en" sz="1200"/>
                        <a:t>yes</a:t>
                      </a:r>
                      <a:endParaRPr sz="1200"/>
                    </a:p>
                  </a:txBody>
                  <a:tcPr marT="91425" marB="91425" marR="91425" marL="91425">
                    <a:lnL cap="flat" cmpd="sng" w="5300">
                      <a:solidFill>
                        <a:srgbClr val="D1D9E0"/>
                      </a:solidFill>
                      <a:prstDash val="solid"/>
                      <a:round/>
                      <a:headEnd len="sm" w="sm" type="none"/>
                      <a:tailEnd len="sm" w="sm" type="none"/>
                    </a:lnL>
                  </a:tcPr>
                </a:tc>
                <a:tc>
                  <a:txBody>
                    <a:bodyPr/>
                    <a:lstStyle/>
                    <a:p>
                      <a:pPr indent="0" lvl="0" marL="0" rtl="0" algn="l">
                        <a:spcBef>
                          <a:spcPts val="0"/>
                        </a:spcBef>
                        <a:spcAft>
                          <a:spcPts val="0"/>
                        </a:spcAft>
                        <a:buNone/>
                      </a:pPr>
                      <a:r>
                        <a:rPr lang="en" sz="1200"/>
                        <a:t>numeric</a:t>
                      </a:r>
                      <a:endParaRPr sz="1200"/>
                    </a:p>
                  </a:txBody>
                  <a:tcPr marT="91425" marB="91425" marR="91425" marL="91425"/>
                </a:tc>
                <a:tc>
                  <a:txBody>
                    <a:bodyPr/>
                    <a:lstStyle/>
                    <a:p>
                      <a:pPr indent="0" lvl="0" marL="0" rtl="0" algn="l">
                        <a:spcBef>
                          <a:spcPts val="0"/>
                        </a:spcBef>
                        <a:spcAft>
                          <a:spcPts val="0"/>
                        </a:spcAft>
                        <a:buNone/>
                      </a:pPr>
                      <a:r>
                        <a:rPr lang="en" sz="1200"/>
                        <a:t>yes</a:t>
                      </a:r>
                      <a:endParaRPr sz="1200"/>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 sz="1200"/>
                        <a:t>no</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264800">
                <a:tc>
                  <a:txBody>
                    <a:bodyPr/>
                    <a:lstStyle/>
                    <a:p>
                      <a:pPr indent="0" lvl="0" marL="0" rtl="0" algn="l">
                        <a:lnSpc>
                          <a:spcPct val="115000"/>
                        </a:lnSpc>
                        <a:spcBef>
                          <a:spcPts val="0"/>
                        </a:spcBef>
                        <a:spcAft>
                          <a:spcPts val="1200"/>
                        </a:spcAft>
                        <a:buNone/>
                      </a:pPr>
                      <a:r>
                        <a:rPr lang="en" sz="1200">
                          <a:solidFill>
                            <a:srgbClr val="1F2328"/>
                          </a:solidFill>
                          <a:highlight>
                            <a:srgbClr val="FFFFFF"/>
                          </a:highlight>
                        </a:rPr>
                        <a:t>fat</a:t>
                      </a:r>
                      <a:endParaRPr sz="1200">
                        <a:solidFill>
                          <a:srgbClr val="1F2328"/>
                        </a:solidFill>
                        <a:highlight>
                          <a:srgbClr val="FFFFFF"/>
                        </a:highlight>
                      </a:endParaRPr>
                    </a:p>
                  </a:txBody>
                  <a:tcPr marT="63500" marB="63500" marR="127000" marL="127000">
                    <a:lnL cap="flat" cmpd="sng" w="5300">
                      <a:solidFill>
                        <a:srgbClr val="D1D9E0"/>
                      </a:solidFill>
                      <a:prstDash val="solid"/>
                      <a:round/>
                      <a:headEnd len="sm" w="sm" type="none"/>
                      <a:tailEnd len="sm" w="sm" type="none"/>
                    </a:lnL>
                    <a:lnR cap="flat" cmpd="sng" w="5300">
                      <a:solidFill>
                        <a:srgbClr val="D1D9E0"/>
                      </a:solidFill>
                      <a:prstDash val="solid"/>
                      <a:round/>
                      <a:headEnd len="sm" w="sm" type="none"/>
                      <a:tailEnd len="sm" w="sm" type="none"/>
                    </a:lnR>
                    <a:lnT cap="flat" cmpd="sng" w="5300">
                      <a:solidFill>
                        <a:srgbClr val="D1D9E0"/>
                      </a:solidFill>
                      <a:prstDash val="solid"/>
                      <a:round/>
                      <a:headEnd len="sm" w="sm" type="none"/>
                      <a:tailEnd len="sm" w="sm" type="none"/>
                    </a:lnT>
                    <a:lnB cap="flat" cmpd="sng" w="5300">
                      <a:solidFill>
                        <a:srgbClr val="D1D9E0"/>
                      </a:solidFill>
                      <a:prstDash val="solid"/>
                      <a:round/>
                      <a:headEnd len="sm" w="sm" type="none"/>
                      <a:tailEnd len="sm" w="sm" type="none"/>
                    </a:lnB>
                  </a:tcPr>
                </a:tc>
                <a:tc>
                  <a:txBody>
                    <a:bodyPr/>
                    <a:lstStyle/>
                    <a:p>
                      <a:pPr indent="0" lvl="0" marL="0" rtl="0" algn="l">
                        <a:spcBef>
                          <a:spcPts val="0"/>
                        </a:spcBef>
                        <a:spcAft>
                          <a:spcPts val="0"/>
                        </a:spcAft>
                        <a:buNone/>
                      </a:pPr>
                      <a:r>
                        <a:rPr lang="en" sz="1200"/>
                        <a:t>yes</a:t>
                      </a:r>
                      <a:endParaRPr sz="1200"/>
                    </a:p>
                  </a:txBody>
                  <a:tcPr marT="91425" marB="91425" marR="91425" marL="91425">
                    <a:lnL cap="flat" cmpd="sng" w="5300">
                      <a:solidFill>
                        <a:srgbClr val="D1D9E0"/>
                      </a:solidFill>
                      <a:prstDash val="solid"/>
                      <a:round/>
                      <a:headEnd len="sm" w="sm" type="none"/>
                      <a:tailEnd len="sm" w="sm" type="none"/>
                    </a:lnL>
                  </a:tcPr>
                </a:tc>
                <a:tc>
                  <a:txBody>
                    <a:bodyPr/>
                    <a:lstStyle/>
                    <a:p>
                      <a:pPr indent="0" lvl="0" marL="0" rtl="0" algn="l">
                        <a:spcBef>
                          <a:spcPts val="0"/>
                        </a:spcBef>
                        <a:spcAft>
                          <a:spcPts val="0"/>
                        </a:spcAft>
                        <a:buNone/>
                      </a:pPr>
                      <a:r>
                        <a:rPr lang="en" sz="1200"/>
                        <a:t>numeric</a:t>
                      </a:r>
                      <a:endParaRPr sz="1200"/>
                    </a:p>
                  </a:txBody>
                  <a:tcPr marT="91425" marB="91425" marR="91425" marL="91425"/>
                </a:tc>
                <a:tc>
                  <a:txBody>
                    <a:bodyPr/>
                    <a:lstStyle/>
                    <a:p>
                      <a:pPr indent="0" lvl="0" marL="0" rtl="0" algn="l">
                        <a:spcBef>
                          <a:spcPts val="0"/>
                        </a:spcBef>
                        <a:spcAft>
                          <a:spcPts val="0"/>
                        </a:spcAft>
                        <a:buNone/>
                      </a:pPr>
                      <a:r>
                        <a:rPr lang="en" sz="1200"/>
                        <a:t>yes</a:t>
                      </a:r>
                      <a:endParaRPr sz="1200"/>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 sz="1200"/>
                        <a:t>no</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264800">
                <a:tc>
                  <a:txBody>
                    <a:bodyPr/>
                    <a:lstStyle/>
                    <a:p>
                      <a:pPr indent="0" lvl="0" marL="0" rtl="0" algn="l">
                        <a:lnSpc>
                          <a:spcPct val="115000"/>
                        </a:lnSpc>
                        <a:spcBef>
                          <a:spcPts val="0"/>
                        </a:spcBef>
                        <a:spcAft>
                          <a:spcPts val="1200"/>
                        </a:spcAft>
                        <a:buNone/>
                      </a:pPr>
                      <a:r>
                        <a:rPr lang="en" sz="1200">
                          <a:solidFill>
                            <a:srgbClr val="1F2328"/>
                          </a:solidFill>
                          <a:highlight>
                            <a:srgbClr val="FFFFFF"/>
                          </a:highlight>
                        </a:rPr>
                        <a:t>carbs</a:t>
                      </a:r>
                      <a:endParaRPr sz="1200">
                        <a:solidFill>
                          <a:srgbClr val="1F2328"/>
                        </a:solidFill>
                        <a:highlight>
                          <a:srgbClr val="FFFFFF"/>
                        </a:highlight>
                      </a:endParaRPr>
                    </a:p>
                  </a:txBody>
                  <a:tcPr marT="63500" marB="63500" marR="127000" marL="127000">
                    <a:lnL cap="flat" cmpd="sng" w="5300">
                      <a:solidFill>
                        <a:srgbClr val="D1D9E0"/>
                      </a:solidFill>
                      <a:prstDash val="solid"/>
                      <a:round/>
                      <a:headEnd len="sm" w="sm" type="none"/>
                      <a:tailEnd len="sm" w="sm" type="none"/>
                    </a:lnL>
                    <a:lnR cap="flat" cmpd="sng" w="5300">
                      <a:solidFill>
                        <a:srgbClr val="D1D9E0"/>
                      </a:solidFill>
                      <a:prstDash val="solid"/>
                      <a:round/>
                      <a:headEnd len="sm" w="sm" type="none"/>
                      <a:tailEnd len="sm" w="sm" type="none"/>
                    </a:lnR>
                    <a:lnT cap="flat" cmpd="sng" w="5300">
                      <a:solidFill>
                        <a:srgbClr val="D1D9E0"/>
                      </a:solidFill>
                      <a:prstDash val="solid"/>
                      <a:round/>
                      <a:headEnd len="sm" w="sm" type="none"/>
                      <a:tailEnd len="sm" w="sm" type="none"/>
                    </a:lnT>
                    <a:lnB cap="flat" cmpd="sng" w="5300">
                      <a:solidFill>
                        <a:srgbClr val="D1D9E0"/>
                      </a:solidFill>
                      <a:prstDash val="solid"/>
                      <a:round/>
                      <a:headEnd len="sm" w="sm" type="none"/>
                      <a:tailEnd len="sm" w="sm" type="none"/>
                    </a:lnB>
                  </a:tcPr>
                </a:tc>
                <a:tc>
                  <a:txBody>
                    <a:bodyPr/>
                    <a:lstStyle/>
                    <a:p>
                      <a:pPr indent="0" lvl="0" marL="0" rtl="0" algn="l">
                        <a:spcBef>
                          <a:spcPts val="0"/>
                        </a:spcBef>
                        <a:spcAft>
                          <a:spcPts val="0"/>
                        </a:spcAft>
                        <a:buNone/>
                      </a:pPr>
                      <a:r>
                        <a:rPr lang="en" sz="1200"/>
                        <a:t>yes</a:t>
                      </a:r>
                      <a:endParaRPr sz="1200"/>
                    </a:p>
                  </a:txBody>
                  <a:tcPr marT="91425" marB="91425" marR="91425" marL="91425">
                    <a:lnL cap="flat" cmpd="sng" w="5300">
                      <a:solidFill>
                        <a:srgbClr val="D1D9E0"/>
                      </a:solidFill>
                      <a:prstDash val="solid"/>
                      <a:round/>
                      <a:headEnd len="sm" w="sm" type="none"/>
                      <a:tailEnd len="sm" w="sm" type="none"/>
                    </a:lnL>
                  </a:tcPr>
                </a:tc>
                <a:tc>
                  <a:txBody>
                    <a:bodyPr/>
                    <a:lstStyle/>
                    <a:p>
                      <a:pPr indent="0" lvl="0" marL="0" rtl="0" algn="l">
                        <a:spcBef>
                          <a:spcPts val="0"/>
                        </a:spcBef>
                        <a:spcAft>
                          <a:spcPts val="0"/>
                        </a:spcAft>
                        <a:buNone/>
                      </a:pPr>
                      <a:r>
                        <a:rPr lang="en" sz="1200"/>
                        <a:t>numeric</a:t>
                      </a:r>
                      <a:endParaRPr sz="1200"/>
                    </a:p>
                  </a:txBody>
                  <a:tcPr marT="91425" marB="91425" marR="91425" marL="91425"/>
                </a:tc>
                <a:tc>
                  <a:txBody>
                    <a:bodyPr/>
                    <a:lstStyle/>
                    <a:p>
                      <a:pPr indent="0" lvl="0" marL="0" rtl="0" algn="l">
                        <a:spcBef>
                          <a:spcPts val="0"/>
                        </a:spcBef>
                        <a:spcAft>
                          <a:spcPts val="0"/>
                        </a:spcAft>
                        <a:buNone/>
                      </a:pPr>
                      <a:r>
                        <a:rPr lang="en" sz="1200"/>
                        <a:t>yes</a:t>
                      </a:r>
                      <a:endParaRPr sz="1200"/>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 sz="1200"/>
                        <a:t>no</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50"/>
          <p:cNvSpPr txBox="1"/>
          <p:nvPr>
            <p:ph type="title"/>
          </p:nvPr>
        </p:nvSpPr>
        <p:spPr>
          <a:xfrm>
            <a:off x="1303800" y="233125"/>
            <a:ext cx="7030500" cy="999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MINI UPDATE #1- DATA PROFILE CONTINUED</a:t>
            </a:r>
            <a:endParaRPr/>
          </a:p>
          <a:p>
            <a:pPr indent="0" lvl="0" marL="0" rtl="0" algn="l">
              <a:spcBef>
                <a:spcPts val="0"/>
              </a:spcBef>
              <a:spcAft>
                <a:spcPts val="0"/>
              </a:spcAft>
              <a:buNone/>
            </a:pPr>
            <a:r>
              <a:t/>
            </a:r>
            <a:endParaRPr/>
          </a:p>
        </p:txBody>
      </p:sp>
      <p:sp>
        <p:nvSpPr>
          <p:cNvPr id="544" name="Google Shape;544;p50"/>
          <p:cNvSpPr txBox="1"/>
          <p:nvPr/>
        </p:nvSpPr>
        <p:spPr>
          <a:xfrm>
            <a:off x="1303800" y="1022428"/>
            <a:ext cx="2375400" cy="21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1200">
                <a:solidFill>
                  <a:schemeClr val="dk2"/>
                </a:solidFill>
                <a:latin typeface="Nunito"/>
                <a:ea typeface="Nunito"/>
                <a:cs typeface="Nunito"/>
                <a:sym typeface="Nunito"/>
              </a:rPr>
              <a:t>all_recipes:</a:t>
            </a:r>
            <a:endParaRPr i="1" sz="1200">
              <a:solidFill>
                <a:schemeClr val="dk2"/>
              </a:solidFill>
              <a:latin typeface="Nunito"/>
              <a:ea typeface="Nunito"/>
              <a:cs typeface="Nunito"/>
              <a:sym typeface="Nunito"/>
            </a:endParaRPr>
          </a:p>
          <a:p>
            <a:pPr indent="0" lvl="0" marL="0" rtl="0" algn="l">
              <a:spcBef>
                <a:spcPts val="0"/>
              </a:spcBef>
              <a:spcAft>
                <a:spcPts val="0"/>
              </a:spcAft>
              <a:buNone/>
            </a:pPr>
            <a:r>
              <a:t/>
            </a:r>
            <a:endParaRPr sz="1300">
              <a:solidFill>
                <a:schemeClr val="dk2"/>
              </a:solidFill>
              <a:latin typeface="Nunito"/>
              <a:ea typeface="Nunito"/>
              <a:cs typeface="Nunito"/>
              <a:sym typeface="Nunito"/>
            </a:endParaRPr>
          </a:p>
        </p:txBody>
      </p:sp>
      <p:graphicFrame>
        <p:nvGraphicFramePr>
          <p:cNvPr id="545" name="Google Shape;545;p50"/>
          <p:cNvGraphicFramePr/>
          <p:nvPr/>
        </p:nvGraphicFramePr>
        <p:xfrm>
          <a:off x="507913" y="1353846"/>
          <a:ext cx="3000000" cy="3000000"/>
        </p:xfrm>
        <a:graphic>
          <a:graphicData uri="http://schemas.openxmlformats.org/drawingml/2006/table">
            <a:tbl>
              <a:tblPr>
                <a:noFill/>
                <a:tableStyleId>{F8A4D223-EC07-4144-BB5C-E1EA1BCDE6FE}</a:tableStyleId>
              </a:tblPr>
              <a:tblGrid>
                <a:gridCol w="1561425"/>
                <a:gridCol w="1561425"/>
                <a:gridCol w="2021600"/>
                <a:gridCol w="1336675"/>
                <a:gridCol w="1647050"/>
              </a:tblGrid>
              <a:tr h="574150">
                <a:tc>
                  <a:txBody>
                    <a:bodyPr/>
                    <a:lstStyle/>
                    <a:p>
                      <a:pPr indent="0" lvl="0" marL="0" rtl="0" algn="l">
                        <a:spcBef>
                          <a:spcPts val="0"/>
                        </a:spcBef>
                        <a:spcAft>
                          <a:spcPts val="0"/>
                        </a:spcAft>
                        <a:buNone/>
                      </a:pPr>
                      <a:r>
                        <a:rPr lang="en"/>
                        <a:t>Column Name</a:t>
                      </a:r>
                      <a:endParaRPr/>
                    </a:p>
                  </a:txBody>
                  <a:tcPr marT="91425" marB="91425" marR="91425" marL="91425">
                    <a:lnB cap="flat" cmpd="sng" w="5300">
                      <a:solidFill>
                        <a:srgbClr val="D1D9E0"/>
                      </a:solidFill>
                      <a:prstDash val="solid"/>
                      <a:round/>
                      <a:headEnd len="sm" w="sm" type="none"/>
                      <a:tailEnd len="sm" w="sm" type="none"/>
                    </a:lnB>
                  </a:tcPr>
                </a:tc>
                <a:tc>
                  <a:txBody>
                    <a:bodyPr/>
                    <a:lstStyle/>
                    <a:p>
                      <a:pPr indent="0" lvl="0" marL="0" rtl="0" algn="l">
                        <a:spcBef>
                          <a:spcPts val="0"/>
                        </a:spcBef>
                        <a:spcAft>
                          <a:spcPts val="0"/>
                        </a:spcAft>
                        <a:buNone/>
                      </a:pPr>
                      <a:r>
                        <a:rPr lang="en"/>
                        <a:t>Has missing value?</a:t>
                      </a:r>
                      <a:endParaRPr/>
                    </a:p>
                  </a:txBody>
                  <a:tcPr marT="91425" marB="91425" marR="91425" marL="91425"/>
                </a:tc>
                <a:tc>
                  <a:txBody>
                    <a:bodyPr/>
                    <a:lstStyle/>
                    <a:p>
                      <a:pPr indent="0" lvl="0" marL="0" rtl="0" algn="l">
                        <a:spcBef>
                          <a:spcPts val="0"/>
                        </a:spcBef>
                        <a:spcAft>
                          <a:spcPts val="0"/>
                        </a:spcAft>
                        <a:buNone/>
                      </a:pPr>
                      <a:r>
                        <a:rPr lang="en"/>
                        <a:t>Data Type(Discrete or numeric or free text)</a:t>
                      </a:r>
                      <a:endParaRPr/>
                    </a:p>
                  </a:txBody>
                  <a:tcPr marT="91425" marB="91425" marR="91425" marL="91425"/>
                </a:tc>
                <a:tc>
                  <a:txBody>
                    <a:bodyPr/>
                    <a:lstStyle/>
                    <a:p>
                      <a:pPr indent="0" lvl="0" marL="0" rtl="0" algn="l">
                        <a:spcBef>
                          <a:spcPts val="0"/>
                        </a:spcBef>
                        <a:spcAft>
                          <a:spcPts val="0"/>
                        </a:spcAft>
                        <a:buNone/>
                      </a:pPr>
                      <a:r>
                        <a:rPr lang="en"/>
                        <a:t>Useful?</a:t>
                      </a:r>
                      <a:endParaRPr/>
                    </a:p>
                  </a:txBody>
                  <a:tcPr marT="91425" marB="91425" marR="91425" marL="91425"/>
                </a:tc>
                <a:tc>
                  <a:txBody>
                    <a:bodyPr/>
                    <a:lstStyle/>
                    <a:p>
                      <a:pPr indent="0" lvl="0" marL="0" rtl="0" algn="l">
                        <a:spcBef>
                          <a:spcPts val="0"/>
                        </a:spcBef>
                        <a:spcAft>
                          <a:spcPts val="0"/>
                        </a:spcAft>
                        <a:buNone/>
                      </a:pPr>
                      <a:r>
                        <a:rPr lang="en"/>
                        <a:t>Need cleaning or processing?</a:t>
                      </a:r>
                      <a:endParaRPr/>
                    </a:p>
                  </a:txBody>
                  <a:tcPr marT="91425" marB="91425" marR="91425" marL="91425"/>
                </a:tc>
              </a:tr>
              <a:tr h="361650">
                <a:tc>
                  <a:txBody>
                    <a:bodyPr/>
                    <a:lstStyle/>
                    <a:p>
                      <a:pPr indent="0" lvl="0" marL="0" rtl="0" algn="l">
                        <a:lnSpc>
                          <a:spcPct val="115000"/>
                        </a:lnSpc>
                        <a:spcBef>
                          <a:spcPts val="0"/>
                        </a:spcBef>
                        <a:spcAft>
                          <a:spcPts val="1200"/>
                        </a:spcAft>
                        <a:buNone/>
                      </a:pPr>
                      <a:r>
                        <a:rPr lang="en" sz="1200">
                          <a:solidFill>
                            <a:srgbClr val="1F2328"/>
                          </a:solidFill>
                          <a:highlight>
                            <a:srgbClr val="FFFFFF"/>
                          </a:highlight>
                        </a:rPr>
                        <a:t>protein</a:t>
                      </a:r>
                      <a:endParaRPr sz="1200">
                        <a:solidFill>
                          <a:srgbClr val="1F2328"/>
                        </a:solidFill>
                        <a:highlight>
                          <a:srgbClr val="FFFFFF"/>
                        </a:highlight>
                      </a:endParaRPr>
                    </a:p>
                  </a:txBody>
                  <a:tcPr marT="63500" marB="63500" marR="127000" marL="127000">
                    <a:lnL cap="flat" cmpd="sng" w="5300">
                      <a:solidFill>
                        <a:srgbClr val="D1D9E0"/>
                      </a:solidFill>
                      <a:prstDash val="solid"/>
                      <a:round/>
                      <a:headEnd len="sm" w="sm" type="none"/>
                      <a:tailEnd len="sm" w="sm" type="none"/>
                    </a:lnL>
                    <a:lnR cap="flat" cmpd="sng" w="5300">
                      <a:solidFill>
                        <a:srgbClr val="D1D9E0"/>
                      </a:solidFill>
                      <a:prstDash val="solid"/>
                      <a:round/>
                      <a:headEnd len="sm" w="sm" type="none"/>
                      <a:tailEnd len="sm" w="sm" type="none"/>
                    </a:lnR>
                    <a:lnT cap="flat" cmpd="sng" w="5300">
                      <a:solidFill>
                        <a:srgbClr val="D1D9E0"/>
                      </a:solidFill>
                      <a:prstDash val="solid"/>
                      <a:round/>
                      <a:headEnd len="sm" w="sm" type="none"/>
                      <a:tailEnd len="sm" w="sm" type="none"/>
                    </a:lnT>
                    <a:lnB cap="flat" cmpd="sng" w="5300">
                      <a:solidFill>
                        <a:srgbClr val="D1D9E0"/>
                      </a:solidFill>
                      <a:prstDash val="solid"/>
                      <a:round/>
                      <a:headEnd len="sm" w="sm" type="none"/>
                      <a:tailEnd len="sm" w="sm" type="none"/>
                    </a:lnB>
                  </a:tcPr>
                </a:tc>
                <a:tc>
                  <a:txBody>
                    <a:bodyPr/>
                    <a:lstStyle/>
                    <a:p>
                      <a:pPr indent="0" lvl="0" marL="0" rtl="0" algn="l">
                        <a:spcBef>
                          <a:spcPts val="0"/>
                        </a:spcBef>
                        <a:spcAft>
                          <a:spcPts val="0"/>
                        </a:spcAft>
                        <a:buNone/>
                      </a:pPr>
                      <a:r>
                        <a:rPr lang="en"/>
                        <a:t>yes</a:t>
                      </a:r>
                      <a:endParaRPr/>
                    </a:p>
                  </a:txBody>
                  <a:tcPr marT="91425" marB="91425" marR="91425" marL="91425">
                    <a:lnL cap="flat" cmpd="sng" w="5300">
                      <a:solidFill>
                        <a:srgbClr val="D1D9E0"/>
                      </a:solidFill>
                      <a:prstDash val="solid"/>
                      <a:round/>
                      <a:headEnd len="sm" w="sm" type="none"/>
                      <a:tailEnd len="sm" w="sm" type="none"/>
                    </a:lnL>
                  </a:tcPr>
                </a:tc>
                <a:tc>
                  <a:txBody>
                    <a:bodyPr/>
                    <a:lstStyle/>
                    <a:p>
                      <a:pPr indent="0" lvl="0" marL="0" rtl="0" algn="l">
                        <a:spcBef>
                          <a:spcPts val="0"/>
                        </a:spcBef>
                        <a:spcAft>
                          <a:spcPts val="0"/>
                        </a:spcAft>
                        <a:buNone/>
                      </a:pPr>
                      <a:r>
                        <a:rPr lang="en"/>
                        <a:t>numeric</a:t>
                      </a:r>
                      <a:endParaRPr/>
                    </a:p>
                  </a:txBody>
                  <a:tcPr marT="91425" marB="91425" marR="91425" marL="91425"/>
                </a:tc>
                <a:tc>
                  <a:txBody>
                    <a:bodyPr/>
                    <a:lstStyle/>
                    <a:p>
                      <a:pPr indent="0" lvl="0" marL="0" rtl="0" algn="l">
                        <a:spcBef>
                          <a:spcPts val="0"/>
                        </a:spcBef>
                        <a:spcAft>
                          <a:spcPts val="0"/>
                        </a:spcAft>
                        <a:buNone/>
                      </a:pPr>
                      <a:r>
                        <a:rPr lang="en"/>
                        <a:t>yes</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r>
              <a:tr h="361650">
                <a:tc>
                  <a:txBody>
                    <a:bodyPr/>
                    <a:lstStyle/>
                    <a:p>
                      <a:pPr indent="0" lvl="0" marL="0" rtl="0" algn="l">
                        <a:lnSpc>
                          <a:spcPct val="115000"/>
                        </a:lnSpc>
                        <a:spcBef>
                          <a:spcPts val="0"/>
                        </a:spcBef>
                        <a:spcAft>
                          <a:spcPts val="1200"/>
                        </a:spcAft>
                        <a:buNone/>
                      </a:pPr>
                      <a:r>
                        <a:rPr lang="en" sz="1200">
                          <a:solidFill>
                            <a:srgbClr val="1F2328"/>
                          </a:solidFill>
                          <a:highlight>
                            <a:srgbClr val="FFFFFF"/>
                          </a:highlight>
                        </a:rPr>
                        <a:t>avg_rating</a:t>
                      </a:r>
                      <a:endParaRPr sz="1200">
                        <a:solidFill>
                          <a:srgbClr val="1F2328"/>
                        </a:solidFill>
                        <a:highlight>
                          <a:srgbClr val="FFFFFF"/>
                        </a:highlight>
                      </a:endParaRPr>
                    </a:p>
                  </a:txBody>
                  <a:tcPr marT="63500" marB="63500" marR="127000" marL="127000">
                    <a:lnL cap="flat" cmpd="sng" w="5300">
                      <a:solidFill>
                        <a:srgbClr val="D1D9E0"/>
                      </a:solidFill>
                      <a:prstDash val="solid"/>
                      <a:round/>
                      <a:headEnd len="sm" w="sm" type="none"/>
                      <a:tailEnd len="sm" w="sm" type="none"/>
                    </a:lnL>
                    <a:lnR cap="flat" cmpd="sng" w="5300">
                      <a:solidFill>
                        <a:srgbClr val="D1D9E0"/>
                      </a:solidFill>
                      <a:prstDash val="solid"/>
                      <a:round/>
                      <a:headEnd len="sm" w="sm" type="none"/>
                      <a:tailEnd len="sm" w="sm" type="none"/>
                    </a:lnR>
                    <a:lnT cap="flat" cmpd="sng" w="5300">
                      <a:solidFill>
                        <a:srgbClr val="D1D9E0"/>
                      </a:solidFill>
                      <a:prstDash val="solid"/>
                      <a:round/>
                      <a:headEnd len="sm" w="sm" type="none"/>
                      <a:tailEnd len="sm" w="sm" type="none"/>
                    </a:lnT>
                    <a:lnB cap="flat" cmpd="sng" w="5300">
                      <a:solidFill>
                        <a:srgbClr val="D1D9E0"/>
                      </a:solidFill>
                      <a:prstDash val="solid"/>
                      <a:round/>
                      <a:headEnd len="sm" w="sm" type="none"/>
                      <a:tailEnd len="sm" w="sm" type="none"/>
                    </a:lnB>
                  </a:tcPr>
                </a:tc>
                <a:tc>
                  <a:txBody>
                    <a:bodyPr/>
                    <a:lstStyle/>
                    <a:p>
                      <a:pPr indent="0" lvl="0" marL="0" rtl="0" algn="l">
                        <a:spcBef>
                          <a:spcPts val="0"/>
                        </a:spcBef>
                        <a:spcAft>
                          <a:spcPts val="0"/>
                        </a:spcAft>
                        <a:buNone/>
                      </a:pPr>
                      <a:r>
                        <a:rPr lang="en"/>
                        <a:t>yes</a:t>
                      </a:r>
                      <a:endParaRPr/>
                    </a:p>
                  </a:txBody>
                  <a:tcPr marT="91425" marB="91425" marR="91425" marL="91425">
                    <a:lnL cap="flat" cmpd="sng" w="5300">
                      <a:solidFill>
                        <a:srgbClr val="D1D9E0"/>
                      </a:solidFill>
                      <a:prstDash val="solid"/>
                      <a:round/>
                      <a:headEnd len="sm" w="sm" type="none"/>
                      <a:tailEnd len="sm" w="sm" type="none"/>
                    </a:lnL>
                  </a:tcPr>
                </a:tc>
                <a:tc>
                  <a:txBody>
                    <a:bodyPr/>
                    <a:lstStyle/>
                    <a:p>
                      <a:pPr indent="0" lvl="0" marL="0" rtl="0" algn="l">
                        <a:spcBef>
                          <a:spcPts val="0"/>
                        </a:spcBef>
                        <a:spcAft>
                          <a:spcPts val="0"/>
                        </a:spcAft>
                        <a:buNone/>
                      </a:pPr>
                      <a:r>
                        <a:rPr lang="en"/>
                        <a:t>numeric</a:t>
                      </a:r>
                      <a:endParaRPr/>
                    </a:p>
                  </a:txBody>
                  <a:tcPr marT="91425" marB="91425" marR="91425" marL="91425"/>
                </a:tc>
                <a:tc>
                  <a:txBody>
                    <a:bodyPr/>
                    <a:lstStyle/>
                    <a:p>
                      <a:pPr indent="0" lvl="0" marL="0" rtl="0" algn="l">
                        <a:spcBef>
                          <a:spcPts val="0"/>
                        </a:spcBef>
                        <a:spcAft>
                          <a:spcPts val="0"/>
                        </a:spcAft>
                        <a:buNone/>
                      </a:pPr>
                      <a:r>
                        <a:rPr lang="en"/>
                        <a:t>yes</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r>
              <a:tr h="361650">
                <a:tc>
                  <a:txBody>
                    <a:bodyPr/>
                    <a:lstStyle/>
                    <a:p>
                      <a:pPr indent="0" lvl="0" marL="0" rtl="0" algn="l">
                        <a:lnSpc>
                          <a:spcPct val="115000"/>
                        </a:lnSpc>
                        <a:spcBef>
                          <a:spcPts val="0"/>
                        </a:spcBef>
                        <a:spcAft>
                          <a:spcPts val="1200"/>
                        </a:spcAft>
                        <a:buNone/>
                      </a:pPr>
                      <a:r>
                        <a:rPr lang="en" sz="1200">
                          <a:solidFill>
                            <a:srgbClr val="1F2328"/>
                          </a:solidFill>
                          <a:highlight>
                            <a:srgbClr val="FFFFFF"/>
                          </a:highlight>
                        </a:rPr>
                        <a:t>total_ratings</a:t>
                      </a:r>
                      <a:endParaRPr sz="1200">
                        <a:solidFill>
                          <a:srgbClr val="1F2328"/>
                        </a:solidFill>
                        <a:highlight>
                          <a:srgbClr val="FFFFFF"/>
                        </a:highlight>
                      </a:endParaRPr>
                    </a:p>
                  </a:txBody>
                  <a:tcPr marT="63500" marB="63500" marR="127000" marL="127000">
                    <a:lnL cap="flat" cmpd="sng" w="5300">
                      <a:solidFill>
                        <a:srgbClr val="D1D9E0"/>
                      </a:solidFill>
                      <a:prstDash val="solid"/>
                      <a:round/>
                      <a:headEnd len="sm" w="sm" type="none"/>
                      <a:tailEnd len="sm" w="sm" type="none"/>
                    </a:lnL>
                    <a:lnR cap="flat" cmpd="sng" w="5300">
                      <a:solidFill>
                        <a:srgbClr val="D1D9E0"/>
                      </a:solidFill>
                      <a:prstDash val="solid"/>
                      <a:round/>
                      <a:headEnd len="sm" w="sm" type="none"/>
                      <a:tailEnd len="sm" w="sm" type="none"/>
                    </a:lnR>
                    <a:lnT cap="flat" cmpd="sng" w="5300">
                      <a:solidFill>
                        <a:srgbClr val="D1D9E0"/>
                      </a:solidFill>
                      <a:prstDash val="solid"/>
                      <a:round/>
                      <a:headEnd len="sm" w="sm" type="none"/>
                      <a:tailEnd len="sm" w="sm" type="none"/>
                    </a:lnT>
                    <a:lnB cap="flat" cmpd="sng" w="5300">
                      <a:solidFill>
                        <a:srgbClr val="D1D9E0"/>
                      </a:solidFill>
                      <a:prstDash val="solid"/>
                      <a:round/>
                      <a:headEnd len="sm" w="sm" type="none"/>
                      <a:tailEnd len="sm" w="sm" type="none"/>
                    </a:lnB>
                  </a:tcPr>
                </a:tc>
                <a:tc>
                  <a:txBody>
                    <a:bodyPr/>
                    <a:lstStyle/>
                    <a:p>
                      <a:pPr indent="0" lvl="0" marL="0" rtl="0" algn="l">
                        <a:spcBef>
                          <a:spcPts val="0"/>
                        </a:spcBef>
                        <a:spcAft>
                          <a:spcPts val="0"/>
                        </a:spcAft>
                        <a:buNone/>
                      </a:pPr>
                      <a:r>
                        <a:rPr lang="en"/>
                        <a:t>yes</a:t>
                      </a:r>
                      <a:endParaRPr/>
                    </a:p>
                  </a:txBody>
                  <a:tcPr marT="91425" marB="91425" marR="91425" marL="91425">
                    <a:lnL cap="flat" cmpd="sng" w="5300">
                      <a:solidFill>
                        <a:srgbClr val="D1D9E0"/>
                      </a:solidFill>
                      <a:prstDash val="solid"/>
                      <a:round/>
                      <a:headEnd len="sm" w="sm" type="none"/>
                      <a:tailEnd len="sm" w="sm" type="none"/>
                    </a:lnL>
                  </a:tcPr>
                </a:tc>
                <a:tc>
                  <a:txBody>
                    <a:bodyPr/>
                    <a:lstStyle/>
                    <a:p>
                      <a:pPr indent="0" lvl="0" marL="0" rtl="0" algn="l">
                        <a:spcBef>
                          <a:spcPts val="0"/>
                        </a:spcBef>
                        <a:spcAft>
                          <a:spcPts val="0"/>
                        </a:spcAft>
                        <a:buNone/>
                      </a:pPr>
                      <a:r>
                        <a:rPr lang="en"/>
                        <a:t>numeric</a:t>
                      </a:r>
                      <a:endParaRPr/>
                    </a:p>
                  </a:txBody>
                  <a:tcPr marT="91425" marB="91425" marR="91425" marL="91425"/>
                </a:tc>
                <a:tc>
                  <a:txBody>
                    <a:bodyPr/>
                    <a:lstStyle/>
                    <a:p>
                      <a:pPr indent="0" lvl="0" marL="0" rtl="0" algn="l">
                        <a:spcBef>
                          <a:spcPts val="0"/>
                        </a:spcBef>
                        <a:spcAft>
                          <a:spcPts val="0"/>
                        </a:spcAft>
                        <a:buNone/>
                      </a:pPr>
                      <a:r>
                        <a:rPr lang="en"/>
                        <a:t>yes</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r>
              <a:tr h="361650">
                <a:tc>
                  <a:txBody>
                    <a:bodyPr/>
                    <a:lstStyle/>
                    <a:p>
                      <a:pPr indent="0" lvl="0" marL="0" rtl="0" algn="l">
                        <a:lnSpc>
                          <a:spcPct val="115000"/>
                        </a:lnSpc>
                        <a:spcBef>
                          <a:spcPts val="0"/>
                        </a:spcBef>
                        <a:spcAft>
                          <a:spcPts val="1200"/>
                        </a:spcAft>
                        <a:buNone/>
                      </a:pPr>
                      <a:r>
                        <a:rPr lang="en" sz="1200">
                          <a:solidFill>
                            <a:srgbClr val="1F2328"/>
                          </a:solidFill>
                          <a:highlight>
                            <a:srgbClr val="FFFFFF"/>
                          </a:highlight>
                        </a:rPr>
                        <a:t>reviews</a:t>
                      </a:r>
                      <a:endParaRPr sz="1200">
                        <a:solidFill>
                          <a:srgbClr val="1F2328"/>
                        </a:solidFill>
                        <a:highlight>
                          <a:srgbClr val="FFFFFF"/>
                        </a:highlight>
                      </a:endParaRPr>
                    </a:p>
                  </a:txBody>
                  <a:tcPr marT="63500" marB="63500" marR="127000" marL="127000">
                    <a:lnL cap="flat" cmpd="sng" w="5300">
                      <a:solidFill>
                        <a:srgbClr val="D1D9E0"/>
                      </a:solidFill>
                      <a:prstDash val="solid"/>
                      <a:round/>
                      <a:headEnd len="sm" w="sm" type="none"/>
                      <a:tailEnd len="sm" w="sm" type="none"/>
                    </a:lnL>
                    <a:lnR cap="flat" cmpd="sng" w="5300">
                      <a:solidFill>
                        <a:srgbClr val="D1D9E0"/>
                      </a:solidFill>
                      <a:prstDash val="solid"/>
                      <a:round/>
                      <a:headEnd len="sm" w="sm" type="none"/>
                      <a:tailEnd len="sm" w="sm" type="none"/>
                    </a:lnR>
                    <a:lnT cap="flat" cmpd="sng" w="5300">
                      <a:solidFill>
                        <a:srgbClr val="D1D9E0"/>
                      </a:solidFill>
                      <a:prstDash val="solid"/>
                      <a:round/>
                      <a:headEnd len="sm" w="sm" type="none"/>
                      <a:tailEnd len="sm" w="sm" type="none"/>
                    </a:lnT>
                    <a:lnB cap="flat" cmpd="sng" w="5300">
                      <a:solidFill>
                        <a:srgbClr val="D1D9E0"/>
                      </a:solidFill>
                      <a:prstDash val="solid"/>
                      <a:round/>
                      <a:headEnd len="sm" w="sm" type="none"/>
                      <a:tailEnd len="sm" w="sm" type="none"/>
                    </a:lnB>
                  </a:tcPr>
                </a:tc>
                <a:tc>
                  <a:txBody>
                    <a:bodyPr/>
                    <a:lstStyle/>
                    <a:p>
                      <a:pPr indent="0" lvl="0" marL="0" rtl="0" algn="l">
                        <a:spcBef>
                          <a:spcPts val="0"/>
                        </a:spcBef>
                        <a:spcAft>
                          <a:spcPts val="0"/>
                        </a:spcAft>
                        <a:buNone/>
                      </a:pPr>
                      <a:r>
                        <a:rPr lang="en"/>
                        <a:t>yes</a:t>
                      </a:r>
                      <a:endParaRPr/>
                    </a:p>
                  </a:txBody>
                  <a:tcPr marT="91425" marB="91425" marR="91425" marL="91425">
                    <a:lnL cap="flat" cmpd="sng" w="5300">
                      <a:solidFill>
                        <a:srgbClr val="D1D9E0"/>
                      </a:solidFill>
                      <a:prstDash val="solid"/>
                      <a:round/>
                      <a:headEnd len="sm" w="sm" type="none"/>
                      <a:tailEnd len="sm" w="sm" type="none"/>
                    </a:lnL>
                  </a:tcPr>
                </a:tc>
                <a:tc>
                  <a:txBody>
                    <a:bodyPr/>
                    <a:lstStyle/>
                    <a:p>
                      <a:pPr indent="0" lvl="0" marL="0" rtl="0" algn="l">
                        <a:spcBef>
                          <a:spcPts val="0"/>
                        </a:spcBef>
                        <a:spcAft>
                          <a:spcPts val="0"/>
                        </a:spcAft>
                        <a:buNone/>
                      </a:pPr>
                      <a:r>
                        <a:rPr lang="en"/>
                        <a:t>numeric</a:t>
                      </a:r>
                      <a:endParaRPr/>
                    </a:p>
                  </a:txBody>
                  <a:tcPr marT="91425" marB="91425" marR="91425" marL="91425"/>
                </a:tc>
                <a:tc>
                  <a:txBody>
                    <a:bodyPr/>
                    <a:lstStyle/>
                    <a:p>
                      <a:pPr indent="0" lvl="0" marL="0" rtl="0" algn="l">
                        <a:spcBef>
                          <a:spcPts val="0"/>
                        </a:spcBef>
                        <a:spcAft>
                          <a:spcPts val="0"/>
                        </a:spcAft>
                        <a:buNone/>
                      </a:pPr>
                      <a:r>
                        <a:rPr lang="en"/>
                        <a:t>yes</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r>
              <a:tr h="361650">
                <a:tc>
                  <a:txBody>
                    <a:bodyPr/>
                    <a:lstStyle/>
                    <a:p>
                      <a:pPr indent="0" lvl="0" marL="0" rtl="0" algn="l">
                        <a:lnSpc>
                          <a:spcPct val="115000"/>
                        </a:lnSpc>
                        <a:spcBef>
                          <a:spcPts val="0"/>
                        </a:spcBef>
                        <a:spcAft>
                          <a:spcPts val="1200"/>
                        </a:spcAft>
                        <a:buNone/>
                      </a:pPr>
                      <a:r>
                        <a:rPr lang="en" sz="1200">
                          <a:solidFill>
                            <a:srgbClr val="1F2328"/>
                          </a:solidFill>
                          <a:highlight>
                            <a:srgbClr val="FFFFFF"/>
                          </a:highlight>
                        </a:rPr>
                        <a:t>prep_time</a:t>
                      </a:r>
                      <a:endParaRPr sz="1200">
                        <a:solidFill>
                          <a:srgbClr val="1F2328"/>
                        </a:solidFill>
                        <a:highlight>
                          <a:srgbClr val="FFFFFF"/>
                        </a:highlight>
                      </a:endParaRPr>
                    </a:p>
                  </a:txBody>
                  <a:tcPr marT="63500" marB="63500" marR="127000" marL="127000">
                    <a:lnL cap="flat" cmpd="sng" w="5300">
                      <a:solidFill>
                        <a:srgbClr val="D1D9E0"/>
                      </a:solidFill>
                      <a:prstDash val="solid"/>
                      <a:round/>
                      <a:headEnd len="sm" w="sm" type="none"/>
                      <a:tailEnd len="sm" w="sm" type="none"/>
                    </a:lnL>
                    <a:lnR cap="flat" cmpd="sng" w="5300">
                      <a:solidFill>
                        <a:srgbClr val="D1D9E0"/>
                      </a:solidFill>
                      <a:prstDash val="solid"/>
                      <a:round/>
                      <a:headEnd len="sm" w="sm" type="none"/>
                      <a:tailEnd len="sm" w="sm" type="none"/>
                    </a:lnR>
                    <a:lnT cap="flat" cmpd="sng" w="5300">
                      <a:solidFill>
                        <a:srgbClr val="D1D9E0"/>
                      </a:solidFill>
                      <a:prstDash val="solid"/>
                      <a:round/>
                      <a:headEnd len="sm" w="sm" type="none"/>
                      <a:tailEnd len="sm" w="sm" type="none"/>
                    </a:lnT>
                    <a:lnB cap="flat" cmpd="sng" w="5300">
                      <a:solidFill>
                        <a:srgbClr val="D1D9E0"/>
                      </a:solidFill>
                      <a:prstDash val="solid"/>
                      <a:round/>
                      <a:headEnd len="sm" w="sm" type="none"/>
                      <a:tailEnd len="sm" w="sm" type="none"/>
                    </a:lnB>
                  </a:tcPr>
                </a:tc>
                <a:tc>
                  <a:txBody>
                    <a:bodyPr/>
                    <a:lstStyle/>
                    <a:p>
                      <a:pPr indent="0" lvl="0" marL="0" rtl="0" algn="l">
                        <a:spcBef>
                          <a:spcPts val="0"/>
                        </a:spcBef>
                        <a:spcAft>
                          <a:spcPts val="0"/>
                        </a:spcAft>
                        <a:buNone/>
                      </a:pPr>
                      <a:r>
                        <a:rPr lang="en"/>
                        <a:t>no</a:t>
                      </a:r>
                      <a:endParaRPr/>
                    </a:p>
                  </a:txBody>
                  <a:tcPr marT="91425" marB="91425" marR="91425" marL="91425">
                    <a:lnL cap="flat" cmpd="sng" w="5300">
                      <a:solidFill>
                        <a:srgbClr val="D1D9E0"/>
                      </a:solidFill>
                      <a:prstDash val="solid"/>
                      <a:round/>
                      <a:headEnd len="sm" w="sm" type="none"/>
                      <a:tailEnd len="sm" w="sm" type="none"/>
                    </a:lnL>
                  </a:tcPr>
                </a:tc>
                <a:tc>
                  <a:txBody>
                    <a:bodyPr/>
                    <a:lstStyle/>
                    <a:p>
                      <a:pPr indent="0" lvl="0" marL="0" rtl="0" algn="l">
                        <a:spcBef>
                          <a:spcPts val="0"/>
                        </a:spcBef>
                        <a:spcAft>
                          <a:spcPts val="0"/>
                        </a:spcAft>
                        <a:buNone/>
                      </a:pPr>
                      <a:r>
                        <a:rPr lang="en"/>
                        <a:t>numeric</a:t>
                      </a:r>
                      <a:endParaRPr/>
                    </a:p>
                  </a:txBody>
                  <a:tcPr marT="91425" marB="91425" marR="91425" marL="91425"/>
                </a:tc>
                <a:tc>
                  <a:txBody>
                    <a:bodyPr/>
                    <a:lstStyle/>
                    <a:p>
                      <a:pPr indent="0" lvl="0" marL="0" rtl="0" algn="l">
                        <a:spcBef>
                          <a:spcPts val="0"/>
                        </a:spcBef>
                        <a:spcAft>
                          <a:spcPts val="0"/>
                        </a:spcAft>
                        <a:buNone/>
                      </a:pPr>
                      <a:r>
                        <a:rPr lang="en"/>
                        <a:t>yes</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lnB cap="flat" cmpd="sng" w="9525">
                      <a:solidFill>
                        <a:srgbClr val="9E9E9E"/>
                      </a:solidFill>
                      <a:prstDash val="solid"/>
                      <a:round/>
                      <a:headEnd len="sm" w="sm" type="none"/>
                      <a:tailEnd len="sm" w="sm" type="none"/>
                    </a:lnB>
                  </a:tcPr>
                </a:tc>
              </a:tr>
              <a:tr h="361650">
                <a:tc>
                  <a:txBody>
                    <a:bodyPr/>
                    <a:lstStyle/>
                    <a:p>
                      <a:pPr indent="0" lvl="0" marL="0" rtl="0" algn="l">
                        <a:lnSpc>
                          <a:spcPct val="115000"/>
                        </a:lnSpc>
                        <a:spcBef>
                          <a:spcPts val="0"/>
                        </a:spcBef>
                        <a:spcAft>
                          <a:spcPts val="1200"/>
                        </a:spcAft>
                        <a:buNone/>
                      </a:pPr>
                      <a:r>
                        <a:rPr lang="en" sz="1200">
                          <a:solidFill>
                            <a:srgbClr val="1F2328"/>
                          </a:solidFill>
                          <a:highlight>
                            <a:srgbClr val="FFFFFF"/>
                          </a:highlight>
                        </a:rPr>
                        <a:t>cook_time</a:t>
                      </a:r>
                      <a:endParaRPr sz="1200">
                        <a:solidFill>
                          <a:srgbClr val="1F2328"/>
                        </a:solidFill>
                        <a:highlight>
                          <a:srgbClr val="FFFFFF"/>
                        </a:highlight>
                      </a:endParaRPr>
                    </a:p>
                  </a:txBody>
                  <a:tcPr marT="63500" marB="63500" marR="127000" marL="127000">
                    <a:lnL cap="flat" cmpd="sng" w="5300">
                      <a:solidFill>
                        <a:srgbClr val="D1D9E0"/>
                      </a:solidFill>
                      <a:prstDash val="solid"/>
                      <a:round/>
                      <a:headEnd len="sm" w="sm" type="none"/>
                      <a:tailEnd len="sm" w="sm" type="none"/>
                    </a:lnL>
                    <a:lnR cap="flat" cmpd="sng" w="5300">
                      <a:solidFill>
                        <a:srgbClr val="D1D9E0"/>
                      </a:solidFill>
                      <a:prstDash val="solid"/>
                      <a:round/>
                      <a:headEnd len="sm" w="sm" type="none"/>
                      <a:tailEnd len="sm" w="sm" type="none"/>
                    </a:lnR>
                    <a:lnT cap="flat" cmpd="sng" w="5300">
                      <a:solidFill>
                        <a:srgbClr val="D1D9E0"/>
                      </a:solidFill>
                      <a:prstDash val="solid"/>
                      <a:round/>
                      <a:headEnd len="sm" w="sm" type="none"/>
                      <a:tailEnd len="sm" w="sm" type="none"/>
                    </a:lnT>
                    <a:lnB cap="flat" cmpd="sng" w="5300">
                      <a:solidFill>
                        <a:srgbClr val="D1D9E0"/>
                      </a:solidFill>
                      <a:prstDash val="solid"/>
                      <a:round/>
                      <a:headEnd len="sm" w="sm" type="none"/>
                      <a:tailEnd len="sm" w="sm" type="none"/>
                    </a:lnB>
                  </a:tcPr>
                </a:tc>
                <a:tc>
                  <a:txBody>
                    <a:bodyPr/>
                    <a:lstStyle/>
                    <a:p>
                      <a:pPr indent="0" lvl="0" marL="0" rtl="0" algn="l">
                        <a:spcBef>
                          <a:spcPts val="0"/>
                        </a:spcBef>
                        <a:spcAft>
                          <a:spcPts val="0"/>
                        </a:spcAft>
                        <a:buNone/>
                      </a:pPr>
                      <a:r>
                        <a:rPr lang="en"/>
                        <a:t>no</a:t>
                      </a:r>
                      <a:endParaRPr/>
                    </a:p>
                  </a:txBody>
                  <a:tcPr marT="91425" marB="91425" marR="91425" marL="91425">
                    <a:lnL cap="flat" cmpd="sng" w="5300">
                      <a:solidFill>
                        <a:srgbClr val="D1D9E0"/>
                      </a:solidFill>
                      <a:prstDash val="solid"/>
                      <a:round/>
                      <a:headEnd len="sm" w="sm" type="none"/>
                      <a:tailEnd len="sm" w="sm" type="none"/>
                    </a:lnL>
                  </a:tcPr>
                </a:tc>
                <a:tc>
                  <a:txBody>
                    <a:bodyPr/>
                    <a:lstStyle/>
                    <a:p>
                      <a:pPr indent="0" lvl="0" marL="0" rtl="0" algn="l">
                        <a:spcBef>
                          <a:spcPts val="0"/>
                        </a:spcBef>
                        <a:spcAft>
                          <a:spcPts val="0"/>
                        </a:spcAft>
                        <a:buNone/>
                      </a:pPr>
                      <a:r>
                        <a:rPr lang="en"/>
                        <a:t>numeric</a:t>
                      </a:r>
                      <a:endParaRPr/>
                    </a:p>
                  </a:txBody>
                  <a:tcPr marT="91425" marB="91425" marR="91425" marL="91425"/>
                </a:tc>
                <a:tc>
                  <a:txBody>
                    <a:bodyPr/>
                    <a:lstStyle/>
                    <a:p>
                      <a:pPr indent="0" lvl="0" marL="0" rtl="0" algn="l">
                        <a:spcBef>
                          <a:spcPts val="0"/>
                        </a:spcBef>
                        <a:spcAft>
                          <a:spcPts val="0"/>
                        </a:spcAft>
                        <a:buNone/>
                      </a:pPr>
                      <a:r>
                        <a:rPr lang="en"/>
                        <a:t>yes</a:t>
                      </a:r>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 sz="1200"/>
                        <a:t>no</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61650">
                <a:tc>
                  <a:txBody>
                    <a:bodyPr/>
                    <a:lstStyle/>
                    <a:p>
                      <a:pPr indent="0" lvl="0" marL="0" rtl="0" algn="l">
                        <a:lnSpc>
                          <a:spcPct val="115000"/>
                        </a:lnSpc>
                        <a:spcBef>
                          <a:spcPts val="0"/>
                        </a:spcBef>
                        <a:spcAft>
                          <a:spcPts val="1200"/>
                        </a:spcAft>
                        <a:buNone/>
                      </a:pPr>
                      <a:r>
                        <a:rPr lang="en" sz="1200">
                          <a:solidFill>
                            <a:srgbClr val="1F2328"/>
                          </a:solidFill>
                          <a:highlight>
                            <a:srgbClr val="FFFFFF"/>
                          </a:highlight>
                        </a:rPr>
                        <a:t>t</a:t>
                      </a:r>
                      <a:r>
                        <a:rPr lang="en" sz="1200">
                          <a:solidFill>
                            <a:srgbClr val="1F2328"/>
                          </a:solidFill>
                          <a:highlight>
                            <a:srgbClr val="FFFFFF"/>
                          </a:highlight>
                        </a:rPr>
                        <a:t>otal_time</a:t>
                      </a:r>
                      <a:endParaRPr sz="1200">
                        <a:solidFill>
                          <a:srgbClr val="1F2328"/>
                        </a:solidFill>
                        <a:highlight>
                          <a:srgbClr val="FFFFFF"/>
                        </a:highlight>
                      </a:endParaRPr>
                    </a:p>
                  </a:txBody>
                  <a:tcPr marT="63500" marB="63500" marR="127000" marL="127000">
                    <a:lnL cap="flat" cmpd="sng" w="5300">
                      <a:solidFill>
                        <a:srgbClr val="D1D9E0"/>
                      </a:solidFill>
                      <a:prstDash val="solid"/>
                      <a:round/>
                      <a:headEnd len="sm" w="sm" type="none"/>
                      <a:tailEnd len="sm" w="sm" type="none"/>
                    </a:lnL>
                    <a:lnR cap="flat" cmpd="sng" w="5300">
                      <a:solidFill>
                        <a:srgbClr val="D1D9E0"/>
                      </a:solidFill>
                      <a:prstDash val="solid"/>
                      <a:round/>
                      <a:headEnd len="sm" w="sm" type="none"/>
                      <a:tailEnd len="sm" w="sm" type="none"/>
                    </a:lnR>
                    <a:lnT cap="flat" cmpd="sng" w="5300">
                      <a:solidFill>
                        <a:srgbClr val="D1D9E0"/>
                      </a:solidFill>
                      <a:prstDash val="solid"/>
                      <a:round/>
                      <a:headEnd len="sm" w="sm" type="none"/>
                      <a:tailEnd len="sm" w="sm" type="none"/>
                    </a:lnT>
                    <a:lnB cap="flat" cmpd="sng" w="5300">
                      <a:solidFill>
                        <a:srgbClr val="D1D9E0"/>
                      </a:solidFill>
                      <a:prstDash val="solid"/>
                      <a:round/>
                      <a:headEnd len="sm" w="sm" type="none"/>
                      <a:tailEnd len="sm" w="sm" type="none"/>
                    </a:lnB>
                  </a:tcPr>
                </a:tc>
                <a:tc>
                  <a:txBody>
                    <a:bodyPr/>
                    <a:lstStyle/>
                    <a:p>
                      <a:pPr indent="0" lvl="0" marL="0" rtl="0" algn="l">
                        <a:spcBef>
                          <a:spcPts val="0"/>
                        </a:spcBef>
                        <a:spcAft>
                          <a:spcPts val="0"/>
                        </a:spcAft>
                        <a:buNone/>
                      </a:pPr>
                      <a:r>
                        <a:rPr lang="en"/>
                        <a:t>no</a:t>
                      </a:r>
                      <a:endParaRPr/>
                    </a:p>
                  </a:txBody>
                  <a:tcPr marT="91425" marB="91425" marR="91425" marL="91425">
                    <a:lnL cap="flat" cmpd="sng" w="5300">
                      <a:solidFill>
                        <a:srgbClr val="D1D9E0"/>
                      </a:solidFill>
                      <a:prstDash val="solid"/>
                      <a:round/>
                      <a:headEnd len="sm" w="sm" type="none"/>
                      <a:tailEnd len="sm" w="sm" type="none"/>
                    </a:lnL>
                  </a:tcPr>
                </a:tc>
                <a:tc>
                  <a:txBody>
                    <a:bodyPr/>
                    <a:lstStyle/>
                    <a:p>
                      <a:pPr indent="0" lvl="0" marL="0" rtl="0" algn="l">
                        <a:spcBef>
                          <a:spcPts val="0"/>
                        </a:spcBef>
                        <a:spcAft>
                          <a:spcPts val="0"/>
                        </a:spcAft>
                        <a:buNone/>
                      </a:pPr>
                      <a:r>
                        <a:rPr lang="en"/>
                        <a:t>numeric</a:t>
                      </a:r>
                      <a:endParaRPr/>
                    </a:p>
                  </a:txBody>
                  <a:tcPr marT="91425" marB="91425" marR="91425" marL="91425"/>
                </a:tc>
                <a:tc>
                  <a:txBody>
                    <a:bodyPr/>
                    <a:lstStyle/>
                    <a:p>
                      <a:pPr indent="0" lvl="0" marL="0" rtl="0" algn="l">
                        <a:spcBef>
                          <a:spcPts val="0"/>
                        </a:spcBef>
                        <a:spcAft>
                          <a:spcPts val="0"/>
                        </a:spcAft>
                        <a:buNone/>
                      </a:pPr>
                      <a:r>
                        <a:rPr lang="en"/>
                        <a:t>yes</a:t>
                      </a:r>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 sz="1200"/>
                        <a:t>no</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61650">
                <a:tc>
                  <a:txBody>
                    <a:bodyPr/>
                    <a:lstStyle/>
                    <a:p>
                      <a:pPr indent="0" lvl="0" marL="0" rtl="0" algn="l">
                        <a:lnSpc>
                          <a:spcPct val="115000"/>
                        </a:lnSpc>
                        <a:spcBef>
                          <a:spcPts val="0"/>
                        </a:spcBef>
                        <a:spcAft>
                          <a:spcPts val="1200"/>
                        </a:spcAft>
                        <a:buNone/>
                      </a:pPr>
                      <a:r>
                        <a:rPr lang="en" sz="1200">
                          <a:solidFill>
                            <a:srgbClr val="1F2328"/>
                          </a:solidFill>
                          <a:highlight>
                            <a:srgbClr val="FFFFFF"/>
                          </a:highlight>
                        </a:rPr>
                        <a:t>servings</a:t>
                      </a:r>
                      <a:endParaRPr sz="1200">
                        <a:solidFill>
                          <a:srgbClr val="1F2328"/>
                        </a:solidFill>
                        <a:highlight>
                          <a:srgbClr val="FFFFFF"/>
                        </a:highlight>
                      </a:endParaRPr>
                    </a:p>
                  </a:txBody>
                  <a:tcPr marT="63500" marB="63500" marR="127000" marL="127000">
                    <a:lnL cap="flat" cmpd="sng" w="5300">
                      <a:solidFill>
                        <a:srgbClr val="D1D9E0"/>
                      </a:solidFill>
                      <a:prstDash val="solid"/>
                      <a:round/>
                      <a:headEnd len="sm" w="sm" type="none"/>
                      <a:tailEnd len="sm" w="sm" type="none"/>
                    </a:lnL>
                    <a:lnR cap="flat" cmpd="sng" w="5300">
                      <a:solidFill>
                        <a:srgbClr val="D1D9E0"/>
                      </a:solidFill>
                      <a:prstDash val="solid"/>
                      <a:round/>
                      <a:headEnd len="sm" w="sm" type="none"/>
                      <a:tailEnd len="sm" w="sm" type="none"/>
                    </a:lnR>
                    <a:lnT cap="flat" cmpd="sng" w="5300">
                      <a:solidFill>
                        <a:srgbClr val="D1D9E0"/>
                      </a:solidFill>
                      <a:prstDash val="solid"/>
                      <a:round/>
                      <a:headEnd len="sm" w="sm" type="none"/>
                      <a:tailEnd len="sm" w="sm" type="none"/>
                    </a:lnT>
                    <a:lnB cap="flat" cmpd="sng" w="5300">
                      <a:solidFill>
                        <a:srgbClr val="D1D9E0"/>
                      </a:solidFill>
                      <a:prstDash val="solid"/>
                      <a:round/>
                      <a:headEnd len="sm" w="sm" type="none"/>
                      <a:tailEnd len="sm" w="sm" type="none"/>
                    </a:lnB>
                  </a:tcPr>
                </a:tc>
                <a:tc>
                  <a:txBody>
                    <a:bodyPr/>
                    <a:lstStyle/>
                    <a:p>
                      <a:pPr indent="0" lvl="0" marL="0" rtl="0" algn="l">
                        <a:spcBef>
                          <a:spcPts val="0"/>
                        </a:spcBef>
                        <a:spcAft>
                          <a:spcPts val="0"/>
                        </a:spcAft>
                        <a:buNone/>
                      </a:pPr>
                      <a:r>
                        <a:rPr lang="en"/>
                        <a:t>YES</a:t>
                      </a:r>
                      <a:endParaRPr/>
                    </a:p>
                  </a:txBody>
                  <a:tcPr marT="91425" marB="91425" marR="91425" marL="91425">
                    <a:lnL cap="flat" cmpd="sng" w="5300">
                      <a:solidFill>
                        <a:srgbClr val="D1D9E0"/>
                      </a:solidFill>
                      <a:prstDash val="solid"/>
                      <a:round/>
                      <a:headEnd len="sm" w="sm" type="none"/>
                      <a:tailEnd len="sm" w="sm" type="none"/>
                    </a:lnL>
                  </a:tcPr>
                </a:tc>
                <a:tc>
                  <a:txBody>
                    <a:bodyPr/>
                    <a:lstStyle/>
                    <a:p>
                      <a:pPr indent="0" lvl="0" marL="0" rtl="0" algn="l">
                        <a:spcBef>
                          <a:spcPts val="0"/>
                        </a:spcBef>
                        <a:spcAft>
                          <a:spcPts val="0"/>
                        </a:spcAft>
                        <a:buNone/>
                      </a:pPr>
                      <a:r>
                        <a:rPr lang="en"/>
                        <a:t>discrete</a:t>
                      </a:r>
                      <a:endParaRPr/>
                    </a:p>
                  </a:txBody>
                  <a:tcPr marT="91425" marB="91425" marR="91425" marL="91425"/>
                </a:tc>
                <a:tc>
                  <a:txBody>
                    <a:bodyPr/>
                    <a:lstStyle/>
                    <a:p>
                      <a:pPr indent="0" lvl="0" marL="0" rtl="0" algn="l">
                        <a:spcBef>
                          <a:spcPts val="0"/>
                        </a:spcBef>
                        <a:spcAft>
                          <a:spcPts val="0"/>
                        </a:spcAft>
                        <a:buNone/>
                      </a:pPr>
                      <a:r>
                        <a:rPr lang="en"/>
                        <a:t>yes</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lnT cap="flat" cmpd="sng" w="9525">
                      <a:solidFill>
                        <a:srgbClr val="9E9E9E"/>
                      </a:solidFill>
                      <a:prstDash val="solid"/>
                      <a:round/>
                      <a:headEnd len="sm" w="sm" type="none"/>
                      <a:tailEnd len="sm" w="sm" type="none"/>
                    </a:lnT>
                  </a:tcPr>
                </a:tc>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 name="Shape 549"/>
        <p:cNvGrpSpPr/>
        <p:nvPr/>
      </p:nvGrpSpPr>
      <p:grpSpPr>
        <a:xfrm>
          <a:off x="0" y="0"/>
          <a:ext cx="0" cy="0"/>
          <a:chOff x="0" y="0"/>
          <a:chExt cx="0" cy="0"/>
        </a:xfrm>
      </p:grpSpPr>
      <p:sp>
        <p:nvSpPr>
          <p:cNvPr id="550" name="Google Shape;550;p51"/>
          <p:cNvSpPr txBox="1"/>
          <p:nvPr>
            <p:ph type="title"/>
          </p:nvPr>
        </p:nvSpPr>
        <p:spPr>
          <a:xfrm>
            <a:off x="1303800" y="77830"/>
            <a:ext cx="7030500" cy="999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MINI UPDATE #1- DATA PROFILE CONTINUED</a:t>
            </a:r>
            <a:endParaRPr/>
          </a:p>
          <a:p>
            <a:pPr indent="0" lvl="0" marL="0" rtl="0" algn="l">
              <a:spcBef>
                <a:spcPts val="0"/>
              </a:spcBef>
              <a:spcAft>
                <a:spcPts val="0"/>
              </a:spcAft>
              <a:buNone/>
            </a:pPr>
            <a:r>
              <a:t/>
            </a:r>
            <a:endParaRPr/>
          </a:p>
        </p:txBody>
      </p:sp>
      <p:sp>
        <p:nvSpPr>
          <p:cNvPr id="551" name="Google Shape;551;p51"/>
          <p:cNvSpPr txBox="1"/>
          <p:nvPr/>
        </p:nvSpPr>
        <p:spPr>
          <a:xfrm>
            <a:off x="1303800" y="775579"/>
            <a:ext cx="2585400" cy="23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1300">
                <a:solidFill>
                  <a:schemeClr val="dk2"/>
                </a:solidFill>
                <a:latin typeface="Nunito"/>
                <a:ea typeface="Nunito"/>
                <a:cs typeface="Nunito"/>
                <a:sym typeface="Nunito"/>
              </a:rPr>
              <a:t>cuisines</a:t>
            </a:r>
            <a:r>
              <a:rPr lang="en" sz="1300">
                <a:solidFill>
                  <a:schemeClr val="dk2"/>
                </a:solidFill>
                <a:latin typeface="Nunito"/>
                <a:ea typeface="Nunito"/>
                <a:cs typeface="Nunito"/>
                <a:sym typeface="Nunito"/>
              </a:rPr>
              <a:t>:</a:t>
            </a:r>
            <a:endParaRPr sz="1300">
              <a:solidFill>
                <a:schemeClr val="dk2"/>
              </a:solidFill>
              <a:latin typeface="Nunito"/>
              <a:ea typeface="Nunito"/>
              <a:cs typeface="Nunito"/>
              <a:sym typeface="Nunito"/>
            </a:endParaRPr>
          </a:p>
        </p:txBody>
      </p:sp>
      <p:graphicFrame>
        <p:nvGraphicFramePr>
          <p:cNvPr id="552" name="Google Shape;552;p51"/>
          <p:cNvGraphicFramePr/>
          <p:nvPr/>
        </p:nvGraphicFramePr>
        <p:xfrm>
          <a:off x="379925" y="1015822"/>
          <a:ext cx="3000000" cy="3000000"/>
        </p:xfrm>
        <a:graphic>
          <a:graphicData uri="http://schemas.openxmlformats.org/drawingml/2006/table">
            <a:tbl>
              <a:tblPr>
                <a:noFill/>
                <a:tableStyleId>{F8A4D223-EC07-4144-BB5C-E1EA1BCDE6FE}</a:tableStyleId>
              </a:tblPr>
              <a:tblGrid>
                <a:gridCol w="1561425"/>
                <a:gridCol w="1561425"/>
                <a:gridCol w="2021600"/>
                <a:gridCol w="1336675"/>
                <a:gridCol w="1647050"/>
              </a:tblGrid>
              <a:tr h="590725">
                <a:tc>
                  <a:txBody>
                    <a:bodyPr/>
                    <a:lstStyle/>
                    <a:p>
                      <a:pPr indent="0" lvl="0" marL="0" rtl="0" algn="l">
                        <a:spcBef>
                          <a:spcPts val="0"/>
                        </a:spcBef>
                        <a:spcAft>
                          <a:spcPts val="0"/>
                        </a:spcAft>
                        <a:buNone/>
                      </a:pPr>
                      <a:r>
                        <a:rPr lang="en"/>
                        <a:t>Column Name</a:t>
                      </a:r>
                      <a:endParaRPr/>
                    </a:p>
                  </a:txBody>
                  <a:tcPr marT="91425" marB="91425" marR="91425" marL="91425">
                    <a:lnB cap="flat" cmpd="sng" w="5300">
                      <a:solidFill>
                        <a:srgbClr val="D1D9E0"/>
                      </a:solidFill>
                      <a:prstDash val="solid"/>
                      <a:round/>
                      <a:headEnd len="sm" w="sm" type="none"/>
                      <a:tailEnd len="sm" w="sm" type="none"/>
                    </a:lnB>
                  </a:tcPr>
                </a:tc>
                <a:tc>
                  <a:txBody>
                    <a:bodyPr/>
                    <a:lstStyle/>
                    <a:p>
                      <a:pPr indent="0" lvl="0" marL="0" rtl="0" algn="l">
                        <a:spcBef>
                          <a:spcPts val="0"/>
                        </a:spcBef>
                        <a:spcAft>
                          <a:spcPts val="0"/>
                        </a:spcAft>
                        <a:buNone/>
                      </a:pPr>
                      <a:r>
                        <a:rPr lang="en"/>
                        <a:t>Has missing value?</a:t>
                      </a:r>
                      <a:endParaRPr/>
                    </a:p>
                  </a:txBody>
                  <a:tcPr marT="91425" marB="91425" marR="91425" marL="91425"/>
                </a:tc>
                <a:tc>
                  <a:txBody>
                    <a:bodyPr/>
                    <a:lstStyle/>
                    <a:p>
                      <a:pPr indent="0" lvl="0" marL="0" rtl="0" algn="l">
                        <a:spcBef>
                          <a:spcPts val="0"/>
                        </a:spcBef>
                        <a:spcAft>
                          <a:spcPts val="0"/>
                        </a:spcAft>
                        <a:buNone/>
                      </a:pPr>
                      <a:r>
                        <a:rPr lang="en"/>
                        <a:t>Data Type(Discrete or numeric or free text)</a:t>
                      </a:r>
                      <a:endParaRPr/>
                    </a:p>
                  </a:txBody>
                  <a:tcPr marT="91425" marB="91425" marR="91425" marL="91425"/>
                </a:tc>
                <a:tc>
                  <a:txBody>
                    <a:bodyPr/>
                    <a:lstStyle/>
                    <a:p>
                      <a:pPr indent="0" lvl="0" marL="0" rtl="0" algn="l">
                        <a:spcBef>
                          <a:spcPts val="0"/>
                        </a:spcBef>
                        <a:spcAft>
                          <a:spcPts val="0"/>
                        </a:spcAft>
                        <a:buNone/>
                      </a:pPr>
                      <a:r>
                        <a:rPr lang="en"/>
                        <a:t>Useful?</a:t>
                      </a:r>
                      <a:endParaRPr/>
                    </a:p>
                  </a:txBody>
                  <a:tcPr marT="91425" marB="91425" marR="91425" marL="91425"/>
                </a:tc>
                <a:tc>
                  <a:txBody>
                    <a:bodyPr/>
                    <a:lstStyle/>
                    <a:p>
                      <a:pPr indent="0" lvl="0" marL="0" rtl="0" algn="l">
                        <a:spcBef>
                          <a:spcPts val="0"/>
                        </a:spcBef>
                        <a:spcAft>
                          <a:spcPts val="0"/>
                        </a:spcAft>
                        <a:buNone/>
                      </a:pPr>
                      <a:r>
                        <a:rPr lang="en"/>
                        <a:t>Need cleaning or processing?</a:t>
                      </a:r>
                      <a:endParaRPr/>
                    </a:p>
                  </a:txBody>
                  <a:tcPr marT="91425" marB="91425" marR="91425" marL="91425"/>
                </a:tc>
              </a:tr>
              <a:tr h="383950">
                <a:tc>
                  <a:txBody>
                    <a:bodyPr/>
                    <a:lstStyle/>
                    <a:p>
                      <a:pPr indent="0" lvl="0" marL="0" rtl="0" algn="l">
                        <a:lnSpc>
                          <a:spcPct val="115000"/>
                        </a:lnSpc>
                        <a:spcBef>
                          <a:spcPts val="0"/>
                        </a:spcBef>
                        <a:spcAft>
                          <a:spcPts val="1200"/>
                        </a:spcAft>
                        <a:buNone/>
                      </a:pPr>
                      <a:r>
                        <a:rPr lang="en" sz="1200">
                          <a:solidFill>
                            <a:srgbClr val="1F2328"/>
                          </a:solidFill>
                          <a:highlight>
                            <a:srgbClr val="FFFFFF"/>
                          </a:highlight>
                        </a:rPr>
                        <a:t>name</a:t>
                      </a:r>
                      <a:endParaRPr sz="1200">
                        <a:solidFill>
                          <a:srgbClr val="1F2328"/>
                        </a:solidFill>
                        <a:highlight>
                          <a:srgbClr val="FFFFFF"/>
                        </a:highlight>
                      </a:endParaRPr>
                    </a:p>
                  </a:txBody>
                  <a:tcPr marT="63500" marB="63500" marR="127000" marL="127000">
                    <a:lnL cap="flat" cmpd="sng" w="5300">
                      <a:solidFill>
                        <a:srgbClr val="D1D9E0"/>
                      </a:solidFill>
                      <a:prstDash val="solid"/>
                      <a:round/>
                      <a:headEnd len="sm" w="sm" type="none"/>
                      <a:tailEnd len="sm" w="sm" type="none"/>
                    </a:lnL>
                    <a:lnR cap="flat" cmpd="sng" w="5300">
                      <a:solidFill>
                        <a:srgbClr val="D1D9E0"/>
                      </a:solidFill>
                      <a:prstDash val="solid"/>
                      <a:round/>
                      <a:headEnd len="sm" w="sm" type="none"/>
                      <a:tailEnd len="sm" w="sm" type="none"/>
                    </a:lnR>
                    <a:lnT cap="flat" cmpd="sng" w="5300">
                      <a:solidFill>
                        <a:srgbClr val="D1D9E0"/>
                      </a:solidFill>
                      <a:prstDash val="solid"/>
                      <a:round/>
                      <a:headEnd len="sm" w="sm" type="none"/>
                      <a:tailEnd len="sm" w="sm" type="none"/>
                    </a:lnT>
                    <a:lnB cap="flat" cmpd="sng" w="5300">
                      <a:solidFill>
                        <a:srgbClr val="D1D9E0"/>
                      </a:solidFill>
                      <a:prstDash val="solid"/>
                      <a:round/>
                      <a:headEnd len="sm" w="sm" type="none"/>
                      <a:tailEnd len="sm" w="sm" type="none"/>
                    </a:lnB>
                  </a:tcPr>
                </a:tc>
                <a:tc>
                  <a:txBody>
                    <a:bodyPr/>
                    <a:lstStyle/>
                    <a:p>
                      <a:pPr indent="0" lvl="0" marL="0" rtl="0" algn="l">
                        <a:spcBef>
                          <a:spcPts val="0"/>
                        </a:spcBef>
                        <a:spcAft>
                          <a:spcPts val="0"/>
                        </a:spcAft>
                        <a:buNone/>
                      </a:pPr>
                      <a:r>
                        <a:rPr lang="en"/>
                        <a:t>no</a:t>
                      </a:r>
                      <a:endParaRPr/>
                    </a:p>
                  </a:txBody>
                  <a:tcPr marT="91425" marB="91425" marR="91425" marL="91425">
                    <a:lnL cap="flat" cmpd="sng" w="5300">
                      <a:solidFill>
                        <a:srgbClr val="D1D9E0"/>
                      </a:solidFill>
                      <a:prstDash val="solid"/>
                      <a:round/>
                      <a:headEnd len="sm" w="sm" type="none"/>
                      <a:tailEnd len="sm" w="sm" type="none"/>
                    </a:lnL>
                  </a:tcPr>
                </a:tc>
                <a:tc>
                  <a:txBody>
                    <a:bodyPr/>
                    <a:lstStyle/>
                    <a:p>
                      <a:pPr indent="0" lvl="0" marL="0" rtl="0" algn="l">
                        <a:spcBef>
                          <a:spcPts val="0"/>
                        </a:spcBef>
                        <a:spcAft>
                          <a:spcPts val="0"/>
                        </a:spcAft>
                        <a:buNone/>
                      </a:pPr>
                      <a:r>
                        <a:rPr lang="en"/>
                        <a:t>Free text</a:t>
                      </a:r>
                      <a:endParaRPr/>
                    </a:p>
                  </a:txBody>
                  <a:tcPr marT="91425" marB="91425" marR="91425" marL="91425"/>
                </a:tc>
                <a:tc>
                  <a:txBody>
                    <a:bodyPr/>
                    <a:lstStyle/>
                    <a:p>
                      <a:pPr indent="0" lvl="0" marL="0" rtl="0" algn="l">
                        <a:spcBef>
                          <a:spcPts val="0"/>
                        </a:spcBef>
                        <a:spcAft>
                          <a:spcPts val="0"/>
                        </a:spcAft>
                        <a:buNone/>
                      </a:pPr>
                      <a:r>
                        <a:rPr lang="en"/>
                        <a:t>yes</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r>
              <a:tr h="383950">
                <a:tc>
                  <a:txBody>
                    <a:bodyPr/>
                    <a:lstStyle/>
                    <a:p>
                      <a:pPr indent="0" lvl="0" marL="0" rtl="0" algn="l">
                        <a:lnSpc>
                          <a:spcPct val="115000"/>
                        </a:lnSpc>
                        <a:spcBef>
                          <a:spcPts val="0"/>
                        </a:spcBef>
                        <a:spcAft>
                          <a:spcPts val="1200"/>
                        </a:spcAft>
                        <a:buNone/>
                      </a:pPr>
                      <a:r>
                        <a:rPr lang="en" sz="1200">
                          <a:solidFill>
                            <a:srgbClr val="1F2328"/>
                          </a:solidFill>
                          <a:highlight>
                            <a:srgbClr val="FFFFFF"/>
                          </a:highlight>
                        </a:rPr>
                        <a:t>country</a:t>
                      </a:r>
                      <a:endParaRPr sz="1200">
                        <a:solidFill>
                          <a:srgbClr val="1F2328"/>
                        </a:solidFill>
                        <a:highlight>
                          <a:srgbClr val="FFFFFF"/>
                        </a:highlight>
                      </a:endParaRPr>
                    </a:p>
                  </a:txBody>
                  <a:tcPr marT="63500" marB="63500" marR="127000" marL="127000">
                    <a:lnL cap="flat" cmpd="sng" w="5300">
                      <a:solidFill>
                        <a:srgbClr val="D1D9E0"/>
                      </a:solidFill>
                      <a:prstDash val="solid"/>
                      <a:round/>
                      <a:headEnd len="sm" w="sm" type="none"/>
                      <a:tailEnd len="sm" w="sm" type="none"/>
                    </a:lnL>
                    <a:lnR cap="flat" cmpd="sng" w="5300">
                      <a:solidFill>
                        <a:srgbClr val="D1D9E0"/>
                      </a:solidFill>
                      <a:prstDash val="solid"/>
                      <a:round/>
                      <a:headEnd len="sm" w="sm" type="none"/>
                      <a:tailEnd len="sm" w="sm" type="none"/>
                    </a:lnR>
                    <a:lnT cap="flat" cmpd="sng" w="5300">
                      <a:solidFill>
                        <a:srgbClr val="D1D9E0"/>
                      </a:solidFill>
                      <a:prstDash val="solid"/>
                      <a:round/>
                      <a:headEnd len="sm" w="sm" type="none"/>
                      <a:tailEnd len="sm" w="sm" type="none"/>
                    </a:lnT>
                    <a:lnB cap="flat" cmpd="sng" w="5300">
                      <a:solidFill>
                        <a:srgbClr val="D1D9E0"/>
                      </a:solidFill>
                      <a:prstDash val="solid"/>
                      <a:round/>
                      <a:headEnd len="sm" w="sm" type="none"/>
                      <a:tailEnd len="sm" w="sm" type="none"/>
                    </a:lnB>
                  </a:tcPr>
                </a:tc>
                <a:tc>
                  <a:txBody>
                    <a:bodyPr/>
                    <a:lstStyle/>
                    <a:p>
                      <a:pPr indent="0" lvl="0" marL="0" rtl="0" algn="l">
                        <a:spcBef>
                          <a:spcPts val="0"/>
                        </a:spcBef>
                        <a:spcAft>
                          <a:spcPts val="0"/>
                        </a:spcAft>
                        <a:buNone/>
                      </a:pPr>
                      <a:r>
                        <a:rPr lang="en"/>
                        <a:t>no</a:t>
                      </a:r>
                      <a:endParaRPr/>
                    </a:p>
                  </a:txBody>
                  <a:tcPr marT="91425" marB="91425" marR="91425" marL="91425">
                    <a:lnL cap="flat" cmpd="sng" w="5300">
                      <a:solidFill>
                        <a:srgbClr val="D1D9E0"/>
                      </a:solidFill>
                      <a:prstDash val="solid"/>
                      <a:round/>
                      <a:headEnd len="sm" w="sm" type="none"/>
                      <a:tailEnd len="sm" w="sm" type="none"/>
                    </a:lnL>
                  </a:tcPr>
                </a:tc>
                <a:tc>
                  <a:txBody>
                    <a:bodyPr/>
                    <a:lstStyle/>
                    <a:p>
                      <a:pPr indent="0" lvl="0" marL="0" rtl="0" algn="l">
                        <a:spcBef>
                          <a:spcPts val="0"/>
                        </a:spcBef>
                        <a:spcAft>
                          <a:spcPts val="0"/>
                        </a:spcAft>
                        <a:buNone/>
                      </a:pPr>
                      <a:r>
                        <a:rPr lang="en"/>
                        <a:t>Free text</a:t>
                      </a:r>
                      <a:endParaRPr/>
                    </a:p>
                  </a:txBody>
                  <a:tcPr marT="91425" marB="91425" marR="91425" marL="91425"/>
                </a:tc>
                <a:tc>
                  <a:txBody>
                    <a:bodyPr/>
                    <a:lstStyle/>
                    <a:p>
                      <a:pPr indent="0" lvl="0" marL="0" rtl="0" algn="l">
                        <a:spcBef>
                          <a:spcPts val="0"/>
                        </a:spcBef>
                        <a:spcAft>
                          <a:spcPts val="0"/>
                        </a:spcAft>
                        <a:buNone/>
                      </a:pPr>
                      <a:r>
                        <a:rPr lang="en"/>
                        <a:t>yes</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r>
              <a:tr h="383950">
                <a:tc>
                  <a:txBody>
                    <a:bodyPr/>
                    <a:lstStyle/>
                    <a:p>
                      <a:pPr indent="0" lvl="0" marL="0" rtl="0" algn="l">
                        <a:lnSpc>
                          <a:spcPct val="115000"/>
                        </a:lnSpc>
                        <a:spcBef>
                          <a:spcPts val="0"/>
                        </a:spcBef>
                        <a:spcAft>
                          <a:spcPts val="1200"/>
                        </a:spcAft>
                        <a:buNone/>
                      </a:pPr>
                      <a:r>
                        <a:rPr lang="en" sz="1200">
                          <a:solidFill>
                            <a:srgbClr val="1F2328"/>
                          </a:solidFill>
                          <a:highlight>
                            <a:srgbClr val="FFFFFF"/>
                          </a:highlight>
                        </a:rPr>
                        <a:t>url</a:t>
                      </a:r>
                      <a:endParaRPr sz="1200">
                        <a:solidFill>
                          <a:srgbClr val="1F2328"/>
                        </a:solidFill>
                        <a:highlight>
                          <a:srgbClr val="FFFFFF"/>
                        </a:highlight>
                      </a:endParaRPr>
                    </a:p>
                  </a:txBody>
                  <a:tcPr marT="63500" marB="63500" marR="127000" marL="127000">
                    <a:lnL cap="flat" cmpd="sng" w="5300">
                      <a:solidFill>
                        <a:srgbClr val="D1D9E0"/>
                      </a:solidFill>
                      <a:prstDash val="solid"/>
                      <a:round/>
                      <a:headEnd len="sm" w="sm" type="none"/>
                      <a:tailEnd len="sm" w="sm" type="none"/>
                    </a:lnL>
                    <a:lnR cap="flat" cmpd="sng" w="5300">
                      <a:solidFill>
                        <a:srgbClr val="D1D9E0"/>
                      </a:solidFill>
                      <a:prstDash val="solid"/>
                      <a:round/>
                      <a:headEnd len="sm" w="sm" type="none"/>
                      <a:tailEnd len="sm" w="sm" type="none"/>
                    </a:lnR>
                    <a:lnT cap="flat" cmpd="sng" w="5300">
                      <a:solidFill>
                        <a:srgbClr val="D1D9E0"/>
                      </a:solidFill>
                      <a:prstDash val="solid"/>
                      <a:round/>
                      <a:headEnd len="sm" w="sm" type="none"/>
                      <a:tailEnd len="sm" w="sm" type="none"/>
                    </a:lnT>
                    <a:lnB cap="flat" cmpd="sng" w="5300">
                      <a:solidFill>
                        <a:srgbClr val="D1D9E0"/>
                      </a:solidFill>
                      <a:prstDash val="solid"/>
                      <a:round/>
                      <a:headEnd len="sm" w="sm" type="none"/>
                      <a:tailEnd len="sm" w="sm" type="none"/>
                    </a:lnB>
                  </a:tcPr>
                </a:tc>
                <a:tc>
                  <a:txBody>
                    <a:bodyPr/>
                    <a:lstStyle/>
                    <a:p>
                      <a:pPr indent="0" lvl="0" marL="0" rtl="0" algn="l">
                        <a:spcBef>
                          <a:spcPts val="0"/>
                        </a:spcBef>
                        <a:spcAft>
                          <a:spcPts val="0"/>
                        </a:spcAft>
                        <a:buNone/>
                      </a:pPr>
                      <a:r>
                        <a:rPr lang="en"/>
                        <a:t>no</a:t>
                      </a:r>
                      <a:endParaRPr/>
                    </a:p>
                  </a:txBody>
                  <a:tcPr marT="91425" marB="91425" marR="91425" marL="91425">
                    <a:lnL cap="flat" cmpd="sng" w="5300">
                      <a:solidFill>
                        <a:srgbClr val="D1D9E0"/>
                      </a:solidFill>
                      <a:prstDash val="solid"/>
                      <a:round/>
                      <a:headEnd len="sm" w="sm" type="none"/>
                      <a:tailEnd len="sm" w="sm" type="none"/>
                    </a:lnL>
                  </a:tcPr>
                </a:tc>
                <a:tc>
                  <a:txBody>
                    <a:bodyPr/>
                    <a:lstStyle/>
                    <a:p>
                      <a:pPr indent="0" lvl="0" marL="0" rtl="0" algn="l">
                        <a:spcBef>
                          <a:spcPts val="0"/>
                        </a:spcBef>
                        <a:spcAft>
                          <a:spcPts val="0"/>
                        </a:spcAft>
                        <a:buNone/>
                      </a:pPr>
                      <a:r>
                        <a:rPr lang="en"/>
                        <a:t>Free text</a:t>
                      </a:r>
                      <a:endParaRPr/>
                    </a:p>
                  </a:txBody>
                  <a:tcPr marT="91425" marB="91425" marR="91425" marL="91425"/>
                </a:tc>
                <a:tc>
                  <a:txBody>
                    <a:bodyPr/>
                    <a:lstStyle/>
                    <a:p>
                      <a:pPr indent="0" lvl="0" marL="0" rtl="0" algn="l">
                        <a:spcBef>
                          <a:spcPts val="0"/>
                        </a:spcBef>
                        <a:spcAft>
                          <a:spcPts val="0"/>
                        </a:spcAft>
                        <a:buNone/>
                      </a:pPr>
                      <a:r>
                        <a:rPr lang="en"/>
                        <a:t>yes</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lnB cap="flat" cmpd="sng" w="9525">
                      <a:solidFill>
                        <a:srgbClr val="9E9E9E"/>
                      </a:solidFill>
                      <a:prstDash val="solid"/>
                      <a:round/>
                      <a:headEnd len="sm" w="sm" type="none"/>
                      <a:tailEnd len="sm" w="sm" type="none"/>
                    </a:lnB>
                  </a:tcPr>
                </a:tc>
              </a:tr>
              <a:tr h="383950">
                <a:tc>
                  <a:txBody>
                    <a:bodyPr/>
                    <a:lstStyle/>
                    <a:p>
                      <a:pPr indent="0" lvl="0" marL="0" rtl="0" algn="l">
                        <a:lnSpc>
                          <a:spcPct val="115000"/>
                        </a:lnSpc>
                        <a:spcBef>
                          <a:spcPts val="0"/>
                        </a:spcBef>
                        <a:spcAft>
                          <a:spcPts val="1200"/>
                        </a:spcAft>
                        <a:buNone/>
                      </a:pPr>
                      <a:r>
                        <a:rPr lang="en" sz="1200">
                          <a:solidFill>
                            <a:srgbClr val="1F2328"/>
                          </a:solidFill>
                          <a:highlight>
                            <a:srgbClr val="FFFFFF"/>
                          </a:highlight>
                        </a:rPr>
                        <a:t>author</a:t>
                      </a:r>
                      <a:endParaRPr sz="1200">
                        <a:solidFill>
                          <a:srgbClr val="1F2328"/>
                        </a:solidFill>
                        <a:highlight>
                          <a:srgbClr val="FFFFFF"/>
                        </a:highlight>
                      </a:endParaRPr>
                    </a:p>
                  </a:txBody>
                  <a:tcPr marT="63500" marB="63500" marR="127000" marL="127000">
                    <a:lnL cap="flat" cmpd="sng" w="5300">
                      <a:solidFill>
                        <a:srgbClr val="D1D9E0"/>
                      </a:solidFill>
                      <a:prstDash val="solid"/>
                      <a:round/>
                      <a:headEnd len="sm" w="sm" type="none"/>
                      <a:tailEnd len="sm" w="sm" type="none"/>
                    </a:lnL>
                    <a:lnR cap="flat" cmpd="sng" w="5300">
                      <a:solidFill>
                        <a:srgbClr val="D1D9E0"/>
                      </a:solidFill>
                      <a:prstDash val="solid"/>
                      <a:round/>
                      <a:headEnd len="sm" w="sm" type="none"/>
                      <a:tailEnd len="sm" w="sm" type="none"/>
                    </a:lnR>
                    <a:lnT cap="flat" cmpd="sng" w="5300">
                      <a:solidFill>
                        <a:srgbClr val="D1D9E0"/>
                      </a:solidFill>
                      <a:prstDash val="solid"/>
                      <a:round/>
                      <a:headEnd len="sm" w="sm" type="none"/>
                      <a:tailEnd len="sm" w="sm" type="none"/>
                    </a:lnT>
                    <a:lnB cap="flat" cmpd="sng" w="5300">
                      <a:solidFill>
                        <a:srgbClr val="D1D9E0"/>
                      </a:solidFill>
                      <a:prstDash val="solid"/>
                      <a:round/>
                      <a:headEnd len="sm" w="sm" type="none"/>
                      <a:tailEnd len="sm" w="sm" type="none"/>
                    </a:lnB>
                  </a:tcPr>
                </a:tc>
                <a:tc>
                  <a:txBody>
                    <a:bodyPr/>
                    <a:lstStyle/>
                    <a:p>
                      <a:pPr indent="0" lvl="0" marL="0" rtl="0" algn="l">
                        <a:spcBef>
                          <a:spcPts val="0"/>
                        </a:spcBef>
                        <a:spcAft>
                          <a:spcPts val="0"/>
                        </a:spcAft>
                        <a:buNone/>
                      </a:pPr>
                      <a:r>
                        <a:rPr lang="en"/>
                        <a:t>no</a:t>
                      </a:r>
                      <a:endParaRPr/>
                    </a:p>
                  </a:txBody>
                  <a:tcPr marT="91425" marB="91425" marR="91425" marL="91425">
                    <a:lnL cap="flat" cmpd="sng" w="5300">
                      <a:solidFill>
                        <a:srgbClr val="D1D9E0"/>
                      </a:solidFill>
                      <a:prstDash val="solid"/>
                      <a:round/>
                      <a:headEnd len="sm" w="sm" type="none"/>
                      <a:tailEnd len="sm" w="sm" type="none"/>
                    </a:lnL>
                  </a:tcPr>
                </a:tc>
                <a:tc>
                  <a:txBody>
                    <a:bodyPr/>
                    <a:lstStyle/>
                    <a:p>
                      <a:pPr indent="0" lvl="0" marL="0" rtl="0" algn="l">
                        <a:spcBef>
                          <a:spcPts val="0"/>
                        </a:spcBef>
                        <a:spcAft>
                          <a:spcPts val="0"/>
                        </a:spcAft>
                        <a:buNone/>
                      </a:pPr>
                      <a:r>
                        <a:rPr lang="en"/>
                        <a:t>Free text</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
                        <a:t>no</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3950">
                <a:tc>
                  <a:txBody>
                    <a:bodyPr/>
                    <a:lstStyle/>
                    <a:p>
                      <a:pPr indent="0" lvl="0" marL="0" rtl="0" algn="l">
                        <a:lnSpc>
                          <a:spcPct val="115000"/>
                        </a:lnSpc>
                        <a:spcBef>
                          <a:spcPts val="0"/>
                        </a:spcBef>
                        <a:spcAft>
                          <a:spcPts val="1200"/>
                        </a:spcAft>
                        <a:buNone/>
                      </a:pPr>
                      <a:r>
                        <a:rPr lang="en" sz="1200">
                          <a:solidFill>
                            <a:srgbClr val="1F2328"/>
                          </a:solidFill>
                          <a:highlight>
                            <a:srgbClr val="FFFFFF"/>
                          </a:highlight>
                        </a:rPr>
                        <a:t>date_published</a:t>
                      </a:r>
                      <a:endParaRPr sz="1200">
                        <a:solidFill>
                          <a:srgbClr val="1F2328"/>
                        </a:solidFill>
                        <a:highlight>
                          <a:srgbClr val="FFFFFF"/>
                        </a:highlight>
                      </a:endParaRPr>
                    </a:p>
                  </a:txBody>
                  <a:tcPr marT="63500" marB="63500" marR="127000" marL="127000">
                    <a:lnL cap="flat" cmpd="sng" w="5300">
                      <a:solidFill>
                        <a:srgbClr val="D1D9E0"/>
                      </a:solidFill>
                      <a:prstDash val="solid"/>
                      <a:round/>
                      <a:headEnd len="sm" w="sm" type="none"/>
                      <a:tailEnd len="sm" w="sm" type="none"/>
                    </a:lnL>
                    <a:lnR cap="flat" cmpd="sng" w="5300">
                      <a:solidFill>
                        <a:srgbClr val="D1D9E0"/>
                      </a:solidFill>
                      <a:prstDash val="solid"/>
                      <a:round/>
                      <a:headEnd len="sm" w="sm" type="none"/>
                      <a:tailEnd len="sm" w="sm" type="none"/>
                    </a:lnR>
                    <a:lnT cap="flat" cmpd="sng" w="5300">
                      <a:solidFill>
                        <a:srgbClr val="D1D9E0"/>
                      </a:solidFill>
                      <a:prstDash val="solid"/>
                      <a:round/>
                      <a:headEnd len="sm" w="sm" type="none"/>
                      <a:tailEnd len="sm" w="sm" type="none"/>
                    </a:lnT>
                    <a:lnB cap="flat" cmpd="sng" w="5300">
                      <a:solidFill>
                        <a:srgbClr val="D1D9E0"/>
                      </a:solidFill>
                      <a:prstDash val="solid"/>
                      <a:round/>
                      <a:headEnd len="sm" w="sm" type="none"/>
                      <a:tailEnd len="sm" w="sm" type="none"/>
                    </a:lnB>
                  </a:tcPr>
                </a:tc>
                <a:tc>
                  <a:txBody>
                    <a:bodyPr/>
                    <a:lstStyle/>
                    <a:p>
                      <a:pPr indent="0" lvl="0" marL="0" rtl="0" algn="l">
                        <a:spcBef>
                          <a:spcPts val="0"/>
                        </a:spcBef>
                        <a:spcAft>
                          <a:spcPts val="0"/>
                        </a:spcAft>
                        <a:buNone/>
                      </a:pPr>
                      <a:r>
                        <a:rPr lang="en"/>
                        <a:t>no</a:t>
                      </a:r>
                      <a:endParaRPr/>
                    </a:p>
                  </a:txBody>
                  <a:tcPr marT="91425" marB="91425" marR="91425" marL="91425">
                    <a:lnL cap="flat" cmpd="sng" w="5300">
                      <a:solidFill>
                        <a:srgbClr val="D1D9E0"/>
                      </a:solidFill>
                      <a:prstDash val="solid"/>
                      <a:round/>
                      <a:headEnd len="sm" w="sm" type="none"/>
                      <a:tailEnd len="sm" w="sm" type="none"/>
                    </a:lnL>
                  </a:tcPr>
                </a:tc>
                <a:tc>
                  <a:txBody>
                    <a:bodyPr/>
                    <a:lstStyle/>
                    <a:p>
                      <a:pPr indent="0" lvl="0" marL="0" rtl="0" algn="l">
                        <a:spcBef>
                          <a:spcPts val="0"/>
                        </a:spcBef>
                        <a:spcAft>
                          <a:spcPts val="0"/>
                        </a:spcAft>
                        <a:buNone/>
                      </a:pPr>
                      <a:r>
                        <a:rPr lang="en"/>
                        <a:t>date/time</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
                        <a:t>no</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3950">
                <a:tc>
                  <a:txBody>
                    <a:bodyPr/>
                    <a:lstStyle/>
                    <a:p>
                      <a:pPr indent="0" lvl="0" marL="0" rtl="0" algn="l">
                        <a:lnSpc>
                          <a:spcPct val="115000"/>
                        </a:lnSpc>
                        <a:spcBef>
                          <a:spcPts val="0"/>
                        </a:spcBef>
                        <a:spcAft>
                          <a:spcPts val="1200"/>
                        </a:spcAft>
                        <a:buNone/>
                      </a:pPr>
                      <a:r>
                        <a:rPr lang="en" sz="1200">
                          <a:solidFill>
                            <a:srgbClr val="1F2328"/>
                          </a:solidFill>
                          <a:highlight>
                            <a:srgbClr val="FFFFFF"/>
                          </a:highlight>
                        </a:rPr>
                        <a:t>ingredients</a:t>
                      </a:r>
                      <a:endParaRPr sz="1200">
                        <a:solidFill>
                          <a:srgbClr val="1F2328"/>
                        </a:solidFill>
                        <a:highlight>
                          <a:srgbClr val="FFFFFF"/>
                        </a:highlight>
                      </a:endParaRPr>
                    </a:p>
                  </a:txBody>
                  <a:tcPr marT="63500" marB="63500" marR="127000" marL="127000">
                    <a:lnL cap="flat" cmpd="sng" w="5300">
                      <a:solidFill>
                        <a:srgbClr val="D1D9E0"/>
                      </a:solidFill>
                      <a:prstDash val="solid"/>
                      <a:round/>
                      <a:headEnd len="sm" w="sm" type="none"/>
                      <a:tailEnd len="sm" w="sm" type="none"/>
                    </a:lnL>
                    <a:lnR cap="flat" cmpd="sng" w="5300">
                      <a:solidFill>
                        <a:srgbClr val="D1D9E0"/>
                      </a:solidFill>
                      <a:prstDash val="solid"/>
                      <a:round/>
                      <a:headEnd len="sm" w="sm" type="none"/>
                      <a:tailEnd len="sm" w="sm" type="none"/>
                    </a:lnR>
                    <a:lnT cap="flat" cmpd="sng" w="5300">
                      <a:solidFill>
                        <a:srgbClr val="D1D9E0"/>
                      </a:solidFill>
                      <a:prstDash val="solid"/>
                      <a:round/>
                      <a:headEnd len="sm" w="sm" type="none"/>
                      <a:tailEnd len="sm" w="sm" type="none"/>
                    </a:lnT>
                    <a:lnB cap="flat" cmpd="sng" w="5300">
                      <a:solidFill>
                        <a:srgbClr val="D1D9E0"/>
                      </a:solidFill>
                      <a:prstDash val="solid"/>
                      <a:round/>
                      <a:headEnd len="sm" w="sm" type="none"/>
                      <a:tailEnd len="sm" w="sm" type="none"/>
                    </a:lnB>
                  </a:tcPr>
                </a:tc>
                <a:tc>
                  <a:txBody>
                    <a:bodyPr/>
                    <a:lstStyle/>
                    <a:p>
                      <a:pPr indent="0" lvl="0" marL="0" rtl="0" algn="l">
                        <a:spcBef>
                          <a:spcPts val="0"/>
                        </a:spcBef>
                        <a:spcAft>
                          <a:spcPts val="0"/>
                        </a:spcAft>
                        <a:buNone/>
                      </a:pPr>
                      <a:r>
                        <a:rPr lang="en"/>
                        <a:t>no</a:t>
                      </a:r>
                      <a:endParaRPr/>
                    </a:p>
                  </a:txBody>
                  <a:tcPr marT="91425" marB="91425" marR="91425" marL="91425">
                    <a:lnL cap="flat" cmpd="sng" w="5300">
                      <a:solidFill>
                        <a:srgbClr val="D1D9E0"/>
                      </a:solidFill>
                      <a:prstDash val="solid"/>
                      <a:round/>
                      <a:headEnd len="sm" w="sm" type="none"/>
                      <a:tailEnd len="sm" w="sm" type="none"/>
                    </a:lnL>
                  </a:tcPr>
                </a:tc>
                <a:tc>
                  <a:txBody>
                    <a:bodyPr/>
                    <a:lstStyle/>
                    <a:p>
                      <a:pPr indent="0" lvl="0" marL="0" rtl="0" algn="l">
                        <a:spcBef>
                          <a:spcPts val="0"/>
                        </a:spcBef>
                        <a:spcAft>
                          <a:spcPts val="0"/>
                        </a:spcAft>
                        <a:buNone/>
                      </a:pPr>
                      <a:r>
                        <a:rPr lang="en"/>
                        <a:t>Free text</a:t>
                      </a:r>
                      <a:endParaRPr/>
                    </a:p>
                  </a:txBody>
                  <a:tcPr marT="91425" marB="91425" marR="91425" marL="91425"/>
                </a:tc>
                <a:tc>
                  <a:txBody>
                    <a:bodyPr/>
                    <a:lstStyle/>
                    <a:p>
                      <a:pPr indent="0" lvl="0" marL="0" rtl="0" algn="l">
                        <a:spcBef>
                          <a:spcPts val="0"/>
                        </a:spcBef>
                        <a:spcAft>
                          <a:spcPts val="0"/>
                        </a:spcAft>
                        <a:buNone/>
                      </a:pPr>
                      <a:r>
                        <a:rPr lang="en"/>
                        <a:t>yes</a:t>
                      </a:r>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
                        <a:t>no</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3950">
                <a:tc>
                  <a:txBody>
                    <a:bodyPr/>
                    <a:lstStyle/>
                    <a:p>
                      <a:pPr indent="0" lvl="0" marL="0" rtl="0" algn="l">
                        <a:lnSpc>
                          <a:spcPct val="115000"/>
                        </a:lnSpc>
                        <a:spcBef>
                          <a:spcPts val="0"/>
                        </a:spcBef>
                        <a:spcAft>
                          <a:spcPts val="1200"/>
                        </a:spcAft>
                        <a:buNone/>
                      </a:pPr>
                      <a:r>
                        <a:rPr lang="en" sz="1200">
                          <a:solidFill>
                            <a:srgbClr val="1F2328"/>
                          </a:solidFill>
                          <a:highlight>
                            <a:srgbClr val="FFFFFF"/>
                          </a:highlight>
                        </a:rPr>
                        <a:t>calories</a:t>
                      </a:r>
                      <a:endParaRPr sz="1200">
                        <a:solidFill>
                          <a:srgbClr val="1F2328"/>
                        </a:solidFill>
                        <a:highlight>
                          <a:srgbClr val="FFFFFF"/>
                        </a:highlight>
                      </a:endParaRPr>
                    </a:p>
                  </a:txBody>
                  <a:tcPr marT="63500" marB="63500" marR="127000" marL="127000">
                    <a:lnL cap="flat" cmpd="sng" w="5300">
                      <a:solidFill>
                        <a:srgbClr val="D1D9E0"/>
                      </a:solidFill>
                      <a:prstDash val="solid"/>
                      <a:round/>
                      <a:headEnd len="sm" w="sm" type="none"/>
                      <a:tailEnd len="sm" w="sm" type="none"/>
                    </a:lnL>
                    <a:lnR cap="flat" cmpd="sng" w="5300">
                      <a:solidFill>
                        <a:srgbClr val="D1D9E0"/>
                      </a:solidFill>
                      <a:prstDash val="solid"/>
                      <a:round/>
                      <a:headEnd len="sm" w="sm" type="none"/>
                      <a:tailEnd len="sm" w="sm" type="none"/>
                    </a:lnR>
                    <a:lnT cap="flat" cmpd="sng" w="5300">
                      <a:solidFill>
                        <a:srgbClr val="D1D9E0"/>
                      </a:solidFill>
                      <a:prstDash val="solid"/>
                      <a:round/>
                      <a:headEnd len="sm" w="sm" type="none"/>
                      <a:tailEnd len="sm" w="sm" type="none"/>
                    </a:lnT>
                    <a:lnB cap="flat" cmpd="sng" w="5300">
                      <a:solidFill>
                        <a:srgbClr val="D1D9E0"/>
                      </a:solidFill>
                      <a:prstDash val="solid"/>
                      <a:round/>
                      <a:headEnd len="sm" w="sm" type="none"/>
                      <a:tailEnd len="sm" w="sm" type="none"/>
                    </a:lnB>
                  </a:tcPr>
                </a:tc>
                <a:tc>
                  <a:txBody>
                    <a:bodyPr/>
                    <a:lstStyle/>
                    <a:p>
                      <a:pPr indent="0" lvl="0" marL="0" rtl="0" algn="l">
                        <a:spcBef>
                          <a:spcPts val="0"/>
                        </a:spcBef>
                        <a:spcAft>
                          <a:spcPts val="0"/>
                        </a:spcAft>
                        <a:buNone/>
                      </a:pPr>
                      <a:r>
                        <a:rPr lang="en"/>
                        <a:t>yes</a:t>
                      </a:r>
                      <a:endParaRPr/>
                    </a:p>
                  </a:txBody>
                  <a:tcPr marT="91425" marB="91425" marR="91425" marL="91425">
                    <a:lnL cap="flat" cmpd="sng" w="5300">
                      <a:solidFill>
                        <a:srgbClr val="D1D9E0"/>
                      </a:solidFill>
                      <a:prstDash val="solid"/>
                      <a:round/>
                      <a:headEnd len="sm" w="sm" type="none"/>
                      <a:tailEnd len="sm" w="sm" type="none"/>
                    </a:lnL>
                  </a:tcPr>
                </a:tc>
                <a:tc>
                  <a:txBody>
                    <a:bodyPr/>
                    <a:lstStyle/>
                    <a:p>
                      <a:pPr indent="0" lvl="0" marL="0" rtl="0" algn="l">
                        <a:spcBef>
                          <a:spcPts val="0"/>
                        </a:spcBef>
                        <a:spcAft>
                          <a:spcPts val="0"/>
                        </a:spcAft>
                        <a:buNone/>
                      </a:pPr>
                      <a:r>
                        <a:rPr lang="en"/>
                        <a:t>numeric</a:t>
                      </a:r>
                      <a:endParaRPr/>
                    </a:p>
                  </a:txBody>
                  <a:tcPr marT="91425" marB="91425" marR="91425" marL="91425"/>
                </a:tc>
                <a:tc>
                  <a:txBody>
                    <a:bodyPr/>
                    <a:lstStyle/>
                    <a:p>
                      <a:pPr indent="0" lvl="0" marL="0" rtl="0" algn="l">
                        <a:spcBef>
                          <a:spcPts val="0"/>
                        </a:spcBef>
                        <a:spcAft>
                          <a:spcPts val="0"/>
                        </a:spcAft>
                        <a:buNone/>
                      </a:pPr>
                      <a:r>
                        <a:rPr lang="en"/>
                        <a:t>yes</a:t>
                      </a:r>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
                        <a:t>no</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49500">
                <a:tc>
                  <a:txBody>
                    <a:bodyPr/>
                    <a:lstStyle/>
                    <a:p>
                      <a:pPr indent="0" lvl="0" marL="0" rtl="0" algn="l">
                        <a:lnSpc>
                          <a:spcPct val="115000"/>
                        </a:lnSpc>
                        <a:spcBef>
                          <a:spcPts val="0"/>
                        </a:spcBef>
                        <a:spcAft>
                          <a:spcPts val="1200"/>
                        </a:spcAft>
                        <a:buNone/>
                      </a:pPr>
                      <a:r>
                        <a:rPr lang="en" sz="1200">
                          <a:solidFill>
                            <a:srgbClr val="1F2328"/>
                          </a:solidFill>
                          <a:highlight>
                            <a:srgbClr val="FFFFFF"/>
                          </a:highlight>
                        </a:rPr>
                        <a:t>fat</a:t>
                      </a:r>
                      <a:endParaRPr sz="1200">
                        <a:solidFill>
                          <a:srgbClr val="1F2328"/>
                        </a:solidFill>
                        <a:highlight>
                          <a:srgbClr val="FFFFFF"/>
                        </a:highlight>
                      </a:endParaRPr>
                    </a:p>
                  </a:txBody>
                  <a:tcPr marT="63500" marB="63500" marR="127000" marL="127000">
                    <a:lnL cap="flat" cmpd="sng" w="5300">
                      <a:solidFill>
                        <a:srgbClr val="D1D9E0"/>
                      </a:solidFill>
                      <a:prstDash val="solid"/>
                      <a:round/>
                      <a:headEnd len="sm" w="sm" type="none"/>
                      <a:tailEnd len="sm" w="sm" type="none"/>
                    </a:lnL>
                    <a:lnR cap="flat" cmpd="sng" w="5300">
                      <a:solidFill>
                        <a:srgbClr val="D1D9E0"/>
                      </a:solidFill>
                      <a:prstDash val="solid"/>
                      <a:round/>
                      <a:headEnd len="sm" w="sm" type="none"/>
                      <a:tailEnd len="sm" w="sm" type="none"/>
                    </a:lnR>
                    <a:lnT cap="flat" cmpd="sng" w="5300">
                      <a:solidFill>
                        <a:srgbClr val="D1D9E0"/>
                      </a:solidFill>
                      <a:prstDash val="solid"/>
                      <a:round/>
                      <a:headEnd len="sm" w="sm" type="none"/>
                      <a:tailEnd len="sm" w="sm" type="none"/>
                    </a:lnT>
                    <a:lnB cap="flat" cmpd="sng" w="5300">
                      <a:solidFill>
                        <a:srgbClr val="D1D9E0"/>
                      </a:solidFill>
                      <a:prstDash val="solid"/>
                      <a:round/>
                      <a:headEnd len="sm" w="sm" type="none"/>
                      <a:tailEnd len="sm" w="sm" type="none"/>
                    </a:lnB>
                  </a:tcPr>
                </a:tc>
                <a:tc>
                  <a:txBody>
                    <a:bodyPr/>
                    <a:lstStyle/>
                    <a:p>
                      <a:pPr indent="0" lvl="0" marL="0" rtl="0" algn="l">
                        <a:spcBef>
                          <a:spcPts val="0"/>
                        </a:spcBef>
                        <a:spcAft>
                          <a:spcPts val="0"/>
                        </a:spcAft>
                        <a:buNone/>
                      </a:pPr>
                      <a:r>
                        <a:rPr lang="en"/>
                        <a:t>yes</a:t>
                      </a:r>
                      <a:endParaRPr/>
                    </a:p>
                  </a:txBody>
                  <a:tcPr marT="91425" marB="91425" marR="91425" marL="91425">
                    <a:lnL cap="flat" cmpd="sng" w="5300">
                      <a:solidFill>
                        <a:srgbClr val="D1D9E0"/>
                      </a:solidFill>
                      <a:prstDash val="solid"/>
                      <a:round/>
                      <a:headEnd len="sm" w="sm" type="none"/>
                      <a:tailEnd len="sm" w="sm" type="none"/>
                    </a:lnL>
                  </a:tcPr>
                </a:tc>
                <a:tc>
                  <a:txBody>
                    <a:bodyPr/>
                    <a:lstStyle/>
                    <a:p>
                      <a:pPr indent="0" lvl="0" marL="0" rtl="0" algn="l">
                        <a:spcBef>
                          <a:spcPts val="0"/>
                        </a:spcBef>
                        <a:spcAft>
                          <a:spcPts val="0"/>
                        </a:spcAft>
                        <a:buNone/>
                      </a:pPr>
                      <a:r>
                        <a:rPr lang="en"/>
                        <a:t>numeric</a:t>
                      </a:r>
                      <a:endParaRPr/>
                    </a:p>
                  </a:txBody>
                  <a:tcPr marT="91425" marB="91425" marR="91425" marL="91425"/>
                </a:tc>
                <a:tc>
                  <a:txBody>
                    <a:bodyPr/>
                    <a:lstStyle/>
                    <a:p>
                      <a:pPr indent="0" lvl="0" marL="0" rtl="0" algn="l">
                        <a:spcBef>
                          <a:spcPts val="0"/>
                        </a:spcBef>
                        <a:spcAft>
                          <a:spcPts val="0"/>
                        </a:spcAft>
                        <a:buNone/>
                      </a:pPr>
                      <a:r>
                        <a:rPr lang="en"/>
                        <a:t>yes</a:t>
                      </a:r>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
                        <a:t>no</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3950">
                <a:tc>
                  <a:txBody>
                    <a:bodyPr/>
                    <a:lstStyle/>
                    <a:p>
                      <a:pPr indent="0" lvl="0" marL="0" rtl="0" algn="l">
                        <a:lnSpc>
                          <a:spcPct val="115000"/>
                        </a:lnSpc>
                        <a:spcBef>
                          <a:spcPts val="0"/>
                        </a:spcBef>
                        <a:spcAft>
                          <a:spcPts val="1200"/>
                        </a:spcAft>
                        <a:buNone/>
                      </a:pPr>
                      <a:r>
                        <a:rPr lang="en" sz="1200">
                          <a:solidFill>
                            <a:srgbClr val="1F2328"/>
                          </a:solidFill>
                          <a:highlight>
                            <a:srgbClr val="FFFFFF"/>
                          </a:highlight>
                        </a:rPr>
                        <a:t>carbs</a:t>
                      </a:r>
                      <a:endParaRPr sz="1200">
                        <a:solidFill>
                          <a:srgbClr val="1F2328"/>
                        </a:solidFill>
                        <a:highlight>
                          <a:srgbClr val="FFFFFF"/>
                        </a:highlight>
                      </a:endParaRPr>
                    </a:p>
                  </a:txBody>
                  <a:tcPr marT="63500" marB="63500" marR="127000" marL="127000">
                    <a:lnL cap="flat" cmpd="sng" w="5300">
                      <a:solidFill>
                        <a:srgbClr val="D1D9E0"/>
                      </a:solidFill>
                      <a:prstDash val="solid"/>
                      <a:round/>
                      <a:headEnd len="sm" w="sm" type="none"/>
                      <a:tailEnd len="sm" w="sm" type="none"/>
                    </a:lnL>
                    <a:lnR cap="flat" cmpd="sng" w="5300">
                      <a:solidFill>
                        <a:srgbClr val="D1D9E0"/>
                      </a:solidFill>
                      <a:prstDash val="solid"/>
                      <a:round/>
                      <a:headEnd len="sm" w="sm" type="none"/>
                      <a:tailEnd len="sm" w="sm" type="none"/>
                    </a:lnR>
                    <a:lnT cap="flat" cmpd="sng" w="5300">
                      <a:solidFill>
                        <a:srgbClr val="D1D9E0"/>
                      </a:solidFill>
                      <a:prstDash val="solid"/>
                      <a:round/>
                      <a:headEnd len="sm" w="sm" type="none"/>
                      <a:tailEnd len="sm" w="sm" type="none"/>
                    </a:lnT>
                    <a:lnB cap="flat" cmpd="sng" w="5300">
                      <a:solidFill>
                        <a:srgbClr val="D1D9E0"/>
                      </a:solidFill>
                      <a:prstDash val="solid"/>
                      <a:round/>
                      <a:headEnd len="sm" w="sm" type="none"/>
                      <a:tailEnd len="sm" w="sm" type="none"/>
                    </a:lnB>
                  </a:tcPr>
                </a:tc>
                <a:tc>
                  <a:txBody>
                    <a:bodyPr/>
                    <a:lstStyle/>
                    <a:p>
                      <a:pPr indent="0" lvl="0" marL="0" rtl="0" algn="l">
                        <a:spcBef>
                          <a:spcPts val="0"/>
                        </a:spcBef>
                        <a:spcAft>
                          <a:spcPts val="0"/>
                        </a:spcAft>
                        <a:buNone/>
                      </a:pPr>
                      <a:r>
                        <a:rPr lang="en"/>
                        <a:t>yes</a:t>
                      </a:r>
                      <a:endParaRPr/>
                    </a:p>
                  </a:txBody>
                  <a:tcPr marT="91425" marB="91425" marR="91425" marL="91425">
                    <a:lnL cap="flat" cmpd="sng" w="5300">
                      <a:solidFill>
                        <a:srgbClr val="D1D9E0"/>
                      </a:solidFill>
                      <a:prstDash val="solid"/>
                      <a:round/>
                      <a:headEnd len="sm" w="sm" type="none"/>
                      <a:tailEnd len="sm" w="sm" type="none"/>
                    </a:lnL>
                  </a:tcPr>
                </a:tc>
                <a:tc>
                  <a:txBody>
                    <a:bodyPr/>
                    <a:lstStyle/>
                    <a:p>
                      <a:pPr indent="0" lvl="0" marL="0" rtl="0" algn="l">
                        <a:spcBef>
                          <a:spcPts val="0"/>
                        </a:spcBef>
                        <a:spcAft>
                          <a:spcPts val="0"/>
                        </a:spcAft>
                        <a:buNone/>
                      </a:pPr>
                      <a:r>
                        <a:rPr lang="en"/>
                        <a:t>numeric</a:t>
                      </a:r>
                      <a:endParaRPr/>
                    </a:p>
                  </a:txBody>
                  <a:tcPr marT="91425" marB="91425" marR="91425" marL="91425"/>
                </a:tc>
                <a:tc>
                  <a:txBody>
                    <a:bodyPr/>
                    <a:lstStyle/>
                    <a:p>
                      <a:pPr indent="0" lvl="0" marL="0" rtl="0" algn="l">
                        <a:spcBef>
                          <a:spcPts val="0"/>
                        </a:spcBef>
                        <a:spcAft>
                          <a:spcPts val="0"/>
                        </a:spcAft>
                        <a:buNone/>
                      </a:pPr>
                      <a:r>
                        <a:rPr lang="en"/>
                        <a:t>yes</a:t>
                      </a:r>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
                        <a:t>no</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id="557" name="Google Shape;557;p52"/>
          <p:cNvSpPr txBox="1"/>
          <p:nvPr>
            <p:ph type="title"/>
          </p:nvPr>
        </p:nvSpPr>
        <p:spPr>
          <a:xfrm>
            <a:off x="1303800" y="178325"/>
            <a:ext cx="7030500" cy="999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MINI UPDATE #1- DATA PROFILE CONTINUED</a:t>
            </a:r>
            <a:endParaRPr/>
          </a:p>
          <a:p>
            <a:pPr indent="0" lvl="0" marL="0" rtl="0" algn="l">
              <a:spcBef>
                <a:spcPts val="0"/>
              </a:spcBef>
              <a:spcAft>
                <a:spcPts val="0"/>
              </a:spcAft>
              <a:buNone/>
            </a:pPr>
            <a:r>
              <a:t/>
            </a:r>
            <a:endParaRPr/>
          </a:p>
        </p:txBody>
      </p:sp>
      <p:sp>
        <p:nvSpPr>
          <p:cNvPr id="558" name="Google Shape;558;p52"/>
          <p:cNvSpPr txBox="1"/>
          <p:nvPr/>
        </p:nvSpPr>
        <p:spPr>
          <a:xfrm>
            <a:off x="1279025" y="1032350"/>
            <a:ext cx="2585400" cy="23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1300">
                <a:solidFill>
                  <a:schemeClr val="dk2"/>
                </a:solidFill>
                <a:latin typeface="Nunito"/>
                <a:ea typeface="Nunito"/>
                <a:cs typeface="Nunito"/>
                <a:sym typeface="Nunito"/>
              </a:rPr>
              <a:t>cuisines</a:t>
            </a:r>
            <a:r>
              <a:rPr lang="en" sz="1300">
                <a:solidFill>
                  <a:schemeClr val="dk2"/>
                </a:solidFill>
                <a:latin typeface="Nunito"/>
                <a:ea typeface="Nunito"/>
                <a:cs typeface="Nunito"/>
                <a:sym typeface="Nunito"/>
              </a:rPr>
              <a:t>:</a:t>
            </a:r>
            <a:endParaRPr sz="1300">
              <a:solidFill>
                <a:schemeClr val="dk2"/>
              </a:solidFill>
              <a:latin typeface="Nunito"/>
              <a:ea typeface="Nunito"/>
              <a:cs typeface="Nunito"/>
              <a:sym typeface="Nunito"/>
            </a:endParaRPr>
          </a:p>
        </p:txBody>
      </p:sp>
      <p:graphicFrame>
        <p:nvGraphicFramePr>
          <p:cNvPr id="559" name="Google Shape;559;p52"/>
          <p:cNvGraphicFramePr/>
          <p:nvPr/>
        </p:nvGraphicFramePr>
        <p:xfrm>
          <a:off x="379925" y="1353850"/>
          <a:ext cx="3000000" cy="3000000"/>
        </p:xfrm>
        <a:graphic>
          <a:graphicData uri="http://schemas.openxmlformats.org/drawingml/2006/table">
            <a:tbl>
              <a:tblPr>
                <a:noFill/>
                <a:tableStyleId>{F8A4D223-EC07-4144-BB5C-E1EA1BCDE6FE}</a:tableStyleId>
              </a:tblPr>
              <a:tblGrid>
                <a:gridCol w="1561425"/>
                <a:gridCol w="1561425"/>
                <a:gridCol w="2021600"/>
                <a:gridCol w="1336675"/>
                <a:gridCol w="1647050"/>
              </a:tblGrid>
              <a:tr h="539375">
                <a:tc>
                  <a:txBody>
                    <a:bodyPr/>
                    <a:lstStyle/>
                    <a:p>
                      <a:pPr indent="0" lvl="0" marL="0" rtl="0" algn="l">
                        <a:spcBef>
                          <a:spcPts val="0"/>
                        </a:spcBef>
                        <a:spcAft>
                          <a:spcPts val="0"/>
                        </a:spcAft>
                        <a:buNone/>
                      </a:pPr>
                      <a:r>
                        <a:rPr lang="en"/>
                        <a:t>Column Name</a:t>
                      </a:r>
                      <a:endParaRPr/>
                    </a:p>
                  </a:txBody>
                  <a:tcPr marT="91425" marB="91425" marR="91425" marL="91425">
                    <a:lnB cap="flat" cmpd="sng" w="5300">
                      <a:solidFill>
                        <a:srgbClr val="D1D9E0"/>
                      </a:solidFill>
                      <a:prstDash val="solid"/>
                      <a:round/>
                      <a:headEnd len="sm" w="sm" type="none"/>
                      <a:tailEnd len="sm" w="sm" type="none"/>
                    </a:lnB>
                  </a:tcPr>
                </a:tc>
                <a:tc>
                  <a:txBody>
                    <a:bodyPr/>
                    <a:lstStyle/>
                    <a:p>
                      <a:pPr indent="0" lvl="0" marL="0" rtl="0" algn="l">
                        <a:spcBef>
                          <a:spcPts val="0"/>
                        </a:spcBef>
                        <a:spcAft>
                          <a:spcPts val="0"/>
                        </a:spcAft>
                        <a:buNone/>
                      </a:pPr>
                      <a:r>
                        <a:rPr lang="en"/>
                        <a:t>Has missing value?</a:t>
                      </a:r>
                      <a:endParaRPr/>
                    </a:p>
                  </a:txBody>
                  <a:tcPr marT="91425" marB="91425" marR="91425" marL="91425"/>
                </a:tc>
                <a:tc>
                  <a:txBody>
                    <a:bodyPr/>
                    <a:lstStyle/>
                    <a:p>
                      <a:pPr indent="0" lvl="0" marL="0" rtl="0" algn="l">
                        <a:spcBef>
                          <a:spcPts val="0"/>
                        </a:spcBef>
                        <a:spcAft>
                          <a:spcPts val="0"/>
                        </a:spcAft>
                        <a:buNone/>
                      </a:pPr>
                      <a:r>
                        <a:rPr lang="en"/>
                        <a:t>Data Type(Discrete or numeric or free text)</a:t>
                      </a:r>
                      <a:endParaRPr/>
                    </a:p>
                  </a:txBody>
                  <a:tcPr marT="91425" marB="91425" marR="91425" marL="91425"/>
                </a:tc>
                <a:tc>
                  <a:txBody>
                    <a:bodyPr/>
                    <a:lstStyle/>
                    <a:p>
                      <a:pPr indent="0" lvl="0" marL="0" rtl="0" algn="l">
                        <a:spcBef>
                          <a:spcPts val="0"/>
                        </a:spcBef>
                        <a:spcAft>
                          <a:spcPts val="0"/>
                        </a:spcAft>
                        <a:buNone/>
                      </a:pPr>
                      <a:r>
                        <a:rPr lang="en"/>
                        <a:t>Useful?</a:t>
                      </a:r>
                      <a:endParaRPr/>
                    </a:p>
                  </a:txBody>
                  <a:tcPr marT="91425" marB="91425" marR="91425" marL="91425"/>
                </a:tc>
                <a:tc>
                  <a:txBody>
                    <a:bodyPr/>
                    <a:lstStyle/>
                    <a:p>
                      <a:pPr indent="0" lvl="0" marL="0" rtl="0" algn="l">
                        <a:spcBef>
                          <a:spcPts val="0"/>
                        </a:spcBef>
                        <a:spcAft>
                          <a:spcPts val="0"/>
                        </a:spcAft>
                        <a:buNone/>
                      </a:pPr>
                      <a:r>
                        <a:rPr lang="en"/>
                        <a:t>Need cleaning or processing?</a:t>
                      </a:r>
                      <a:endParaRPr/>
                    </a:p>
                  </a:txBody>
                  <a:tcPr marT="91425" marB="91425" marR="91425" marL="91425"/>
                </a:tc>
              </a:tr>
              <a:tr h="339750">
                <a:tc>
                  <a:txBody>
                    <a:bodyPr/>
                    <a:lstStyle/>
                    <a:p>
                      <a:pPr indent="0" lvl="0" marL="0" rtl="0" algn="l">
                        <a:lnSpc>
                          <a:spcPct val="115000"/>
                        </a:lnSpc>
                        <a:spcBef>
                          <a:spcPts val="0"/>
                        </a:spcBef>
                        <a:spcAft>
                          <a:spcPts val="1200"/>
                        </a:spcAft>
                        <a:buNone/>
                      </a:pPr>
                      <a:r>
                        <a:rPr lang="en" sz="1200">
                          <a:solidFill>
                            <a:srgbClr val="1F2328"/>
                          </a:solidFill>
                          <a:highlight>
                            <a:srgbClr val="FFFFFF"/>
                          </a:highlight>
                        </a:rPr>
                        <a:t>protein</a:t>
                      </a:r>
                      <a:endParaRPr sz="1200">
                        <a:solidFill>
                          <a:srgbClr val="1F2328"/>
                        </a:solidFill>
                        <a:highlight>
                          <a:srgbClr val="FFFFFF"/>
                        </a:highlight>
                      </a:endParaRPr>
                    </a:p>
                  </a:txBody>
                  <a:tcPr marT="63500" marB="63500" marR="127000" marL="127000">
                    <a:lnL cap="flat" cmpd="sng" w="5300">
                      <a:solidFill>
                        <a:srgbClr val="D1D9E0"/>
                      </a:solidFill>
                      <a:prstDash val="solid"/>
                      <a:round/>
                      <a:headEnd len="sm" w="sm" type="none"/>
                      <a:tailEnd len="sm" w="sm" type="none"/>
                    </a:lnL>
                    <a:lnR cap="flat" cmpd="sng" w="5300">
                      <a:solidFill>
                        <a:srgbClr val="D1D9E0"/>
                      </a:solidFill>
                      <a:prstDash val="solid"/>
                      <a:round/>
                      <a:headEnd len="sm" w="sm" type="none"/>
                      <a:tailEnd len="sm" w="sm" type="none"/>
                    </a:lnR>
                    <a:lnT cap="flat" cmpd="sng" w="5300">
                      <a:solidFill>
                        <a:srgbClr val="D1D9E0"/>
                      </a:solidFill>
                      <a:prstDash val="solid"/>
                      <a:round/>
                      <a:headEnd len="sm" w="sm" type="none"/>
                      <a:tailEnd len="sm" w="sm" type="none"/>
                    </a:lnT>
                    <a:lnB cap="flat" cmpd="sng" w="5300">
                      <a:solidFill>
                        <a:srgbClr val="D1D9E0"/>
                      </a:solidFill>
                      <a:prstDash val="solid"/>
                      <a:round/>
                      <a:headEnd len="sm" w="sm" type="none"/>
                      <a:tailEnd len="sm" w="sm" type="none"/>
                    </a:lnB>
                  </a:tcPr>
                </a:tc>
                <a:tc>
                  <a:txBody>
                    <a:bodyPr/>
                    <a:lstStyle/>
                    <a:p>
                      <a:pPr indent="0" lvl="0" marL="0" rtl="0" algn="l">
                        <a:spcBef>
                          <a:spcPts val="0"/>
                        </a:spcBef>
                        <a:spcAft>
                          <a:spcPts val="0"/>
                        </a:spcAft>
                        <a:buNone/>
                      </a:pPr>
                      <a:r>
                        <a:rPr lang="en"/>
                        <a:t>yes</a:t>
                      </a:r>
                      <a:endParaRPr/>
                    </a:p>
                  </a:txBody>
                  <a:tcPr marT="91425" marB="91425" marR="91425" marL="91425">
                    <a:lnL cap="flat" cmpd="sng" w="5300">
                      <a:solidFill>
                        <a:srgbClr val="D1D9E0"/>
                      </a:solidFill>
                      <a:prstDash val="solid"/>
                      <a:round/>
                      <a:headEnd len="sm" w="sm" type="none"/>
                      <a:tailEnd len="sm" w="sm" type="none"/>
                    </a:lnL>
                  </a:tcPr>
                </a:tc>
                <a:tc>
                  <a:txBody>
                    <a:bodyPr/>
                    <a:lstStyle/>
                    <a:p>
                      <a:pPr indent="0" lvl="0" marL="0" rtl="0" algn="l">
                        <a:spcBef>
                          <a:spcPts val="0"/>
                        </a:spcBef>
                        <a:spcAft>
                          <a:spcPts val="0"/>
                        </a:spcAft>
                        <a:buNone/>
                      </a:pPr>
                      <a:r>
                        <a:rPr lang="en"/>
                        <a:t>numeric</a:t>
                      </a:r>
                      <a:endParaRPr/>
                    </a:p>
                  </a:txBody>
                  <a:tcPr marT="91425" marB="91425" marR="91425" marL="91425"/>
                </a:tc>
                <a:tc>
                  <a:txBody>
                    <a:bodyPr/>
                    <a:lstStyle/>
                    <a:p>
                      <a:pPr indent="0" lvl="0" marL="0" rtl="0" algn="l">
                        <a:spcBef>
                          <a:spcPts val="0"/>
                        </a:spcBef>
                        <a:spcAft>
                          <a:spcPts val="0"/>
                        </a:spcAft>
                        <a:buNone/>
                      </a:pPr>
                      <a:r>
                        <a:rPr lang="en"/>
                        <a:t>yes</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r>
              <a:tr h="339750">
                <a:tc>
                  <a:txBody>
                    <a:bodyPr/>
                    <a:lstStyle/>
                    <a:p>
                      <a:pPr indent="0" lvl="0" marL="0" rtl="0" algn="l">
                        <a:lnSpc>
                          <a:spcPct val="115000"/>
                        </a:lnSpc>
                        <a:spcBef>
                          <a:spcPts val="0"/>
                        </a:spcBef>
                        <a:spcAft>
                          <a:spcPts val="1200"/>
                        </a:spcAft>
                        <a:buNone/>
                      </a:pPr>
                      <a:r>
                        <a:rPr lang="en" sz="1200">
                          <a:solidFill>
                            <a:srgbClr val="1F2328"/>
                          </a:solidFill>
                          <a:highlight>
                            <a:srgbClr val="FFFFFF"/>
                          </a:highlight>
                        </a:rPr>
                        <a:t>avg_rating</a:t>
                      </a:r>
                      <a:endParaRPr sz="1200">
                        <a:solidFill>
                          <a:srgbClr val="1F2328"/>
                        </a:solidFill>
                        <a:highlight>
                          <a:srgbClr val="FFFFFF"/>
                        </a:highlight>
                      </a:endParaRPr>
                    </a:p>
                  </a:txBody>
                  <a:tcPr marT="63500" marB="63500" marR="127000" marL="127000">
                    <a:lnL cap="flat" cmpd="sng" w="5300">
                      <a:solidFill>
                        <a:srgbClr val="D1D9E0"/>
                      </a:solidFill>
                      <a:prstDash val="solid"/>
                      <a:round/>
                      <a:headEnd len="sm" w="sm" type="none"/>
                      <a:tailEnd len="sm" w="sm" type="none"/>
                    </a:lnL>
                    <a:lnR cap="flat" cmpd="sng" w="5300">
                      <a:solidFill>
                        <a:srgbClr val="D1D9E0"/>
                      </a:solidFill>
                      <a:prstDash val="solid"/>
                      <a:round/>
                      <a:headEnd len="sm" w="sm" type="none"/>
                      <a:tailEnd len="sm" w="sm" type="none"/>
                    </a:lnR>
                    <a:lnT cap="flat" cmpd="sng" w="5300">
                      <a:solidFill>
                        <a:srgbClr val="D1D9E0"/>
                      </a:solidFill>
                      <a:prstDash val="solid"/>
                      <a:round/>
                      <a:headEnd len="sm" w="sm" type="none"/>
                      <a:tailEnd len="sm" w="sm" type="none"/>
                    </a:lnT>
                    <a:lnB cap="flat" cmpd="sng" w="5300">
                      <a:solidFill>
                        <a:srgbClr val="D1D9E0"/>
                      </a:solidFill>
                      <a:prstDash val="solid"/>
                      <a:round/>
                      <a:headEnd len="sm" w="sm" type="none"/>
                      <a:tailEnd len="sm" w="sm" type="none"/>
                    </a:lnB>
                  </a:tcPr>
                </a:tc>
                <a:tc>
                  <a:txBody>
                    <a:bodyPr/>
                    <a:lstStyle/>
                    <a:p>
                      <a:pPr indent="0" lvl="0" marL="0" rtl="0" algn="l">
                        <a:spcBef>
                          <a:spcPts val="0"/>
                        </a:spcBef>
                        <a:spcAft>
                          <a:spcPts val="0"/>
                        </a:spcAft>
                        <a:buNone/>
                      </a:pPr>
                      <a:r>
                        <a:rPr lang="en"/>
                        <a:t>yes</a:t>
                      </a:r>
                      <a:endParaRPr/>
                    </a:p>
                  </a:txBody>
                  <a:tcPr marT="91425" marB="91425" marR="91425" marL="91425">
                    <a:lnL cap="flat" cmpd="sng" w="5300">
                      <a:solidFill>
                        <a:srgbClr val="D1D9E0"/>
                      </a:solidFill>
                      <a:prstDash val="solid"/>
                      <a:round/>
                      <a:headEnd len="sm" w="sm" type="none"/>
                      <a:tailEnd len="sm" w="sm" type="none"/>
                    </a:lnL>
                  </a:tcPr>
                </a:tc>
                <a:tc>
                  <a:txBody>
                    <a:bodyPr/>
                    <a:lstStyle/>
                    <a:p>
                      <a:pPr indent="0" lvl="0" marL="0" rtl="0" algn="l">
                        <a:spcBef>
                          <a:spcPts val="0"/>
                        </a:spcBef>
                        <a:spcAft>
                          <a:spcPts val="0"/>
                        </a:spcAft>
                        <a:buNone/>
                      </a:pPr>
                      <a:r>
                        <a:rPr lang="en"/>
                        <a:t>numeric</a:t>
                      </a:r>
                      <a:endParaRPr/>
                    </a:p>
                  </a:txBody>
                  <a:tcPr marT="91425" marB="91425" marR="91425" marL="91425"/>
                </a:tc>
                <a:tc>
                  <a:txBody>
                    <a:bodyPr/>
                    <a:lstStyle/>
                    <a:p>
                      <a:pPr indent="0" lvl="0" marL="0" rtl="0" algn="l">
                        <a:spcBef>
                          <a:spcPts val="0"/>
                        </a:spcBef>
                        <a:spcAft>
                          <a:spcPts val="0"/>
                        </a:spcAft>
                        <a:buNone/>
                      </a:pPr>
                      <a:r>
                        <a:rPr lang="en"/>
                        <a:t>yes</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r>
              <a:tr h="339750">
                <a:tc>
                  <a:txBody>
                    <a:bodyPr/>
                    <a:lstStyle/>
                    <a:p>
                      <a:pPr indent="0" lvl="0" marL="0" rtl="0" algn="l">
                        <a:lnSpc>
                          <a:spcPct val="115000"/>
                        </a:lnSpc>
                        <a:spcBef>
                          <a:spcPts val="0"/>
                        </a:spcBef>
                        <a:spcAft>
                          <a:spcPts val="1200"/>
                        </a:spcAft>
                        <a:buNone/>
                      </a:pPr>
                      <a:r>
                        <a:rPr lang="en" sz="1200">
                          <a:solidFill>
                            <a:srgbClr val="1F2328"/>
                          </a:solidFill>
                          <a:highlight>
                            <a:srgbClr val="FFFFFF"/>
                          </a:highlight>
                        </a:rPr>
                        <a:t>total_ratings</a:t>
                      </a:r>
                      <a:endParaRPr sz="1200">
                        <a:solidFill>
                          <a:srgbClr val="1F2328"/>
                        </a:solidFill>
                        <a:highlight>
                          <a:srgbClr val="FFFFFF"/>
                        </a:highlight>
                      </a:endParaRPr>
                    </a:p>
                  </a:txBody>
                  <a:tcPr marT="63500" marB="63500" marR="127000" marL="127000">
                    <a:lnL cap="flat" cmpd="sng" w="5300">
                      <a:solidFill>
                        <a:srgbClr val="D1D9E0"/>
                      </a:solidFill>
                      <a:prstDash val="solid"/>
                      <a:round/>
                      <a:headEnd len="sm" w="sm" type="none"/>
                      <a:tailEnd len="sm" w="sm" type="none"/>
                    </a:lnL>
                    <a:lnR cap="flat" cmpd="sng" w="5300">
                      <a:solidFill>
                        <a:srgbClr val="D1D9E0"/>
                      </a:solidFill>
                      <a:prstDash val="solid"/>
                      <a:round/>
                      <a:headEnd len="sm" w="sm" type="none"/>
                      <a:tailEnd len="sm" w="sm" type="none"/>
                    </a:lnR>
                    <a:lnT cap="flat" cmpd="sng" w="5300">
                      <a:solidFill>
                        <a:srgbClr val="D1D9E0"/>
                      </a:solidFill>
                      <a:prstDash val="solid"/>
                      <a:round/>
                      <a:headEnd len="sm" w="sm" type="none"/>
                      <a:tailEnd len="sm" w="sm" type="none"/>
                    </a:lnT>
                    <a:lnB cap="flat" cmpd="sng" w="5300">
                      <a:solidFill>
                        <a:srgbClr val="D1D9E0"/>
                      </a:solidFill>
                      <a:prstDash val="solid"/>
                      <a:round/>
                      <a:headEnd len="sm" w="sm" type="none"/>
                      <a:tailEnd len="sm" w="sm" type="none"/>
                    </a:lnB>
                  </a:tcPr>
                </a:tc>
                <a:tc>
                  <a:txBody>
                    <a:bodyPr/>
                    <a:lstStyle/>
                    <a:p>
                      <a:pPr indent="0" lvl="0" marL="0" rtl="0" algn="l">
                        <a:spcBef>
                          <a:spcPts val="0"/>
                        </a:spcBef>
                        <a:spcAft>
                          <a:spcPts val="0"/>
                        </a:spcAft>
                        <a:buNone/>
                      </a:pPr>
                      <a:r>
                        <a:rPr lang="en"/>
                        <a:t>yes</a:t>
                      </a:r>
                      <a:endParaRPr/>
                    </a:p>
                  </a:txBody>
                  <a:tcPr marT="91425" marB="91425" marR="91425" marL="91425">
                    <a:lnL cap="flat" cmpd="sng" w="5300">
                      <a:solidFill>
                        <a:srgbClr val="D1D9E0"/>
                      </a:solidFill>
                      <a:prstDash val="solid"/>
                      <a:round/>
                      <a:headEnd len="sm" w="sm" type="none"/>
                      <a:tailEnd len="sm" w="sm" type="none"/>
                    </a:lnL>
                  </a:tcPr>
                </a:tc>
                <a:tc>
                  <a:txBody>
                    <a:bodyPr/>
                    <a:lstStyle/>
                    <a:p>
                      <a:pPr indent="0" lvl="0" marL="0" rtl="0" algn="l">
                        <a:spcBef>
                          <a:spcPts val="0"/>
                        </a:spcBef>
                        <a:spcAft>
                          <a:spcPts val="0"/>
                        </a:spcAft>
                        <a:buNone/>
                      </a:pPr>
                      <a:r>
                        <a:rPr lang="en"/>
                        <a:t>numeric</a:t>
                      </a:r>
                      <a:endParaRPr/>
                    </a:p>
                  </a:txBody>
                  <a:tcPr marT="91425" marB="91425" marR="91425" marL="91425"/>
                </a:tc>
                <a:tc>
                  <a:txBody>
                    <a:bodyPr/>
                    <a:lstStyle/>
                    <a:p>
                      <a:pPr indent="0" lvl="0" marL="0" rtl="0" algn="l">
                        <a:spcBef>
                          <a:spcPts val="0"/>
                        </a:spcBef>
                        <a:spcAft>
                          <a:spcPts val="0"/>
                        </a:spcAft>
                        <a:buNone/>
                      </a:pPr>
                      <a:r>
                        <a:rPr lang="en"/>
                        <a:t>yes</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r>
              <a:tr h="339750">
                <a:tc>
                  <a:txBody>
                    <a:bodyPr/>
                    <a:lstStyle/>
                    <a:p>
                      <a:pPr indent="0" lvl="0" marL="0" rtl="0" algn="l">
                        <a:lnSpc>
                          <a:spcPct val="115000"/>
                        </a:lnSpc>
                        <a:spcBef>
                          <a:spcPts val="0"/>
                        </a:spcBef>
                        <a:spcAft>
                          <a:spcPts val="1200"/>
                        </a:spcAft>
                        <a:buNone/>
                      </a:pPr>
                      <a:r>
                        <a:rPr lang="en" sz="1200">
                          <a:solidFill>
                            <a:srgbClr val="1F2328"/>
                          </a:solidFill>
                          <a:highlight>
                            <a:srgbClr val="FFFFFF"/>
                          </a:highlight>
                        </a:rPr>
                        <a:t>reviews</a:t>
                      </a:r>
                      <a:endParaRPr sz="1200">
                        <a:solidFill>
                          <a:srgbClr val="1F2328"/>
                        </a:solidFill>
                        <a:highlight>
                          <a:srgbClr val="FFFFFF"/>
                        </a:highlight>
                      </a:endParaRPr>
                    </a:p>
                  </a:txBody>
                  <a:tcPr marT="63500" marB="63500" marR="127000" marL="127000">
                    <a:lnL cap="flat" cmpd="sng" w="5300">
                      <a:solidFill>
                        <a:srgbClr val="D1D9E0"/>
                      </a:solidFill>
                      <a:prstDash val="solid"/>
                      <a:round/>
                      <a:headEnd len="sm" w="sm" type="none"/>
                      <a:tailEnd len="sm" w="sm" type="none"/>
                    </a:lnL>
                    <a:lnR cap="flat" cmpd="sng" w="5300">
                      <a:solidFill>
                        <a:srgbClr val="D1D9E0"/>
                      </a:solidFill>
                      <a:prstDash val="solid"/>
                      <a:round/>
                      <a:headEnd len="sm" w="sm" type="none"/>
                      <a:tailEnd len="sm" w="sm" type="none"/>
                    </a:lnR>
                    <a:lnT cap="flat" cmpd="sng" w="5300">
                      <a:solidFill>
                        <a:srgbClr val="D1D9E0"/>
                      </a:solidFill>
                      <a:prstDash val="solid"/>
                      <a:round/>
                      <a:headEnd len="sm" w="sm" type="none"/>
                      <a:tailEnd len="sm" w="sm" type="none"/>
                    </a:lnT>
                    <a:lnB cap="flat" cmpd="sng" w="5300">
                      <a:solidFill>
                        <a:srgbClr val="D1D9E0"/>
                      </a:solidFill>
                      <a:prstDash val="solid"/>
                      <a:round/>
                      <a:headEnd len="sm" w="sm" type="none"/>
                      <a:tailEnd len="sm" w="sm" type="none"/>
                    </a:lnB>
                  </a:tcPr>
                </a:tc>
                <a:tc>
                  <a:txBody>
                    <a:bodyPr/>
                    <a:lstStyle/>
                    <a:p>
                      <a:pPr indent="0" lvl="0" marL="0" rtl="0" algn="l">
                        <a:spcBef>
                          <a:spcPts val="0"/>
                        </a:spcBef>
                        <a:spcAft>
                          <a:spcPts val="0"/>
                        </a:spcAft>
                        <a:buNone/>
                      </a:pPr>
                      <a:r>
                        <a:rPr lang="en"/>
                        <a:t>yes</a:t>
                      </a:r>
                      <a:endParaRPr/>
                    </a:p>
                  </a:txBody>
                  <a:tcPr marT="91425" marB="91425" marR="91425" marL="91425">
                    <a:lnL cap="flat" cmpd="sng" w="5300">
                      <a:solidFill>
                        <a:srgbClr val="D1D9E0"/>
                      </a:solidFill>
                      <a:prstDash val="solid"/>
                      <a:round/>
                      <a:headEnd len="sm" w="sm" type="none"/>
                      <a:tailEnd len="sm" w="sm" type="none"/>
                    </a:lnL>
                  </a:tcPr>
                </a:tc>
                <a:tc>
                  <a:txBody>
                    <a:bodyPr/>
                    <a:lstStyle/>
                    <a:p>
                      <a:pPr indent="0" lvl="0" marL="0" rtl="0" algn="l">
                        <a:spcBef>
                          <a:spcPts val="0"/>
                        </a:spcBef>
                        <a:spcAft>
                          <a:spcPts val="0"/>
                        </a:spcAft>
                        <a:buNone/>
                      </a:pPr>
                      <a:r>
                        <a:rPr lang="en"/>
                        <a:t>numeric</a:t>
                      </a:r>
                      <a:endParaRPr/>
                    </a:p>
                  </a:txBody>
                  <a:tcPr marT="91425" marB="91425" marR="91425" marL="91425"/>
                </a:tc>
                <a:tc>
                  <a:txBody>
                    <a:bodyPr/>
                    <a:lstStyle/>
                    <a:p>
                      <a:pPr indent="0" lvl="0" marL="0" rtl="0" algn="l">
                        <a:spcBef>
                          <a:spcPts val="0"/>
                        </a:spcBef>
                        <a:spcAft>
                          <a:spcPts val="0"/>
                        </a:spcAft>
                        <a:buNone/>
                      </a:pPr>
                      <a:r>
                        <a:rPr lang="en"/>
                        <a:t>yes</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lnB cap="flat" cmpd="sng" w="9525">
                      <a:solidFill>
                        <a:srgbClr val="9E9E9E"/>
                      </a:solidFill>
                      <a:prstDash val="solid"/>
                      <a:round/>
                      <a:headEnd len="sm" w="sm" type="none"/>
                      <a:tailEnd len="sm" w="sm" type="none"/>
                    </a:lnB>
                  </a:tcPr>
                </a:tc>
              </a:tr>
              <a:tr h="339750">
                <a:tc>
                  <a:txBody>
                    <a:bodyPr/>
                    <a:lstStyle/>
                    <a:p>
                      <a:pPr indent="0" lvl="0" marL="0" rtl="0" algn="l">
                        <a:lnSpc>
                          <a:spcPct val="115000"/>
                        </a:lnSpc>
                        <a:spcBef>
                          <a:spcPts val="0"/>
                        </a:spcBef>
                        <a:spcAft>
                          <a:spcPts val="1200"/>
                        </a:spcAft>
                        <a:buNone/>
                      </a:pPr>
                      <a:r>
                        <a:rPr lang="en" sz="1200">
                          <a:solidFill>
                            <a:srgbClr val="1F2328"/>
                          </a:solidFill>
                          <a:highlight>
                            <a:srgbClr val="FFFFFF"/>
                          </a:highlight>
                        </a:rPr>
                        <a:t>prep_time</a:t>
                      </a:r>
                      <a:endParaRPr sz="1200">
                        <a:solidFill>
                          <a:srgbClr val="1F2328"/>
                        </a:solidFill>
                        <a:highlight>
                          <a:srgbClr val="FFFFFF"/>
                        </a:highlight>
                      </a:endParaRPr>
                    </a:p>
                  </a:txBody>
                  <a:tcPr marT="63500" marB="63500" marR="127000" marL="127000">
                    <a:lnL cap="flat" cmpd="sng" w="5300">
                      <a:solidFill>
                        <a:srgbClr val="D1D9E0"/>
                      </a:solidFill>
                      <a:prstDash val="solid"/>
                      <a:round/>
                      <a:headEnd len="sm" w="sm" type="none"/>
                      <a:tailEnd len="sm" w="sm" type="none"/>
                    </a:lnL>
                    <a:lnR cap="flat" cmpd="sng" w="5300">
                      <a:solidFill>
                        <a:srgbClr val="D1D9E0"/>
                      </a:solidFill>
                      <a:prstDash val="solid"/>
                      <a:round/>
                      <a:headEnd len="sm" w="sm" type="none"/>
                      <a:tailEnd len="sm" w="sm" type="none"/>
                    </a:lnR>
                    <a:lnT cap="flat" cmpd="sng" w="5300">
                      <a:solidFill>
                        <a:srgbClr val="D1D9E0"/>
                      </a:solidFill>
                      <a:prstDash val="solid"/>
                      <a:round/>
                      <a:headEnd len="sm" w="sm" type="none"/>
                      <a:tailEnd len="sm" w="sm" type="none"/>
                    </a:lnT>
                    <a:lnB cap="flat" cmpd="sng" w="5300">
                      <a:solidFill>
                        <a:srgbClr val="D1D9E0"/>
                      </a:solidFill>
                      <a:prstDash val="solid"/>
                      <a:round/>
                      <a:headEnd len="sm" w="sm" type="none"/>
                      <a:tailEnd len="sm" w="sm" type="none"/>
                    </a:lnB>
                  </a:tcPr>
                </a:tc>
                <a:tc>
                  <a:txBody>
                    <a:bodyPr/>
                    <a:lstStyle/>
                    <a:p>
                      <a:pPr indent="0" lvl="0" marL="0" rtl="0" algn="l">
                        <a:spcBef>
                          <a:spcPts val="0"/>
                        </a:spcBef>
                        <a:spcAft>
                          <a:spcPts val="0"/>
                        </a:spcAft>
                        <a:buNone/>
                      </a:pPr>
                      <a:r>
                        <a:rPr lang="en"/>
                        <a:t>no</a:t>
                      </a:r>
                      <a:endParaRPr/>
                    </a:p>
                  </a:txBody>
                  <a:tcPr marT="91425" marB="91425" marR="91425" marL="91425">
                    <a:lnL cap="flat" cmpd="sng" w="5300">
                      <a:solidFill>
                        <a:srgbClr val="D1D9E0"/>
                      </a:solidFill>
                      <a:prstDash val="solid"/>
                      <a:round/>
                      <a:headEnd len="sm" w="sm" type="none"/>
                      <a:tailEnd len="sm" w="sm" type="none"/>
                    </a:lnL>
                  </a:tcPr>
                </a:tc>
                <a:tc>
                  <a:txBody>
                    <a:bodyPr/>
                    <a:lstStyle/>
                    <a:p>
                      <a:pPr indent="0" lvl="0" marL="0" rtl="0" algn="l">
                        <a:spcBef>
                          <a:spcPts val="0"/>
                        </a:spcBef>
                        <a:spcAft>
                          <a:spcPts val="0"/>
                        </a:spcAft>
                        <a:buNone/>
                      </a:pPr>
                      <a:r>
                        <a:rPr lang="en"/>
                        <a:t>numeric</a:t>
                      </a:r>
                      <a:endParaRPr/>
                    </a:p>
                  </a:txBody>
                  <a:tcPr marT="91425" marB="91425" marR="91425" marL="91425"/>
                </a:tc>
                <a:tc>
                  <a:txBody>
                    <a:bodyPr/>
                    <a:lstStyle/>
                    <a:p>
                      <a:pPr indent="0" lvl="0" marL="0" rtl="0" algn="l">
                        <a:spcBef>
                          <a:spcPts val="0"/>
                        </a:spcBef>
                        <a:spcAft>
                          <a:spcPts val="0"/>
                        </a:spcAft>
                        <a:buNone/>
                      </a:pPr>
                      <a:r>
                        <a:rPr lang="en"/>
                        <a:t>yes</a:t>
                      </a:r>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
                        <a:t>no</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39750">
                <a:tc>
                  <a:txBody>
                    <a:bodyPr/>
                    <a:lstStyle/>
                    <a:p>
                      <a:pPr indent="0" lvl="0" marL="0" rtl="0" algn="l">
                        <a:lnSpc>
                          <a:spcPct val="115000"/>
                        </a:lnSpc>
                        <a:spcBef>
                          <a:spcPts val="0"/>
                        </a:spcBef>
                        <a:spcAft>
                          <a:spcPts val="1200"/>
                        </a:spcAft>
                        <a:buNone/>
                      </a:pPr>
                      <a:r>
                        <a:rPr lang="en" sz="1200">
                          <a:solidFill>
                            <a:srgbClr val="1F2328"/>
                          </a:solidFill>
                          <a:highlight>
                            <a:srgbClr val="FFFFFF"/>
                          </a:highlight>
                        </a:rPr>
                        <a:t>cook_time</a:t>
                      </a:r>
                      <a:endParaRPr sz="1200">
                        <a:solidFill>
                          <a:srgbClr val="1F2328"/>
                        </a:solidFill>
                        <a:highlight>
                          <a:srgbClr val="FFFFFF"/>
                        </a:highlight>
                      </a:endParaRPr>
                    </a:p>
                  </a:txBody>
                  <a:tcPr marT="63500" marB="63500" marR="127000" marL="127000">
                    <a:lnL cap="flat" cmpd="sng" w="5300">
                      <a:solidFill>
                        <a:srgbClr val="D1D9E0"/>
                      </a:solidFill>
                      <a:prstDash val="solid"/>
                      <a:round/>
                      <a:headEnd len="sm" w="sm" type="none"/>
                      <a:tailEnd len="sm" w="sm" type="none"/>
                    </a:lnL>
                    <a:lnR cap="flat" cmpd="sng" w="5300">
                      <a:solidFill>
                        <a:srgbClr val="D1D9E0"/>
                      </a:solidFill>
                      <a:prstDash val="solid"/>
                      <a:round/>
                      <a:headEnd len="sm" w="sm" type="none"/>
                      <a:tailEnd len="sm" w="sm" type="none"/>
                    </a:lnR>
                    <a:lnT cap="flat" cmpd="sng" w="5300">
                      <a:solidFill>
                        <a:srgbClr val="D1D9E0"/>
                      </a:solidFill>
                      <a:prstDash val="solid"/>
                      <a:round/>
                      <a:headEnd len="sm" w="sm" type="none"/>
                      <a:tailEnd len="sm" w="sm" type="none"/>
                    </a:lnT>
                    <a:lnB cap="flat" cmpd="sng" w="5300">
                      <a:solidFill>
                        <a:srgbClr val="D1D9E0"/>
                      </a:solidFill>
                      <a:prstDash val="solid"/>
                      <a:round/>
                      <a:headEnd len="sm" w="sm" type="none"/>
                      <a:tailEnd len="sm" w="sm" type="none"/>
                    </a:lnB>
                  </a:tcPr>
                </a:tc>
                <a:tc>
                  <a:txBody>
                    <a:bodyPr/>
                    <a:lstStyle/>
                    <a:p>
                      <a:pPr indent="0" lvl="0" marL="0" rtl="0" algn="l">
                        <a:spcBef>
                          <a:spcPts val="0"/>
                        </a:spcBef>
                        <a:spcAft>
                          <a:spcPts val="0"/>
                        </a:spcAft>
                        <a:buNone/>
                      </a:pPr>
                      <a:r>
                        <a:rPr lang="en"/>
                        <a:t>no</a:t>
                      </a:r>
                      <a:endParaRPr/>
                    </a:p>
                  </a:txBody>
                  <a:tcPr marT="91425" marB="91425" marR="91425" marL="91425">
                    <a:lnL cap="flat" cmpd="sng" w="5300">
                      <a:solidFill>
                        <a:srgbClr val="D1D9E0"/>
                      </a:solidFill>
                      <a:prstDash val="solid"/>
                      <a:round/>
                      <a:headEnd len="sm" w="sm" type="none"/>
                      <a:tailEnd len="sm" w="sm" type="none"/>
                    </a:lnL>
                  </a:tcPr>
                </a:tc>
                <a:tc>
                  <a:txBody>
                    <a:bodyPr/>
                    <a:lstStyle/>
                    <a:p>
                      <a:pPr indent="0" lvl="0" marL="0" rtl="0" algn="l">
                        <a:spcBef>
                          <a:spcPts val="0"/>
                        </a:spcBef>
                        <a:spcAft>
                          <a:spcPts val="0"/>
                        </a:spcAft>
                        <a:buNone/>
                      </a:pPr>
                      <a:r>
                        <a:rPr lang="en"/>
                        <a:t>numeric</a:t>
                      </a:r>
                      <a:endParaRPr/>
                    </a:p>
                  </a:txBody>
                  <a:tcPr marT="91425" marB="91425" marR="91425" marL="91425"/>
                </a:tc>
                <a:tc>
                  <a:txBody>
                    <a:bodyPr/>
                    <a:lstStyle/>
                    <a:p>
                      <a:pPr indent="0" lvl="0" marL="0" rtl="0" algn="l">
                        <a:spcBef>
                          <a:spcPts val="0"/>
                        </a:spcBef>
                        <a:spcAft>
                          <a:spcPts val="0"/>
                        </a:spcAft>
                        <a:buNone/>
                      </a:pPr>
                      <a:r>
                        <a:rPr lang="en"/>
                        <a:t>yes</a:t>
                      </a:r>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
                        <a:t>no</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39750">
                <a:tc>
                  <a:txBody>
                    <a:bodyPr/>
                    <a:lstStyle/>
                    <a:p>
                      <a:pPr indent="0" lvl="0" marL="0" rtl="0" algn="l">
                        <a:lnSpc>
                          <a:spcPct val="115000"/>
                        </a:lnSpc>
                        <a:spcBef>
                          <a:spcPts val="0"/>
                        </a:spcBef>
                        <a:spcAft>
                          <a:spcPts val="1200"/>
                        </a:spcAft>
                        <a:buNone/>
                      </a:pPr>
                      <a:r>
                        <a:rPr lang="en" sz="1200">
                          <a:solidFill>
                            <a:srgbClr val="1F2328"/>
                          </a:solidFill>
                          <a:highlight>
                            <a:srgbClr val="FFFFFF"/>
                          </a:highlight>
                        </a:rPr>
                        <a:t>total_time</a:t>
                      </a:r>
                      <a:endParaRPr sz="1200">
                        <a:solidFill>
                          <a:srgbClr val="1F2328"/>
                        </a:solidFill>
                        <a:highlight>
                          <a:srgbClr val="FFFFFF"/>
                        </a:highlight>
                      </a:endParaRPr>
                    </a:p>
                  </a:txBody>
                  <a:tcPr marT="63500" marB="63500" marR="127000" marL="127000">
                    <a:lnL cap="flat" cmpd="sng" w="5300">
                      <a:solidFill>
                        <a:srgbClr val="D1D9E0"/>
                      </a:solidFill>
                      <a:prstDash val="solid"/>
                      <a:round/>
                      <a:headEnd len="sm" w="sm" type="none"/>
                      <a:tailEnd len="sm" w="sm" type="none"/>
                    </a:lnL>
                    <a:lnR cap="flat" cmpd="sng" w="5300">
                      <a:solidFill>
                        <a:srgbClr val="D1D9E0"/>
                      </a:solidFill>
                      <a:prstDash val="solid"/>
                      <a:round/>
                      <a:headEnd len="sm" w="sm" type="none"/>
                      <a:tailEnd len="sm" w="sm" type="none"/>
                    </a:lnR>
                    <a:lnT cap="flat" cmpd="sng" w="5300">
                      <a:solidFill>
                        <a:srgbClr val="D1D9E0"/>
                      </a:solidFill>
                      <a:prstDash val="solid"/>
                      <a:round/>
                      <a:headEnd len="sm" w="sm" type="none"/>
                      <a:tailEnd len="sm" w="sm" type="none"/>
                    </a:lnT>
                    <a:lnB cap="flat" cmpd="sng" w="5300">
                      <a:solidFill>
                        <a:srgbClr val="D1D9E0"/>
                      </a:solidFill>
                      <a:prstDash val="solid"/>
                      <a:round/>
                      <a:headEnd len="sm" w="sm" type="none"/>
                      <a:tailEnd len="sm" w="sm" type="none"/>
                    </a:lnB>
                  </a:tcPr>
                </a:tc>
                <a:tc>
                  <a:txBody>
                    <a:bodyPr/>
                    <a:lstStyle/>
                    <a:p>
                      <a:pPr indent="0" lvl="0" marL="0" rtl="0" algn="l">
                        <a:spcBef>
                          <a:spcPts val="0"/>
                        </a:spcBef>
                        <a:spcAft>
                          <a:spcPts val="0"/>
                        </a:spcAft>
                        <a:buNone/>
                      </a:pPr>
                      <a:r>
                        <a:rPr lang="en"/>
                        <a:t>no</a:t>
                      </a:r>
                      <a:endParaRPr/>
                    </a:p>
                  </a:txBody>
                  <a:tcPr marT="91425" marB="91425" marR="91425" marL="91425">
                    <a:lnL cap="flat" cmpd="sng" w="5300">
                      <a:solidFill>
                        <a:srgbClr val="D1D9E0"/>
                      </a:solidFill>
                      <a:prstDash val="solid"/>
                      <a:round/>
                      <a:headEnd len="sm" w="sm" type="none"/>
                      <a:tailEnd len="sm" w="sm" type="none"/>
                    </a:lnL>
                  </a:tcPr>
                </a:tc>
                <a:tc>
                  <a:txBody>
                    <a:bodyPr/>
                    <a:lstStyle/>
                    <a:p>
                      <a:pPr indent="0" lvl="0" marL="0" rtl="0" algn="l">
                        <a:spcBef>
                          <a:spcPts val="0"/>
                        </a:spcBef>
                        <a:spcAft>
                          <a:spcPts val="0"/>
                        </a:spcAft>
                        <a:buNone/>
                      </a:pPr>
                      <a:r>
                        <a:rPr lang="en"/>
                        <a:t>numeric</a:t>
                      </a:r>
                      <a:endParaRPr/>
                    </a:p>
                  </a:txBody>
                  <a:tcPr marT="91425" marB="91425" marR="91425" marL="91425"/>
                </a:tc>
                <a:tc>
                  <a:txBody>
                    <a:bodyPr/>
                    <a:lstStyle/>
                    <a:p>
                      <a:pPr indent="0" lvl="0" marL="0" rtl="0" algn="l">
                        <a:spcBef>
                          <a:spcPts val="0"/>
                        </a:spcBef>
                        <a:spcAft>
                          <a:spcPts val="0"/>
                        </a:spcAft>
                        <a:buNone/>
                      </a:pPr>
                      <a:r>
                        <a:rPr lang="en"/>
                        <a:t>yes</a:t>
                      </a:r>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
                        <a:t>no</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39750">
                <a:tc>
                  <a:txBody>
                    <a:bodyPr/>
                    <a:lstStyle/>
                    <a:p>
                      <a:pPr indent="0" lvl="0" marL="0" rtl="0" algn="l">
                        <a:lnSpc>
                          <a:spcPct val="115000"/>
                        </a:lnSpc>
                        <a:spcBef>
                          <a:spcPts val="0"/>
                        </a:spcBef>
                        <a:spcAft>
                          <a:spcPts val="1200"/>
                        </a:spcAft>
                        <a:buNone/>
                      </a:pPr>
                      <a:r>
                        <a:rPr lang="en" sz="1200">
                          <a:solidFill>
                            <a:srgbClr val="1F2328"/>
                          </a:solidFill>
                          <a:highlight>
                            <a:srgbClr val="FFFFFF"/>
                          </a:highlight>
                        </a:rPr>
                        <a:t>servings</a:t>
                      </a:r>
                      <a:endParaRPr sz="1200">
                        <a:solidFill>
                          <a:srgbClr val="1F2328"/>
                        </a:solidFill>
                        <a:highlight>
                          <a:srgbClr val="FFFFFF"/>
                        </a:highlight>
                      </a:endParaRPr>
                    </a:p>
                  </a:txBody>
                  <a:tcPr marT="63500" marB="63500" marR="127000" marL="127000">
                    <a:lnL cap="flat" cmpd="sng" w="5300">
                      <a:solidFill>
                        <a:srgbClr val="D1D9E0"/>
                      </a:solidFill>
                      <a:prstDash val="solid"/>
                      <a:round/>
                      <a:headEnd len="sm" w="sm" type="none"/>
                      <a:tailEnd len="sm" w="sm" type="none"/>
                    </a:lnL>
                    <a:lnR cap="flat" cmpd="sng" w="5300">
                      <a:solidFill>
                        <a:srgbClr val="D1D9E0"/>
                      </a:solidFill>
                      <a:prstDash val="solid"/>
                      <a:round/>
                      <a:headEnd len="sm" w="sm" type="none"/>
                      <a:tailEnd len="sm" w="sm" type="none"/>
                    </a:lnR>
                    <a:lnT cap="flat" cmpd="sng" w="5300">
                      <a:solidFill>
                        <a:srgbClr val="D1D9E0"/>
                      </a:solidFill>
                      <a:prstDash val="solid"/>
                      <a:round/>
                      <a:headEnd len="sm" w="sm" type="none"/>
                      <a:tailEnd len="sm" w="sm" type="none"/>
                    </a:lnT>
                    <a:lnB cap="flat" cmpd="sng" w="5300">
                      <a:solidFill>
                        <a:srgbClr val="D1D9E0"/>
                      </a:solidFill>
                      <a:prstDash val="solid"/>
                      <a:round/>
                      <a:headEnd len="sm" w="sm" type="none"/>
                      <a:tailEnd len="sm" w="sm" type="none"/>
                    </a:lnB>
                  </a:tcPr>
                </a:tc>
                <a:tc>
                  <a:txBody>
                    <a:bodyPr/>
                    <a:lstStyle/>
                    <a:p>
                      <a:pPr indent="0" lvl="0" marL="0" rtl="0" algn="l">
                        <a:spcBef>
                          <a:spcPts val="0"/>
                        </a:spcBef>
                        <a:spcAft>
                          <a:spcPts val="0"/>
                        </a:spcAft>
                        <a:buNone/>
                      </a:pPr>
                      <a:r>
                        <a:rPr lang="en"/>
                        <a:t>yes</a:t>
                      </a:r>
                      <a:endParaRPr/>
                    </a:p>
                  </a:txBody>
                  <a:tcPr marT="91425" marB="91425" marR="91425" marL="91425">
                    <a:lnL cap="flat" cmpd="sng" w="5300">
                      <a:solidFill>
                        <a:srgbClr val="D1D9E0"/>
                      </a:solidFill>
                      <a:prstDash val="solid"/>
                      <a:round/>
                      <a:headEnd len="sm" w="sm" type="none"/>
                      <a:tailEnd len="sm" w="sm" type="none"/>
                    </a:lnL>
                  </a:tcPr>
                </a:tc>
                <a:tc>
                  <a:txBody>
                    <a:bodyPr/>
                    <a:lstStyle/>
                    <a:p>
                      <a:pPr indent="0" lvl="0" marL="0" rtl="0" algn="l">
                        <a:spcBef>
                          <a:spcPts val="0"/>
                        </a:spcBef>
                        <a:spcAft>
                          <a:spcPts val="0"/>
                        </a:spcAft>
                        <a:buNone/>
                      </a:pPr>
                      <a:r>
                        <a:rPr lang="en"/>
                        <a:t>Discrete</a:t>
                      </a:r>
                      <a:endParaRPr/>
                    </a:p>
                  </a:txBody>
                  <a:tcPr marT="91425" marB="91425" marR="91425" marL="91425"/>
                </a:tc>
                <a:tc>
                  <a:txBody>
                    <a:bodyPr/>
                    <a:lstStyle/>
                    <a:p>
                      <a:pPr indent="0" lvl="0" marL="0" rtl="0" algn="l">
                        <a:spcBef>
                          <a:spcPts val="0"/>
                        </a:spcBef>
                        <a:spcAft>
                          <a:spcPts val="0"/>
                        </a:spcAft>
                        <a:buNone/>
                      </a:pPr>
                      <a:r>
                        <a:rPr lang="en"/>
                        <a:t>yes</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lnT cap="flat" cmpd="sng" w="9525">
                      <a:solidFill>
                        <a:srgbClr val="9E9E9E"/>
                      </a:solidFill>
                      <a:prstDash val="solid"/>
                      <a:round/>
                      <a:headEnd len="sm" w="sm" type="none"/>
                      <a:tailEnd len="sm" w="sm" type="none"/>
                    </a:lnT>
                  </a:tcPr>
                </a:tc>
              </a:tr>
            </a:tbl>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sp>
        <p:nvSpPr>
          <p:cNvPr id="564" name="Google Shape;564;p53"/>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Curious Questions -</a:t>
            </a:r>
            <a:r>
              <a:rPr b="0" lang="en" sz="1767"/>
              <a:t> all_recipes &amp; cuisines files</a:t>
            </a:r>
            <a:endParaRPr b="0" sz="1767"/>
          </a:p>
        </p:txBody>
      </p:sp>
      <p:sp>
        <p:nvSpPr>
          <p:cNvPr id="565" name="Google Shape;565;p53"/>
          <p:cNvSpPr txBox="1"/>
          <p:nvPr>
            <p:ph idx="1" type="body"/>
          </p:nvPr>
        </p:nvSpPr>
        <p:spPr>
          <a:xfrm>
            <a:off x="388075" y="1549900"/>
            <a:ext cx="8454000" cy="3410700"/>
          </a:xfrm>
          <a:prstGeom prst="rect">
            <a:avLst/>
          </a:prstGeom>
          <a:ln>
            <a:noFill/>
          </a:ln>
        </p:spPr>
        <p:txBody>
          <a:bodyPr anchorCtr="0" anchor="t" bIns="91425" lIns="91425" spcFirstLastPara="1" rIns="91425" wrap="square" tIns="91425">
            <a:normAutofit fontScale="92500" lnSpcReduction="20000"/>
          </a:bodyPr>
          <a:lstStyle/>
          <a:p>
            <a:pPr indent="-304959" lvl="0" marL="457200" rtl="0" algn="l">
              <a:lnSpc>
                <a:spcPct val="150000"/>
              </a:lnSpc>
              <a:spcBef>
                <a:spcPts val="0"/>
              </a:spcBef>
              <a:spcAft>
                <a:spcPts val="0"/>
              </a:spcAft>
              <a:buSzPct val="100000"/>
              <a:buAutoNum type="arabicPeriod"/>
            </a:pPr>
            <a:r>
              <a:rPr lang="en"/>
              <a:t>Which recipes are the most popular? </a:t>
            </a:r>
            <a:r>
              <a:rPr lang="en"/>
              <a:t>Do they prefer to bake sweet or savory dishes? High or low calorie?</a:t>
            </a:r>
            <a:endParaRPr/>
          </a:p>
          <a:p>
            <a:pPr indent="-304959" lvl="0" marL="457200" rtl="0" algn="l">
              <a:lnSpc>
                <a:spcPct val="150000"/>
              </a:lnSpc>
              <a:spcBef>
                <a:spcPts val="0"/>
              </a:spcBef>
              <a:spcAft>
                <a:spcPts val="0"/>
              </a:spcAft>
              <a:buSzPct val="100000"/>
              <a:buAutoNum type="arabicPeriod"/>
            </a:pPr>
            <a:r>
              <a:rPr lang="en"/>
              <a:t>Does it cost a lot of </a:t>
            </a:r>
            <a:r>
              <a:rPr lang="en"/>
              <a:t>money</a:t>
            </a:r>
            <a:r>
              <a:rPr lang="en"/>
              <a:t> to buy these ingredients for the recipes? Do people have the recipes just lying in their homes?</a:t>
            </a:r>
            <a:endParaRPr/>
          </a:p>
          <a:p>
            <a:pPr indent="-304959" lvl="0" marL="457200" rtl="0" algn="l">
              <a:lnSpc>
                <a:spcPct val="150000"/>
              </a:lnSpc>
              <a:spcBef>
                <a:spcPts val="0"/>
              </a:spcBef>
              <a:spcAft>
                <a:spcPts val="0"/>
              </a:spcAft>
              <a:buSzPct val="100000"/>
              <a:buAutoNum type="arabicPeriod"/>
            </a:pPr>
            <a:r>
              <a:rPr lang="en"/>
              <a:t>What is the average cook time across all of the </a:t>
            </a:r>
            <a:r>
              <a:rPr lang="en"/>
              <a:t>recipes</a:t>
            </a:r>
            <a:r>
              <a:rPr lang="en"/>
              <a:t> from the spreadsheets? What is the distribution of cooking times?</a:t>
            </a:r>
            <a:endParaRPr/>
          </a:p>
          <a:p>
            <a:pPr indent="-304959" lvl="0" marL="457200" rtl="0" algn="l">
              <a:lnSpc>
                <a:spcPct val="150000"/>
              </a:lnSpc>
              <a:spcBef>
                <a:spcPts val="0"/>
              </a:spcBef>
              <a:spcAft>
                <a:spcPts val="0"/>
              </a:spcAft>
              <a:buSzPct val="100000"/>
              <a:buAutoNum type="arabicPeriod"/>
            </a:pPr>
            <a:r>
              <a:rPr lang="en"/>
              <a:t>What are the most common ingredients in the recipes? Are these ingredients high or low calorie (fat, protein, etc) and cost?</a:t>
            </a:r>
            <a:endParaRPr/>
          </a:p>
          <a:p>
            <a:pPr indent="-304959" lvl="0" marL="457200" rtl="0" algn="l">
              <a:lnSpc>
                <a:spcPct val="150000"/>
              </a:lnSpc>
              <a:spcBef>
                <a:spcPts val="0"/>
              </a:spcBef>
              <a:spcAft>
                <a:spcPts val="0"/>
              </a:spcAft>
              <a:buSzPct val="100000"/>
              <a:buAutoNum type="arabicPeriod"/>
            </a:pPr>
            <a:r>
              <a:rPr lang="en"/>
              <a:t>Can we find healthy alternatives in making these recipes by their ingredients?</a:t>
            </a:r>
            <a:endParaRPr/>
          </a:p>
          <a:p>
            <a:pPr indent="-304959" lvl="0" marL="457200" rtl="0" algn="l">
              <a:lnSpc>
                <a:spcPct val="150000"/>
              </a:lnSpc>
              <a:spcBef>
                <a:spcPts val="0"/>
              </a:spcBef>
              <a:spcAft>
                <a:spcPts val="0"/>
              </a:spcAft>
              <a:buSzPct val="100000"/>
              <a:buAutoNum type="arabicPeriod"/>
            </a:pPr>
            <a:r>
              <a:rPr lang="en"/>
              <a:t>How does the calorie amount correlate with the cook time or ingredients list?</a:t>
            </a:r>
            <a:endParaRPr/>
          </a:p>
          <a:p>
            <a:pPr indent="-304959" lvl="0" marL="457200" rtl="0" algn="l">
              <a:lnSpc>
                <a:spcPct val="150000"/>
              </a:lnSpc>
              <a:spcBef>
                <a:spcPts val="0"/>
              </a:spcBef>
              <a:spcAft>
                <a:spcPts val="0"/>
              </a:spcAft>
              <a:buSzPct val="100000"/>
              <a:buAutoNum type="arabicPeriod"/>
            </a:pPr>
            <a:r>
              <a:rPr lang="en"/>
              <a:t>Can we see what kind of recipes they are by just viewing their ingredients list?</a:t>
            </a:r>
            <a:endParaRPr/>
          </a:p>
          <a:p>
            <a:pPr indent="-304959" lvl="0" marL="457200" rtl="0" algn="l">
              <a:lnSpc>
                <a:spcPct val="150000"/>
              </a:lnSpc>
              <a:spcBef>
                <a:spcPts val="0"/>
              </a:spcBef>
              <a:spcAft>
                <a:spcPts val="0"/>
              </a:spcAft>
              <a:buSzPct val="100000"/>
              <a:buAutoNum type="arabicPeriod"/>
            </a:pPr>
            <a:r>
              <a:rPr lang="en"/>
              <a:t>What aspects of a recipe allow people to know whether it is highly rated or not?</a:t>
            </a:r>
            <a:endParaRPr/>
          </a:p>
          <a:p>
            <a:pPr indent="-304959" lvl="0" marL="457200" rtl="0" algn="l">
              <a:lnSpc>
                <a:spcPct val="150000"/>
              </a:lnSpc>
              <a:spcBef>
                <a:spcPts val="0"/>
              </a:spcBef>
              <a:spcAft>
                <a:spcPts val="0"/>
              </a:spcAft>
              <a:buSzPct val="100000"/>
              <a:buAutoNum type="arabicPeriod"/>
            </a:pPr>
            <a:r>
              <a:rPr lang="en"/>
              <a:t>What do the highly rated recipes have in common? </a:t>
            </a:r>
            <a:endParaRPr/>
          </a:p>
          <a:p>
            <a:pPr indent="-304959" lvl="0" marL="457200" rtl="0" algn="l">
              <a:lnSpc>
                <a:spcPct val="150000"/>
              </a:lnSpc>
              <a:spcBef>
                <a:spcPts val="0"/>
              </a:spcBef>
              <a:spcAft>
                <a:spcPts val="0"/>
              </a:spcAft>
              <a:buSzPct val="100000"/>
              <a:buAutoNum type="arabicPeriod"/>
            </a:pPr>
            <a:r>
              <a:rPr lang="en"/>
              <a:t>How does calorie amount correlate with ingredients cost?</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9" name="Shape 569"/>
        <p:cNvGrpSpPr/>
        <p:nvPr/>
      </p:nvGrpSpPr>
      <p:grpSpPr>
        <a:xfrm>
          <a:off x="0" y="0"/>
          <a:ext cx="0" cy="0"/>
          <a:chOff x="0" y="0"/>
          <a:chExt cx="0" cy="0"/>
        </a:xfrm>
      </p:grpSpPr>
      <p:sp>
        <p:nvSpPr>
          <p:cNvPr id="570" name="Google Shape;570;p5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Audience &amp; Communication Goal</a:t>
            </a:r>
            <a:endParaRPr/>
          </a:p>
        </p:txBody>
      </p:sp>
      <p:sp>
        <p:nvSpPr>
          <p:cNvPr id="571" name="Google Shape;571;p54"/>
          <p:cNvSpPr txBox="1"/>
          <p:nvPr>
            <p:ph idx="1" type="body"/>
          </p:nvPr>
        </p:nvSpPr>
        <p:spPr>
          <a:xfrm>
            <a:off x="521400" y="1597875"/>
            <a:ext cx="8101200" cy="3018600"/>
          </a:xfrm>
          <a:prstGeom prst="rect">
            <a:avLst/>
          </a:prstGeom>
        </p:spPr>
        <p:txBody>
          <a:bodyPr anchorCtr="0" anchor="t" bIns="91425" lIns="91425" spcFirstLastPara="1" rIns="91425" wrap="square" tIns="91425">
            <a:normAutofit lnSpcReduction="20000"/>
          </a:bodyPr>
          <a:lstStyle/>
          <a:p>
            <a:pPr indent="0" lvl="0" marL="0" rtl="0" algn="l">
              <a:lnSpc>
                <a:spcPct val="150000"/>
              </a:lnSpc>
              <a:spcBef>
                <a:spcPts val="0"/>
              </a:spcBef>
              <a:spcAft>
                <a:spcPts val="0"/>
              </a:spcAft>
              <a:buNone/>
            </a:pPr>
            <a:r>
              <a:rPr b="1" lang="en"/>
              <a:t>Audience</a:t>
            </a:r>
            <a:r>
              <a:rPr lang="en"/>
              <a:t>: Home cooks, meal planners, families, and food </a:t>
            </a:r>
            <a:r>
              <a:rPr lang="en"/>
              <a:t>enthusiasts who like to improve on their cooking skills or would want to make smarter decisions while their in the kitchen. We will narrow it down to families and food enthusiast, but primarily families. </a:t>
            </a:r>
            <a:endParaRPr/>
          </a:p>
          <a:p>
            <a:pPr indent="0" lvl="0" marL="0" rtl="0" algn="l">
              <a:lnSpc>
                <a:spcPct val="150000"/>
              </a:lnSpc>
              <a:spcBef>
                <a:spcPts val="1200"/>
              </a:spcBef>
              <a:spcAft>
                <a:spcPts val="0"/>
              </a:spcAft>
              <a:buNone/>
            </a:pPr>
            <a:r>
              <a:t/>
            </a:r>
            <a:endParaRPr/>
          </a:p>
          <a:p>
            <a:pPr indent="0" lvl="0" marL="0" rtl="0" algn="l">
              <a:lnSpc>
                <a:spcPct val="150000"/>
              </a:lnSpc>
              <a:spcBef>
                <a:spcPts val="1200"/>
              </a:spcBef>
              <a:spcAft>
                <a:spcPts val="0"/>
              </a:spcAft>
              <a:buNone/>
            </a:pPr>
            <a:r>
              <a:rPr b="1" lang="en"/>
              <a:t>Communication Goals: </a:t>
            </a:r>
            <a:endParaRPr b="1"/>
          </a:p>
          <a:p>
            <a:pPr indent="-311150" lvl="0" marL="457200" rtl="0" algn="l">
              <a:lnSpc>
                <a:spcPct val="150000"/>
              </a:lnSpc>
              <a:spcBef>
                <a:spcPts val="1200"/>
              </a:spcBef>
              <a:spcAft>
                <a:spcPts val="0"/>
              </a:spcAft>
              <a:buSzPts val="1300"/>
              <a:buChar char="-"/>
            </a:pPr>
            <a:r>
              <a:rPr lang="en"/>
              <a:t>To provide a variety of recipes so chefs can explore different cuisines</a:t>
            </a:r>
            <a:endParaRPr/>
          </a:p>
          <a:p>
            <a:pPr indent="-311150" lvl="0" marL="457200" rtl="0" algn="l">
              <a:lnSpc>
                <a:spcPct val="150000"/>
              </a:lnSpc>
              <a:spcBef>
                <a:spcPts val="0"/>
              </a:spcBef>
              <a:spcAft>
                <a:spcPts val="0"/>
              </a:spcAft>
              <a:buSzPts val="1300"/>
              <a:buChar char="-"/>
            </a:pPr>
            <a:r>
              <a:rPr lang="en"/>
              <a:t>To find better ways to cook (cheaper, healthier macros, lower calories, yummier, faster/ more efficient)</a:t>
            </a:r>
            <a:endParaRPr/>
          </a:p>
          <a:p>
            <a:pPr indent="-311150" lvl="0" marL="457200" rtl="0" algn="l">
              <a:lnSpc>
                <a:spcPct val="150000"/>
              </a:lnSpc>
              <a:spcBef>
                <a:spcPts val="0"/>
              </a:spcBef>
              <a:spcAft>
                <a:spcPts val="0"/>
              </a:spcAft>
              <a:buSzPts val="1300"/>
              <a:buChar char="-"/>
            </a:pPr>
            <a:r>
              <a:rPr lang="en"/>
              <a:t>To discover new recipes based on recipes they already like</a:t>
            </a:r>
            <a:endParaRPr/>
          </a:p>
        </p:txBody>
      </p:sp>
    </p:spTree>
  </p:cSld>
  <p:clrMapOvr>
    <a:masterClrMapping/>
  </p:clrMapOvr>
</p:sld>
</file>

<file path=ppt/theme/theme1.xml><?xml version="1.0" encoding="utf-8"?>
<a:theme xmlns:a="http://schemas.openxmlformats.org/drawingml/2006/main" xmlns:r="http://schemas.openxmlformats.org/officeDocument/2006/relationships"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