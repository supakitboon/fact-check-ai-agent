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embeddedFontLst>
    <p:embeddedFont>
      <p:font typeface="Proxima Nova"/>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font" Target="fonts/ProximaNova-bold.fntdata"/><Relationship Id="rId12" Type="http://schemas.openxmlformats.org/officeDocument/2006/relationships/slide" Target="slides/slide5.xml"/><Relationship Id="rId34" Type="http://schemas.openxmlformats.org/officeDocument/2006/relationships/font" Target="fonts/ProximaNova-regular.fntdata"/><Relationship Id="rId15" Type="http://schemas.openxmlformats.org/officeDocument/2006/relationships/slide" Target="slides/slide8.xml"/><Relationship Id="rId37" Type="http://schemas.openxmlformats.org/officeDocument/2006/relationships/font" Target="fonts/ProximaNova-boldItalic.fntdata"/><Relationship Id="rId14" Type="http://schemas.openxmlformats.org/officeDocument/2006/relationships/slide" Target="slides/slide7.xml"/><Relationship Id="rId36" Type="http://schemas.openxmlformats.org/officeDocument/2006/relationships/font" Target="fonts/ProximaNova-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1T05:00:31.364">
    <p:pos x="2973" y="608"/>
    <p:text>see my comments on slide 13, great that you can bin it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28T23:26:28.929">
    <p:pos x="2628" y="774"/>
    <p:text>sorted bar is better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5a24315a7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d5a24315a7_4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a24315a7_4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d5a24315a7_4_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d5a24315a7_4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d5a24315a7_4_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5a24315a7_4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d5a24315a7_4_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5a24315a7_4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d5a24315a7_4_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5a24315a7_4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d5a24315a7_4_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5a24315a7_4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d5a24315a7_4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d5a24315a7_4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d5a24315a7_4_1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5a24315a7_4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d5a24315a7_4_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5a24315a7_4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d5a24315a7_4_1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75bc2a5a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g3d75bc2a5a7_1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75bc2a5a7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d75bc2a5a7_1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d75bc2a5a7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g3d75bc2a5a7_1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75bc2a5a7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d75bc2a5a7_1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d75bc2a5a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d75bc2a5a7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9797321f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d9797321f0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9797321f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d9797321f0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9797321f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d9797321f0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d9797321f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d9797321f0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9797321f0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g3d9797321f0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bbaa96985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g3dbbaa96985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bbaa9698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dbbaa96985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dbbaa9698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3dbbaa96985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bbaa9698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dbbaa96985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dbbaa9698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dbbaa96985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dbbaa9698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dbbaa96985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5.png"/><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0.png"/><Relationship Id="rId7"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comments" Target="../comments/comment2.xml"/><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3.png"/><Relationship Id="rId7"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10.png"/><Relationship Id="rId5"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128" name="Shape 128"/>
        <p:cNvGrpSpPr/>
        <p:nvPr/>
      </p:nvGrpSpPr>
      <p:grpSpPr>
        <a:xfrm>
          <a:off x="0" y="0"/>
          <a:ext cx="0" cy="0"/>
          <a:chOff x="0" y="0"/>
          <a:chExt cx="0" cy="0"/>
        </a:xfrm>
      </p:grpSpPr>
      <p:sp>
        <p:nvSpPr>
          <p:cNvPr id="129" name="Google Shape;129;p25"/>
          <p:cNvSpPr/>
          <p:nvPr/>
        </p:nvSpPr>
        <p:spPr>
          <a:xfrm>
            <a:off x="7671288" y="3489203"/>
            <a:ext cx="697638" cy="291554"/>
          </a:xfrm>
          <a:custGeom>
            <a:rect b="b" l="l" r="r" t="t"/>
            <a:pathLst>
              <a:path extrusionOk="0" h="583109" w="1395277">
                <a:moveTo>
                  <a:pt x="0" y="0"/>
                </a:moveTo>
                <a:lnTo>
                  <a:pt x="1395277" y="0"/>
                </a:lnTo>
                <a:lnTo>
                  <a:pt x="1395277" y="583109"/>
                </a:lnTo>
                <a:lnTo>
                  <a:pt x="0" y="583109"/>
                </a:lnTo>
                <a:lnTo>
                  <a:pt x="0" y="0"/>
                </a:lnTo>
                <a:close/>
              </a:path>
            </a:pathLst>
          </a:custGeom>
          <a:blipFill rotWithShape="1">
            <a:blip r:embed="rId3">
              <a:alphaModFix/>
            </a:blip>
            <a:stretch>
              <a:fillRect b="0" l="0" r="0" t="0"/>
            </a:stretch>
          </a:blipFill>
          <a:ln>
            <a:noFill/>
          </a:ln>
        </p:spPr>
      </p:sp>
      <p:sp>
        <p:nvSpPr>
          <p:cNvPr id="130" name="Google Shape;130;p25"/>
          <p:cNvSpPr/>
          <p:nvPr/>
        </p:nvSpPr>
        <p:spPr>
          <a:xfrm>
            <a:off x="5629036" y="3829999"/>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grpSp>
        <p:nvGrpSpPr>
          <p:cNvPr id="131" name="Google Shape;131;p25"/>
          <p:cNvGrpSpPr/>
          <p:nvPr/>
        </p:nvGrpSpPr>
        <p:grpSpPr>
          <a:xfrm>
            <a:off x="4888755" y="2200575"/>
            <a:ext cx="3740895" cy="886424"/>
            <a:chOff x="0" y="-38100"/>
            <a:chExt cx="1970512" cy="466923"/>
          </a:xfrm>
        </p:grpSpPr>
        <p:sp>
          <p:nvSpPr>
            <p:cNvPr id="132" name="Google Shape;132;p25"/>
            <p:cNvSpPr/>
            <p:nvPr/>
          </p:nvSpPr>
          <p:spPr>
            <a:xfrm>
              <a:off x="0" y="0"/>
              <a:ext cx="1970512" cy="428823"/>
            </a:xfrm>
            <a:custGeom>
              <a:rect b="b" l="l" r="r" t="t"/>
              <a:pathLst>
                <a:path extrusionOk="0" h="428823" w="1970512">
                  <a:moveTo>
                    <a:pt x="51738" y="0"/>
                  </a:moveTo>
                  <a:lnTo>
                    <a:pt x="1918774" y="0"/>
                  </a:lnTo>
                  <a:cubicBezTo>
                    <a:pt x="1947348" y="0"/>
                    <a:pt x="1970512" y="23164"/>
                    <a:pt x="1970512" y="51738"/>
                  </a:cubicBezTo>
                  <a:lnTo>
                    <a:pt x="1970512" y="377085"/>
                  </a:lnTo>
                  <a:cubicBezTo>
                    <a:pt x="1970512" y="405659"/>
                    <a:pt x="1947348" y="428823"/>
                    <a:pt x="1918774" y="428823"/>
                  </a:cubicBezTo>
                  <a:lnTo>
                    <a:pt x="51738" y="428823"/>
                  </a:lnTo>
                  <a:cubicBezTo>
                    <a:pt x="23164" y="428823"/>
                    <a:pt x="0" y="405659"/>
                    <a:pt x="0" y="377085"/>
                  </a:cubicBezTo>
                  <a:lnTo>
                    <a:pt x="0" y="51738"/>
                  </a:lnTo>
                  <a:cubicBezTo>
                    <a:pt x="0" y="23164"/>
                    <a:pt x="23164" y="0"/>
                    <a:pt x="51738"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33" name="Google Shape;133;p25"/>
            <p:cNvSpPr txBox="1"/>
            <p:nvPr/>
          </p:nvSpPr>
          <p:spPr>
            <a:xfrm>
              <a:off x="0" y="-38100"/>
              <a:ext cx="1970512" cy="466923"/>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34" name="Google Shape;134;p25"/>
          <p:cNvSpPr txBox="1"/>
          <p:nvPr/>
        </p:nvSpPr>
        <p:spPr>
          <a:xfrm>
            <a:off x="3225782" y="561975"/>
            <a:ext cx="5403868" cy="1555752"/>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1" i="0" lang="en" sz="5500" u="none" cap="none" strike="noStrike">
                <a:solidFill>
                  <a:srgbClr val="F2F5F8"/>
                </a:solidFill>
                <a:latin typeface="Arial"/>
                <a:ea typeface="Arial"/>
                <a:cs typeface="Arial"/>
                <a:sym typeface="Arial"/>
              </a:rPr>
              <a:t>Sleep and Daily Habits </a:t>
            </a:r>
            <a:endParaRPr sz="700"/>
          </a:p>
        </p:txBody>
      </p:sp>
      <p:sp>
        <p:nvSpPr>
          <p:cNvPr id="135" name="Google Shape;135;p25"/>
          <p:cNvSpPr/>
          <p:nvPr/>
        </p:nvSpPr>
        <p:spPr>
          <a:xfrm>
            <a:off x="3499109" y="2026111"/>
            <a:ext cx="235414" cy="183231"/>
          </a:xfrm>
          <a:custGeom>
            <a:rect b="b" l="l" r="r" t="t"/>
            <a:pathLst>
              <a:path extrusionOk="0" h="366462" w="470829">
                <a:moveTo>
                  <a:pt x="0" y="0"/>
                </a:moveTo>
                <a:lnTo>
                  <a:pt x="470830" y="0"/>
                </a:lnTo>
                <a:lnTo>
                  <a:pt x="470830" y="366462"/>
                </a:lnTo>
                <a:lnTo>
                  <a:pt x="0" y="366462"/>
                </a:lnTo>
                <a:lnTo>
                  <a:pt x="0" y="0"/>
                </a:lnTo>
                <a:close/>
              </a:path>
            </a:pathLst>
          </a:custGeom>
          <a:blipFill rotWithShape="1">
            <a:blip r:embed="rId4">
              <a:alphaModFix/>
            </a:blip>
            <a:stretch>
              <a:fillRect b="0" l="0" r="0" t="0"/>
            </a:stretch>
          </a:blipFill>
          <a:ln>
            <a:noFill/>
          </a:ln>
        </p:spPr>
      </p:sp>
      <p:sp>
        <p:nvSpPr>
          <p:cNvPr id="136" name="Google Shape;136;p25"/>
          <p:cNvSpPr/>
          <p:nvPr/>
        </p:nvSpPr>
        <p:spPr>
          <a:xfrm>
            <a:off x="8402246" y="227619"/>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137" name="Google Shape;137;p25"/>
          <p:cNvSpPr/>
          <p:nvPr/>
        </p:nvSpPr>
        <p:spPr>
          <a:xfrm flipH="1" rot="-10129969">
            <a:off x="1617907" y="721431"/>
            <a:ext cx="515143" cy="274743"/>
          </a:xfrm>
          <a:custGeom>
            <a:rect b="b" l="l" r="r" t="t"/>
            <a:pathLst>
              <a:path extrusionOk="0" h="549486" w="1030285">
                <a:moveTo>
                  <a:pt x="0" y="549486"/>
                </a:moveTo>
                <a:lnTo>
                  <a:pt x="1030285" y="549486"/>
                </a:lnTo>
                <a:lnTo>
                  <a:pt x="1030285" y="0"/>
                </a:lnTo>
                <a:lnTo>
                  <a:pt x="0" y="0"/>
                </a:lnTo>
                <a:lnTo>
                  <a:pt x="0" y="549486"/>
                </a:lnTo>
                <a:close/>
              </a:path>
            </a:pathLst>
          </a:custGeom>
          <a:blipFill rotWithShape="1">
            <a:blip r:embed="rId5">
              <a:alphaModFix/>
            </a:blip>
            <a:stretch>
              <a:fillRect b="0" l="0" r="0" t="0"/>
            </a:stretch>
          </a:blipFill>
          <a:ln>
            <a:noFill/>
          </a:ln>
        </p:spPr>
      </p:sp>
      <p:grpSp>
        <p:nvGrpSpPr>
          <p:cNvPr id="138" name="Google Shape;138;p25"/>
          <p:cNvGrpSpPr/>
          <p:nvPr/>
        </p:nvGrpSpPr>
        <p:grpSpPr>
          <a:xfrm>
            <a:off x="514350" y="514350"/>
            <a:ext cx="434835" cy="434835"/>
            <a:chOff x="0" y="0"/>
            <a:chExt cx="812800" cy="812800"/>
          </a:xfrm>
        </p:grpSpPr>
        <p:sp>
          <p:nvSpPr>
            <p:cNvPr id="139" name="Google Shape;139;p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40" name="Google Shape;140;p25"/>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41" name="Google Shape;141;p25"/>
          <p:cNvSpPr/>
          <p:nvPr/>
        </p:nvSpPr>
        <p:spPr>
          <a:xfrm>
            <a:off x="618194" y="579319"/>
            <a:ext cx="227149" cy="304898"/>
          </a:xfrm>
          <a:custGeom>
            <a:rect b="b" l="l" r="r" t="t"/>
            <a:pathLst>
              <a:path extrusionOk="0" h="609796" w="454298">
                <a:moveTo>
                  <a:pt x="0" y="0"/>
                </a:moveTo>
                <a:lnTo>
                  <a:pt x="454297" y="0"/>
                </a:lnTo>
                <a:lnTo>
                  <a:pt x="454297" y="609795"/>
                </a:lnTo>
                <a:lnTo>
                  <a:pt x="0" y="609795"/>
                </a:lnTo>
                <a:lnTo>
                  <a:pt x="0" y="0"/>
                </a:lnTo>
                <a:close/>
              </a:path>
            </a:pathLst>
          </a:custGeom>
          <a:blipFill rotWithShape="1">
            <a:blip r:embed="rId6">
              <a:alphaModFix/>
            </a:blip>
            <a:stretch>
              <a:fillRect b="0" l="0" r="0" t="0"/>
            </a:stretch>
          </a:blipFill>
          <a:ln>
            <a:noFill/>
          </a:ln>
        </p:spPr>
      </p:sp>
      <p:sp>
        <p:nvSpPr>
          <p:cNvPr id="142" name="Google Shape;142;p25"/>
          <p:cNvSpPr/>
          <p:nvPr/>
        </p:nvSpPr>
        <p:spPr>
          <a:xfrm>
            <a:off x="892049" y="1043458"/>
            <a:ext cx="2525459" cy="4114800"/>
          </a:xfrm>
          <a:custGeom>
            <a:rect b="b" l="l" r="r" t="t"/>
            <a:pathLst>
              <a:path extrusionOk="0" h="8229600" w="5050917">
                <a:moveTo>
                  <a:pt x="0" y="0"/>
                </a:moveTo>
                <a:lnTo>
                  <a:pt x="5050917" y="0"/>
                </a:lnTo>
                <a:lnTo>
                  <a:pt x="5050917" y="8229600"/>
                </a:lnTo>
                <a:lnTo>
                  <a:pt x="0" y="8229600"/>
                </a:lnTo>
                <a:lnTo>
                  <a:pt x="0" y="0"/>
                </a:lnTo>
                <a:close/>
              </a:path>
            </a:pathLst>
          </a:custGeom>
          <a:blipFill rotWithShape="1">
            <a:blip r:embed="rId7">
              <a:alphaModFix/>
            </a:blip>
            <a:stretch>
              <a:fillRect b="0" l="0" r="0" t="0"/>
            </a:stretch>
          </a:blipFill>
          <a:ln>
            <a:noFill/>
          </a:ln>
        </p:spPr>
      </p:sp>
      <p:sp>
        <p:nvSpPr>
          <p:cNvPr id="143" name="Google Shape;143;p25"/>
          <p:cNvSpPr txBox="1"/>
          <p:nvPr/>
        </p:nvSpPr>
        <p:spPr>
          <a:xfrm>
            <a:off x="4888755" y="2371977"/>
            <a:ext cx="3631198" cy="300038"/>
          </a:xfrm>
          <a:prstGeom prst="rect">
            <a:avLst/>
          </a:prstGeom>
          <a:noFill/>
          <a:ln>
            <a:noFill/>
          </a:ln>
        </p:spPr>
        <p:txBody>
          <a:bodyPr anchorCtr="0" anchor="t" bIns="0" lIns="0" spcFirstLastPara="1" rIns="0" wrap="square" tIns="0">
            <a:spAutoFit/>
          </a:bodyPr>
          <a:lstStyle/>
          <a:p>
            <a:pPr indent="0" lvl="0" marL="0" marR="0" rtl="0" algn="r">
              <a:lnSpc>
                <a:spcPct val="120005"/>
              </a:lnSpc>
              <a:spcBef>
                <a:spcPts val="0"/>
              </a:spcBef>
              <a:spcAft>
                <a:spcPts val="0"/>
              </a:spcAft>
              <a:buNone/>
            </a:pPr>
            <a:r>
              <a:rPr b="0" i="0" lang="en" sz="2000" u="none" cap="none" strike="noStrike">
                <a:solidFill>
                  <a:srgbClr val="F2F5F8"/>
                </a:solidFill>
                <a:latin typeface="Arial"/>
                <a:ea typeface="Arial"/>
                <a:cs typeface="Arial"/>
                <a:sym typeface="Arial"/>
              </a:rPr>
              <a:t>Ava Huffman </a:t>
            </a:r>
            <a:endParaRPr sz="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147" name="Shape 147"/>
        <p:cNvGrpSpPr/>
        <p:nvPr/>
      </p:nvGrpSpPr>
      <p:grpSpPr>
        <a:xfrm>
          <a:off x="0" y="0"/>
          <a:ext cx="0" cy="0"/>
          <a:chOff x="0" y="0"/>
          <a:chExt cx="0" cy="0"/>
        </a:xfrm>
      </p:grpSpPr>
      <p:sp>
        <p:nvSpPr>
          <p:cNvPr id="148" name="Google Shape;148;p26"/>
          <p:cNvSpPr/>
          <p:nvPr/>
        </p:nvSpPr>
        <p:spPr>
          <a:xfrm>
            <a:off x="5088871" y="491529"/>
            <a:ext cx="3540779" cy="4114800"/>
          </a:xfrm>
          <a:custGeom>
            <a:rect b="b" l="l" r="r" t="t"/>
            <a:pathLst>
              <a:path extrusionOk="0" h="8229600" w="7081558">
                <a:moveTo>
                  <a:pt x="0" y="0"/>
                </a:moveTo>
                <a:lnTo>
                  <a:pt x="7081558" y="0"/>
                </a:lnTo>
                <a:lnTo>
                  <a:pt x="7081558" y="8229600"/>
                </a:lnTo>
                <a:lnTo>
                  <a:pt x="0" y="8229600"/>
                </a:lnTo>
                <a:lnTo>
                  <a:pt x="0" y="0"/>
                </a:lnTo>
                <a:close/>
              </a:path>
            </a:pathLst>
          </a:custGeom>
          <a:blipFill rotWithShape="1">
            <a:blip r:embed="rId3">
              <a:alphaModFix/>
            </a:blip>
            <a:stretch>
              <a:fillRect b="-10832" l="0" r="0" t="-10832"/>
            </a:stretch>
          </a:blipFill>
          <a:ln>
            <a:noFill/>
          </a:ln>
        </p:spPr>
      </p:sp>
      <p:sp>
        <p:nvSpPr>
          <p:cNvPr id="149" name="Google Shape;149;p26"/>
          <p:cNvSpPr/>
          <p:nvPr/>
        </p:nvSpPr>
        <p:spPr>
          <a:xfrm>
            <a:off x="4295270" y="323905"/>
            <a:ext cx="1449669" cy="958594"/>
          </a:xfrm>
          <a:custGeom>
            <a:rect b="b" l="l" r="r" t="t"/>
            <a:pathLst>
              <a:path extrusionOk="0" h="1917187" w="2899338">
                <a:moveTo>
                  <a:pt x="0" y="0"/>
                </a:moveTo>
                <a:lnTo>
                  <a:pt x="2899339" y="0"/>
                </a:lnTo>
                <a:lnTo>
                  <a:pt x="2899339" y="1917188"/>
                </a:lnTo>
                <a:lnTo>
                  <a:pt x="0" y="1917188"/>
                </a:lnTo>
                <a:lnTo>
                  <a:pt x="0" y="0"/>
                </a:lnTo>
                <a:close/>
              </a:path>
            </a:pathLst>
          </a:custGeom>
          <a:blipFill rotWithShape="1">
            <a:blip r:embed="rId4">
              <a:alphaModFix/>
            </a:blip>
            <a:stretch>
              <a:fillRect b="0" l="0" r="0" t="0"/>
            </a:stretch>
          </a:blipFill>
          <a:ln>
            <a:noFill/>
          </a:ln>
        </p:spPr>
      </p:sp>
      <p:sp>
        <p:nvSpPr>
          <p:cNvPr id="150" name="Google Shape;150;p26"/>
          <p:cNvSpPr/>
          <p:nvPr/>
        </p:nvSpPr>
        <p:spPr>
          <a:xfrm flipH="1">
            <a:off x="7545816" y="3883363"/>
            <a:ext cx="1449669" cy="958593"/>
          </a:xfrm>
          <a:custGeom>
            <a:rect b="b" l="l" r="r" t="t"/>
            <a:pathLst>
              <a:path extrusionOk="0" h="1917187" w="2899338">
                <a:moveTo>
                  <a:pt x="2899339" y="0"/>
                </a:moveTo>
                <a:lnTo>
                  <a:pt x="0" y="0"/>
                </a:lnTo>
                <a:lnTo>
                  <a:pt x="0" y="1917187"/>
                </a:lnTo>
                <a:lnTo>
                  <a:pt x="2899339" y="1917187"/>
                </a:lnTo>
                <a:lnTo>
                  <a:pt x="2899339" y="0"/>
                </a:lnTo>
                <a:close/>
              </a:path>
            </a:pathLst>
          </a:custGeom>
          <a:blipFill rotWithShape="1">
            <a:blip r:embed="rId4">
              <a:alphaModFix/>
            </a:blip>
            <a:stretch>
              <a:fillRect b="0" l="0" r="0" t="0"/>
            </a:stretch>
          </a:blipFill>
          <a:ln>
            <a:noFill/>
          </a:ln>
        </p:spPr>
      </p:sp>
      <p:sp>
        <p:nvSpPr>
          <p:cNvPr id="151" name="Google Shape;151;p26"/>
          <p:cNvSpPr txBox="1"/>
          <p:nvPr/>
        </p:nvSpPr>
        <p:spPr>
          <a:xfrm>
            <a:off x="514350" y="561975"/>
            <a:ext cx="4332520" cy="633411"/>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 sz="4500" u="none" cap="none" strike="noStrike">
                <a:solidFill>
                  <a:srgbClr val="F2F5F8"/>
                </a:solidFill>
                <a:latin typeface="Arial"/>
                <a:ea typeface="Arial"/>
                <a:cs typeface="Arial"/>
                <a:sym typeface="Arial"/>
              </a:rPr>
              <a:t>Introduction</a:t>
            </a:r>
            <a:endParaRPr sz="700"/>
          </a:p>
        </p:txBody>
      </p:sp>
      <p:sp>
        <p:nvSpPr>
          <p:cNvPr id="152" name="Google Shape;152;p26"/>
          <p:cNvSpPr txBox="1"/>
          <p:nvPr/>
        </p:nvSpPr>
        <p:spPr>
          <a:xfrm>
            <a:off x="267231" y="1656735"/>
            <a:ext cx="4574521" cy="2226628"/>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 sz="1400" u="none" cap="none" strike="noStrike">
                <a:solidFill>
                  <a:srgbClr val="F2F5F8"/>
                </a:solidFill>
                <a:latin typeface="Arial"/>
                <a:ea typeface="Arial"/>
                <a:cs typeface="Arial"/>
                <a:sym typeface="Arial"/>
              </a:rPr>
              <a:t>Every day, our routines shape how well we sleep. Often, without us realizing it. From training or workloads and stress to screen time and hydration, small choices add up. This project explores how daily habits influence sleep quality and duration using the Sleep Health and Lifestyle dataset. By analyzing patterns across physical activity, stress, and health indicators, we can see what helps (or hurts) our sleep and overall how to make smarter choices.</a:t>
            </a:r>
            <a:endParaRPr sz="700"/>
          </a:p>
        </p:txBody>
      </p:sp>
      <p:sp>
        <p:nvSpPr>
          <p:cNvPr id="153" name="Google Shape;153;p26"/>
          <p:cNvSpPr/>
          <p:nvPr/>
        </p:nvSpPr>
        <p:spPr>
          <a:xfrm>
            <a:off x="4729163" y="2686094"/>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154" name="Google Shape;154;p26"/>
          <p:cNvSpPr/>
          <p:nvPr/>
        </p:nvSpPr>
        <p:spPr>
          <a:xfrm>
            <a:off x="8760070" y="2365698"/>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155" name="Google Shape;155;p26"/>
          <p:cNvSpPr/>
          <p:nvPr/>
        </p:nvSpPr>
        <p:spPr>
          <a:xfrm>
            <a:off x="5396120" y="4483373"/>
            <a:ext cx="697639"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6">
              <a:alphaModFix/>
            </a:blip>
            <a:stretch>
              <a:fillRect b="0" l="0" r="0" t="0"/>
            </a:stretch>
          </a:blipFill>
          <a:ln>
            <a:noFill/>
          </a:ln>
        </p:spPr>
      </p:sp>
      <p:sp>
        <p:nvSpPr>
          <p:cNvPr id="156" name="Google Shape;156;p26"/>
          <p:cNvSpPr/>
          <p:nvPr/>
        </p:nvSpPr>
        <p:spPr>
          <a:xfrm flipH="1" rot="-10129969">
            <a:off x="288959" y="192323"/>
            <a:ext cx="515143" cy="274743"/>
          </a:xfrm>
          <a:custGeom>
            <a:rect b="b" l="l" r="r" t="t"/>
            <a:pathLst>
              <a:path extrusionOk="0" h="549486" w="1030285">
                <a:moveTo>
                  <a:pt x="0" y="549486"/>
                </a:moveTo>
                <a:lnTo>
                  <a:pt x="1030285" y="549486"/>
                </a:lnTo>
                <a:lnTo>
                  <a:pt x="1030285" y="0"/>
                </a:lnTo>
                <a:lnTo>
                  <a:pt x="0" y="0"/>
                </a:lnTo>
                <a:lnTo>
                  <a:pt x="0" y="549486"/>
                </a:lnTo>
                <a:close/>
              </a:path>
            </a:pathLst>
          </a:custGeom>
          <a:blipFill rotWithShape="1">
            <a:blip r:embed="rId7">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160" name="Shape 160"/>
        <p:cNvGrpSpPr/>
        <p:nvPr/>
      </p:nvGrpSpPr>
      <p:grpSpPr>
        <a:xfrm>
          <a:off x="0" y="0"/>
          <a:ext cx="0" cy="0"/>
          <a:chOff x="0" y="0"/>
          <a:chExt cx="0" cy="0"/>
        </a:xfrm>
      </p:grpSpPr>
      <p:sp>
        <p:nvSpPr>
          <p:cNvPr id="161" name="Google Shape;161;p27"/>
          <p:cNvSpPr/>
          <p:nvPr/>
        </p:nvSpPr>
        <p:spPr>
          <a:xfrm flipH="1" rot="1273488">
            <a:off x="851619" y="1025547"/>
            <a:ext cx="515142" cy="274743"/>
          </a:xfrm>
          <a:custGeom>
            <a:rect b="b" l="l" r="r" t="t"/>
            <a:pathLst>
              <a:path extrusionOk="0" h="549486" w="1030285">
                <a:moveTo>
                  <a:pt x="0" y="549485"/>
                </a:moveTo>
                <a:lnTo>
                  <a:pt x="1030285" y="549485"/>
                </a:lnTo>
                <a:lnTo>
                  <a:pt x="1030285" y="0"/>
                </a:lnTo>
                <a:lnTo>
                  <a:pt x="0" y="0"/>
                </a:lnTo>
                <a:lnTo>
                  <a:pt x="0" y="549485"/>
                </a:lnTo>
                <a:close/>
              </a:path>
            </a:pathLst>
          </a:custGeom>
          <a:blipFill rotWithShape="1">
            <a:blip r:embed="rId3">
              <a:alphaModFix/>
            </a:blip>
            <a:stretch>
              <a:fillRect b="0" l="0" r="0" t="0"/>
            </a:stretch>
          </a:blipFill>
          <a:ln>
            <a:noFill/>
          </a:ln>
        </p:spPr>
      </p:sp>
      <p:sp>
        <p:nvSpPr>
          <p:cNvPr id="162" name="Google Shape;162;p27"/>
          <p:cNvSpPr/>
          <p:nvPr/>
        </p:nvSpPr>
        <p:spPr>
          <a:xfrm>
            <a:off x="5797153" y="1200989"/>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163" name="Google Shape;163;p27"/>
          <p:cNvSpPr/>
          <p:nvPr/>
        </p:nvSpPr>
        <p:spPr>
          <a:xfrm>
            <a:off x="8342852" y="823322"/>
            <a:ext cx="235415" cy="183231"/>
          </a:xfrm>
          <a:custGeom>
            <a:rect b="b" l="l" r="r" t="t"/>
            <a:pathLst>
              <a:path extrusionOk="0" h="366462" w="470829">
                <a:moveTo>
                  <a:pt x="0" y="0"/>
                </a:moveTo>
                <a:lnTo>
                  <a:pt x="470829" y="0"/>
                </a:lnTo>
                <a:lnTo>
                  <a:pt x="470829" y="366463"/>
                </a:lnTo>
                <a:lnTo>
                  <a:pt x="0" y="366463"/>
                </a:lnTo>
                <a:lnTo>
                  <a:pt x="0" y="0"/>
                </a:lnTo>
                <a:close/>
              </a:path>
            </a:pathLst>
          </a:custGeom>
          <a:blipFill rotWithShape="1">
            <a:blip r:embed="rId4">
              <a:alphaModFix/>
            </a:blip>
            <a:stretch>
              <a:fillRect b="0" l="0" r="0" t="0"/>
            </a:stretch>
          </a:blipFill>
          <a:ln>
            <a:noFill/>
          </a:ln>
        </p:spPr>
      </p:sp>
      <p:pic>
        <p:nvPicPr>
          <p:cNvPr id="164" name="Google Shape;164;p27"/>
          <p:cNvPicPr preferRelativeResize="0"/>
          <p:nvPr/>
        </p:nvPicPr>
        <p:blipFill rotWithShape="1">
          <a:blip r:embed="rId5">
            <a:alphaModFix/>
          </a:blip>
          <a:srcRect b="0" l="0" r="0" t="0"/>
          <a:stretch/>
        </p:blipFill>
        <p:spPr>
          <a:xfrm>
            <a:off x="3371853" y="1388975"/>
            <a:ext cx="5608875" cy="4114800"/>
          </a:xfrm>
          <a:prstGeom prst="rect">
            <a:avLst/>
          </a:prstGeom>
          <a:noFill/>
          <a:ln>
            <a:noFill/>
          </a:ln>
        </p:spPr>
      </p:pic>
      <p:sp>
        <p:nvSpPr>
          <p:cNvPr id="165" name="Google Shape;165;p27"/>
          <p:cNvSpPr txBox="1"/>
          <p:nvPr/>
        </p:nvSpPr>
        <p:spPr>
          <a:xfrm>
            <a:off x="1516598" y="561975"/>
            <a:ext cx="6110804" cy="633411"/>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 sz="4500" u="none" cap="none" strike="noStrike">
                <a:solidFill>
                  <a:srgbClr val="F2F5F8"/>
                </a:solidFill>
                <a:latin typeface="Arial"/>
                <a:ea typeface="Arial"/>
                <a:cs typeface="Arial"/>
                <a:sym typeface="Arial"/>
              </a:rPr>
              <a:t>Data Overview</a:t>
            </a:r>
            <a:endParaRPr sz="700"/>
          </a:p>
        </p:txBody>
      </p:sp>
      <p:sp>
        <p:nvSpPr>
          <p:cNvPr id="166" name="Google Shape;166;p27"/>
          <p:cNvSpPr txBox="1"/>
          <p:nvPr/>
        </p:nvSpPr>
        <p:spPr>
          <a:xfrm>
            <a:off x="766422" y="1693863"/>
            <a:ext cx="2871887" cy="988378"/>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 sz="1400" u="none" cap="none" strike="noStrike">
                <a:solidFill>
                  <a:srgbClr val="F2F5F8"/>
                </a:solidFill>
                <a:latin typeface="Arial"/>
                <a:ea typeface="Arial"/>
                <a:cs typeface="Arial"/>
                <a:sym typeface="Arial"/>
              </a:rPr>
              <a:t>Dataset: Sleep Health and Lifestyle</a:t>
            </a:r>
            <a:endParaRPr sz="700"/>
          </a:p>
          <a:p>
            <a:pPr indent="0" lvl="0" marL="0" marR="0" rtl="0" algn="ctr">
              <a:lnSpc>
                <a:spcPct val="140014"/>
              </a:lnSpc>
              <a:spcBef>
                <a:spcPts val="0"/>
              </a:spcBef>
              <a:spcAft>
                <a:spcPts val="0"/>
              </a:spcAft>
              <a:buNone/>
            </a:pPr>
            <a:r>
              <a:rPr b="0" i="0" lang="en" sz="1400" u="none" cap="none" strike="noStrike">
                <a:solidFill>
                  <a:srgbClr val="F2F5F8"/>
                </a:solidFill>
                <a:latin typeface="Arial"/>
                <a:ea typeface="Arial"/>
                <a:cs typeface="Arial"/>
                <a:sym typeface="Arial"/>
              </a:rPr>
              <a:t>Rows: 374 individuals</a:t>
            </a:r>
            <a:endParaRPr sz="700"/>
          </a:p>
          <a:p>
            <a:pPr indent="0" lvl="0" marL="0" marR="0" rtl="0" algn="ctr">
              <a:lnSpc>
                <a:spcPct val="140014"/>
              </a:lnSpc>
              <a:spcBef>
                <a:spcPts val="0"/>
              </a:spcBef>
              <a:spcAft>
                <a:spcPts val="0"/>
              </a:spcAft>
              <a:buNone/>
            </a:pPr>
            <a:r>
              <a:rPr b="0" i="0" lang="en" sz="1400" u="none" cap="none" strike="noStrike">
                <a:solidFill>
                  <a:srgbClr val="F2F5F8"/>
                </a:solidFill>
                <a:latin typeface="Arial"/>
                <a:ea typeface="Arial"/>
                <a:cs typeface="Arial"/>
                <a:sym typeface="Arial"/>
              </a:rPr>
              <a:t>Columns: 13 variables</a:t>
            </a:r>
            <a:endParaRPr sz="700"/>
          </a:p>
          <a:p>
            <a:pPr indent="0" lvl="0" marL="0" marR="0" rtl="0" algn="ctr">
              <a:lnSpc>
                <a:spcPct val="140014"/>
              </a:lnSpc>
              <a:spcBef>
                <a:spcPts val="0"/>
              </a:spcBef>
              <a:spcAft>
                <a:spcPts val="0"/>
              </a:spcAft>
              <a:buNone/>
            </a:pPr>
            <a:r>
              <a:t/>
            </a:r>
            <a:endParaRPr b="0" i="0" sz="1400" u="none" cap="none" strike="noStrike">
              <a:solidFill>
                <a:srgbClr val="F2F5F8"/>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170" name="Shape 170"/>
        <p:cNvGrpSpPr/>
        <p:nvPr/>
      </p:nvGrpSpPr>
      <p:grpSpPr>
        <a:xfrm>
          <a:off x="0" y="0"/>
          <a:ext cx="0" cy="0"/>
          <a:chOff x="0" y="0"/>
          <a:chExt cx="0" cy="0"/>
        </a:xfrm>
      </p:grpSpPr>
      <p:grpSp>
        <p:nvGrpSpPr>
          <p:cNvPr id="171" name="Google Shape;171;p28"/>
          <p:cNvGrpSpPr/>
          <p:nvPr/>
        </p:nvGrpSpPr>
        <p:grpSpPr>
          <a:xfrm>
            <a:off x="514350" y="3344357"/>
            <a:ext cx="1917434" cy="504277"/>
            <a:chOff x="0" y="-38100"/>
            <a:chExt cx="985679" cy="259230"/>
          </a:xfrm>
        </p:grpSpPr>
        <p:sp>
          <p:nvSpPr>
            <p:cNvPr id="172" name="Google Shape;172;p28"/>
            <p:cNvSpPr/>
            <p:nvPr/>
          </p:nvSpPr>
          <p:spPr>
            <a:xfrm>
              <a:off x="0" y="0"/>
              <a:ext cx="985679" cy="221130"/>
            </a:xfrm>
            <a:custGeom>
              <a:rect b="b" l="l" r="r" t="t"/>
              <a:pathLst>
                <a:path extrusionOk="0" h="221130" w="985679">
                  <a:moveTo>
                    <a:pt x="100941" y="0"/>
                  </a:moveTo>
                  <a:lnTo>
                    <a:pt x="884738" y="0"/>
                  </a:lnTo>
                  <a:cubicBezTo>
                    <a:pt x="911509" y="0"/>
                    <a:pt x="937184" y="10635"/>
                    <a:pt x="956114" y="29565"/>
                  </a:cubicBezTo>
                  <a:cubicBezTo>
                    <a:pt x="975044" y="48495"/>
                    <a:pt x="985679" y="74170"/>
                    <a:pt x="985679" y="100941"/>
                  </a:cubicBezTo>
                  <a:lnTo>
                    <a:pt x="985679" y="120188"/>
                  </a:lnTo>
                  <a:cubicBezTo>
                    <a:pt x="985679" y="175937"/>
                    <a:pt x="940486" y="221130"/>
                    <a:pt x="884738" y="221130"/>
                  </a:cubicBezTo>
                  <a:lnTo>
                    <a:pt x="100941" y="221130"/>
                  </a:lnTo>
                  <a:cubicBezTo>
                    <a:pt x="74170" y="221130"/>
                    <a:pt x="48495" y="210495"/>
                    <a:pt x="29565" y="191565"/>
                  </a:cubicBezTo>
                  <a:cubicBezTo>
                    <a:pt x="10635" y="172635"/>
                    <a:pt x="0" y="146960"/>
                    <a:pt x="0" y="120188"/>
                  </a:cubicBezTo>
                  <a:lnTo>
                    <a:pt x="0" y="100941"/>
                  </a:lnTo>
                  <a:cubicBezTo>
                    <a:pt x="0" y="74170"/>
                    <a:pt x="10635" y="48495"/>
                    <a:pt x="29565" y="29565"/>
                  </a:cubicBezTo>
                  <a:cubicBezTo>
                    <a:pt x="48495" y="10635"/>
                    <a:pt x="74170" y="0"/>
                    <a:pt x="100941"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3" name="Google Shape;173;p28"/>
            <p:cNvSpPr txBox="1"/>
            <p:nvPr/>
          </p:nvSpPr>
          <p:spPr>
            <a:xfrm>
              <a:off x="0" y="-38100"/>
              <a:ext cx="985679" cy="259230"/>
            </a:xfrm>
            <a:prstGeom prst="rect">
              <a:avLst/>
            </a:prstGeom>
            <a:noFill/>
            <a:ln>
              <a:noFill/>
            </a:ln>
          </p:spPr>
          <p:txBody>
            <a:bodyPr anchorCtr="0" anchor="ctr" bIns="25400" lIns="25400" spcFirstLastPara="1" rIns="25400" wrap="square" tIns="25400">
              <a:noAutofit/>
            </a:bodyPr>
            <a:lstStyle/>
            <a:p>
              <a:pPr indent="0" lvl="0" marL="0" marR="0" rtl="0" algn="ctr">
                <a:lnSpc>
                  <a:spcPct val="140018"/>
                </a:lnSpc>
                <a:spcBef>
                  <a:spcPts val="0"/>
                </a:spcBef>
                <a:spcAft>
                  <a:spcPts val="0"/>
                </a:spcAft>
                <a:buNone/>
              </a:pPr>
              <a:r>
                <a:rPr b="1" i="0" lang="en" sz="1100" u="none" cap="none" strike="noStrike">
                  <a:solidFill>
                    <a:srgbClr val="F2F5F8"/>
                  </a:solidFill>
                  <a:latin typeface="Arial"/>
                  <a:ea typeface="Arial"/>
                  <a:cs typeface="Arial"/>
                  <a:sym typeface="Arial"/>
                </a:rPr>
                <a:t>Does stress reduce sleep quality or duration? </a:t>
              </a:r>
              <a:endParaRPr sz="700"/>
            </a:p>
          </p:txBody>
        </p:sp>
      </p:grpSp>
      <p:grpSp>
        <p:nvGrpSpPr>
          <p:cNvPr id="174" name="Google Shape;174;p28"/>
          <p:cNvGrpSpPr/>
          <p:nvPr/>
        </p:nvGrpSpPr>
        <p:grpSpPr>
          <a:xfrm>
            <a:off x="514350" y="1388039"/>
            <a:ext cx="1917434" cy="1837723"/>
            <a:chOff x="0" y="-38100"/>
            <a:chExt cx="985679" cy="944703"/>
          </a:xfrm>
        </p:grpSpPr>
        <p:sp>
          <p:nvSpPr>
            <p:cNvPr id="175" name="Google Shape;175;p28"/>
            <p:cNvSpPr/>
            <p:nvPr/>
          </p:nvSpPr>
          <p:spPr>
            <a:xfrm>
              <a:off x="0" y="0"/>
              <a:ext cx="985679" cy="906603"/>
            </a:xfrm>
            <a:custGeom>
              <a:rect b="b" l="l" r="r" t="t"/>
              <a:pathLst>
                <a:path extrusionOk="0" h="906603" w="985679">
                  <a:moveTo>
                    <a:pt x="100941" y="0"/>
                  </a:moveTo>
                  <a:lnTo>
                    <a:pt x="884738" y="0"/>
                  </a:lnTo>
                  <a:cubicBezTo>
                    <a:pt x="911509" y="0"/>
                    <a:pt x="937184" y="10635"/>
                    <a:pt x="956114" y="29565"/>
                  </a:cubicBezTo>
                  <a:cubicBezTo>
                    <a:pt x="975044" y="48495"/>
                    <a:pt x="985679" y="74170"/>
                    <a:pt x="985679" y="100941"/>
                  </a:cubicBezTo>
                  <a:lnTo>
                    <a:pt x="985679" y="805662"/>
                  </a:lnTo>
                  <a:cubicBezTo>
                    <a:pt x="985679" y="861410"/>
                    <a:pt x="940486" y="906603"/>
                    <a:pt x="884738" y="906603"/>
                  </a:cubicBezTo>
                  <a:lnTo>
                    <a:pt x="100941" y="906603"/>
                  </a:lnTo>
                  <a:cubicBezTo>
                    <a:pt x="74170" y="906603"/>
                    <a:pt x="48495" y="895968"/>
                    <a:pt x="29565" y="877038"/>
                  </a:cubicBezTo>
                  <a:cubicBezTo>
                    <a:pt x="10635" y="858108"/>
                    <a:pt x="0" y="832433"/>
                    <a:pt x="0" y="805662"/>
                  </a:cubicBezTo>
                  <a:lnTo>
                    <a:pt x="0" y="100941"/>
                  </a:lnTo>
                  <a:cubicBezTo>
                    <a:pt x="0" y="74170"/>
                    <a:pt x="10635" y="48495"/>
                    <a:pt x="29565" y="29565"/>
                  </a:cubicBezTo>
                  <a:cubicBezTo>
                    <a:pt x="48495" y="10635"/>
                    <a:pt x="74170" y="0"/>
                    <a:pt x="100941" y="0"/>
                  </a:cubicBezTo>
                  <a:close/>
                </a:path>
              </a:pathLst>
            </a:custGeom>
            <a:noFill/>
            <a:ln cap="rnd" cmpd="sng" w="38100">
              <a:solidFill>
                <a:srgbClr val="F2F5F8"/>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6" name="Google Shape;176;p28"/>
            <p:cNvSpPr txBox="1"/>
            <p:nvPr/>
          </p:nvSpPr>
          <p:spPr>
            <a:xfrm>
              <a:off x="0" y="-38100"/>
              <a:ext cx="985679" cy="944703"/>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77" name="Google Shape;177;p28"/>
          <p:cNvGrpSpPr/>
          <p:nvPr/>
        </p:nvGrpSpPr>
        <p:grpSpPr>
          <a:xfrm>
            <a:off x="2593247" y="1388039"/>
            <a:ext cx="1917434" cy="1837723"/>
            <a:chOff x="0" y="-38100"/>
            <a:chExt cx="985679" cy="944703"/>
          </a:xfrm>
        </p:grpSpPr>
        <p:sp>
          <p:nvSpPr>
            <p:cNvPr id="178" name="Google Shape;178;p28"/>
            <p:cNvSpPr/>
            <p:nvPr/>
          </p:nvSpPr>
          <p:spPr>
            <a:xfrm>
              <a:off x="0" y="0"/>
              <a:ext cx="985679" cy="906603"/>
            </a:xfrm>
            <a:custGeom>
              <a:rect b="b" l="l" r="r" t="t"/>
              <a:pathLst>
                <a:path extrusionOk="0" h="906603" w="985679">
                  <a:moveTo>
                    <a:pt x="100941" y="0"/>
                  </a:moveTo>
                  <a:lnTo>
                    <a:pt x="884738" y="0"/>
                  </a:lnTo>
                  <a:cubicBezTo>
                    <a:pt x="911509" y="0"/>
                    <a:pt x="937184" y="10635"/>
                    <a:pt x="956114" y="29565"/>
                  </a:cubicBezTo>
                  <a:cubicBezTo>
                    <a:pt x="975044" y="48495"/>
                    <a:pt x="985679" y="74170"/>
                    <a:pt x="985679" y="100941"/>
                  </a:cubicBezTo>
                  <a:lnTo>
                    <a:pt x="985679" y="805662"/>
                  </a:lnTo>
                  <a:cubicBezTo>
                    <a:pt x="985679" y="861410"/>
                    <a:pt x="940486" y="906603"/>
                    <a:pt x="884738" y="906603"/>
                  </a:cubicBezTo>
                  <a:lnTo>
                    <a:pt x="100941" y="906603"/>
                  </a:lnTo>
                  <a:cubicBezTo>
                    <a:pt x="74170" y="906603"/>
                    <a:pt x="48495" y="895968"/>
                    <a:pt x="29565" y="877038"/>
                  </a:cubicBezTo>
                  <a:cubicBezTo>
                    <a:pt x="10635" y="858108"/>
                    <a:pt x="0" y="832433"/>
                    <a:pt x="0" y="805662"/>
                  </a:cubicBezTo>
                  <a:lnTo>
                    <a:pt x="0" y="100941"/>
                  </a:lnTo>
                  <a:cubicBezTo>
                    <a:pt x="0" y="74170"/>
                    <a:pt x="10635" y="48495"/>
                    <a:pt x="29565" y="29565"/>
                  </a:cubicBezTo>
                  <a:cubicBezTo>
                    <a:pt x="48495" y="10635"/>
                    <a:pt x="74170" y="0"/>
                    <a:pt x="100941" y="0"/>
                  </a:cubicBezTo>
                  <a:close/>
                </a:path>
              </a:pathLst>
            </a:custGeom>
            <a:noFill/>
            <a:ln cap="rnd" cmpd="sng" w="38100">
              <a:solidFill>
                <a:srgbClr val="F2F5F8"/>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79" name="Google Shape;179;p28"/>
            <p:cNvSpPr txBox="1"/>
            <p:nvPr/>
          </p:nvSpPr>
          <p:spPr>
            <a:xfrm>
              <a:off x="0" y="-38100"/>
              <a:ext cx="985679" cy="944703"/>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80" name="Google Shape;180;p28"/>
          <p:cNvGrpSpPr/>
          <p:nvPr/>
        </p:nvGrpSpPr>
        <p:grpSpPr>
          <a:xfrm>
            <a:off x="4672146" y="1388039"/>
            <a:ext cx="1917434" cy="1837723"/>
            <a:chOff x="0" y="-38100"/>
            <a:chExt cx="985679" cy="944703"/>
          </a:xfrm>
        </p:grpSpPr>
        <p:sp>
          <p:nvSpPr>
            <p:cNvPr id="181" name="Google Shape;181;p28"/>
            <p:cNvSpPr/>
            <p:nvPr/>
          </p:nvSpPr>
          <p:spPr>
            <a:xfrm>
              <a:off x="0" y="0"/>
              <a:ext cx="985679" cy="906603"/>
            </a:xfrm>
            <a:custGeom>
              <a:rect b="b" l="l" r="r" t="t"/>
              <a:pathLst>
                <a:path extrusionOk="0" h="906603" w="985679">
                  <a:moveTo>
                    <a:pt x="100941" y="0"/>
                  </a:moveTo>
                  <a:lnTo>
                    <a:pt x="884738" y="0"/>
                  </a:lnTo>
                  <a:cubicBezTo>
                    <a:pt x="911509" y="0"/>
                    <a:pt x="937184" y="10635"/>
                    <a:pt x="956114" y="29565"/>
                  </a:cubicBezTo>
                  <a:cubicBezTo>
                    <a:pt x="975044" y="48495"/>
                    <a:pt x="985679" y="74170"/>
                    <a:pt x="985679" y="100941"/>
                  </a:cubicBezTo>
                  <a:lnTo>
                    <a:pt x="985679" y="805662"/>
                  </a:lnTo>
                  <a:cubicBezTo>
                    <a:pt x="985679" y="861410"/>
                    <a:pt x="940486" y="906603"/>
                    <a:pt x="884738" y="906603"/>
                  </a:cubicBezTo>
                  <a:lnTo>
                    <a:pt x="100941" y="906603"/>
                  </a:lnTo>
                  <a:cubicBezTo>
                    <a:pt x="74170" y="906603"/>
                    <a:pt x="48495" y="895968"/>
                    <a:pt x="29565" y="877038"/>
                  </a:cubicBezTo>
                  <a:cubicBezTo>
                    <a:pt x="10635" y="858108"/>
                    <a:pt x="0" y="832433"/>
                    <a:pt x="0" y="805662"/>
                  </a:cubicBezTo>
                  <a:lnTo>
                    <a:pt x="0" y="100941"/>
                  </a:lnTo>
                  <a:cubicBezTo>
                    <a:pt x="0" y="74170"/>
                    <a:pt x="10635" y="48495"/>
                    <a:pt x="29565" y="29565"/>
                  </a:cubicBezTo>
                  <a:cubicBezTo>
                    <a:pt x="48495" y="10635"/>
                    <a:pt x="74170" y="0"/>
                    <a:pt x="100941" y="0"/>
                  </a:cubicBezTo>
                  <a:close/>
                </a:path>
              </a:pathLst>
            </a:custGeom>
            <a:noFill/>
            <a:ln cap="rnd" cmpd="sng" w="38100">
              <a:solidFill>
                <a:srgbClr val="F2F5F8"/>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2" name="Google Shape;182;p28"/>
            <p:cNvSpPr txBox="1"/>
            <p:nvPr/>
          </p:nvSpPr>
          <p:spPr>
            <a:xfrm>
              <a:off x="0" y="-38100"/>
              <a:ext cx="985679" cy="944703"/>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grpSp>
        <p:nvGrpSpPr>
          <p:cNvPr id="183" name="Google Shape;183;p28"/>
          <p:cNvGrpSpPr/>
          <p:nvPr/>
        </p:nvGrpSpPr>
        <p:grpSpPr>
          <a:xfrm>
            <a:off x="6751043" y="1388039"/>
            <a:ext cx="1917434" cy="1837723"/>
            <a:chOff x="0" y="-38100"/>
            <a:chExt cx="985679" cy="944703"/>
          </a:xfrm>
        </p:grpSpPr>
        <p:sp>
          <p:nvSpPr>
            <p:cNvPr id="184" name="Google Shape;184;p28"/>
            <p:cNvSpPr/>
            <p:nvPr/>
          </p:nvSpPr>
          <p:spPr>
            <a:xfrm>
              <a:off x="0" y="0"/>
              <a:ext cx="985679" cy="906603"/>
            </a:xfrm>
            <a:custGeom>
              <a:rect b="b" l="l" r="r" t="t"/>
              <a:pathLst>
                <a:path extrusionOk="0" h="906603" w="985679">
                  <a:moveTo>
                    <a:pt x="100941" y="0"/>
                  </a:moveTo>
                  <a:lnTo>
                    <a:pt x="884738" y="0"/>
                  </a:lnTo>
                  <a:cubicBezTo>
                    <a:pt x="911509" y="0"/>
                    <a:pt x="937184" y="10635"/>
                    <a:pt x="956114" y="29565"/>
                  </a:cubicBezTo>
                  <a:cubicBezTo>
                    <a:pt x="975044" y="48495"/>
                    <a:pt x="985679" y="74170"/>
                    <a:pt x="985679" y="100941"/>
                  </a:cubicBezTo>
                  <a:lnTo>
                    <a:pt x="985679" y="805662"/>
                  </a:lnTo>
                  <a:cubicBezTo>
                    <a:pt x="985679" y="861410"/>
                    <a:pt x="940486" y="906603"/>
                    <a:pt x="884738" y="906603"/>
                  </a:cubicBezTo>
                  <a:lnTo>
                    <a:pt x="100941" y="906603"/>
                  </a:lnTo>
                  <a:cubicBezTo>
                    <a:pt x="74170" y="906603"/>
                    <a:pt x="48495" y="895968"/>
                    <a:pt x="29565" y="877038"/>
                  </a:cubicBezTo>
                  <a:cubicBezTo>
                    <a:pt x="10635" y="858108"/>
                    <a:pt x="0" y="832433"/>
                    <a:pt x="0" y="805662"/>
                  </a:cubicBezTo>
                  <a:lnTo>
                    <a:pt x="0" y="100941"/>
                  </a:lnTo>
                  <a:cubicBezTo>
                    <a:pt x="0" y="74170"/>
                    <a:pt x="10635" y="48495"/>
                    <a:pt x="29565" y="29565"/>
                  </a:cubicBezTo>
                  <a:cubicBezTo>
                    <a:pt x="48495" y="10635"/>
                    <a:pt x="74170" y="0"/>
                    <a:pt x="100941" y="0"/>
                  </a:cubicBezTo>
                  <a:close/>
                </a:path>
              </a:pathLst>
            </a:custGeom>
            <a:noFill/>
            <a:ln cap="rnd" cmpd="sng" w="38100">
              <a:solidFill>
                <a:srgbClr val="F2F5F8"/>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85" name="Google Shape;185;p28"/>
            <p:cNvSpPr txBox="1"/>
            <p:nvPr/>
          </p:nvSpPr>
          <p:spPr>
            <a:xfrm>
              <a:off x="0" y="-38100"/>
              <a:ext cx="985679" cy="944703"/>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186" name="Google Shape;186;p28"/>
          <p:cNvSpPr/>
          <p:nvPr/>
        </p:nvSpPr>
        <p:spPr>
          <a:xfrm>
            <a:off x="856125" y="1628664"/>
            <a:ext cx="1233883" cy="1430590"/>
          </a:xfrm>
          <a:custGeom>
            <a:rect b="b" l="l" r="r" t="t"/>
            <a:pathLst>
              <a:path extrusionOk="0" h="2861180" w="2467767">
                <a:moveTo>
                  <a:pt x="0" y="0"/>
                </a:moveTo>
                <a:lnTo>
                  <a:pt x="2467767" y="0"/>
                </a:lnTo>
                <a:lnTo>
                  <a:pt x="2467767" y="2861179"/>
                </a:lnTo>
                <a:lnTo>
                  <a:pt x="0" y="2861179"/>
                </a:lnTo>
                <a:lnTo>
                  <a:pt x="0" y="0"/>
                </a:lnTo>
                <a:close/>
              </a:path>
            </a:pathLst>
          </a:custGeom>
          <a:blipFill rotWithShape="1">
            <a:blip r:embed="rId3">
              <a:alphaModFix/>
            </a:blip>
            <a:stretch>
              <a:fillRect b="0" l="0" r="0" t="0"/>
            </a:stretch>
          </a:blipFill>
          <a:ln>
            <a:noFill/>
          </a:ln>
        </p:spPr>
      </p:sp>
      <p:sp>
        <p:nvSpPr>
          <p:cNvPr id="187" name="Google Shape;187;p28"/>
          <p:cNvSpPr/>
          <p:nvPr/>
        </p:nvSpPr>
        <p:spPr>
          <a:xfrm>
            <a:off x="3118717" y="1611193"/>
            <a:ext cx="866496" cy="1465532"/>
          </a:xfrm>
          <a:custGeom>
            <a:rect b="b" l="l" r="r" t="t"/>
            <a:pathLst>
              <a:path extrusionOk="0" h="2931063" w="1732991">
                <a:moveTo>
                  <a:pt x="0" y="0"/>
                </a:moveTo>
                <a:lnTo>
                  <a:pt x="1732991" y="0"/>
                </a:lnTo>
                <a:lnTo>
                  <a:pt x="1732991" y="2931063"/>
                </a:lnTo>
                <a:lnTo>
                  <a:pt x="0" y="2931063"/>
                </a:lnTo>
                <a:lnTo>
                  <a:pt x="0" y="0"/>
                </a:lnTo>
                <a:close/>
              </a:path>
            </a:pathLst>
          </a:custGeom>
          <a:blipFill rotWithShape="1">
            <a:blip r:embed="rId4">
              <a:alphaModFix/>
            </a:blip>
            <a:stretch>
              <a:fillRect b="0" l="0" r="0" t="0"/>
            </a:stretch>
          </a:blipFill>
          <a:ln>
            <a:noFill/>
          </a:ln>
        </p:spPr>
      </p:sp>
      <p:sp>
        <p:nvSpPr>
          <p:cNvPr id="188" name="Google Shape;188;p28"/>
          <p:cNvSpPr/>
          <p:nvPr/>
        </p:nvSpPr>
        <p:spPr>
          <a:xfrm>
            <a:off x="6917301" y="1831831"/>
            <a:ext cx="1584920" cy="1024254"/>
          </a:xfrm>
          <a:custGeom>
            <a:rect b="b" l="l" r="r" t="t"/>
            <a:pathLst>
              <a:path extrusionOk="0" h="2048508" w="3169839">
                <a:moveTo>
                  <a:pt x="0" y="0"/>
                </a:moveTo>
                <a:lnTo>
                  <a:pt x="3169839" y="0"/>
                </a:lnTo>
                <a:lnTo>
                  <a:pt x="3169839" y="2048509"/>
                </a:lnTo>
                <a:lnTo>
                  <a:pt x="0" y="2048509"/>
                </a:lnTo>
                <a:lnTo>
                  <a:pt x="0" y="0"/>
                </a:lnTo>
                <a:close/>
              </a:path>
            </a:pathLst>
          </a:custGeom>
          <a:blipFill rotWithShape="1">
            <a:blip r:embed="rId5">
              <a:alphaModFix/>
            </a:blip>
            <a:stretch>
              <a:fillRect b="0" l="0" r="0" t="0"/>
            </a:stretch>
          </a:blipFill>
          <a:ln>
            <a:noFill/>
          </a:ln>
        </p:spPr>
      </p:sp>
      <p:sp>
        <p:nvSpPr>
          <p:cNvPr id="189" name="Google Shape;189;p28"/>
          <p:cNvSpPr/>
          <p:nvPr/>
        </p:nvSpPr>
        <p:spPr>
          <a:xfrm>
            <a:off x="4875785" y="1719132"/>
            <a:ext cx="1510155" cy="1249653"/>
          </a:xfrm>
          <a:custGeom>
            <a:rect b="b" l="l" r="r" t="t"/>
            <a:pathLst>
              <a:path extrusionOk="0" h="2499306" w="3020310">
                <a:moveTo>
                  <a:pt x="0" y="0"/>
                </a:moveTo>
                <a:lnTo>
                  <a:pt x="3020310" y="0"/>
                </a:lnTo>
                <a:lnTo>
                  <a:pt x="3020310" y="2499307"/>
                </a:lnTo>
                <a:lnTo>
                  <a:pt x="0" y="2499307"/>
                </a:lnTo>
                <a:lnTo>
                  <a:pt x="0" y="0"/>
                </a:lnTo>
                <a:close/>
              </a:path>
            </a:pathLst>
          </a:custGeom>
          <a:blipFill rotWithShape="1">
            <a:blip r:embed="rId6">
              <a:alphaModFix/>
            </a:blip>
            <a:stretch>
              <a:fillRect b="0" l="0" r="0" t="0"/>
            </a:stretch>
          </a:blipFill>
          <a:ln>
            <a:noFill/>
          </a:ln>
        </p:spPr>
      </p:sp>
      <p:sp>
        <p:nvSpPr>
          <p:cNvPr id="190" name="Google Shape;190;p28"/>
          <p:cNvSpPr txBox="1"/>
          <p:nvPr/>
        </p:nvSpPr>
        <p:spPr>
          <a:xfrm>
            <a:off x="514350" y="561975"/>
            <a:ext cx="5403868" cy="633411"/>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 sz="4500" u="none" cap="none" strike="noStrike">
                <a:solidFill>
                  <a:srgbClr val="F2F5F8"/>
                </a:solidFill>
                <a:latin typeface="Arial"/>
                <a:ea typeface="Arial"/>
                <a:cs typeface="Arial"/>
                <a:sym typeface="Arial"/>
              </a:rPr>
              <a:t>Key Questions</a:t>
            </a:r>
            <a:endParaRPr sz="700"/>
          </a:p>
        </p:txBody>
      </p:sp>
      <p:grpSp>
        <p:nvGrpSpPr>
          <p:cNvPr id="191" name="Google Shape;191;p28"/>
          <p:cNvGrpSpPr/>
          <p:nvPr/>
        </p:nvGrpSpPr>
        <p:grpSpPr>
          <a:xfrm>
            <a:off x="2593247" y="3344357"/>
            <a:ext cx="1917434" cy="504277"/>
            <a:chOff x="0" y="-38100"/>
            <a:chExt cx="985679" cy="259230"/>
          </a:xfrm>
        </p:grpSpPr>
        <p:sp>
          <p:nvSpPr>
            <p:cNvPr id="192" name="Google Shape;192;p28"/>
            <p:cNvSpPr/>
            <p:nvPr/>
          </p:nvSpPr>
          <p:spPr>
            <a:xfrm>
              <a:off x="0" y="0"/>
              <a:ext cx="985679" cy="221130"/>
            </a:xfrm>
            <a:custGeom>
              <a:rect b="b" l="l" r="r" t="t"/>
              <a:pathLst>
                <a:path extrusionOk="0" h="221130" w="985679">
                  <a:moveTo>
                    <a:pt x="100941" y="0"/>
                  </a:moveTo>
                  <a:lnTo>
                    <a:pt x="884738" y="0"/>
                  </a:lnTo>
                  <a:cubicBezTo>
                    <a:pt x="911509" y="0"/>
                    <a:pt x="937184" y="10635"/>
                    <a:pt x="956114" y="29565"/>
                  </a:cubicBezTo>
                  <a:cubicBezTo>
                    <a:pt x="975044" y="48495"/>
                    <a:pt x="985679" y="74170"/>
                    <a:pt x="985679" y="100941"/>
                  </a:cubicBezTo>
                  <a:lnTo>
                    <a:pt x="985679" y="120188"/>
                  </a:lnTo>
                  <a:cubicBezTo>
                    <a:pt x="985679" y="175937"/>
                    <a:pt x="940486" y="221130"/>
                    <a:pt x="884738" y="221130"/>
                  </a:cubicBezTo>
                  <a:lnTo>
                    <a:pt x="100941" y="221130"/>
                  </a:lnTo>
                  <a:cubicBezTo>
                    <a:pt x="74170" y="221130"/>
                    <a:pt x="48495" y="210495"/>
                    <a:pt x="29565" y="191565"/>
                  </a:cubicBezTo>
                  <a:cubicBezTo>
                    <a:pt x="10635" y="172635"/>
                    <a:pt x="0" y="146960"/>
                    <a:pt x="0" y="120188"/>
                  </a:cubicBezTo>
                  <a:lnTo>
                    <a:pt x="0" y="100941"/>
                  </a:lnTo>
                  <a:cubicBezTo>
                    <a:pt x="0" y="74170"/>
                    <a:pt x="10635" y="48495"/>
                    <a:pt x="29565" y="29565"/>
                  </a:cubicBezTo>
                  <a:cubicBezTo>
                    <a:pt x="48495" y="10635"/>
                    <a:pt x="74170" y="0"/>
                    <a:pt x="100941"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3" name="Google Shape;193;p28"/>
            <p:cNvSpPr txBox="1"/>
            <p:nvPr/>
          </p:nvSpPr>
          <p:spPr>
            <a:xfrm>
              <a:off x="0" y="-38100"/>
              <a:ext cx="985679" cy="259230"/>
            </a:xfrm>
            <a:prstGeom prst="rect">
              <a:avLst/>
            </a:prstGeom>
            <a:noFill/>
            <a:ln>
              <a:noFill/>
            </a:ln>
          </p:spPr>
          <p:txBody>
            <a:bodyPr anchorCtr="0" anchor="ctr" bIns="25400" lIns="25400" spcFirstLastPara="1" rIns="25400" wrap="square" tIns="25400">
              <a:noAutofit/>
            </a:bodyPr>
            <a:lstStyle/>
            <a:p>
              <a:pPr indent="0" lvl="0" marL="0" marR="0" rtl="0" algn="ctr">
                <a:lnSpc>
                  <a:spcPct val="140018"/>
                </a:lnSpc>
                <a:spcBef>
                  <a:spcPts val="0"/>
                </a:spcBef>
                <a:spcAft>
                  <a:spcPts val="0"/>
                </a:spcAft>
                <a:buNone/>
              </a:pPr>
              <a:r>
                <a:rPr b="0" i="0" lang="en" sz="1100" u="none" cap="none" strike="noStrike">
                  <a:solidFill>
                    <a:srgbClr val="F2F5F8"/>
                  </a:solidFill>
                  <a:latin typeface="Arial"/>
                  <a:ea typeface="Arial"/>
                  <a:cs typeface="Arial"/>
                  <a:sym typeface="Arial"/>
                </a:rPr>
                <a:t>How does age affect sleep patterns?</a:t>
              </a:r>
              <a:endParaRPr sz="700"/>
            </a:p>
          </p:txBody>
        </p:sp>
      </p:grpSp>
      <p:grpSp>
        <p:nvGrpSpPr>
          <p:cNvPr id="194" name="Google Shape;194;p28"/>
          <p:cNvGrpSpPr/>
          <p:nvPr/>
        </p:nvGrpSpPr>
        <p:grpSpPr>
          <a:xfrm>
            <a:off x="4672146" y="3344357"/>
            <a:ext cx="1917434" cy="504277"/>
            <a:chOff x="0" y="-38100"/>
            <a:chExt cx="985679" cy="259230"/>
          </a:xfrm>
        </p:grpSpPr>
        <p:sp>
          <p:nvSpPr>
            <p:cNvPr id="195" name="Google Shape;195;p28"/>
            <p:cNvSpPr/>
            <p:nvPr/>
          </p:nvSpPr>
          <p:spPr>
            <a:xfrm>
              <a:off x="0" y="0"/>
              <a:ext cx="985679" cy="221130"/>
            </a:xfrm>
            <a:custGeom>
              <a:rect b="b" l="l" r="r" t="t"/>
              <a:pathLst>
                <a:path extrusionOk="0" h="221130" w="985679">
                  <a:moveTo>
                    <a:pt x="100941" y="0"/>
                  </a:moveTo>
                  <a:lnTo>
                    <a:pt x="884738" y="0"/>
                  </a:lnTo>
                  <a:cubicBezTo>
                    <a:pt x="911509" y="0"/>
                    <a:pt x="937184" y="10635"/>
                    <a:pt x="956114" y="29565"/>
                  </a:cubicBezTo>
                  <a:cubicBezTo>
                    <a:pt x="975044" y="48495"/>
                    <a:pt x="985679" y="74170"/>
                    <a:pt x="985679" y="100941"/>
                  </a:cubicBezTo>
                  <a:lnTo>
                    <a:pt x="985679" y="120188"/>
                  </a:lnTo>
                  <a:cubicBezTo>
                    <a:pt x="985679" y="175937"/>
                    <a:pt x="940486" y="221130"/>
                    <a:pt x="884738" y="221130"/>
                  </a:cubicBezTo>
                  <a:lnTo>
                    <a:pt x="100941" y="221130"/>
                  </a:lnTo>
                  <a:cubicBezTo>
                    <a:pt x="74170" y="221130"/>
                    <a:pt x="48495" y="210495"/>
                    <a:pt x="29565" y="191565"/>
                  </a:cubicBezTo>
                  <a:cubicBezTo>
                    <a:pt x="10635" y="172635"/>
                    <a:pt x="0" y="146960"/>
                    <a:pt x="0" y="120188"/>
                  </a:cubicBezTo>
                  <a:lnTo>
                    <a:pt x="0" y="100941"/>
                  </a:lnTo>
                  <a:cubicBezTo>
                    <a:pt x="0" y="74170"/>
                    <a:pt x="10635" y="48495"/>
                    <a:pt x="29565" y="29565"/>
                  </a:cubicBezTo>
                  <a:cubicBezTo>
                    <a:pt x="48495" y="10635"/>
                    <a:pt x="74170" y="0"/>
                    <a:pt x="100941"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6" name="Google Shape;196;p28"/>
            <p:cNvSpPr txBox="1"/>
            <p:nvPr/>
          </p:nvSpPr>
          <p:spPr>
            <a:xfrm>
              <a:off x="0" y="-38100"/>
              <a:ext cx="985679" cy="259230"/>
            </a:xfrm>
            <a:prstGeom prst="rect">
              <a:avLst/>
            </a:prstGeom>
            <a:noFill/>
            <a:ln>
              <a:noFill/>
            </a:ln>
          </p:spPr>
          <p:txBody>
            <a:bodyPr anchorCtr="0" anchor="ctr" bIns="25400" lIns="25400" spcFirstLastPara="1" rIns="25400" wrap="square" tIns="25400">
              <a:noAutofit/>
            </a:bodyPr>
            <a:lstStyle/>
            <a:p>
              <a:pPr indent="0" lvl="0" marL="0" marR="0" rtl="0" algn="ctr">
                <a:lnSpc>
                  <a:spcPct val="140018"/>
                </a:lnSpc>
                <a:spcBef>
                  <a:spcPts val="0"/>
                </a:spcBef>
                <a:spcAft>
                  <a:spcPts val="0"/>
                </a:spcAft>
                <a:buNone/>
              </a:pPr>
              <a:r>
                <a:rPr b="0" i="0" lang="en" sz="1100" u="none" cap="none" strike="noStrike">
                  <a:solidFill>
                    <a:srgbClr val="F2F5F8"/>
                  </a:solidFill>
                  <a:latin typeface="Arial"/>
                  <a:ea typeface="Arial"/>
                  <a:cs typeface="Arial"/>
                  <a:sym typeface="Arial"/>
                </a:rPr>
                <a:t>Are certain jobs tied to poor sleep or high stress?</a:t>
              </a:r>
              <a:endParaRPr sz="700"/>
            </a:p>
          </p:txBody>
        </p:sp>
      </p:grpSp>
      <p:grpSp>
        <p:nvGrpSpPr>
          <p:cNvPr id="197" name="Google Shape;197;p28"/>
          <p:cNvGrpSpPr/>
          <p:nvPr/>
        </p:nvGrpSpPr>
        <p:grpSpPr>
          <a:xfrm>
            <a:off x="6751043" y="3344357"/>
            <a:ext cx="1917434" cy="504277"/>
            <a:chOff x="0" y="-38100"/>
            <a:chExt cx="985679" cy="259230"/>
          </a:xfrm>
        </p:grpSpPr>
        <p:sp>
          <p:nvSpPr>
            <p:cNvPr id="198" name="Google Shape;198;p28"/>
            <p:cNvSpPr/>
            <p:nvPr/>
          </p:nvSpPr>
          <p:spPr>
            <a:xfrm>
              <a:off x="0" y="0"/>
              <a:ext cx="985679" cy="221130"/>
            </a:xfrm>
            <a:custGeom>
              <a:rect b="b" l="l" r="r" t="t"/>
              <a:pathLst>
                <a:path extrusionOk="0" h="221130" w="985679">
                  <a:moveTo>
                    <a:pt x="100941" y="0"/>
                  </a:moveTo>
                  <a:lnTo>
                    <a:pt x="884738" y="0"/>
                  </a:lnTo>
                  <a:cubicBezTo>
                    <a:pt x="911509" y="0"/>
                    <a:pt x="937184" y="10635"/>
                    <a:pt x="956114" y="29565"/>
                  </a:cubicBezTo>
                  <a:cubicBezTo>
                    <a:pt x="975044" y="48495"/>
                    <a:pt x="985679" y="74170"/>
                    <a:pt x="985679" y="100941"/>
                  </a:cubicBezTo>
                  <a:lnTo>
                    <a:pt x="985679" y="120188"/>
                  </a:lnTo>
                  <a:cubicBezTo>
                    <a:pt x="985679" y="175937"/>
                    <a:pt x="940486" y="221130"/>
                    <a:pt x="884738" y="221130"/>
                  </a:cubicBezTo>
                  <a:lnTo>
                    <a:pt x="100941" y="221130"/>
                  </a:lnTo>
                  <a:cubicBezTo>
                    <a:pt x="74170" y="221130"/>
                    <a:pt x="48495" y="210495"/>
                    <a:pt x="29565" y="191565"/>
                  </a:cubicBezTo>
                  <a:cubicBezTo>
                    <a:pt x="10635" y="172635"/>
                    <a:pt x="0" y="146960"/>
                    <a:pt x="0" y="120188"/>
                  </a:cubicBezTo>
                  <a:lnTo>
                    <a:pt x="0" y="100941"/>
                  </a:lnTo>
                  <a:cubicBezTo>
                    <a:pt x="0" y="74170"/>
                    <a:pt x="10635" y="48495"/>
                    <a:pt x="29565" y="29565"/>
                  </a:cubicBezTo>
                  <a:cubicBezTo>
                    <a:pt x="48495" y="10635"/>
                    <a:pt x="74170" y="0"/>
                    <a:pt x="100941"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199" name="Google Shape;199;p28"/>
            <p:cNvSpPr txBox="1"/>
            <p:nvPr/>
          </p:nvSpPr>
          <p:spPr>
            <a:xfrm>
              <a:off x="0" y="-38100"/>
              <a:ext cx="985679" cy="259230"/>
            </a:xfrm>
            <a:prstGeom prst="rect">
              <a:avLst/>
            </a:prstGeom>
            <a:noFill/>
            <a:ln>
              <a:noFill/>
            </a:ln>
          </p:spPr>
          <p:txBody>
            <a:bodyPr anchorCtr="0" anchor="ctr" bIns="25400" lIns="25400" spcFirstLastPara="1" rIns="25400" wrap="square" tIns="25400">
              <a:noAutofit/>
            </a:bodyPr>
            <a:lstStyle/>
            <a:p>
              <a:pPr indent="0" lvl="0" marL="0" marR="0" rtl="0" algn="ctr">
                <a:lnSpc>
                  <a:spcPct val="140018"/>
                </a:lnSpc>
                <a:spcBef>
                  <a:spcPts val="0"/>
                </a:spcBef>
                <a:spcAft>
                  <a:spcPts val="0"/>
                </a:spcAft>
                <a:buNone/>
              </a:pPr>
              <a:r>
                <a:rPr b="1" i="0" lang="en" sz="1100" u="none" cap="none" strike="noStrike">
                  <a:solidFill>
                    <a:srgbClr val="F2F5F8"/>
                  </a:solidFill>
                  <a:latin typeface="Arial"/>
                  <a:ea typeface="Arial"/>
                  <a:cs typeface="Arial"/>
                  <a:sym typeface="Arial"/>
                </a:rPr>
                <a:t>Is BMI connected to sleep issues?</a:t>
              </a:r>
              <a:endParaRPr sz="700"/>
            </a:p>
          </p:txBody>
        </p:sp>
      </p:grpSp>
      <p:sp>
        <p:nvSpPr>
          <p:cNvPr id="200" name="Google Shape;200;p28"/>
          <p:cNvSpPr/>
          <p:nvPr/>
        </p:nvSpPr>
        <p:spPr>
          <a:xfrm>
            <a:off x="5220580" y="4058672"/>
            <a:ext cx="697639" cy="291554"/>
          </a:xfrm>
          <a:custGeom>
            <a:rect b="b" l="l" r="r" t="t"/>
            <a:pathLst>
              <a:path extrusionOk="0" h="583109" w="1395277">
                <a:moveTo>
                  <a:pt x="0" y="0"/>
                </a:moveTo>
                <a:lnTo>
                  <a:pt x="1395276" y="0"/>
                </a:lnTo>
                <a:lnTo>
                  <a:pt x="1395276" y="583109"/>
                </a:lnTo>
                <a:lnTo>
                  <a:pt x="0" y="583109"/>
                </a:lnTo>
                <a:lnTo>
                  <a:pt x="0" y="0"/>
                </a:lnTo>
                <a:close/>
              </a:path>
            </a:pathLst>
          </a:custGeom>
          <a:blipFill rotWithShape="1">
            <a:blip r:embed="rId7">
              <a:alphaModFix/>
            </a:blip>
            <a:stretch>
              <a:fillRect b="0" l="0" r="0" t="0"/>
            </a:stretch>
          </a:blipFill>
          <a:ln>
            <a:noFill/>
          </a:ln>
        </p:spPr>
      </p:sp>
      <p:sp>
        <p:nvSpPr>
          <p:cNvPr id="201" name="Google Shape;201;p28"/>
          <p:cNvSpPr/>
          <p:nvPr/>
        </p:nvSpPr>
        <p:spPr>
          <a:xfrm flipH="1" rot="1273488">
            <a:off x="5539582" y="508941"/>
            <a:ext cx="515143" cy="274743"/>
          </a:xfrm>
          <a:custGeom>
            <a:rect b="b" l="l" r="r" t="t"/>
            <a:pathLst>
              <a:path extrusionOk="0" h="549486" w="1030285">
                <a:moveTo>
                  <a:pt x="0" y="549485"/>
                </a:moveTo>
                <a:lnTo>
                  <a:pt x="1030285" y="549485"/>
                </a:lnTo>
                <a:lnTo>
                  <a:pt x="1030285" y="0"/>
                </a:lnTo>
                <a:lnTo>
                  <a:pt x="0" y="0"/>
                </a:lnTo>
                <a:lnTo>
                  <a:pt x="0" y="549485"/>
                </a:lnTo>
                <a:close/>
              </a:path>
            </a:pathLst>
          </a:custGeom>
          <a:blipFill rotWithShape="1">
            <a:blip r:embed="rId8">
              <a:alphaModFix/>
            </a:blip>
            <a:stretch>
              <a:fillRect b="0" l="0" r="0" t="0"/>
            </a:stretch>
          </a:blipFill>
          <a:ln>
            <a:noFill/>
          </a:ln>
        </p:spPr>
      </p:sp>
      <p:sp>
        <p:nvSpPr>
          <p:cNvPr id="202" name="Google Shape;202;p28"/>
          <p:cNvSpPr/>
          <p:nvPr/>
        </p:nvSpPr>
        <p:spPr>
          <a:xfrm>
            <a:off x="7709760" y="1103771"/>
            <a:ext cx="235415" cy="183231"/>
          </a:xfrm>
          <a:custGeom>
            <a:rect b="b" l="l" r="r" t="t"/>
            <a:pathLst>
              <a:path extrusionOk="0" h="366462" w="470829">
                <a:moveTo>
                  <a:pt x="0" y="0"/>
                </a:moveTo>
                <a:lnTo>
                  <a:pt x="470830" y="0"/>
                </a:lnTo>
                <a:lnTo>
                  <a:pt x="470830" y="366462"/>
                </a:lnTo>
                <a:lnTo>
                  <a:pt x="0" y="366462"/>
                </a:lnTo>
                <a:lnTo>
                  <a:pt x="0" y="0"/>
                </a:lnTo>
                <a:close/>
              </a:path>
            </a:pathLst>
          </a:custGeom>
          <a:blipFill rotWithShape="1">
            <a:blip r:embed="rId9">
              <a:alphaModFix/>
            </a:blip>
            <a:stretch>
              <a:fillRect b="0" l="0" r="0" t="0"/>
            </a:stretch>
          </a:blipFill>
          <a:ln>
            <a:noFill/>
          </a:ln>
        </p:spPr>
      </p:sp>
      <p:sp>
        <p:nvSpPr>
          <p:cNvPr id="203" name="Google Shape;203;p28"/>
          <p:cNvSpPr/>
          <p:nvPr/>
        </p:nvSpPr>
        <p:spPr>
          <a:xfrm>
            <a:off x="7709760" y="4629150"/>
            <a:ext cx="235415" cy="183231"/>
          </a:xfrm>
          <a:custGeom>
            <a:rect b="b" l="l" r="r" t="t"/>
            <a:pathLst>
              <a:path extrusionOk="0" h="366462" w="470829">
                <a:moveTo>
                  <a:pt x="0" y="0"/>
                </a:moveTo>
                <a:lnTo>
                  <a:pt x="470830" y="0"/>
                </a:lnTo>
                <a:lnTo>
                  <a:pt x="470830" y="366462"/>
                </a:lnTo>
                <a:lnTo>
                  <a:pt x="0" y="366462"/>
                </a:lnTo>
                <a:lnTo>
                  <a:pt x="0" y="0"/>
                </a:lnTo>
                <a:close/>
              </a:path>
            </a:pathLst>
          </a:custGeom>
          <a:blipFill rotWithShape="1">
            <a:blip r:embed="rId9">
              <a:alphaModFix/>
            </a:blip>
            <a:stretch>
              <a:fillRect b="0" l="0" r="0" t="0"/>
            </a:stretch>
          </a:blipFill>
          <a:ln>
            <a:noFill/>
          </a:ln>
        </p:spPr>
      </p:sp>
      <p:sp>
        <p:nvSpPr>
          <p:cNvPr id="204" name="Google Shape;204;p28"/>
          <p:cNvSpPr/>
          <p:nvPr/>
        </p:nvSpPr>
        <p:spPr>
          <a:xfrm>
            <a:off x="278935" y="1195386"/>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208" name="Shape 208"/>
        <p:cNvGrpSpPr/>
        <p:nvPr/>
      </p:nvGrpSpPr>
      <p:grpSpPr>
        <a:xfrm>
          <a:off x="0" y="0"/>
          <a:ext cx="0" cy="0"/>
          <a:chOff x="0" y="0"/>
          <a:chExt cx="0" cy="0"/>
        </a:xfrm>
      </p:grpSpPr>
      <p:sp>
        <p:nvSpPr>
          <p:cNvPr id="209" name="Google Shape;209;p29"/>
          <p:cNvSpPr txBox="1"/>
          <p:nvPr/>
        </p:nvSpPr>
        <p:spPr>
          <a:xfrm>
            <a:off x="514350" y="794275"/>
            <a:ext cx="4694196" cy="1257299"/>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 sz="4500" u="none" cap="none" strike="noStrike">
                <a:solidFill>
                  <a:srgbClr val="F2F5F8"/>
                </a:solidFill>
                <a:latin typeface="Arial"/>
                <a:ea typeface="Arial"/>
                <a:cs typeface="Arial"/>
                <a:sym typeface="Arial"/>
              </a:rPr>
              <a:t> Audience &amp; Purpose</a:t>
            </a:r>
            <a:endParaRPr sz="700"/>
          </a:p>
        </p:txBody>
      </p:sp>
      <p:sp>
        <p:nvSpPr>
          <p:cNvPr id="210" name="Google Shape;210;p29"/>
          <p:cNvSpPr/>
          <p:nvPr/>
        </p:nvSpPr>
        <p:spPr>
          <a:xfrm>
            <a:off x="514350" y="4639738"/>
            <a:ext cx="697639" cy="291554"/>
          </a:xfrm>
          <a:custGeom>
            <a:rect b="b" l="l" r="r" t="t"/>
            <a:pathLst>
              <a:path extrusionOk="0" h="583109" w="1395277">
                <a:moveTo>
                  <a:pt x="0" y="0"/>
                </a:moveTo>
                <a:lnTo>
                  <a:pt x="1395277" y="0"/>
                </a:lnTo>
                <a:lnTo>
                  <a:pt x="1395277" y="583109"/>
                </a:lnTo>
                <a:lnTo>
                  <a:pt x="0" y="583109"/>
                </a:lnTo>
                <a:lnTo>
                  <a:pt x="0" y="0"/>
                </a:lnTo>
                <a:close/>
              </a:path>
            </a:pathLst>
          </a:custGeom>
          <a:blipFill rotWithShape="1">
            <a:blip r:embed="rId3">
              <a:alphaModFix/>
            </a:blip>
            <a:stretch>
              <a:fillRect b="0" l="0" r="0" t="0"/>
            </a:stretch>
          </a:blipFill>
          <a:ln>
            <a:noFill/>
          </a:ln>
        </p:spPr>
      </p:sp>
      <p:sp>
        <p:nvSpPr>
          <p:cNvPr id="211" name="Google Shape;211;p29"/>
          <p:cNvSpPr/>
          <p:nvPr/>
        </p:nvSpPr>
        <p:spPr>
          <a:xfrm flipH="1" rot="-7590139">
            <a:off x="8372079" y="376979"/>
            <a:ext cx="515142" cy="274743"/>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4">
              <a:alphaModFix/>
            </a:blip>
            <a:stretch>
              <a:fillRect b="0" l="0" r="0" t="0"/>
            </a:stretch>
          </a:blipFill>
          <a:ln>
            <a:noFill/>
          </a:ln>
        </p:spPr>
      </p:sp>
      <p:sp>
        <p:nvSpPr>
          <p:cNvPr id="212" name="Google Shape;212;p29"/>
          <p:cNvSpPr/>
          <p:nvPr/>
        </p:nvSpPr>
        <p:spPr>
          <a:xfrm>
            <a:off x="2626033" y="463081"/>
            <a:ext cx="235415" cy="183231"/>
          </a:xfrm>
          <a:custGeom>
            <a:rect b="b" l="l" r="r" t="t"/>
            <a:pathLst>
              <a:path extrusionOk="0" h="366462" w="470829">
                <a:moveTo>
                  <a:pt x="0" y="0"/>
                </a:moveTo>
                <a:lnTo>
                  <a:pt x="470830" y="0"/>
                </a:lnTo>
                <a:lnTo>
                  <a:pt x="470830" y="366462"/>
                </a:lnTo>
                <a:lnTo>
                  <a:pt x="0" y="366462"/>
                </a:lnTo>
                <a:lnTo>
                  <a:pt x="0" y="0"/>
                </a:lnTo>
                <a:close/>
              </a:path>
            </a:pathLst>
          </a:custGeom>
          <a:blipFill rotWithShape="1">
            <a:blip r:embed="rId5">
              <a:alphaModFix/>
            </a:blip>
            <a:stretch>
              <a:fillRect b="0" l="0" r="0" t="0"/>
            </a:stretch>
          </a:blipFill>
          <a:ln>
            <a:noFill/>
          </a:ln>
        </p:spPr>
      </p:sp>
      <p:sp>
        <p:nvSpPr>
          <p:cNvPr id="213" name="Google Shape;213;p29"/>
          <p:cNvSpPr/>
          <p:nvPr/>
        </p:nvSpPr>
        <p:spPr>
          <a:xfrm>
            <a:off x="3231200" y="3069984"/>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214" name="Google Shape;214;p29"/>
          <p:cNvSpPr/>
          <p:nvPr/>
        </p:nvSpPr>
        <p:spPr>
          <a:xfrm>
            <a:off x="7939048" y="646312"/>
            <a:ext cx="235415" cy="183231"/>
          </a:xfrm>
          <a:custGeom>
            <a:rect b="b" l="l" r="r" t="t"/>
            <a:pathLst>
              <a:path extrusionOk="0" h="366462" w="470829">
                <a:moveTo>
                  <a:pt x="0" y="0"/>
                </a:moveTo>
                <a:lnTo>
                  <a:pt x="470829" y="0"/>
                </a:lnTo>
                <a:lnTo>
                  <a:pt x="470829" y="366463"/>
                </a:lnTo>
                <a:lnTo>
                  <a:pt x="0" y="366463"/>
                </a:lnTo>
                <a:lnTo>
                  <a:pt x="0" y="0"/>
                </a:lnTo>
                <a:close/>
              </a:path>
            </a:pathLst>
          </a:custGeom>
          <a:blipFill rotWithShape="1">
            <a:blip r:embed="rId5">
              <a:alphaModFix/>
            </a:blip>
            <a:stretch>
              <a:fillRect b="0" l="0" r="0" t="0"/>
            </a:stretch>
          </a:blipFill>
          <a:ln>
            <a:noFill/>
          </a:ln>
        </p:spPr>
      </p:sp>
      <p:sp>
        <p:nvSpPr>
          <p:cNvPr id="215" name="Google Shape;215;p29"/>
          <p:cNvSpPr/>
          <p:nvPr/>
        </p:nvSpPr>
        <p:spPr>
          <a:xfrm>
            <a:off x="7061472" y="4396850"/>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216" name="Google Shape;216;p29"/>
          <p:cNvSpPr txBox="1"/>
          <p:nvPr/>
        </p:nvSpPr>
        <p:spPr>
          <a:xfrm>
            <a:off x="1107623" y="2199549"/>
            <a:ext cx="6056100" cy="17241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 sz="1400" u="none" cap="none" strike="noStrike">
                <a:solidFill>
                  <a:srgbClr val="F2F5F8"/>
                </a:solidFill>
                <a:latin typeface="Arial"/>
                <a:ea typeface="Arial"/>
                <a:cs typeface="Arial"/>
                <a:sym typeface="Arial"/>
              </a:rPr>
              <a:t>College students and young adults, especially those balancing a heavy load like academics, training, and work. Overall Goal: Raise awareness about how everyday choices impact sleep. Empower students to adjust habits for better rest, recovery, and overall well-being.</a:t>
            </a:r>
            <a:endParaRPr sz="700"/>
          </a:p>
          <a:p>
            <a:pPr indent="0" lvl="0" marL="0" marR="0" rtl="0" algn="l">
              <a:lnSpc>
                <a:spcPct val="140013"/>
              </a:lnSpc>
              <a:spcBef>
                <a:spcPts val="0"/>
              </a:spcBef>
              <a:spcAft>
                <a:spcPts val="0"/>
              </a:spcAft>
              <a:buNone/>
            </a:pPr>
            <a:r>
              <a:t/>
            </a:r>
            <a:endParaRPr b="0" i="0" sz="1400" u="none" cap="none" strike="noStrike">
              <a:solidFill>
                <a:srgbClr val="F2F5F8"/>
              </a:solidFill>
              <a:latin typeface="Arial"/>
              <a:ea typeface="Arial"/>
              <a:cs typeface="Arial"/>
              <a:sym typeface="Arial"/>
            </a:endParaRPr>
          </a:p>
          <a:p>
            <a:pPr indent="0" lvl="0" marL="0" marR="0" rtl="0" algn="l">
              <a:lnSpc>
                <a:spcPct val="140013"/>
              </a:lnSpc>
              <a:spcBef>
                <a:spcPts val="0"/>
              </a:spcBef>
              <a:spcAft>
                <a:spcPts val="0"/>
              </a:spcAft>
              <a:buNone/>
            </a:pPr>
            <a:r>
              <a:t/>
            </a:r>
            <a:endParaRPr b="0" i="0" sz="1400" u="none" cap="none" strike="noStrike">
              <a:solidFill>
                <a:srgbClr val="F2F5F8"/>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220" name="Shape 220"/>
        <p:cNvGrpSpPr/>
        <p:nvPr/>
      </p:nvGrpSpPr>
      <p:grpSpPr>
        <a:xfrm>
          <a:off x="0" y="0"/>
          <a:ext cx="0" cy="0"/>
          <a:chOff x="0" y="0"/>
          <a:chExt cx="0" cy="0"/>
        </a:xfrm>
      </p:grpSpPr>
      <p:grpSp>
        <p:nvGrpSpPr>
          <p:cNvPr id="221" name="Google Shape;221;p30"/>
          <p:cNvGrpSpPr/>
          <p:nvPr/>
        </p:nvGrpSpPr>
        <p:grpSpPr>
          <a:xfrm>
            <a:off x="4742318" y="158222"/>
            <a:ext cx="4245022" cy="4182191"/>
            <a:chOff x="0" y="-38100"/>
            <a:chExt cx="2236061" cy="2202965"/>
          </a:xfrm>
        </p:grpSpPr>
        <p:sp>
          <p:nvSpPr>
            <p:cNvPr id="222" name="Google Shape;222;p30"/>
            <p:cNvSpPr/>
            <p:nvPr/>
          </p:nvSpPr>
          <p:spPr>
            <a:xfrm>
              <a:off x="0" y="0"/>
              <a:ext cx="2236061" cy="2164865"/>
            </a:xfrm>
            <a:custGeom>
              <a:rect b="b" l="l" r="r" t="t"/>
              <a:pathLst>
                <a:path extrusionOk="0" h="2164865" w="2236061">
                  <a:moveTo>
                    <a:pt x="45594" y="0"/>
                  </a:moveTo>
                  <a:lnTo>
                    <a:pt x="2190466" y="0"/>
                  </a:lnTo>
                  <a:cubicBezTo>
                    <a:pt x="2202559" y="0"/>
                    <a:pt x="2214156" y="4804"/>
                    <a:pt x="2222706" y="13354"/>
                  </a:cubicBezTo>
                  <a:cubicBezTo>
                    <a:pt x="2231257" y="21905"/>
                    <a:pt x="2236061" y="33502"/>
                    <a:pt x="2236061" y="45594"/>
                  </a:cubicBezTo>
                  <a:lnTo>
                    <a:pt x="2236061" y="2119271"/>
                  </a:lnTo>
                  <a:cubicBezTo>
                    <a:pt x="2236061" y="2131363"/>
                    <a:pt x="2231257" y="2142960"/>
                    <a:pt x="2222706" y="2151511"/>
                  </a:cubicBezTo>
                  <a:cubicBezTo>
                    <a:pt x="2214156" y="2160062"/>
                    <a:pt x="2202559" y="2164865"/>
                    <a:pt x="2190466" y="2164865"/>
                  </a:cubicBezTo>
                  <a:lnTo>
                    <a:pt x="45594" y="2164865"/>
                  </a:lnTo>
                  <a:cubicBezTo>
                    <a:pt x="33502" y="2164865"/>
                    <a:pt x="21905" y="2160062"/>
                    <a:pt x="13354" y="2151511"/>
                  </a:cubicBezTo>
                  <a:cubicBezTo>
                    <a:pt x="4804" y="2142960"/>
                    <a:pt x="0" y="2131363"/>
                    <a:pt x="0" y="2119271"/>
                  </a:cubicBezTo>
                  <a:lnTo>
                    <a:pt x="0" y="45594"/>
                  </a:lnTo>
                  <a:cubicBezTo>
                    <a:pt x="0" y="33502"/>
                    <a:pt x="4804" y="21905"/>
                    <a:pt x="13354" y="13354"/>
                  </a:cubicBezTo>
                  <a:cubicBezTo>
                    <a:pt x="21905" y="4804"/>
                    <a:pt x="33502" y="0"/>
                    <a:pt x="45594" y="0"/>
                  </a:cubicBezTo>
                  <a:close/>
                </a:path>
              </a:pathLst>
            </a:custGeom>
            <a:solidFill>
              <a:srgbClr val="5F519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23" name="Google Shape;223;p30"/>
            <p:cNvSpPr txBox="1"/>
            <p:nvPr/>
          </p:nvSpPr>
          <p:spPr>
            <a:xfrm>
              <a:off x="0" y="-38100"/>
              <a:ext cx="2236061" cy="2202965"/>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24" name="Google Shape;224;p30"/>
          <p:cNvSpPr txBox="1"/>
          <p:nvPr/>
        </p:nvSpPr>
        <p:spPr>
          <a:xfrm>
            <a:off x="514350" y="561975"/>
            <a:ext cx="3914161" cy="1257299"/>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 sz="4500" u="none" cap="none" strike="noStrike">
                <a:solidFill>
                  <a:srgbClr val="F2F5F8"/>
                </a:solidFill>
                <a:latin typeface="Arial"/>
                <a:ea typeface="Arial"/>
                <a:cs typeface="Arial"/>
                <a:sym typeface="Arial"/>
              </a:rPr>
              <a:t>Stress vs Sleep Quality</a:t>
            </a:r>
            <a:endParaRPr sz="700"/>
          </a:p>
        </p:txBody>
      </p:sp>
      <p:sp>
        <p:nvSpPr>
          <p:cNvPr id="225" name="Google Shape;225;p30"/>
          <p:cNvSpPr/>
          <p:nvPr/>
        </p:nvSpPr>
        <p:spPr>
          <a:xfrm flipH="1" rot="-6271813">
            <a:off x="8494353" y="376978"/>
            <a:ext cx="515142" cy="274743"/>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3">
              <a:alphaModFix/>
            </a:blip>
            <a:stretch>
              <a:fillRect b="0" l="0" r="0" t="0"/>
            </a:stretch>
          </a:blipFill>
          <a:ln>
            <a:noFill/>
          </a:ln>
        </p:spPr>
      </p:sp>
      <p:sp>
        <p:nvSpPr>
          <p:cNvPr id="226" name="Google Shape;226;p30"/>
          <p:cNvSpPr/>
          <p:nvPr/>
        </p:nvSpPr>
        <p:spPr>
          <a:xfrm>
            <a:off x="4310803" y="514350"/>
            <a:ext cx="235414" cy="183231"/>
          </a:xfrm>
          <a:custGeom>
            <a:rect b="b" l="l" r="r" t="t"/>
            <a:pathLst>
              <a:path extrusionOk="0" h="366462" w="470829">
                <a:moveTo>
                  <a:pt x="0" y="0"/>
                </a:moveTo>
                <a:lnTo>
                  <a:pt x="470830" y="0"/>
                </a:lnTo>
                <a:lnTo>
                  <a:pt x="470830" y="366462"/>
                </a:lnTo>
                <a:lnTo>
                  <a:pt x="0" y="366462"/>
                </a:lnTo>
                <a:lnTo>
                  <a:pt x="0" y="0"/>
                </a:lnTo>
                <a:close/>
              </a:path>
            </a:pathLst>
          </a:custGeom>
          <a:blipFill rotWithShape="1">
            <a:blip r:embed="rId4">
              <a:alphaModFix/>
            </a:blip>
            <a:stretch>
              <a:fillRect b="0" l="0" r="0" t="0"/>
            </a:stretch>
          </a:blipFill>
          <a:ln>
            <a:noFill/>
          </a:ln>
        </p:spPr>
      </p:sp>
      <p:sp>
        <p:nvSpPr>
          <p:cNvPr id="227" name="Google Shape;227;p30"/>
          <p:cNvSpPr/>
          <p:nvPr/>
        </p:nvSpPr>
        <p:spPr>
          <a:xfrm>
            <a:off x="8751924" y="344911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228" name="Google Shape;228;p30"/>
          <p:cNvSpPr txBox="1"/>
          <p:nvPr/>
        </p:nvSpPr>
        <p:spPr>
          <a:xfrm>
            <a:off x="0" y="2130124"/>
            <a:ext cx="4546200" cy="2170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 sz="1500">
                <a:solidFill>
                  <a:srgbClr val="F2F5F8"/>
                </a:solidFill>
              </a:rPr>
              <a:t>The scatterplot shows a clear negative relationship between stress level and sleep quality. As stress increases, the quality of sleep tends to decrease. Although the individual days change, the overall pattern show that higher stress is linked to poorer sleep, indicating that stress may play an important role in how well someone sleeps.</a:t>
            </a:r>
            <a:endParaRPr sz="700"/>
          </a:p>
        </p:txBody>
      </p:sp>
      <p:pic>
        <p:nvPicPr>
          <p:cNvPr id="229" name="Google Shape;229;p30"/>
          <p:cNvPicPr preferRelativeResize="0"/>
          <p:nvPr/>
        </p:nvPicPr>
        <p:blipFill>
          <a:blip r:embed="rId5">
            <a:alphaModFix/>
          </a:blip>
          <a:stretch>
            <a:fillRect/>
          </a:stretch>
        </p:blipFill>
        <p:spPr>
          <a:xfrm>
            <a:off x="5041750" y="510607"/>
            <a:ext cx="3646175" cy="34774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233" name="Shape 233"/>
        <p:cNvGrpSpPr/>
        <p:nvPr/>
      </p:nvGrpSpPr>
      <p:grpSpPr>
        <a:xfrm>
          <a:off x="0" y="0"/>
          <a:ext cx="0" cy="0"/>
          <a:chOff x="0" y="0"/>
          <a:chExt cx="0" cy="0"/>
        </a:xfrm>
      </p:grpSpPr>
      <p:grpSp>
        <p:nvGrpSpPr>
          <p:cNvPr id="234" name="Google Shape;234;p31"/>
          <p:cNvGrpSpPr/>
          <p:nvPr/>
        </p:nvGrpSpPr>
        <p:grpSpPr>
          <a:xfrm>
            <a:off x="4704502" y="442020"/>
            <a:ext cx="3925148" cy="4187130"/>
            <a:chOff x="0" y="-38100"/>
            <a:chExt cx="2067567" cy="2205567"/>
          </a:xfrm>
        </p:grpSpPr>
        <p:sp>
          <p:nvSpPr>
            <p:cNvPr id="235" name="Google Shape;235;p31"/>
            <p:cNvSpPr/>
            <p:nvPr/>
          </p:nvSpPr>
          <p:spPr>
            <a:xfrm>
              <a:off x="0" y="0"/>
              <a:ext cx="2067567" cy="2167467"/>
            </a:xfrm>
            <a:custGeom>
              <a:rect b="b" l="l" r="r" t="t"/>
              <a:pathLst>
                <a:path extrusionOk="0" h="2167467" w="2067567">
                  <a:moveTo>
                    <a:pt x="49310" y="0"/>
                  </a:moveTo>
                  <a:lnTo>
                    <a:pt x="2018258" y="0"/>
                  </a:lnTo>
                  <a:cubicBezTo>
                    <a:pt x="2031336" y="0"/>
                    <a:pt x="2043878" y="5195"/>
                    <a:pt x="2053125" y="14442"/>
                  </a:cubicBezTo>
                  <a:cubicBezTo>
                    <a:pt x="2062372" y="23690"/>
                    <a:pt x="2067567" y="36232"/>
                    <a:pt x="2067567" y="49310"/>
                  </a:cubicBezTo>
                  <a:lnTo>
                    <a:pt x="2067567" y="2118157"/>
                  </a:lnTo>
                  <a:cubicBezTo>
                    <a:pt x="2067567" y="2145390"/>
                    <a:pt x="2045491" y="2167467"/>
                    <a:pt x="2018258" y="2167467"/>
                  </a:cubicBezTo>
                  <a:lnTo>
                    <a:pt x="49310" y="2167467"/>
                  </a:lnTo>
                  <a:cubicBezTo>
                    <a:pt x="36232" y="2167467"/>
                    <a:pt x="23690" y="2162272"/>
                    <a:pt x="14442" y="2153024"/>
                  </a:cubicBezTo>
                  <a:cubicBezTo>
                    <a:pt x="5195" y="2143777"/>
                    <a:pt x="0" y="2131235"/>
                    <a:pt x="0" y="2118157"/>
                  </a:cubicBezTo>
                  <a:lnTo>
                    <a:pt x="0" y="49310"/>
                  </a:lnTo>
                  <a:cubicBezTo>
                    <a:pt x="0" y="22077"/>
                    <a:pt x="22077" y="0"/>
                    <a:pt x="49310" y="0"/>
                  </a:cubicBezTo>
                  <a:close/>
                </a:path>
              </a:pathLst>
            </a:custGeom>
            <a:solidFill>
              <a:srgbClr val="5F519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36" name="Google Shape;236;p31"/>
            <p:cNvSpPr txBox="1"/>
            <p:nvPr/>
          </p:nvSpPr>
          <p:spPr>
            <a:xfrm>
              <a:off x="0" y="-38100"/>
              <a:ext cx="2067567"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37" name="Google Shape;237;p31"/>
          <p:cNvSpPr txBox="1"/>
          <p:nvPr/>
        </p:nvSpPr>
        <p:spPr>
          <a:xfrm>
            <a:off x="464125" y="116025"/>
            <a:ext cx="3914100" cy="1920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3900" u="none" cap="none" strike="noStrike">
                <a:solidFill>
                  <a:srgbClr val="F2F5F8"/>
                </a:solidFill>
                <a:latin typeface="Arial"/>
                <a:ea typeface="Arial"/>
                <a:cs typeface="Arial"/>
                <a:sym typeface="Arial"/>
              </a:rPr>
              <a:t>Physical Activity vs Sleep Duration</a:t>
            </a:r>
            <a:endParaRPr sz="700"/>
          </a:p>
        </p:txBody>
      </p:sp>
      <p:sp>
        <p:nvSpPr>
          <p:cNvPr id="238" name="Google Shape;238;p31"/>
          <p:cNvSpPr/>
          <p:nvPr/>
        </p:nvSpPr>
        <p:spPr>
          <a:xfrm>
            <a:off x="4897389" y="4483373"/>
            <a:ext cx="697639"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239" name="Google Shape;239;p31"/>
          <p:cNvSpPr/>
          <p:nvPr/>
        </p:nvSpPr>
        <p:spPr>
          <a:xfrm flipH="1" rot="-6271813">
            <a:off x="8494353" y="376978"/>
            <a:ext cx="515142" cy="274743"/>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4">
              <a:alphaModFix/>
            </a:blip>
            <a:stretch>
              <a:fillRect b="0" l="0" r="0" t="0"/>
            </a:stretch>
          </a:blipFill>
          <a:ln>
            <a:noFill/>
          </a:ln>
        </p:spPr>
      </p:sp>
      <p:sp>
        <p:nvSpPr>
          <p:cNvPr id="240" name="Google Shape;240;p31"/>
          <p:cNvSpPr/>
          <p:nvPr/>
        </p:nvSpPr>
        <p:spPr>
          <a:xfrm>
            <a:off x="4310803" y="514350"/>
            <a:ext cx="235414" cy="183231"/>
          </a:xfrm>
          <a:custGeom>
            <a:rect b="b" l="l" r="r" t="t"/>
            <a:pathLst>
              <a:path extrusionOk="0" h="366462" w="470829">
                <a:moveTo>
                  <a:pt x="0" y="0"/>
                </a:moveTo>
                <a:lnTo>
                  <a:pt x="470830" y="0"/>
                </a:lnTo>
                <a:lnTo>
                  <a:pt x="470830" y="366462"/>
                </a:lnTo>
                <a:lnTo>
                  <a:pt x="0" y="366462"/>
                </a:lnTo>
                <a:lnTo>
                  <a:pt x="0" y="0"/>
                </a:lnTo>
                <a:close/>
              </a:path>
            </a:pathLst>
          </a:custGeom>
          <a:blipFill rotWithShape="1">
            <a:blip r:embed="rId5">
              <a:alphaModFix/>
            </a:blip>
            <a:stretch>
              <a:fillRect b="0" l="0" r="0" t="0"/>
            </a:stretch>
          </a:blipFill>
          <a:ln>
            <a:noFill/>
          </a:ln>
        </p:spPr>
      </p:sp>
      <p:sp>
        <p:nvSpPr>
          <p:cNvPr id="241" name="Google Shape;241;p31"/>
          <p:cNvSpPr/>
          <p:nvPr/>
        </p:nvSpPr>
        <p:spPr>
          <a:xfrm>
            <a:off x="8751924" y="344911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242" name="Google Shape;242;p31"/>
          <p:cNvSpPr txBox="1"/>
          <p:nvPr/>
        </p:nvSpPr>
        <p:spPr>
          <a:xfrm>
            <a:off x="202650" y="2028125"/>
            <a:ext cx="4250100" cy="1501200"/>
          </a:xfrm>
          <a:prstGeom prst="rect">
            <a:avLst/>
          </a:prstGeom>
          <a:noFill/>
          <a:ln>
            <a:noFill/>
          </a:ln>
        </p:spPr>
        <p:txBody>
          <a:bodyPr anchorCtr="0" anchor="t" bIns="0" lIns="0" spcFirstLastPara="1" rIns="0" wrap="square" tIns="0">
            <a:spAutoFit/>
          </a:bodyPr>
          <a:lstStyle/>
          <a:p>
            <a:pPr indent="0" lvl="0" marL="0" marR="0" rtl="0" algn="ctr">
              <a:lnSpc>
                <a:spcPct val="110027"/>
              </a:lnSpc>
              <a:spcBef>
                <a:spcPts val="0"/>
              </a:spcBef>
              <a:spcAft>
                <a:spcPts val="0"/>
              </a:spcAft>
              <a:buNone/>
            </a:pPr>
            <a:r>
              <a:rPr b="1" lang="en" sz="1500">
                <a:solidFill>
                  <a:srgbClr val="F2F5F8"/>
                </a:solidFill>
              </a:rPr>
              <a:t>The graph suggests that sleep duration does not change drastically across activity levels. People with low, medium, and high physical activity all tend to sleep roughly the same amount, with only small differences between groups.</a:t>
            </a:r>
            <a:endParaRPr sz="700"/>
          </a:p>
        </p:txBody>
      </p:sp>
      <p:pic>
        <p:nvPicPr>
          <p:cNvPr id="243" name="Google Shape;243;p31"/>
          <p:cNvPicPr preferRelativeResize="0"/>
          <p:nvPr/>
        </p:nvPicPr>
        <p:blipFill>
          <a:blip r:embed="rId6">
            <a:alphaModFix/>
          </a:blip>
          <a:stretch>
            <a:fillRect/>
          </a:stretch>
        </p:blipFill>
        <p:spPr>
          <a:xfrm>
            <a:off x="4704500" y="1266859"/>
            <a:ext cx="4083224" cy="2747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247" name="Shape 247"/>
        <p:cNvGrpSpPr/>
        <p:nvPr/>
      </p:nvGrpSpPr>
      <p:grpSpPr>
        <a:xfrm>
          <a:off x="0" y="0"/>
          <a:ext cx="0" cy="0"/>
          <a:chOff x="0" y="0"/>
          <a:chExt cx="0" cy="0"/>
        </a:xfrm>
      </p:grpSpPr>
      <p:grpSp>
        <p:nvGrpSpPr>
          <p:cNvPr id="248" name="Google Shape;248;p32"/>
          <p:cNvGrpSpPr/>
          <p:nvPr/>
        </p:nvGrpSpPr>
        <p:grpSpPr>
          <a:xfrm>
            <a:off x="4704502" y="442020"/>
            <a:ext cx="3925148" cy="4187130"/>
            <a:chOff x="0" y="-38100"/>
            <a:chExt cx="2067567" cy="2205567"/>
          </a:xfrm>
        </p:grpSpPr>
        <p:sp>
          <p:nvSpPr>
            <p:cNvPr id="249" name="Google Shape;249;p32"/>
            <p:cNvSpPr/>
            <p:nvPr/>
          </p:nvSpPr>
          <p:spPr>
            <a:xfrm>
              <a:off x="0" y="0"/>
              <a:ext cx="2067567" cy="2167467"/>
            </a:xfrm>
            <a:custGeom>
              <a:rect b="b" l="l" r="r" t="t"/>
              <a:pathLst>
                <a:path extrusionOk="0" h="2167467" w="2067567">
                  <a:moveTo>
                    <a:pt x="49310" y="0"/>
                  </a:moveTo>
                  <a:lnTo>
                    <a:pt x="2018258" y="0"/>
                  </a:lnTo>
                  <a:cubicBezTo>
                    <a:pt x="2031336" y="0"/>
                    <a:pt x="2043878" y="5195"/>
                    <a:pt x="2053125" y="14442"/>
                  </a:cubicBezTo>
                  <a:cubicBezTo>
                    <a:pt x="2062372" y="23690"/>
                    <a:pt x="2067567" y="36232"/>
                    <a:pt x="2067567" y="49310"/>
                  </a:cubicBezTo>
                  <a:lnTo>
                    <a:pt x="2067567" y="2118157"/>
                  </a:lnTo>
                  <a:cubicBezTo>
                    <a:pt x="2067567" y="2145390"/>
                    <a:pt x="2045491" y="2167467"/>
                    <a:pt x="2018258" y="2167467"/>
                  </a:cubicBezTo>
                  <a:lnTo>
                    <a:pt x="49310" y="2167467"/>
                  </a:lnTo>
                  <a:cubicBezTo>
                    <a:pt x="36232" y="2167467"/>
                    <a:pt x="23690" y="2162272"/>
                    <a:pt x="14442" y="2153024"/>
                  </a:cubicBezTo>
                  <a:cubicBezTo>
                    <a:pt x="5195" y="2143777"/>
                    <a:pt x="0" y="2131235"/>
                    <a:pt x="0" y="2118157"/>
                  </a:cubicBezTo>
                  <a:lnTo>
                    <a:pt x="0" y="49310"/>
                  </a:lnTo>
                  <a:cubicBezTo>
                    <a:pt x="0" y="22077"/>
                    <a:pt x="22077" y="0"/>
                    <a:pt x="49310" y="0"/>
                  </a:cubicBezTo>
                  <a:close/>
                </a:path>
              </a:pathLst>
            </a:custGeom>
            <a:solidFill>
              <a:srgbClr val="5F5193"/>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50" name="Google Shape;250;p32"/>
            <p:cNvSpPr txBox="1"/>
            <p:nvPr/>
          </p:nvSpPr>
          <p:spPr>
            <a:xfrm>
              <a:off x="0" y="-38100"/>
              <a:ext cx="2067567" cy="2205567"/>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51" name="Google Shape;251;p32"/>
          <p:cNvSpPr txBox="1"/>
          <p:nvPr/>
        </p:nvSpPr>
        <p:spPr>
          <a:xfrm>
            <a:off x="514350" y="557213"/>
            <a:ext cx="3914161" cy="1222057"/>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 sz="4300" u="none" cap="none" strike="noStrike">
                <a:solidFill>
                  <a:srgbClr val="F2F5F8"/>
                </a:solidFill>
                <a:latin typeface="Arial"/>
                <a:ea typeface="Arial"/>
                <a:cs typeface="Arial"/>
                <a:sym typeface="Arial"/>
              </a:rPr>
              <a:t> Age vs Sleep Duration</a:t>
            </a:r>
            <a:endParaRPr sz="700"/>
          </a:p>
        </p:txBody>
      </p:sp>
      <p:sp>
        <p:nvSpPr>
          <p:cNvPr id="252" name="Google Shape;252;p32"/>
          <p:cNvSpPr/>
          <p:nvPr/>
        </p:nvSpPr>
        <p:spPr>
          <a:xfrm>
            <a:off x="4897389" y="4483373"/>
            <a:ext cx="697639"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4">
              <a:alphaModFix/>
            </a:blip>
            <a:stretch>
              <a:fillRect b="0" l="0" r="0" t="0"/>
            </a:stretch>
          </a:blipFill>
          <a:ln>
            <a:noFill/>
          </a:ln>
        </p:spPr>
      </p:sp>
      <p:sp>
        <p:nvSpPr>
          <p:cNvPr id="253" name="Google Shape;253;p32"/>
          <p:cNvSpPr/>
          <p:nvPr/>
        </p:nvSpPr>
        <p:spPr>
          <a:xfrm flipH="1" rot="-6271813">
            <a:off x="8494353" y="376978"/>
            <a:ext cx="515142" cy="274743"/>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
        <p:nvSpPr>
          <p:cNvPr id="254" name="Google Shape;254;p32"/>
          <p:cNvSpPr/>
          <p:nvPr/>
        </p:nvSpPr>
        <p:spPr>
          <a:xfrm>
            <a:off x="4310803" y="514350"/>
            <a:ext cx="235414" cy="183231"/>
          </a:xfrm>
          <a:custGeom>
            <a:rect b="b" l="l" r="r" t="t"/>
            <a:pathLst>
              <a:path extrusionOk="0" h="366462" w="470829">
                <a:moveTo>
                  <a:pt x="0" y="0"/>
                </a:moveTo>
                <a:lnTo>
                  <a:pt x="470830" y="0"/>
                </a:lnTo>
                <a:lnTo>
                  <a:pt x="470830" y="366462"/>
                </a:lnTo>
                <a:lnTo>
                  <a:pt x="0" y="366462"/>
                </a:lnTo>
                <a:lnTo>
                  <a:pt x="0" y="0"/>
                </a:lnTo>
                <a:close/>
              </a:path>
            </a:pathLst>
          </a:custGeom>
          <a:blipFill rotWithShape="1">
            <a:blip r:embed="rId6">
              <a:alphaModFix/>
            </a:blip>
            <a:stretch>
              <a:fillRect b="0" l="0" r="0" t="0"/>
            </a:stretch>
          </a:blipFill>
          <a:ln>
            <a:noFill/>
          </a:ln>
        </p:spPr>
      </p:sp>
      <p:sp>
        <p:nvSpPr>
          <p:cNvPr id="255" name="Google Shape;255;p32"/>
          <p:cNvSpPr/>
          <p:nvPr/>
        </p:nvSpPr>
        <p:spPr>
          <a:xfrm>
            <a:off x="8751924" y="344911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6">
              <a:alphaModFix/>
            </a:blip>
            <a:stretch>
              <a:fillRect b="0" l="0" r="0" t="0"/>
            </a:stretch>
          </a:blipFill>
          <a:ln>
            <a:noFill/>
          </a:ln>
        </p:spPr>
      </p:sp>
      <p:sp>
        <p:nvSpPr>
          <p:cNvPr id="256" name="Google Shape;256;p32"/>
          <p:cNvSpPr txBox="1"/>
          <p:nvPr/>
        </p:nvSpPr>
        <p:spPr>
          <a:xfrm>
            <a:off x="514350" y="2203450"/>
            <a:ext cx="3378300" cy="2349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
                <a:solidFill>
                  <a:srgbClr val="F2F5F8"/>
                </a:solidFill>
              </a:rPr>
              <a:t>The bar chart shows the average sleep duration for three age groups: Young Adults (27–35), Middle Adults (36–45), and Older Adults (46+). Older Adults have the highest average sleep duration, followed closely by Middle Adults. Young Adults sleep slightly less on average. Overall, sleep duration increases slightly with age in this dataset.</a:t>
            </a:r>
            <a:endParaRPr sz="300"/>
          </a:p>
        </p:txBody>
      </p:sp>
      <p:pic>
        <p:nvPicPr>
          <p:cNvPr id="257" name="Google Shape;257;p32"/>
          <p:cNvPicPr preferRelativeResize="0"/>
          <p:nvPr/>
        </p:nvPicPr>
        <p:blipFill>
          <a:blip r:embed="rId7">
            <a:alphaModFix/>
          </a:blip>
          <a:stretch>
            <a:fillRect/>
          </a:stretch>
        </p:blipFill>
        <p:spPr>
          <a:xfrm>
            <a:off x="4720666" y="966271"/>
            <a:ext cx="3739083" cy="2772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261" name="Shape 261"/>
        <p:cNvGrpSpPr/>
        <p:nvPr/>
      </p:nvGrpSpPr>
      <p:grpSpPr>
        <a:xfrm>
          <a:off x="0" y="0"/>
          <a:ext cx="0" cy="0"/>
          <a:chOff x="0" y="0"/>
          <a:chExt cx="0" cy="0"/>
        </a:xfrm>
      </p:grpSpPr>
      <p:grpSp>
        <p:nvGrpSpPr>
          <p:cNvPr id="262" name="Google Shape;262;p33"/>
          <p:cNvGrpSpPr/>
          <p:nvPr/>
        </p:nvGrpSpPr>
        <p:grpSpPr>
          <a:xfrm>
            <a:off x="514350" y="514350"/>
            <a:ext cx="434835" cy="434835"/>
            <a:chOff x="0" y="0"/>
            <a:chExt cx="812800" cy="812800"/>
          </a:xfrm>
        </p:grpSpPr>
        <p:sp>
          <p:nvSpPr>
            <p:cNvPr id="263" name="Google Shape;263;p3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64" name="Google Shape;264;p33"/>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65" name="Google Shape;265;p33"/>
          <p:cNvSpPr txBox="1"/>
          <p:nvPr/>
        </p:nvSpPr>
        <p:spPr>
          <a:xfrm>
            <a:off x="1536687" y="561975"/>
            <a:ext cx="6070626" cy="633411"/>
          </a:xfrm>
          <a:prstGeom prst="rect">
            <a:avLst/>
          </a:prstGeom>
          <a:noFill/>
          <a:ln>
            <a:noFill/>
          </a:ln>
        </p:spPr>
        <p:txBody>
          <a:bodyPr anchorCtr="0" anchor="t" bIns="0" lIns="0" spcFirstLastPara="1" rIns="0" wrap="square" tIns="0">
            <a:spAutoFit/>
          </a:bodyPr>
          <a:lstStyle/>
          <a:p>
            <a:pPr indent="0" lvl="0" marL="0" marR="0" rtl="0" algn="ctr">
              <a:lnSpc>
                <a:spcPct val="110001"/>
              </a:lnSpc>
              <a:spcBef>
                <a:spcPts val="0"/>
              </a:spcBef>
              <a:spcAft>
                <a:spcPts val="0"/>
              </a:spcAft>
              <a:buNone/>
            </a:pPr>
            <a:r>
              <a:rPr b="1" i="0" lang="en" sz="4500" u="none" cap="none" strike="noStrike">
                <a:solidFill>
                  <a:srgbClr val="F2F5F8"/>
                </a:solidFill>
                <a:latin typeface="Arial"/>
                <a:ea typeface="Arial"/>
                <a:cs typeface="Arial"/>
                <a:sym typeface="Arial"/>
              </a:rPr>
              <a:t>Progress Slide</a:t>
            </a:r>
            <a:endParaRPr sz="700"/>
          </a:p>
        </p:txBody>
      </p:sp>
      <p:sp>
        <p:nvSpPr>
          <p:cNvPr id="266" name="Google Shape;266;p33"/>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267" name="Google Shape;267;p33"/>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268" name="Google Shape;268;p33"/>
          <p:cNvSpPr/>
          <p:nvPr/>
        </p:nvSpPr>
        <p:spPr>
          <a:xfrm rot="-9569560">
            <a:off x="7254166" y="592914"/>
            <a:ext cx="515143" cy="27474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5">
              <a:alphaModFix/>
            </a:blip>
            <a:stretch>
              <a:fillRect b="0" l="0" r="0" t="0"/>
            </a:stretch>
          </a:blipFill>
          <a:ln>
            <a:noFill/>
          </a:ln>
        </p:spPr>
      </p:sp>
      <p:sp>
        <p:nvSpPr>
          <p:cNvPr id="269" name="Google Shape;269;p33"/>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270" name="Google Shape;270;p33"/>
          <p:cNvSpPr/>
          <p:nvPr/>
        </p:nvSpPr>
        <p:spPr>
          <a:xfrm flipH="1" rot="10000619">
            <a:off x="763570" y="2012485"/>
            <a:ext cx="515142" cy="274743"/>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grpSp>
        <p:nvGrpSpPr>
          <p:cNvPr id="271" name="Google Shape;271;p33"/>
          <p:cNvGrpSpPr/>
          <p:nvPr/>
        </p:nvGrpSpPr>
        <p:grpSpPr>
          <a:xfrm>
            <a:off x="731398" y="1286772"/>
            <a:ext cx="2490107" cy="863085"/>
            <a:chOff x="0" y="-38100"/>
            <a:chExt cx="1311661" cy="454629"/>
          </a:xfrm>
        </p:grpSpPr>
        <p:sp>
          <p:nvSpPr>
            <p:cNvPr id="272" name="Google Shape;272;p33"/>
            <p:cNvSpPr/>
            <p:nvPr/>
          </p:nvSpPr>
          <p:spPr>
            <a:xfrm>
              <a:off x="0" y="0"/>
              <a:ext cx="1311661" cy="416529"/>
            </a:xfrm>
            <a:custGeom>
              <a:rect b="b" l="l" r="r" t="t"/>
              <a:pathLst>
                <a:path extrusionOk="0" h="416529" w="1311661">
                  <a:moveTo>
                    <a:pt x="77727" y="0"/>
                  </a:moveTo>
                  <a:lnTo>
                    <a:pt x="1233935" y="0"/>
                  </a:lnTo>
                  <a:cubicBezTo>
                    <a:pt x="1254549" y="0"/>
                    <a:pt x="1274319" y="8189"/>
                    <a:pt x="1288896" y="22766"/>
                  </a:cubicBezTo>
                  <a:cubicBezTo>
                    <a:pt x="1303472" y="37342"/>
                    <a:pt x="1311661" y="57112"/>
                    <a:pt x="1311661" y="77727"/>
                  </a:cubicBezTo>
                  <a:lnTo>
                    <a:pt x="1311661" y="338802"/>
                  </a:lnTo>
                  <a:cubicBezTo>
                    <a:pt x="1311661" y="381730"/>
                    <a:pt x="1276862" y="416529"/>
                    <a:pt x="1233935" y="416529"/>
                  </a:cubicBezTo>
                  <a:lnTo>
                    <a:pt x="77727" y="416529"/>
                  </a:lnTo>
                  <a:cubicBezTo>
                    <a:pt x="34799" y="416529"/>
                    <a:pt x="0" y="381730"/>
                    <a:pt x="0" y="338802"/>
                  </a:cubicBezTo>
                  <a:lnTo>
                    <a:pt x="0" y="77727"/>
                  </a:lnTo>
                  <a:cubicBezTo>
                    <a:pt x="0" y="34799"/>
                    <a:pt x="34799" y="0"/>
                    <a:pt x="77727"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3" name="Google Shape;273;p33"/>
            <p:cNvSpPr txBox="1"/>
            <p:nvPr/>
          </p:nvSpPr>
          <p:spPr>
            <a:xfrm>
              <a:off x="0" y="-38100"/>
              <a:ext cx="1311661" cy="454629"/>
            </a:xfrm>
            <a:prstGeom prst="rect">
              <a:avLst/>
            </a:prstGeom>
            <a:noFill/>
            <a:ln>
              <a:noFill/>
            </a:ln>
          </p:spPr>
          <p:txBody>
            <a:bodyPr anchorCtr="0" anchor="ctr" bIns="25400" lIns="25400" spcFirstLastPara="1" rIns="25400" wrap="square" tIns="25400">
              <a:noAutofit/>
            </a:bodyPr>
            <a:lstStyle/>
            <a:p>
              <a:pPr indent="0" lvl="0" marL="0" marR="0" rtl="0" algn="ctr">
                <a:lnSpc>
                  <a:spcPct val="140016"/>
                </a:lnSpc>
                <a:spcBef>
                  <a:spcPts val="0"/>
                </a:spcBef>
                <a:spcAft>
                  <a:spcPts val="0"/>
                </a:spcAft>
                <a:buNone/>
              </a:pPr>
              <a:r>
                <a:rPr b="0" i="0" lang="en" sz="1200" u="none" cap="none" strike="noStrike">
                  <a:solidFill>
                    <a:srgbClr val="F2F5F8"/>
                  </a:solidFill>
                  <a:latin typeface="Arial"/>
                  <a:ea typeface="Arial"/>
                  <a:cs typeface="Arial"/>
                  <a:sym typeface="Arial"/>
                </a:rPr>
                <a:t>What I accomplished this week:</a:t>
              </a:r>
              <a:endParaRPr sz="700"/>
            </a:p>
          </p:txBody>
        </p:sp>
      </p:grpSp>
      <p:grpSp>
        <p:nvGrpSpPr>
          <p:cNvPr id="274" name="Google Shape;274;p33"/>
          <p:cNvGrpSpPr/>
          <p:nvPr/>
        </p:nvGrpSpPr>
        <p:grpSpPr>
          <a:xfrm>
            <a:off x="3567301" y="1286772"/>
            <a:ext cx="2490107" cy="863085"/>
            <a:chOff x="0" y="-38100"/>
            <a:chExt cx="1311661" cy="454629"/>
          </a:xfrm>
        </p:grpSpPr>
        <p:sp>
          <p:nvSpPr>
            <p:cNvPr id="275" name="Google Shape;275;p33"/>
            <p:cNvSpPr/>
            <p:nvPr/>
          </p:nvSpPr>
          <p:spPr>
            <a:xfrm>
              <a:off x="0" y="0"/>
              <a:ext cx="1311661" cy="416529"/>
            </a:xfrm>
            <a:custGeom>
              <a:rect b="b" l="l" r="r" t="t"/>
              <a:pathLst>
                <a:path extrusionOk="0" h="416529" w="1311661">
                  <a:moveTo>
                    <a:pt x="77727" y="0"/>
                  </a:moveTo>
                  <a:lnTo>
                    <a:pt x="1233935" y="0"/>
                  </a:lnTo>
                  <a:cubicBezTo>
                    <a:pt x="1254549" y="0"/>
                    <a:pt x="1274319" y="8189"/>
                    <a:pt x="1288896" y="22766"/>
                  </a:cubicBezTo>
                  <a:cubicBezTo>
                    <a:pt x="1303472" y="37342"/>
                    <a:pt x="1311661" y="57112"/>
                    <a:pt x="1311661" y="77727"/>
                  </a:cubicBezTo>
                  <a:lnTo>
                    <a:pt x="1311661" y="338802"/>
                  </a:lnTo>
                  <a:cubicBezTo>
                    <a:pt x="1311661" y="381730"/>
                    <a:pt x="1276862" y="416529"/>
                    <a:pt x="1233935" y="416529"/>
                  </a:cubicBezTo>
                  <a:lnTo>
                    <a:pt x="77727" y="416529"/>
                  </a:lnTo>
                  <a:cubicBezTo>
                    <a:pt x="34799" y="416529"/>
                    <a:pt x="0" y="381730"/>
                    <a:pt x="0" y="338802"/>
                  </a:cubicBezTo>
                  <a:lnTo>
                    <a:pt x="0" y="77727"/>
                  </a:lnTo>
                  <a:cubicBezTo>
                    <a:pt x="0" y="34799"/>
                    <a:pt x="34799" y="0"/>
                    <a:pt x="77727"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76" name="Google Shape;276;p33"/>
            <p:cNvSpPr txBox="1"/>
            <p:nvPr/>
          </p:nvSpPr>
          <p:spPr>
            <a:xfrm>
              <a:off x="0" y="-38100"/>
              <a:ext cx="1311661" cy="454629"/>
            </a:xfrm>
            <a:prstGeom prst="rect">
              <a:avLst/>
            </a:prstGeom>
            <a:noFill/>
            <a:ln>
              <a:noFill/>
            </a:ln>
          </p:spPr>
          <p:txBody>
            <a:bodyPr anchorCtr="0" anchor="ctr" bIns="25400" lIns="25400" spcFirstLastPara="1" rIns="25400" wrap="square" tIns="25400">
              <a:noAutofit/>
            </a:bodyPr>
            <a:lstStyle/>
            <a:p>
              <a:pPr indent="0" lvl="0" marL="0" marR="0" rtl="0" algn="ctr">
                <a:lnSpc>
                  <a:spcPct val="140016"/>
                </a:lnSpc>
                <a:spcBef>
                  <a:spcPts val="0"/>
                </a:spcBef>
                <a:spcAft>
                  <a:spcPts val="0"/>
                </a:spcAft>
                <a:buNone/>
              </a:pPr>
              <a:r>
                <a:rPr b="0" i="0" lang="en" sz="1200" u="none" cap="none" strike="noStrike">
                  <a:solidFill>
                    <a:srgbClr val="F2F5F8"/>
                  </a:solidFill>
                  <a:latin typeface="Arial"/>
                  <a:ea typeface="Arial"/>
                  <a:cs typeface="Arial"/>
                  <a:sym typeface="Arial"/>
                </a:rPr>
                <a:t>Plan for next week:</a:t>
              </a:r>
              <a:endParaRPr sz="700"/>
            </a:p>
          </p:txBody>
        </p:sp>
      </p:grpSp>
      <p:sp>
        <p:nvSpPr>
          <p:cNvPr id="277" name="Google Shape;277;p33"/>
          <p:cNvSpPr txBox="1"/>
          <p:nvPr/>
        </p:nvSpPr>
        <p:spPr>
          <a:xfrm>
            <a:off x="845342" y="2199527"/>
            <a:ext cx="2558787" cy="753281"/>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None/>
            </a:pPr>
            <a:r>
              <a:rPr b="0" i="0" lang="en" sz="1100" u="none" cap="none" strike="noStrike">
                <a:solidFill>
                  <a:srgbClr val="FFFFFF"/>
                </a:solidFill>
                <a:latin typeface="Arial"/>
                <a:ea typeface="Arial"/>
                <a:cs typeface="Arial"/>
                <a:sym typeface="Arial"/>
              </a:rPr>
              <a:t>Created three new data insight graphs (Stress vs Sleep Quality, Physical Activity vs Sleep Duration, Age vs Sleep Duration).</a:t>
            </a:r>
            <a:endParaRPr sz="700"/>
          </a:p>
        </p:txBody>
      </p:sp>
      <p:sp>
        <p:nvSpPr>
          <p:cNvPr id="278" name="Google Shape;278;p33"/>
          <p:cNvSpPr txBox="1"/>
          <p:nvPr/>
        </p:nvSpPr>
        <p:spPr>
          <a:xfrm>
            <a:off x="3567301" y="2194765"/>
            <a:ext cx="2772557" cy="1041083"/>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Making sure I am staying on top of my work </a:t>
            </a:r>
            <a:endParaRPr sz="700"/>
          </a:p>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and when I need to submit everything. Also, looking </a:t>
            </a:r>
            <a:endParaRPr sz="700"/>
          </a:p>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at any feedback I may have gotten.</a:t>
            </a:r>
            <a:endParaRPr sz="700"/>
          </a:p>
        </p:txBody>
      </p:sp>
      <p:sp>
        <p:nvSpPr>
          <p:cNvPr id="279" name="Google Shape;279;p33"/>
          <p:cNvSpPr txBox="1"/>
          <p:nvPr/>
        </p:nvSpPr>
        <p:spPr>
          <a:xfrm>
            <a:off x="6501783" y="2123209"/>
            <a:ext cx="2570194" cy="15208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Deciding which insights are the strongest for the final submission.</a:t>
            </a:r>
            <a:endParaRPr sz="700"/>
          </a:p>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Resources I used</a:t>
            </a:r>
            <a:endParaRPr sz="700"/>
          </a:p>
          <a:p>
            <a:pPr indent="-127000" lvl="1" marL="266700" marR="0" rtl="0" algn="ctr">
              <a:lnSpc>
                <a:spcPct val="140016"/>
              </a:lnSpc>
              <a:spcBef>
                <a:spcPts val="0"/>
              </a:spcBef>
              <a:spcAft>
                <a:spcPts val="0"/>
              </a:spcAft>
              <a:buClr>
                <a:srgbClr val="FFFFFF"/>
              </a:buClr>
              <a:buSzPts val="1200"/>
              <a:buFont typeface="Arial"/>
              <a:buChar char="•"/>
            </a:pPr>
            <a:r>
              <a:rPr b="0" i="0" lang="en" sz="1200" u="none" cap="none" strike="noStrike">
                <a:solidFill>
                  <a:srgbClr val="FFFFFF"/>
                </a:solidFill>
                <a:latin typeface="Arial"/>
                <a:ea typeface="Arial"/>
                <a:cs typeface="Arial"/>
                <a:sym typeface="Arial"/>
              </a:rPr>
              <a:t>JupyterLab </a:t>
            </a:r>
            <a:endParaRPr sz="700"/>
          </a:p>
          <a:p>
            <a:pPr indent="-127000" lvl="1" marL="266700" marR="0" rtl="0" algn="ctr">
              <a:lnSpc>
                <a:spcPct val="140016"/>
              </a:lnSpc>
              <a:spcBef>
                <a:spcPts val="0"/>
              </a:spcBef>
              <a:spcAft>
                <a:spcPts val="0"/>
              </a:spcAft>
              <a:buClr>
                <a:srgbClr val="FFFFFF"/>
              </a:buClr>
              <a:buSzPts val="1200"/>
              <a:buFont typeface="Arial"/>
              <a:buChar char="•"/>
            </a:pPr>
            <a:r>
              <a:rPr b="0" i="0" lang="en" sz="1200" u="none" cap="none" strike="noStrike">
                <a:solidFill>
                  <a:srgbClr val="FFFFFF"/>
                </a:solidFill>
                <a:latin typeface="Arial"/>
                <a:ea typeface="Arial"/>
                <a:cs typeface="Arial"/>
                <a:sym typeface="Arial"/>
              </a:rPr>
              <a:t>Class lecture slides + Blackboard instructions</a:t>
            </a:r>
            <a:endParaRPr sz="700"/>
          </a:p>
          <a:p>
            <a:pPr indent="0" lvl="0" marL="0" marR="0" rtl="0" algn="ctr">
              <a:lnSpc>
                <a:spcPct val="140016"/>
              </a:lnSpc>
              <a:spcBef>
                <a:spcPts val="0"/>
              </a:spcBef>
              <a:spcAft>
                <a:spcPts val="0"/>
              </a:spcAft>
              <a:buNone/>
            </a:pPr>
            <a:r>
              <a:t/>
            </a:r>
            <a:endParaRPr b="0" i="0" sz="1200" u="none" cap="none" strike="noStrike">
              <a:solidFill>
                <a:srgbClr val="FFFFFF"/>
              </a:solidFill>
              <a:latin typeface="Arial"/>
              <a:ea typeface="Arial"/>
              <a:cs typeface="Arial"/>
              <a:sym typeface="Arial"/>
            </a:endParaRPr>
          </a:p>
        </p:txBody>
      </p:sp>
      <p:grpSp>
        <p:nvGrpSpPr>
          <p:cNvPr id="280" name="Google Shape;280;p33"/>
          <p:cNvGrpSpPr/>
          <p:nvPr/>
        </p:nvGrpSpPr>
        <p:grpSpPr>
          <a:xfrm>
            <a:off x="6405071" y="1279174"/>
            <a:ext cx="2490107" cy="863085"/>
            <a:chOff x="0" y="-38100"/>
            <a:chExt cx="1311661" cy="454629"/>
          </a:xfrm>
        </p:grpSpPr>
        <p:sp>
          <p:nvSpPr>
            <p:cNvPr id="281" name="Google Shape;281;p33"/>
            <p:cNvSpPr/>
            <p:nvPr/>
          </p:nvSpPr>
          <p:spPr>
            <a:xfrm>
              <a:off x="0" y="0"/>
              <a:ext cx="1311661" cy="416529"/>
            </a:xfrm>
            <a:custGeom>
              <a:rect b="b" l="l" r="r" t="t"/>
              <a:pathLst>
                <a:path extrusionOk="0" h="416529" w="1311661">
                  <a:moveTo>
                    <a:pt x="77727" y="0"/>
                  </a:moveTo>
                  <a:lnTo>
                    <a:pt x="1233935" y="0"/>
                  </a:lnTo>
                  <a:cubicBezTo>
                    <a:pt x="1254549" y="0"/>
                    <a:pt x="1274319" y="8189"/>
                    <a:pt x="1288896" y="22766"/>
                  </a:cubicBezTo>
                  <a:cubicBezTo>
                    <a:pt x="1303472" y="37342"/>
                    <a:pt x="1311661" y="57112"/>
                    <a:pt x="1311661" y="77727"/>
                  </a:cubicBezTo>
                  <a:lnTo>
                    <a:pt x="1311661" y="338802"/>
                  </a:lnTo>
                  <a:cubicBezTo>
                    <a:pt x="1311661" y="381730"/>
                    <a:pt x="1276862" y="416529"/>
                    <a:pt x="1233935" y="416529"/>
                  </a:cubicBezTo>
                  <a:lnTo>
                    <a:pt x="77727" y="416529"/>
                  </a:lnTo>
                  <a:cubicBezTo>
                    <a:pt x="34799" y="416529"/>
                    <a:pt x="0" y="381730"/>
                    <a:pt x="0" y="338802"/>
                  </a:cubicBezTo>
                  <a:lnTo>
                    <a:pt x="0" y="77727"/>
                  </a:lnTo>
                  <a:cubicBezTo>
                    <a:pt x="0" y="34799"/>
                    <a:pt x="34799" y="0"/>
                    <a:pt x="77727"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82" name="Google Shape;282;p33"/>
            <p:cNvSpPr txBox="1"/>
            <p:nvPr/>
          </p:nvSpPr>
          <p:spPr>
            <a:xfrm>
              <a:off x="0" y="-38100"/>
              <a:ext cx="1311661" cy="454629"/>
            </a:xfrm>
            <a:prstGeom prst="rect">
              <a:avLst/>
            </a:prstGeom>
            <a:noFill/>
            <a:ln>
              <a:noFill/>
            </a:ln>
          </p:spPr>
          <p:txBody>
            <a:bodyPr anchorCtr="0" anchor="ctr" bIns="25400" lIns="25400" spcFirstLastPara="1" rIns="25400" wrap="square" tIns="25400">
              <a:noAutofit/>
            </a:bodyPr>
            <a:lstStyle/>
            <a:p>
              <a:pPr indent="0" lvl="0" marL="0" marR="0" rtl="0" algn="ctr">
                <a:lnSpc>
                  <a:spcPct val="140016"/>
                </a:lnSpc>
                <a:spcBef>
                  <a:spcPts val="0"/>
                </a:spcBef>
                <a:spcAft>
                  <a:spcPts val="0"/>
                </a:spcAft>
                <a:buNone/>
              </a:pPr>
              <a:r>
                <a:rPr lang="en" sz="1200">
                  <a:solidFill>
                    <a:srgbClr val="F2F5F8"/>
                  </a:solidFill>
                </a:rPr>
                <a:t>Obstacles</a:t>
              </a:r>
              <a:r>
                <a:rPr b="0" i="0" lang="en" sz="1200" u="none" cap="none" strike="noStrike">
                  <a:solidFill>
                    <a:srgbClr val="F2F5F8"/>
                  </a:solidFill>
                  <a:latin typeface="Arial"/>
                  <a:ea typeface="Arial"/>
                  <a:cs typeface="Arial"/>
                  <a:sym typeface="Arial"/>
                </a:rPr>
                <a:t> and resources </a:t>
              </a:r>
              <a:endParaRPr sz="700"/>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286" name="Shape 286"/>
        <p:cNvGrpSpPr/>
        <p:nvPr/>
      </p:nvGrpSpPr>
      <p:grpSpPr>
        <a:xfrm>
          <a:off x="0" y="0"/>
          <a:ext cx="0" cy="0"/>
          <a:chOff x="0" y="0"/>
          <a:chExt cx="0" cy="0"/>
        </a:xfrm>
      </p:grpSpPr>
      <p:sp>
        <p:nvSpPr>
          <p:cNvPr id="287" name="Google Shape;287;p34"/>
          <p:cNvSpPr/>
          <p:nvPr/>
        </p:nvSpPr>
        <p:spPr>
          <a:xfrm flipH="1" rot="533274">
            <a:off x="7176438" y="1467869"/>
            <a:ext cx="2359315" cy="2540312"/>
          </a:xfrm>
          <a:custGeom>
            <a:rect b="b" l="l" r="r" t="t"/>
            <a:pathLst>
              <a:path extrusionOk="0" h="5080624" w="4718630">
                <a:moveTo>
                  <a:pt x="4718630" y="0"/>
                </a:moveTo>
                <a:lnTo>
                  <a:pt x="0" y="0"/>
                </a:lnTo>
                <a:lnTo>
                  <a:pt x="0" y="5080624"/>
                </a:lnTo>
                <a:lnTo>
                  <a:pt x="4718630" y="5080624"/>
                </a:lnTo>
                <a:lnTo>
                  <a:pt x="4718630" y="0"/>
                </a:lnTo>
                <a:close/>
              </a:path>
            </a:pathLst>
          </a:custGeom>
          <a:blipFill rotWithShape="1">
            <a:blip r:embed="rId3">
              <a:alphaModFix/>
            </a:blip>
            <a:stretch>
              <a:fillRect b="0" l="0" r="0" t="0"/>
            </a:stretch>
          </a:blipFill>
          <a:ln>
            <a:noFill/>
          </a:ln>
        </p:spPr>
      </p:sp>
      <p:grpSp>
        <p:nvGrpSpPr>
          <p:cNvPr id="288" name="Google Shape;288;p34"/>
          <p:cNvGrpSpPr/>
          <p:nvPr/>
        </p:nvGrpSpPr>
        <p:grpSpPr>
          <a:xfrm>
            <a:off x="514350" y="514350"/>
            <a:ext cx="434835" cy="434835"/>
            <a:chOff x="0" y="0"/>
            <a:chExt cx="812800" cy="812800"/>
          </a:xfrm>
        </p:grpSpPr>
        <p:sp>
          <p:nvSpPr>
            <p:cNvPr id="289" name="Google Shape;289;p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290" name="Google Shape;290;p34"/>
            <p:cNvSpPr txBox="1"/>
            <p:nvPr/>
          </p:nvSpPr>
          <p:spPr>
            <a:xfrm>
              <a:off x="76200" y="38100"/>
              <a:ext cx="660400" cy="6985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291" name="Google Shape;291;p34"/>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4">
              <a:alphaModFix/>
            </a:blip>
            <a:stretch>
              <a:fillRect b="0" l="0" r="0" t="0"/>
            </a:stretch>
          </a:blipFill>
          <a:ln>
            <a:noFill/>
          </a:ln>
        </p:spPr>
      </p:sp>
      <p:sp>
        <p:nvSpPr>
          <p:cNvPr id="292" name="Google Shape;292;p34"/>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293" name="Google Shape;293;p34"/>
          <p:cNvSpPr/>
          <p:nvPr/>
        </p:nvSpPr>
        <p:spPr>
          <a:xfrm rot="-9569560">
            <a:off x="7254166" y="592914"/>
            <a:ext cx="515143" cy="27474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6">
              <a:alphaModFix/>
            </a:blip>
            <a:stretch>
              <a:fillRect b="0" l="0" r="0" t="0"/>
            </a:stretch>
          </a:blipFill>
          <a:ln>
            <a:noFill/>
          </a:ln>
        </p:spPr>
      </p:sp>
      <p:sp>
        <p:nvSpPr>
          <p:cNvPr id="294" name="Google Shape;294;p34"/>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295" name="Google Shape;295;p34"/>
          <p:cNvSpPr/>
          <p:nvPr/>
        </p:nvSpPr>
        <p:spPr>
          <a:xfrm flipH="1" rot="10000619">
            <a:off x="763570" y="2012485"/>
            <a:ext cx="515142" cy="274743"/>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6">
              <a:alphaModFix/>
            </a:blip>
            <a:stretch>
              <a:fillRect b="0" l="0" r="0" t="0"/>
            </a:stretch>
          </a:blipFill>
          <a:ln>
            <a:noFill/>
          </a:ln>
        </p:spPr>
      </p:sp>
      <p:sp>
        <p:nvSpPr>
          <p:cNvPr id="296" name="Google Shape;296;p34"/>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297" name="Google Shape;297;p34"/>
          <p:cNvSpPr txBox="1"/>
          <p:nvPr/>
        </p:nvSpPr>
        <p:spPr>
          <a:xfrm>
            <a:off x="2191324" y="1367761"/>
            <a:ext cx="1735931" cy="252413"/>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0" i="0" lang="en" sz="1500" u="none" cap="none" strike="noStrike">
                <a:solidFill>
                  <a:srgbClr val="FFFFFF"/>
                </a:solidFill>
                <a:latin typeface="Arial"/>
                <a:ea typeface="Arial"/>
                <a:cs typeface="Arial"/>
                <a:sym typeface="Arial"/>
              </a:rPr>
              <a:t>Feedback I received</a:t>
            </a:r>
            <a:endParaRPr sz="700"/>
          </a:p>
        </p:txBody>
      </p:sp>
      <p:sp>
        <p:nvSpPr>
          <p:cNvPr id="298" name="Google Shape;298;p34"/>
          <p:cNvSpPr txBox="1"/>
          <p:nvPr/>
        </p:nvSpPr>
        <p:spPr>
          <a:xfrm>
            <a:off x="2132995" y="177663"/>
            <a:ext cx="4543800" cy="11082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 sz="3000" u="none" cap="none" strike="noStrike">
                <a:solidFill>
                  <a:srgbClr val="FFFFFF"/>
                </a:solidFill>
              </a:rPr>
              <a:t>Feedback Slide From Mini update #2</a:t>
            </a:r>
            <a:endParaRPr b="1" sz="700"/>
          </a:p>
        </p:txBody>
      </p:sp>
      <p:sp>
        <p:nvSpPr>
          <p:cNvPr id="299" name="Google Shape;299;p34"/>
          <p:cNvSpPr txBox="1"/>
          <p:nvPr/>
        </p:nvSpPr>
        <p:spPr>
          <a:xfrm>
            <a:off x="1378656" y="2720958"/>
            <a:ext cx="3193345" cy="863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Was the feedback useful?</a:t>
            </a:r>
            <a:endParaRPr sz="700"/>
          </a:p>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Yes  it helped me understand exactly what was expected and made my slides more organized and readable.</a:t>
            </a:r>
            <a:endParaRPr sz="700"/>
          </a:p>
        </p:txBody>
      </p:sp>
      <p:sp>
        <p:nvSpPr>
          <p:cNvPr id="300" name="Google Shape;300;p34"/>
          <p:cNvSpPr txBox="1"/>
          <p:nvPr/>
        </p:nvSpPr>
        <p:spPr>
          <a:xfrm>
            <a:off x="4628754" y="1272286"/>
            <a:ext cx="2658292" cy="258967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1500" u="none" cap="none" strike="noStrike">
                <a:solidFill>
                  <a:srgbClr val="FFFFFF"/>
                </a:solidFill>
                <a:latin typeface="Arial"/>
                <a:ea typeface="Arial"/>
                <a:cs typeface="Arial"/>
                <a:sym typeface="Arial"/>
              </a:rPr>
              <a:t>Additional feedback I am seeking</a:t>
            </a:r>
            <a:endParaRPr sz="700"/>
          </a:p>
          <a:p>
            <a:pPr indent="0" lvl="0" marL="0" marR="0" rtl="0" algn="ctr">
              <a:lnSpc>
                <a:spcPct val="140000"/>
              </a:lnSpc>
              <a:spcBef>
                <a:spcPts val="0"/>
              </a:spcBef>
              <a:spcAft>
                <a:spcPts val="0"/>
              </a:spcAft>
              <a:buNone/>
            </a:pPr>
            <a:r>
              <a:rPr b="0" i="0" lang="en" sz="1500" u="none" cap="none" strike="noStrike">
                <a:solidFill>
                  <a:srgbClr val="FFFFFF"/>
                </a:solidFill>
                <a:latin typeface="Arial"/>
                <a:ea typeface="Arial"/>
                <a:cs typeface="Arial"/>
                <a:sym typeface="Arial"/>
              </a:rPr>
              <a:t>Which of my insights are the strongest for the final project?</a:t>
            </a:r>
            <a:endParaRPr sz="700"/>
          </a:p>
          <a:p>
            <a:pPr indent="0" lvl="0" marL="0" marR="0" rtl="0" algn="ctr">
              <a:lnSpc>
                <a:spcPct val="140000"/>
              </a:lnSpc>
              <a:spcBef>
                <a:spcPts val="0"/>
              </a:spcBef>
              <a:spcAft>
                <a:spcPts val="0"/>
              </a:spcAft>
              <a:buNone/>
            </a:pPr>
            <a:r>
              <a:rPr b="0" i="0" lang="en" sz="1500" u="none" cap="none" strike="noStrike">
                <a:solidFill>
                  <a:srgbClr val="FFFFFF"/>
                </a:solidFill>
                <a:latin typeface="Arial"/>
                <a:ea typeface="Arial"/>
                <a:cs typeface="Arial"/>
                <a:sym typeface="Arial"/>
              </a:rPr>
              <a:t>Does my narrative match the level of detail expected?</a:t>
            </a:r>
            <a:endParaRPr sz="700"/>
          </a:p>
          <a:p>
            <a:pPr indent="0" lvl="0" marL="0" marR="0" rtl="0" algn="ctr">
              <a:lnSpc>
                <a:spcPct val="140000"/>
              </a:lnSpc>
              <a:spcBef>
                <a:spcPts val="0"/>
              </a:spcBef>
              <a:spcAft>
                <a:spcPts val="0"/>
              </a:spcAft>
              <a:buNone/>
            </a:pPr>
            <a:r>
              <a:rPr b="0" i="0" lang="en" sz="1500" u="none" cap="none" strike="noStrike">
                <a:solidFill>
                  <a:srgbClr val="FFFFFF"/>
                </a:solidFill>
                <a:latin typeface="Arial"/>
                <a:ea typeface="Arial"/>
                <a:cs typeface="Arial"/>
                <a:sym typeface="Arial"/>
              </a:rPr>
              <a:t>Are my graphs clear and easy to interpret for someone who hasn’t seen the dataset?</a:t>
            </a:r>
            <a:endParaRPr sz="700"/>
          </a:p>
        </p:txBody>
      </p:sp>
      <p:sp>
        <p:nvSpPr>
          <p:cNvPr id="301" name="Google Shape;301;p34"/>
          <p:cNvSpPr txBox="1"/>
          <p:nvPr/>
        </p:nvSpPr>
        <p:spPr>
          <a:xfrm>
            <a:off x="1968131" y="1749663"/>
            <a:ext cx="2182317" cy="64452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0" i="0" lang="en" sz="1200" u="none" cap="none" strike="noStrike">
                <a:solidFill>
                  <a:srgbClr val="FFFFFF"/>
                </a:solidFill>
                <a:latin typeface="Arial"/>
                <a:ea typeface="Arial"/>
                <a:cs typeface="Arial"/>
                <a:sym typeface="Arial"/>
              </a:rPr>
              <a:t>“please follow format of profile data and add additional information” </a:t>
            </a:r>
            <a:endParaRPr sz="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05" name="Shape 305"/>
        <p:cNvGrpSpPr/>
        <p:nvPr/>
      </p:nvGrpSpPr>
      <p:grpSpPr>
        <a:xfrm>
          <a:off x="0" y="0"/>
          <a:ext cx="0" cy="0"/>
          <a:chOff x="0" y="0"/>
          <a:chExt cx="0" cy="0"/>
        </a:xfrm>
      </p:grpSpPr>
      <p:sp>
        <p:nvSpPr>
          <p:cNvPr id="306" name="Google Shape;306;p35"/>
          <p:cNvSpPr txBox="1"/>
          <p:nvPr/>
        </p:nvSpPr>
        <p:spPr>
          <a:xfrm>
            <a:off x="2162270" y="2082663"/>
            <a:ext cx="4543800" cy="7389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800" u="sng">
                <a:solidFill>
                  <a:srgbClr val="FFFFFF"/>
                </a:solidFill>
              </a:rPr>
              <a:t>M</a:t>
            </a:r>
            <a:r>
              <a:rPr b="1" i="0" lang="en" sz="4800" u="sng" cap="none" strike="noStrike">
                <a:solidFill>
                  <a:srgbClr val="FFFFFF"/>
                </a:solidFill>
              </a:rPr>
              <a:t>ini update #</a:t>
            </a:r>
            <a:r>
              <a:rPr b="1" lang="en" sz="4800" u="sng">
                <a:solidFill>
                  <a:srgbClr val="FFFFFF"/>
                </a:solidFill>
              </a:rPr>
              <a:t>3</a:t>
            </a:r>
            <a:endParaRPr b="1" sz="2500" u="sng"/>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10" name="Shape 310"/>
        <p:cNvGrpSpPr/>
        <p:nvPr/>
      </p:nvGrpSpPr>
      <p:grpSpPr>
        <a:xfrm>
          <a:off x="0" y="0"/>
          <a:ext cx="0" cy="0"/>
          <a:chOff x="0" y="0"/>
          <a:chExt cx="0" cy="0"/>
        </a:xfrm>
      </p:grpSpPr>
      <p:sp>
        <p:nvSpPr>
          <p:cNvPr id="311" name="Google Shape;311;p36"/>
          <p:cNvSpPr txBox="1"/>
          <p:nvPr/>
        </p:nvSpPr>
        <p:spPr>
          <a:xfrm>
            <a:off x="726178" y="250925"/>
            <a:ext cx="7426200" cy="372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990"/>
              <a:buFont typeface="Arial"/>
              <a:buNone/>
            </a:pPr>
            <a:r>
              <a:rPr b="1" lang="en" sz="2420">
                <a:solidFill>
                  <a:schemeClr val="lt1"/>
                </a:solidFill>
                <a:latin typeface="Proxima Nova"/>
                <a:ea typeface="Proxima Nova"/>
                <a:cs typeface="Proxima Nova"/>
                <a:sym typeface="Proxima Nova"/>
              </a:rPr>
              <a:t>How does sleep duration vary across occupations</a:t>
            </a:r>
            <a:endParaRPr b="1" sz="2420">
              <a:solidFill>
                <a:schemeClr val="lt1"/>
              </a:solidFill>
              <a:latin typeface="Proxima Nova"/>
              <a:ea typeface="Proxima Nova"/>
              <a:cs typeface="Proxima Nova"/>
              <a:sym typeface="Proxima Nova"/>
            </a:endParaRPr>
          </a:p>
        </p:txBody>
      </p:sp>
      <p:sp>
        <p:nvSpPr>
          <p:cNvPr id="312" name="Google Shape;312;p36"/>
          <p:cNvSpPr txBox="1"/>
          <p:nvPr/>
        </p:nvSpPr>
        <p:spPr>
          <a:xfrm>
            <a:off x="176650" y="961150"/>
            <a:ext cx="3319800" cy="38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Calibri"/>
                <a:ea typeface="Calibri"/>
                <a:cs typeface="Calibri"/>
                <a:sym typeface="Calibri"/>
              </a:rPr>
              <a:t>This graph shows how average sleep duration differs across occupations, revealing which jobs tend to get significantly more or less sleep. The most amount of sleep on the </a:t>
            </a:r>
            <a:r>
              <a:rPr lang="en" sz="1600">
                <a:solidFill>
                  <a:schemeClr val="lt1"/>
                </a:solidFill>
                <a:latin typeface="Calibri"/>
                <a:ea typeface="Calibri"/>
                <a:cs typeface="Calibri"/>
                <a:sym typeface="Calibri"/>
              </a:rPr>
              <a:t>graph being Engineers with 8 hours and the least amount of Sleep being Sales Representatives. </a:t>
            </a:r>
            <a:endParaRPr sz="1600">
              <a:solidFill>
                <a:schemeClr val="lt1"/>
              </a:solidFill>
              <a:latin typeface="Calibri"/>
              <a:ea typeface="Calibri"/>
              <a:cs typeface="Calibri"/>
              <a:sym typeface="Calibri"/>
            </a:endParaRPr>
          </a:p>
        </p:txBody>
      </p:sp>
      <p:pic>
        <p:nvPicPr>
          <p:cNvPr id="313" name="Google Shape;313;p36"/>
          <p:cNvPicPr preferRelativeResize="0"/>
          <p:nvPr/>
        </p:nvPicPr>
        <p:blipFill>
          <a:blip r:embed="rId3">
            <a:alphaModFix/>
          </a:blip>
          <a:stretch>
            <a:fillRect/>
          </a:stretch>
        </p:blipFill>
        <p:spPr>
          <a:xfrm>
            <a:off x="3648850" y="775925"/>
            <a:ext cx="5342750" cy="369987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17" name="Shape 317"/>
        <p:cNvGrpSpPr/>
        <p:nvPr/>
      </p:nvGrpSpPr>
      <p:grpSpPr>
        <a:xfrm>
          <a:off x="0" y="0"/>
          <a:ext cx="0" cy="0"/>
          <a:chOff x="0" y="0"/>
          <a:chExt cx="0" cy="0"/>
        </a:xfrm>
      </p:grpSpPr>
      <p:sp>
        <p:nvSpPr>
          <p:cNvPr id="318" name="Google Shape;318;p37"/>
          <p:cNvSpPr txBox="1"/>
          <p:nvPr/>
        </p:nvSpPr>
        <p:spPr>
          <a:xfrm>
            <a:off x="1883828" y="250925"/>
            <a:ext cx="7426200" cy="1862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990"/>
              <a:buFont typeface="Arial"/>
              <a:buNone/>
            </a:pPr>
            <a:r>
              <a:rPr b="1" lang="en" sz="2420">
                <a:solidFill>
                  <a:schemeClr val="lt1"/>
                </a:solidFill>
                <a:latin typeface="Proxima Nova"/>
                <a:ea typeface="Proxima Nova"/>
                <a:cs typeface="Proxima Nova"/>
                <a:sym typeface="Proxima Nova"/>
              </a:rPr>
              <a:t>Is BMI connected to sleep issues?</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t/>
            </a:r>
            <a:endParaRPr b="1" sz="2420">
              <a:solidFill>
                <a:schemeClr val="lt1"/>
              </a:solidFill>
              <a:latin typeface="Proxima Nova"/>
              <a:ea typeface="Proxima Nova"/>
              <a:cs typeface="Proxima Nova"/>
              <a:sym typeface="Proxima Nova"/>
            </a:endParaRPr>
          </a:p>
        </p:txBody>
      </p:sp>
      <p:sp>
        <p:nvSpPr>
          <p:cNvPr id="319" name="Google Shape;319;p37"/>
          <p:cNvSpPr txBox="1"/>
          <p:nvPr/>
        </p:nvSpPr>
        <p:spPr>
          <a:xfrm>
            <a:off x="4005025" y="961575"/>
            <a:ext cx="515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320" name="Google Shape;320;p37"/>
          <p:cNvSpPr txBox="1"/>
          <p:nvPr/>
        </p:nvSpPr>
        <p:spPr>
          <a:xfrm>
            <a:off x="235850" y="879925"/>
            <a:ext cx="4912200" cy="41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lt1"/>
                </a:solidFill>
                <a:latin typeface="Calibri"/>
                <a:ea typeface="Calibri"/>
                <a:cs typeface="Calibri"/>
                <a:sym typeface="Calibri"/>
              </a:rPr>
              <a:t>This </a:t>
            </a:r>
            <a:r>
              <a:rPr lang="en" sz="2500">
                <a:solidFill>
                  <a:schemeClr val="lt1"/>
                </a:solidFill>
                <a:latin typeface="Calibri"/>
                <a:ea typeface="Calibri"/>
                <a:cs typeface="Calibri"/>
                <a:sym typeface="Calibri"/>
              </a:rPr>
              <a:t>graph</a:t>
            </a:r>
            <a:r>
              <a:rPr lang="en" sz="2500">
                <a:solidFill>
                  <a:schemeClr val="lt1"/>
                </a:solidFill>
                <a:latin typeface="Calibri"/>
                <a:ea typeface="Calibri"/>
                <a:cs typeface="Calibri"/>
                <a:sym typeface="Calibri"/>
              </a:rPr>
              <a:t> shows that the </a:t>
            </a:r>
            <a:r>
              <a:rPr lang="en" sz="2500">
                <a:solidFill>
                  <a:schemeClr val="lt1"/>
                </a:solidFill>
                <a:latin typeface="Calibri"/>
                <a:ea typeface="Calibri"/>
                <a:cs typeface="Calibri"/>
                <a:sym typeface="Calibri"/>
              </a:rPr>
              <a:t>normal</a:t>
            </a:r>
            <a:r>
              <a:rPr lang="en" sz="2500">
                <a:solidFill>
                  <a:schemeClr val="lt1"/>
                </a:solidFill>
                <a:latin typeface="Calibri"/>
                <a:ea typeface="Calibri"/>
                <a:cs typeface="Calibri"/>
                <a:sym typeface="Calibri"/>
              </a:rPr>
              <a:t> BMI gets on average 7 hours of sleep per night vs BMI that is considered overweight is less with under 7 hours of sleep per night. Highlighting how BMI can have an impact on your sleep.</a:t>
            </a:r>
            <a:endParaRPr sz="2500">
              <a:solidFill>
                <a:schemeClr val="lt1"/>
              </a:solidFill>
              <a:latin typeface="Calibri"/>
              <a:ea typeface="Calibri"/>
              <a:cs typeface="Calibri"/>
              <a:sym typeface="Calibri"/>
            </a:endParaRPr>
          </a:p>
        </p:txBody>
      </p:sp>
      <p:pic>
        <p:nvPicPr>
          <p:cNvPr id="321" name="Google Shape;321;p37"/>
          <p:cNvPicPr preferRelativeResize="0"/>
          <p:nvPr/>
        </p:nvPicPr>
        <p:blipFill>
          <a:blip r:embed="rId3">
            <a:alphaModFix/>
          </a:blip>
          <a:stretch>
            <a:fillRect/>
          </a:stretch>
        </p:blipFill>
        <p:spPr>
          <a:xfrm>
            <a:off x="5253675" y="1127925"/>
            <a:ext cx="3691150" cy="24341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25" name="Shape 325"/>
        <p:cNvGrpSpPr/>
        <p:nvPr/>
      </p:nvGrpSpPr>
      <p:grpSpPr>
        <a:xfrm>
          <a:off x="0" y="0"/>
          <a:ext cx="0" cy="0"/>
          <a:chOff x="0" y="0"/>
          <a:chExt cx="0" cy="0"/>
        </a:xfrm>
      </p:grpSpPr>
      <p:sp>
        <p:nvSpPr>
          <p:cNvPr id="326" name="Google Shape;326;p38"/>
          <p:cNvSpPr txBox="1"/>
          <p:nvPr/>
        </p:nvSpPr>
        <p:spPr>
          <a:xfrm>
            <a:off x="682228" y="749175"/>
            <a:ext cx="7426200" cy="335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What has accomplished and what is the plan for next week.</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I </a:t>
            </a:r>
            <a:r>
              <a:rPr b="1" lang="en" sz="2420">
                <a:solidFill>
                  <a:schemeClr val="lt1"/>
                </a:solidFill>
                <a:latin typeface="Proxima Nova"/>
                <a:ea typeface="Proxima Nova"/>
                <a:cs typeface="Proxima Nova"/>
                <a:sym typeface="Proxima Nova"/>
              </a:rPr>
              <a:t>accomplished fixing my feedback that was given from last week. I also analyzed two more questions I had.</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What are the obstacles that you need help.</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I just wanna make sure that Im </a:t>
            </a:r>
            <a:r>
              <a:rPr b="1" lang="en" sz="2420">
                <a:solidFill>
                  <a:schemeClr val="lt1"/>
                </a:solidFill>
                <a:latin typeface="Proxima Nova"/>
                <a:ea typeface="Proxima Nova"/>
                <a:cs typeface="Proxima Nova"/>
                <a:sym typeface="Proxima Nova"/>
              </a:rPr>
              <a:t>doing</a:t>
            </a:r>
            <a:r>
              <a:rPr b="1" lang="en" sz="2420">
                <a:solidFill>
                  <a:schemeClr val="lt1"/>
                </a:solidFill>
                <a:latin typeface="Proxima Nova"/>
                <a:ea typeface="Proxima Nova"/>
                <a:cs typeface="Proxima Nova"/>
                <a:sym typeface="Proxima Nova"/>
              </a:rPr>
              <a:t> </a:t>
            </a:r>
            <a:r>
              <a:rPr b="1" lang="en" sz="2420">
                <a:solidFill>
                  <a:schemeClr val="lt1"/>
                </a:solidFill>
                <a:latin typeface="Proxima Nova"/>
                <a:ea typeface="Proxima Nova"/>
                <a:cs typeface="Proxima Nova"/>
                <a:sym typeface="Proxima Nova"/>
              </a:rPr>
              <a:t>everything</a:t>
            </a:r>
            <a:r>
              <a:rPr b="1" lang="en" sz="2420">
                <a:solidFill>
                  <a:schemeClr val="lt1"/>
                </a:solidFill>
                <a:latin typeface="Proxima Nova"/>
                <a:ea typeface="Proxima Nova"/>
                <a:cs typeface="Proxima Nova"/>
                <a:sym typeface="Proxima Nova"/>
              </a:rPr>
              <a:t> properly. </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t/>
            </a:r>
            <a:endParaRPr b="1" sz="2420">
              <a:solidFill>
                <a:schemeClr val="lt1"/>
              </a:solidFill>
              <a:latin typeface="Proxima Nova"/>
              <a:ea typeface="Proxima Nova"/>
              <a:cs typeface="Proxima Nova"/>
              <a:sym typeface="Proxima Nov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30" name="Shape 330"/>
        <p:cNvGrpSpPr/>
        <p:nvPr/>
      </p:nvGrpSpPr>
      <p:grpSpPr>
        <a:xfrm>
          <a:off x="0" y="0"/>
          <a:ext cx="0" cy="0"/>
          <a:chOff x="0" y="0"/>
          <a:chExt cx="0" cy="0"/>
        </a:xfrm>
      </p:grpSpPr>
      <p:grpSp>
        <p:nvGrpSpPr>
          <p:cNvPr id="331" name="Google Shape;331;p39"/>
          <p:cNvGrpSpPr/>
          <p:nvPr/>
        </p:nvGrpSpPr>
        <p:grpSpPr>
          <a:xfrm>
            <a:off x="514350" y="514350"/>
            <a:ext cx="434848" cy="434848"/>
            <a:chOff x="0" y="0"/>
            <a:chExt cx="812800" cy="812800"/>
          </a:xfrm>
        </p:grpSpPr>
        <p:sp>
          <p:nvSpPr>
            <p:cNvPr id="332" name="Google Shape;332;p3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33" name="Google Shape;333;p39"/>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34" name="Google Shape;334;p39"/>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335" name="Google Shape;335;p39"/>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36" name="Google Shape;336;p39"/>
          <p:cNvSpPr/>
          <p:nvPr/>
        </p:nvSpPr>
        <p:spPr>
          <a:xfrm rot="-9568652">
            <a:off x="7254962" y="593447"/>
            <a:ext cx="514298" cy="27429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5">
              <a:alphaModFix/>
            </a:blip>
            <a:stretch>
              <a:fillRect b="0" l="0" r="0" t="0"/>
            </a:stretch>
          </a:blipFill>
          <a:ln>
            <a:noFill/>
          </a:ln>
        </p:spPr>
      </p:sp>
      <p:sp>
        <p:nvSpPr>
          <p:cNvPr id="337" name="Google Shape;337;p39"/>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38" name="Google Shape;338;p39"/>
          <p:cNvSpPr/>
          <p:nvPr/>
        </p:nvSpPr>
        <p:spPr>
          <a:xfrm flipH="1" rot="10003604">
            <a:off x="763669" y="2012094"/>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
        <p:nvSpPr>
          <p:cNvPr id="339" name="Google Shape;339;p39"/>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40" name="Google Shape;340;p39"/>
          <p:cNvSpPr txBox="1"/>
          <p:nvPr/>
        </p:nvSpPr>
        <p:spPr>
          <a:xfrm>
            <a:off x="2406457" y="189075"/>
            <a:ext cx="4331100" cy="461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3000">
                <a:solidFill>
                  <a:srgbClr val="FFFFFF"/>
                </a:solidFill>
              </a:rPr>
              <a:t>Feed back:</a:t>
            </a:r>
            <a:endParaRPr b="1" sz="700"/>
          </a:p>
        </p:txBody>
      </p:sp>
      <p:sp>
        <p:nvSpPr>
          <p:cNvPr id="341" name="Google Shape;341;p39"/>
          <p:cNvSpPr txBox="1"/>
          <p:nvPr/>
        </p:nvSpPr>
        <p:spPr>
          <a:xfrm>
            <a:off x="723199" y="1031775"/>
            <a:ext cx="7341300" cy="3786600"/>
          </a:xfrm>
          <a:prstGeom prst="rect">
            <a:avLst/>
          </a:prstGeom>
          <a:noFill/>
          <a:ln>
            <a:noFill/>
          </a:ln>
        </p:spPr>
        <p:txBody>
          <a:bodyPr anchorCtr="0" anchor="t" bIns="0" lIns="0" spcFirstLastPara="1" rIns="0" wrap="square" tIns="0">
            <a:spAutoFit/>
          </a:bodyPr>
          <a:lstStyle/>
          <a:p>
            <a:pPr indent="0" lvl="0" marL="457200" marR="0" rtl="0" algn="ctr">
              <a:lnSpc>
                <a:spcPct val="140000"/>
              </a:lnSpc>
              <a:spcBef>
                <a:spcPts val="0"/>
              </a:spcBef>
              <a:spcAft>
                <a:spcPts val="0"/>
              </a:spcAft>
              <a:buNone/>
            </a:pPr>
            <a:r>
              <a:rPr b="1" lang="en" sz="1500">
                <a:solidFill>
                  <a:srgbClr val="FFFFFF"/>
                </a:solidFill>
              </a:rPr>
              <a:t>The feedback from last week:</a:t>
            </a:r>
            <a:endParaRPr b="1"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was told to bin the age groups instead of using raw ages.</a:t>
            </a:r>
            <a:endParaRPr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My physical activity graph looked strange because it only had a few data points, so I needed to double‑check the data.</a:t>
            </a:r>
            <a:endParaRPr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needed to make sure my plots were made inside the Python Notebook using the datascience package.</a:t>
            </a:r>
            <a:endParaRPr sz="1500">
              <a:solidFill>
                <a:srgbClr val="FFFFFF"/>
              </a:solidFill>
            </a:endParaRPr>
          </a:p>
          <a:p>
            <a:pPr indent="0" lvl="0" marL="457200" marR="0" rtl="0" algn="ctr">
              <a:lnSpc>
                <a:spcPct val="140000"/>
              </a:lnSpc>
              <a:spcBef>
                <a:spcPts val="0"/>
              </a:spcBef>
              <a:spcAft>
                <a:spcPts val="0"/>
              </a:spcAft>
              <a:buNone/>
            </a:pPr>
            <a:r>
              <a:rPr b="1" lang="en" sz="1500">
                <a:solidFill>
                  <a:srgbClr val="FFFFFF"/>
                </a:solidFill>
              </a:rPr>
              <a:t>How I fixed it :</a:t>
            </a:r>
            <a:endParaRPr b="1"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checked the full dataset and created clear age bins (Young, Middle, Older).</a:t>
            </a:r>
            <a:endParaRPr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re‑binned Physical Activity into simple levels (Low, Medium, High) so each bar had enough data.</a:t>
            </a:r>
            <a:endParaRPr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remade all graphs in the Python Notebook using the correct </a:t>
            </a:r>
            <a:r>
              <a:rPr lang="en" sz="1500">
                <a:solidFill>
                  <a:srgbClr val="FFFFFF"/>
                </a:solidFill>
              </a:rPr>
              <a:t>data science</a:t>
            </a:r>
            <a:r>
              <a:rPr lang="en" sz="1500">
                <a:solidFill>
                  <a:srgbClr val="FFFFFF"/>
                </a:solidFill>
              </a:rPr>
              <a:t> functions.</a:t>
            </a:r>
            <a:endParaRPr sz="1500">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45" name="Shape 345"/>
        <p:cNvGrpSpPr/>
        <p:nvPr/>
      </p:nvGrpSpPr>
      <p:grpSpPr>
        <a:xfrm>
          <a:off x="0" y="0"/>
          <a:ext cx="0" cy="0"/>
          <a:chOff x="0" y="0"/>
          <a:chExt cx="0" cy="0"/>
        </a:xfrm>
      </p:grpSpPr>
      <p:grpSp>
        <p:nvGrpSpPr>
          <p:cNvPr id="346" name="Google Shape;346;p40"/>
          <p:cNvGrpSpPr/>
          <p:nvPr/>
        </p:nvGrpSpPr>
        <p:grpSpPr>
          <a:xfrm>
            <a:off x="514350" y="514350"/>
            <a:ext cx="434848" cy="434848"/>
            <a:chOff x="0" y="0"/>
            <a:chExt cx="812800" cy="812800"/>
          </a:xfrm>
        </p:grpSpPr>
        <p:sp>
          <p:nvSpPr>
            <p:cNvPr id="347" name="Google Shape;347;p4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48" name="Google Shape;348;p40"/>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49" name="Google Shape;349;p40"/>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350" name="Google Shape;350;p40"/>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51" name="Google Shape;351;p40"/>
          <p:cNvSpPr/>
          <p:nvPr/>
        </p:nvSpPr>
        <p:spPr>
          <a:xfrm rot="-9568652">
            <a:off x="7254962" y="593447"/>
            <a:ext cx="514298" cy="27429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5">
              <a:alphaModFix/>
            </a:blip>
            <a:stretch>
              <a:fillRect b="0" l="0" r="0" t="0"/>
            </a:stretch>
          </a:blipFill>
          <a:ln>
            <a:noFill/>
          </a:ln>
        </p:spPr>
      </p:sp>
      <p:sp>
        <p:nvSpPr>
          <p:cNvPr id="352" name="Google Shape;352;p40"/>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53" name="Google Shape;353;p40"/>
          <p:cNvSpPr/>
          <p:nvPr/>
        </p:nvSpPr>
        <p:spPr>
          <a:xfrm flipH="1" rot="10003604">
            <a:off x="763669" y="2012094"/>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
        <p:nvSpPr>
          <p:cNvPr id="354" name="Google Shape;354;p40"/>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55" name="Google Shape;355;p40"/>
          <p:cNvSpPr txBox="1"/>
          <p:nvPr/>
        </p:nvSpPr>
        <p:spPr>
          <a:xfrm>
            <a:off x="2357232" y="2268625"/>
            <a:ext cx="4331100" cy="461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3000" u="sng">
                <a:solidFill>
                  <a:srgbClr val="FFFFFF"/>
                </a:solidFill>
              </a:rPr>
              <a:t>Mini Update #4</a:t>
            </a:r>
            <a:endParaRPr b="1" sz="700" u="sng"/>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59" name="Shape 359"/>
        <p:cNvGrpSpPr/>
        <p:nvPr/>
      </p:nvGrpSpPr>
      <p:grpSpPr>
        <a:xfrm>
          <a:off x="0" y="0"/>
          <a:ext cx="0" cy="0"/>
          <a:chOff x="0" y="0"/>
          <a:chExt cx="0" cy="0"/>
        </a:xfrm>
      </p:grpSpPr>
      <p:grpSp>
        <p:nvGrpSpPr>
          <p:cNvPr id="360" name="Google Shape;360;p41"/>
          <p:cNvGrpSpPr/>
          <p:nvPr/>
        </p:nvGrpSpPr>
        <p:grpSpPr>
          <a:xfrm>
            <a:off x="514350" y="514350"/>
            <a:ext cx="434848" cy="434848"/>
            <a:chOff x="0" y="0"/>
            <a:chExt cx="812800" cy="812800"/>
          </a:xfrm>
        </p:grpSpPr>
        <p:sp>
          <p:nvSpPr>
            <p:cNvPr id="361" name="Google Shape;361;p4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62" name="Google Shape;362;p41"/>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63" name="Google Shape;363;p41"/>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4">
              <a:alphaModFix/>
            </a:blip>
            <a:stretch>
              <a:fillRect b="0" l="0" r="0" t="0"/>
            </a:stretch>
          </a:blipFill>
          <a:ln>
            <a:noFill/>
          </a:ln>
        </p:spPr>
      </p:sp>
      <p:sp>
        <p:nvSpPr>
          <p:cNvPr id="364" name="Google Shape;364;p41"/>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365" name="Google Shape;365;p41"/>
          <p:cNvSpPr/>
          <p:nvPr/>
        </p:nvSpPr>
        <p:spPr>
          <a:xfrm rot="-9568652">
            <a:off x="7254962" y="593447"/>
            <a:ext cx="514298" cy="27429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6">
              <a:alphaModFix/>
            </a:blip>
            <a:stretch>
              <a:fillRect b="0" l="0" r="0" t="0"/>
            </a:stretch>
          </a:blipFill>
          <a:ln>
            <a:noFill/>
          </a:ln>
        </p:spPr>
      </p:sp>
      <p:sp>
        <p:nvSpPr>
          <p:cNvPr id="366" name="Google Shape;366;p41"/>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367" name="Google Shape;367;p41"/>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5">
              <a:alphaModFix/>
            </a:blip>
            <a:stretch>
              <a:fillRect b="0" l="0" r="0" t="0"/>
            </a:stretch>
          </a:blipFill>
          <a:ln>
            <a:noFill/>
          </a:ln>
        </p:spPr>
      </p:sp>
      <p:sp>
        <p:nvSpPr>
          <p:cNvPr id="368" name="Google Shape;368;p41"/>
          <p:cNvSpPr txBox="1"/>
          <p:nvPr/>
        </p:nvSpPr>
        <p:spPr>
          <a:xfrm>
            <a:off x="2406457" y="189075"/>
            <a:ext cx="4331100" cy="107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t/>
            </a:r>
            <a:endParaRPr b="1" sz="700"/>
          </a:p>
        </p:txBody>
      </p:sp>
      <p:pic>
        <p:nvPicPr>
          <p:cNvPr id="369" name="Google Shape;369;p41"/>
          <p:cNvPicPr preferRelativeResize="0"/>
          <p:nvPr/>
        </p:nvPicPr>
        <p:blipFill>
          <a:blip r:embed="rId7">
            <a:alphaModFix/>
          </a:blip>
          <a:stretch>
            <a:fillRect/>
          </a:stretch>
        </p:blipFill>
        <p:spPr>
          <a:xfrm>
            <a:off x="4172826" y="1230175"/>
            <a:ext cx="4638051" cy="3253200"/>
          </a:xfrm>
          <a:prstGeom prst="rect">
            <a:avLst/>
          </a:prstGeom>
          <a:noFill/>
          <a:ln>
            <a:noFill/>
          </a:ln>
        </p:spPr>
      </p:pic>
      <p:sp>
        <p:nvSpPr>
          <p:cNvPr id="370" name="Google Shape;370;p41"/>
          <p:cNvSpPr txBox="1"/>
          <p:nvPr/>
        </p:nvSpPr>
        <p:spPr>
          <a:xfrm>
            <a:off x="1502398" y="121975"/>
            <a:ext cx="5788500" cy="923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2500">
                <a:solidFill>
                  <a:srgbClr val="FFFFFF"/>
                </a:solidFill>
              </a:rPr>
              <a:t>How does stress level vary across by Occupation?</a:t>
            </a:r>
            <a:endParaRPr b="1" sz="200"/>
          </a:p>
        </p:txBody>
      </p:sp>
      <p:sp>
        <p:nvSpPr>
          <p:cNvPr id="371" name="Google Shape;371;p41"/>
          <p:cNvSpPr txBox="1"/>
          <p:nvPr/>
        </p:nvSpPr>
        <p:spPr>
          <a:xfrm>
            <a:off x="435575" y="1289200"/>
            <a:ext cx="3451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This graph illustrates how average stress levels vary by occupation, showing which jobs experience consistently higher stress. As seen on this </a:t>
            </a:r>
            <a:r>
              <a:rPr lang="en">
                <a:solidFill>
                  <a:schemeClr val="lt1"/>
                </a:solidFill>
              </a:rPr>
              <a:t>graph</a:t>
            </a:r>
            <a:r>
              <a:rPr lang="en">
                <a:solidFill>
                  <a:schemeClr val="lt1"/>
                </a:solidFill>
              </a:rPr>
              <a:t> the stress levels are in a range from 1 being the lowest and 10 being the highest stress level. Sales Representatives are at the highest in the </a:t>
            </a:r>
            <a:r>
              <a:rPr lang="en">
                <a:solidFill>
                  <a:schemeClr val="lt1"/>
                </a:solidFill>
              </a:rPr>
              <a:t>group of 8. The lowest of Engineers below a 4 in stress. </a:t>
            </a:r>
            <a:endParaRPr>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75" name="Shape 375"/>
        <p:cNvGrpSpPr/>
        <p:nvPr/>
      </p:nvGrpSpPr>
      <p:grpSpPr>
        <a:xfrm>
          <a:off x="0" y="0"/>
          <a:ext cx="0" cy="0"/>
          <a:chOff x="0" y="0"/>
          <a:chExt cx="0" cy="0"/>
        </a:xfrm>
      </p:grpSpPr>
      <p:grpSp>
        <p:nvGrpSpPr>
          <p:cNvPr id="376" name="Google Shape;376;p42"/>
          <p:cNvGrpSpPr/>
          <p:nvPr/>
        </p:nvGrpSpPr>
        <p:grpSpPr>
          <a:xfrm>
            <a:off x="514350" y="514350"/>
            <a:ext cx="434848" cy="434848"/>
            <a:chOff x="0" y="0"/>
            <a:chExt cx="812800" cy="812800"/>
          </a:xfrm>
        </p:grpSpPr>
        <p:sp>
          <p:nvSpPr>
            <p:cNvPr id="377" name="Google Shape;377;p4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78" name="Google Shape;378;p42"/>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379" name="Google Shape;379;p42"/>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380" name="Google Shape;380;p42"/>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81" name="Google Shape;381;p42"/>
          <p:cNvSpPr/>
          <p:nvPr/>
        </p:nvSpPr>
        <p:spPr>
          <a:xfrm rot="-9568652">
            <a:off x="7254962" y="593447"/>
            <a:ext cx="514298" cy="27429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5">
              <a:alphaModFix/>
            </a:blip>
            <a:stretch>
              <a:fillRect b="0" l="0" r="0" t="0"/>
            </a:stretch>
          </a:blipFill>
          <a:ln>
            <a:noFill/>
          </a:ln>
        </p:spPr>
      </p:sp>
      <p:sp>
        <p:nvSpPr>
          <p:cNvPr id="382" name="Google Shape;382;p42"/>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83" name="Google Shape;383;p42"/>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384" name="Google Shape;384;p42"/>
          <p:cNvSpPr txBox="1"/>
          <p:nvPr/>
        </p:nvSpPr>
        <p:spPr>
          <a:xfrm>
            <a:off x="2406457" y="189075"/>
            <a:ext cx="4331100" cy="107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t/>
            </a:r>
            <a:endParaRPr b="1" sz="700"/>
          </a:p>
        </p:txBody>
      </p:sp>
      <p:sp>
        <p:nvSpPr>
          <p:cNvPr id="385" name="Google Shape;385;p42"/>
          <p:cNvSpPr txBox="1"/>
          <p:nvPr/>
        </p:nvSpPr>
        <p:spPr>
          <a:xfrm>
            <a:off x="1502398" y="121975"/>
            <a:ext cx="5788500" cy="923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2500">
                <a:solidFill>
                  <a:srgbClr val="FFFFFF"/>
                </a:solidFill>
              </a:rPr>
              <a:t>Does heart rate relate to sleep duration?</a:t>
            </a:r>
            <a:endParaRPr b="1" sz="200"/>
          </a:p>
        </p:txBody>
      </p:sp>
      <p:sp>
        <p:nvSpPr>
          <p:cNvPr id="386" name="Google Shape;386;p42"/>
          <p:cNvSpPr txBox="1"/>
          <p:nvPr/>
        </p:nvSpPr>
        <p:spPr>
          <a:xfrm>
            <a:off x="435575" y="1289200"/>
            <a:ext cx="3451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rPr>
              <a:t>The scatter plot reveals a downward trend, where individuals with longer sleep durations generally show lower heart rates, indicating that increased sleep may support healthier recovery and reduced strain. The lowest being near 8.5 hours of sleep with a 65 average Heart Rate, supporting that idea. </a:t>
            </a:r>
            <a:endParaRPr>
              <a:solidFill>
                <a:schemeClr val="lt1"/>
              </a:solidFill>
            </a:endParaRPr>
          </a:p>
        </p:txBody>
      </p:sp>
      <p:pic>
        <p:nvPicPr>
          <p:cNvPr id="387" name="Google Shape;387;p42"/>
          <p:cNvPicPr preferRelativeResize="0"/>
          <p:nvPr/>
        </p:nvPicPr>
        <p:blipFill>
          <a:blip r:embed="rId6">
            <a:alphaModFix/>
          </a:blip>
          <a:stretch>
            <a:fillRect/>
          </a:stretch>
        </p:blipFill>
        <p:spPr>
          <a:xfrm>
            <a:off x="4688050" y="1005300"/>
            <a:ext cx="3370839" cy="313289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91" name="Shape 391"/>
        <p:cNvGrpSpPr/>
        <p:nvPr/>
      </p:nvGrpSpPr>
      <p:grpSpPr>
        <a:xfrm>
          <a:off x="0" y="0"/>
          <a:ext cx="0" cy="0"/>
          <a:chOff x="0" y="0"/>
          <a:chExt cx="0" cy="0"/>
        </a:xfrm>
      </p:grpSpPr>
      <p:sp>
        <p:nvSpPr>
          <p:cNvPr id="392" name="Google Shape;392;p43"/>
          <p:cNvSpPr txBox="1"/>
          <p:nvPr/>
        </p:nvSpPr>
        <p:spPr>
          <a:xfrm>
            <a:off x="682228" y="749175"/>
            <a:ext cx="7426200" cy="335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What has accomplished and what is the plan for next week.</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I accomplished fixing my feedback that was given from last week. I also graphed two new questions and filled out the rest of the slides.</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What are the obstacles that you need help.</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I just wanna make sure that </a:t>
            </a:r>
            <a:r>
              <a:rPr b="1" lang="en" sz="2420">
                <a:solidFill>
                  <a:schemeClr val="lt1"/>
                </a:solidFill>
                <a:latin typeface="Proxima Nova"/>
                <a:ea typeface="Proxima Nova"/>
                <a:cs typeface="Proxima Nova"/>
                <a:sym typeface="Proxima Nova"/>
              </a:rPr>
              <a:t>I'm</a:t>
            </a:r>
            <a:r>
              <a:rPr b="1" lang="en" sz="2420">
                <a:solidFill>
                  <a:schemeClr val="lt1"/>
                </a:solidFill>
                <a:latin typeface="Proxima Nova"/>
                <a:ea typeface="Proxima Nova"/>
                <a:cs typeface="Proxima Nova"/>
                <a:sym typeface="Proxima Nova"/>
              </a:rPr>
              <a:t> doing everything properly. </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t/>
            </a:r>
            <a:endParaRPr b="1" sz="2420">
              <a:solidFill>
                <a:schemeClr val="lt1"/>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396" name="Shape 396"/>
        <p:cNvGrpSpPr/>
        <p:nvPr/>
      </p:nvGrpSpPr>
      <p:grpSpPr>
        <a:xfrm>
          <a:off x="0" y="0"/>
          <a:ext cx="0" cy="0"/>
          <a:chOff x="0" y="0"/>
          <a:chExt cx="0" cy="0"/>
        </a:xfrm>
      </p:grpSpPr>
      <p:grpSp>
        <p:nvGrpSpPr>
          <p:cNvPr id="397" name="Google Shape;397;p44"/>
          <p:cNvGrpSpPr/>
          <p:nvPr/>
        </p:nvGrpSpPr>
        <p:grpSpPr>
          <a:xfrm>
            <a:off x="514350" y="514350"/>
            <a:ext cx="434848" cy="434848"/>
            <a:chOff x="0" y="0"/>
            <a:chExt cx="812800" cy="812800"/>
          </a:xfrm>
        </p:grpSpPr>
        <p:sp>
          <p:nvSpPr>
            <p:cNvPr id="398" name="Google Shape;398;p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99" name="Google Shape;399;p44"/>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00" name="Google Shape;400;p44"/>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401" name="Google Shape;401;p44"/>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02" name="Google Shape;402;p44"/>
          <p:cNvSpPr/>
          <p:nvPr/>
        </p:nvSpPr>
        <p:spPr>
          <a:xfrm rot="-9568652">
            <a:off x="7254962" y="593447"/>
            <a:ext cx="514298" cy="27429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5">
              <a:alphaModFix/>
            </a:blip>
            <a:stretch>
              <a:fillRect b="0" l="0" r="0" t="0"/>
            </a:stretch>
          </a:blipFill>
          <a:ln>
            <a:noFill/>
          </a:ln>
        </p:spPr>
      </p:sp>
      <p:sp>
        <p:nvSpPr>
          <p:cNvPr id="403" name="Google Shape;403;p44"/>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04" name="Google Shape;404;p44"/>
          <p:cNvSpPr/>
          <p:nvPr/>
        </p:nvSpPr>
        <p:spPr>
          <a:xfrm flipH="1" rot="10003604">
            <a:off x="763669" y="2012094"/>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
        <p:nvSpPr>
          <p:cNvPr id="405" name="Google Shape;405;p44"/>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06" name="Google Shape;406;p44"/>
          <p:cNvSpPr txBox="1"/>
          <p:nvPr/>
        </p:nvSpPr>
        <p:spPr>
          <a:xfrm>
            <a:off x="2406457" y="189075"/>
            <a:ext cx="4331100" cy="461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3000">
                <a:solidFill>
                  <a:srgbClr val="FFFFFF"/>
                </a:solidFill>
              </a:rPr>
              <a:t>Feed back:</a:t>
            </a:r>
            <a:endParaRPr b="1" sz="700"/>
          </a:p>
        </p:txBody>
      </p:sp>
      <p:sp>
        <p:nvSpPr>
          <p:cNvPr id="407" name="Google Shape;407;p44"/>
          <p:cNvSpPr txBox="1"/>
          <p:nvPr/>
        </p:nvSpPr>
        <p:spPr>
          <a:xfrm>
            <a:off x="723199" y="1031775"/>
            <a:ext cx="7341300" cy="3528000"/>
          </a:xfrm>
          <a:prstGeom prst="rect">
            <a:avLst/>
          </a:prstGeom>
          <a:noFill/>
          <a:ln>
            <a:noFill/>
          </a:ln>
        </p:spPr>
        <p:txBody>
          <a:bodyPr anchorCtr="0" anchor="t" bIns="0" lIns="0" spcFirstLastPara="1" rIns="0" wrap="square" tIns="0">
            <a:spAutoFit/>
          </a:bodyPr>
          <a:lstStyle/>
          <a:p>
            <a:pPr indent="0" lvl="0" marL="457200" marR="0" rtl="0" algn="ctr">
              <a:lnSpc>
                <a:spcPct val="140000"/>
              </a:lnSpc>
              <a:spcBef>
                <a:spcPts val="0"/>
              </a:spcBef>
              <a:spcAft>
                <a:spcPts val="0"/>
              </a:spcAft>
              <a:buNone/>
            </a:pPr>
            <a:r>
              <a:rPr b="1" lang="en" sz="1500">
                <a:solidFill>
                  <a:srgbClr val="FFFFFF"/>
                </a:solidFill>
              </a:rPr>
              <a:t>The feedback from last week:</a:t>
            </a:r>
            <a:endParaRPr b="1" sz="1500">
              <a:solidFill>
                <a:srgbClr val="FFFFFF"/>
              </a:solidFill>
            </a:endParaRPr>
          </a:p>
          <a:p>
            <a:pPr indent="-304800" lvl="0" marL="457200" marR="0" rtl="0" algn="ctr">
              <a:lnSpc>
                <a:spcPct val="140000"/>
              </a:lnSpc>
              <a:spcBef>
                <a:spcPts val="0"/>
              </a:spcBef>
              <a:spcAft>
                <a:spcPts val="0"/>
              </a:spcAft>
              <a:buClr>
                <a:srgbClr val="FFFFFF"/>
              </a:buClr>
              <a:buSzPts val="1200"/>
              <a:buChar char="●"/>
            </a:pPr>
            <a:r>
              <a:rPr lang="en" sz="1200">
                <a:solidFill>
                  <a:srgbClr val="FFFFFF"/>
                </a:solidFill>
              </a:rPr>
              <a:t>“this plot is too busy, you can consider split into two for sleep duration and stress level, if you would like to show the relationship between sleep duration and stress level, then use a scatter plot”</a:t>
            </a:r>
            <a:endParaRPr sz="1200">
              <a:solidFill>
                <a:srgbClr val="FFFFFF"/>
              </a:solidFill>
            </a:endParaRPr>
          </a:p>
          <a:p>
            <a:pPr indent="-304800" lvl="0" marL="457200" marR="0" rtl="0" algn="ctr">
              <a:lnSpc>
                <a:spcPct val="140000"/>
              </a:lnSpc>
              <a:spcBef>
                <a:spcPts val="0"/>
              </a:spcBef>
              <a:spcAft>
                <a:spcPts val="0"/>
              </a:spcAft>
              <a:buClr>
                <a:srgbClr val="FFFFFF"/>
              </a:buClr>
              <a:buSzPts val="1200"/>
              <a:buChar char="●"/>
            </a:pPr>
            <a:r>
              <a:rPr lang="en" sz="1200">
                <a:solidFill>
                  <a:srgbClr val="FFFFFF"/>
                </a:solidFill>
              </a:rPr>
              <a:t>“uhm, this is a type "ugly" plot, the bar are so close to each other, consider horizontal bar, please check out the resourced introduced in today's class today”</a:t>
            </a:r>
            <a:endParaRPr sz="1200">
              <a:solidFill>
                <a:srgbClr val="FFFFFF"/>
              </a:solidFill>
            </a:endParaRPr>
          </a:p>
          <a:p>
            <a:pPr indent="0" lvl="0" marL="457200" marR="0" rtl="0" algn="ctr">
              <a:lnSpc>
                <a:spcPct val="140000"/>
              </a:lnSpc>
              <a:spcBef>
                <a:spcPts val="0"/>
              </a:spcBef>
              <a:spcAft>
                <a:spcPts val="0"/>
              </a:spcAft>
              <a:buNone/>
            </a:pPr>
            <a:r>
              <a:rPr b="1" lang="en" sz="1500">
                <a:solidFill>
                  <a:srgbClr val="FFFFFF"/>
                </a:solidFill>
              </a:rPr>
              <a:t>How I fixed it :</a:t>
            </a:r>
            <a:endParaRPr b="1"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split the </a:t>
            </a:r>
            <a:r>
              <a:rPr lang="en" sz="1500">
                <a:solidFill>
                  <a:srgbClr val="FFFFFF"/>
                </a:solidFill>
              </a:rPr>
              <a:t>original</a:t>
            </a:r>
            <a:r>
              <a:rPr lang="en" sz="1500">
                <a:solidFill>
                  <a:srgbClr val="FFFFFF"/>
                </a:solidFill>
              </a:rPr>
              <a:t> busy plots into two different questions. One showing sleep duration by occupation and the other showing average stress levels/</a:t>
            </a:r>
            <a:endParaRPr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used a scatter </a:t>
            </a:r>
            <a:r>
              <a:rPr lang="en" sz="1500">
                <a:solidFill>
                  <a:srgbClr val="FFFFFF"/>
                </a:solidFill>
              </a:rPr>
              <a:t>plot</a:t>
            </a:r>
            <a:r>
              <a:rPr lang="en" sz="1500">
                <a:solidFill>
                  <a:srgbClr val="FFFFFF"/>
                </a:solidFill>
              </a:rPr>
              <a:t> to show the </a:t>
            </a:r>
            <a:r>
              <a:rPr lang="en" sz="1500">
                <a:solidFill>
                  <a:srgbClr val="FFFFFF"/>
                </a:solidFill>
              </a:rPr>
              <a:t>relationship</a:t>
            </a:r>
            <a:r>
              <a:rPr lang="en" sz="1500">
                <a:solidFill>
                  <a:srgbClr val="FFFFFF"/>
                </a:solidFill>
              </a:rPr>
              <a:t> between sleep and stress</a:t>
            </a:r>
            <a:endParaRPr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switched to a horizontal bar chart to improve spacing </a:t>
            </a:r>
            <a:endParaRPr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reviewed class resources and applied the </a:t>
            </a:r>
            <a:r>
              <a:rPr lang="en" sz="1500">
                <a:solidFill>
                  <a:srgbClr val="FFFFFF"/>
                </a:solidFill>
              </a:rPr>
              <a:t>recommendation</a:t>
            </a:r>
            <a:r>
              <a:rPr lang="en" sz="1500">
                <a:solidFill>
                  <a:srgbClr val="FFFFFF"/>
                </a:solidFill>
              </a:rPr>
              <a:t> to practice my plots so it is easier to </a:t>
            </a:r>
            <a:r>
              <a:rPr lang="en" sz="1500">
                <a:solidFill>
                  <a:srgbClr val="FFFFFF"/>
                </a:solidFill>
              </a:rPr>
              <a:t>interpret</a:t>
            </a:r>
            <a:r>
              <a:rPr lang="en" sz="1500">
                <a:solidFill>
                  <a:srgbClr val="FFFFFF"/>
                </a:solidFill>
              </a:rPr>
              <a:t>.</a:t>
            </a:r>
            <a:endParaRPr sz="1500">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411" name="Shape 411"/>
        <p:cNvGrpSpPr/>
        <p:nvPr/>
      </p:nvGrpSpPr>
      <p:grpSpPr>
        <a:xfrm>
          <a:off x="0" y="0"/>
          <a:ext cx="0" cy="0"/>
          <a:chOff x="0" y="0"/>
          <a:chExt cx="0" cy="0"/>
        </a:xfrm>
      </p:grpSpPr>
      <p:sp>
        <p:nvSpPr>
          <p:cNvPr id="412" name="Google Shape;412;p45"/>
          <p:cNvSpPr txBox="1"/>
          <p:nvPr/>
        </p:nvSpPr>
        <p:spPr>
          <a:xfrm>
            <a:off x="2162270" y="2082663"/>
            <a:ext cx="4543800" cy="7389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800" u="sng">
                <a:solidFill>
                  <a:srgbClr val="FFFFFF"/>
                </a:solidFill>
              </a:rPr>
              <a:t>M</a:t>
            </a:r>
            <a:r>
              <a:rPr b="1" i="0" lang="en" sz="4800" u="sng" cap="none" strike="noStrike">
                <a:solidFill>
                  <a:srgbClr val="FFFFFF"/>
                </a:solidFill>
              </a:rPr>
              <a:t>ini update #</a:t>
            </a:r>
            <a:r>
              <a:rPr b="1" lang="en" sz="4800" u="sng">
                <a:solidFill>
                  <a:srgbClr val="FFFFFF"/>
                </a:solidFill>
              </a:rPr>
              <a:t>5</a:t>
            </a:r>
            <a:endParaRPr b="1" sz="2500" u="sng"/>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416" name="Shape 416"/>
        <p:cNvGrpSpPr/>
        <p:nvPr/>
      </p:nvGrpSpPr>
      <p:grpSpPr>
        <a:xfrm>
          <a:off x="0" y="0"/>
          <a:ext cx="0" cy="0"/>
          <a:chOff x="0" y="0"/>
          <a:chExt cx="0" cy="0"/>
        </a:xfrm>
      </p:grpSpPr>
      <p:sp>
        <p:nvSpPr>
          <p:cNvPr id="417" name="Google Shape;417;p46"/>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418" name="Google Shape;418;p46"/>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pic>
        <p:nvPicPr>
          <p:cNvPr id="419" name="Google Shape;419;p46"/>
          <p:cNvPicPr preferRelativeResize="0"/>
          <p:nvPr/>
        </p:nvPicPr>
        <p:blipFill>
          <a:blip r:embed="rId5">
            <a:alphaModFix/>
          </a:blip>
          <a:stretch>
            <a:fillRect/>
          </a:stretch>
        </p:blipFill>
        <p:spPr>
          <a:xfrm>
            <a:off x="152400" y="1201700"/>
            <a:ext cx="8839202" cy="2015128"/>
          </a:xfrm>
          <a:prstGeom prst="rect">
            <a:avLst/>
          </a:prstGeom>
          <a:noFill/>
          <a:ln>
            <a:noFill/>
          </a:ln>
        </p:spPr>
      </p:pic>
      <p:sp>
        <p:nvSpPr>
          <p:cNvPr id="420" name="Google Shape;420;p46"/>
          <p:cNvSpPr txBox="1"/>
          <p:nvPr/>
        </p:nvSpPr>
        <p:spPr>
          <a:xfrm>
            <a:off x="152400" y="3216825"/>
            <a:ext cx="8545200" cy="16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Calibri"/>
                <a:ea typeface="Calibri"/>
                <a:cs typeface="Calibri"/>
                <a:sym typeface="Calibri"/>
              </a:rPr>
              <a:t>This data story is organized into three themes to show how different factors influence sleep. The first section focuses on work and occupation, showing how job type affects sleep duration. The second section highlights lifestyle habits, including physical activity and heart rate, and how they relate to sleep. The final section examines demographic and health factors, such as age and BMI, to show how personal characteristics shape sleep patterns. Together, these insights show that sleep is influenced by a combination of work demands, daily habits, and individual health factors.</a:t>
            </a:r>
            <a:endParaRPr sz="1600">
              <a:solidFill>
                <a:schemeClr val="lt1"/>
              </a:solidFill>
              <a:latin typeface="Calibri"/>
              <a:ea typeface="Calibri"/>
              <a:cs typeface="Calibri"/>
              <a:sym typeface="Calibri"/>
            </a:endParaRPr>
          </a:p>
        </p:txBody>
      </p:sp>
      <p:sp>
        <p:nvSpPr>
          <p:cNvPr id="421" name="Google Shape;421;p46"/>
          <p:cNvSpPr txBox="1"/>
          <p:nvPr/>
        </p:nvSpPr>
        <p:spPr>
          <a:xfrm>
            <a:off x="1802820" y="267513"/>
            <a:ext cx="4543800" cy="7389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4800" u="sng">
                <a:solidFill>
                  <a:srgbClr val="FFFFFF"/>
                </a:solidFill>
              </a:rPr>
              <a:t>Story Studio</a:t>
            </a:r>
            <a:endParaRPr b="1" sz="2500" u="sng"/>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425" name="Shape 425"/>
        <p:cNvGrpSpPr/>
        <p:nvPr/>
      </p:nvGrpSpPr>
      <p:grpSpPr>
        <a:xfrm>
          <a:off x="0" y="0"/>
          <a:ext cx="0" cy="0"/>
          <a:chOff x="0" y="0"/>
          <a:chExt cx="0" cy="0"/>
        </a:xfrm>
      </p:grpSpPr>
      <p:sp>
        <p:nvSpPr>
          <p:cNvPr id="426" name="Google Shape;426;p47"/>
          <p:cNvSpPr txBox="1"/>
          <p:nvPr/>
        </p:nvSpPr>
        <p:spPr>
          <a:xfrm>
            <a:off x="2162270" y="2082663"/>
            <a:ext cx="4543800" cy="3849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t/>
            </a:r>
            <a:endParaRPr b="1" sz="2500" u="sng"/>
          </a:p>
        </p:txBody>
      </p:sp>
      <p:pic>
        <p:nvPicPr>
          <p:cNvPr id="427" name="Google Shape;427;p47"/>
          <p:cNvPicPr preferRelativeResize="0"/>
          <p:nvPr/>
        </p:nvPicPr>
        <p:blipFill>
          <a:blip r:embed="rId3">
            <a:alphaModFix/>
          </a:blip>
          <a:stretch>
            <a:fillRect/>
          </a:stretch>
        </p:blipFill>
        <p:spPr>
          <a:xfrm>
            <a:off x="2162262" y="364400"/>
            <a:ext cx="4039275" cy="2207350"/>
          </a:xfrm>
          <a:prstGeom prst="rect">
            <a:avLst/>
          </a:prstGeom>
          <a:noFill/>
          <a:ln>
            <a:noFill/>
          </a:ln>
        </p:spPr>
      </p:pic>
      <p:sp>
        <p:nvSpPr>
          <p:cNvPr id="428" name="Google Shape;428;p47"/>
          <p:cNvSpPr txBox="1"/>
          <p:nvPr/>
        </p:nvSpPr>
        <p:spPr>
          <a:xfrm>
            <a:off x="239700" y="2571750"/>
            <a:ext cx="8904300" cy="129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Calibri"/>
                <a:ea typeface="Calibri"/>
                <a:cs typeface="Calibri"/>
                <a:sym typeface="Calibri"/>
              </a:rPr>
              <a:t>In the Sleep Health and Lifestyle dataset, I focused on the relationship between physical activity level and sleep duration. The data shows that people with higher activity levels tend to sleep slightly longer than those with lower activity levels. Even though the difference isn’t dramatic, the pattern is consistent: movement supports better rest. This insight stood out to me because of my own experience as a student‑athlete. On days when I train hard or get a lot of steps in, I fall asleep faster. But when I tend to have my rest day, I have more stressful days, my sleep feels shorter and less refreshing.</a:t>
            </a:r>
            <a:endParaRPr>
              <a:solidFill>
                <a:schemeClr val="lt1"/>
              </a:solidFill>
              <a:latin typeface="Calibri"/>
              <a:ea typeface="Calibri"/>
              <a:cs typeface="Calibri"/>
              <a:sym typeface="Calibri"/>
            </a:endParaRPr>
          </a:p>
          <a:p>
            <a:pPr indent="0" lvl="0" marL="0" rtl="0" algn="l">
              <a:spcBef>
                <a:spcPts val="0"/>
              </a:spcBef>
              <a:spcAft>
                <a:spcPts val="0"/>
              </a:spcAft>
              <a:buNone/>
            </a:pPr>
            <a:r>
              <a:rPr lang="en">
                <a:solidFill>
                  <a:schemeClr val="lt1"/>
                </a:solidFill>
                <a:latin typeface="Calibri"/>
                <a:ea typeface="Calibri"/>
                <a:cs typeface="Calibri"/>
                <a:sym typeface="Calibri"/>
              </a:rPr>
              <a:t>Seeing this pattern in the dataset helped me realize that my habits actually reflect real data. It reminded me that staying active isn’t just about performance, it’s also about recovery and mental health. This matters to other students too, especially those balancing school, work, and personal responsibilities. Many people underestimate how much daily movement affects their sleep and energy. By understanding this connection, we can make small changes that lead to better rest, focus, and overall well‑being.</a:t>
            </a:r>
            <a:endParaRPr>
              <a:solidFill>
                <a:schemeClr val="lt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grpSp>
        <p:nvGrpSpPr>
          <p:cNvPr id="429" name="Google Shape;429;p47"/>
          <p:cNvGrpSpPr/>
          <p:nvPr/>
        </p:nvGrpSpPr>
        <p:grpSpPr>
          <a:xfrm>
            <a:off x="514350" y="514350"/>
            <a:ext cx="434848" cy="434848"/>
            <a:chOff x="0" y="0"/>
            <a:chExt cx="812800" cy="812800"/>
          </a:xfrm>
        </p:grpSpPr>
        <p:sp>
          <p:nvSpPr>
            <p:cNvPr id="430" name="Google Shape;430;p4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1" name="Google Shape;431;p4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32" name="Google Shape;432;p47"/>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33" name="Google Shape;433;p47"/>
          <p:cNvSpPr/>
          <p:nvPr/>
        </p:nvSpPr>
        <p:spPr>
          <a:xfrm>
            <a:off x="7092019" y="1031405"/>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34" name="Google Shape;434;p47"/>
          <p:cNvSpPr/>
          <p:nvPr/>
        </p:nvSpPr>
        <p:spPr>
          <a:xfrm flipH="1" rot="10003604">
            <a:off x="763669" y="2012094"/>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grpSp>
        <p:nvGrpSpPr>
          <p:cNvPr id="435" name="Google Shape;435;p47"/>
          <p:cNvGrpSpPr/>
          <p:nvPr/>
        </p:nvGrpSpPr>
        <p:grpSpPr>
          <a:xfrm>
            <a:off x="666750" y="666750"/>
            <a:ext cx="434848" cy="434848"/>
            <a:chOff x="0" y="0"/>
            <a:chExt cx="812800" cy="812800"/>
          </a:xfrm>
        </p:grpSpPr>
        <p:sp>
          <p:nvSpPr>
            <p:cNvPr id="436" name="Google Shape;436;p4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37" name="Google Shape;437;p4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38" name="Google Shape;438;p47"/>
          <p:cNvSpPr/>
          <p:nvPr/>
        </p:nvSpPr>
        <p:spPr>
          <a:xfrm>
            <a:off x="8327335" y="181166"/>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39" name="Google Shape;439;p47"/>
          <p:cNvSpPr/>
          <p:nvPr/>
        </p:nvSpPr>
        <p:spPr>
          <a:xfrm>
            <a:off x="1732419" y="918355"/>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40" name="Google Shape;440;p47"/>
          <p:cNvSpPr/>
          <p:nvPr/>
        </p:nvSpPr>
        <p:spPr>
          <a:xfrm flipH="1" rot="10003604">
            <a:off x="7786569" y="1330469"/>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444" name="Shape 444"/>
        <p:cNvGrpSpPr/>
        <p:nvPr/>
      </p:nvGrpSpPr>
      <p:grpSpPr>
        <a:xfrm>
          <a:off x="0" y="0"/>
          <a:ext cx="0" cy="0"/>
          <a:chOff x="0" y="0"/>
          <a:chExt cx="0" cy="0"/>
        </a:xfrm>
      </p:grpSpPr>
      <p:pic>
        <p:nvPicPr>
          <p:cNvPr id="445" name="Google Shape;445;p48" title="106629f4-364c-4e53-ab11-6f9c1da8f898.png"/>
          <p:cNvPicPr preferRelativeResize="0"/>
          <p:nvPr/>
        </p:nvPicPr>
        <p:blipFill>
          <a:blip r:embed="rId3">
            <a:alphaModFix/>
          </a:blip>
          <a:stretch>
            <a:fillRect/>
          </a:stretch>
        </p:blipFill>
        <p:spPr>
          <a:xfrm>
            <a:off x="4818588" y="969988"/>
            <a:ext cx="3562070" cy="2017137"/>
          </a:xfrm>
          <a:prstGeom prst="rect">
            <a:avLst/>
          </a:prstGeom>
          <a:noFill/>
          <a:ln>
            <a:noFill/>
          </a:ln>
        </p:spPr>
      </p:pic>
      <p:sp>
        <p:nvSpPr>
          <p:cNvPr id="446" name="Google Shape;446;p48"/>
          <p:cNvSpPr txBox="1"/>
          <p:nvPr/>
        </p:nvSpPr>
        <p:spPr>
          <a:xfrm>
            <a:off x="287550" y="3091100"/>
            <a:ext cx="80931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rPr>
              <a:t>This graph compares the average sleep duration for people with different sleep disorder statuses: Insomnia, Sleep Apnea, and None. The results show a clear pattern. Individuals with no sleep disorder get the most sleep on average, slightly above 7 hours. Those with Sleep Apnea sleep a little less, around 7 hours. People with Insomnia get the least sleep, averaging just under 7 hours. Overall, the graph suggests that having a sleep disorder especially insomnia  is linked to shorter sleep duration. </a:t>
            </a:r>
            <a:endParaRPr sz="1900">
              <a:solidFill>
                <a:schemeClr val="lt1"/>
              </a:solidFill>
            </a:endParaRPr>
          </a:p>
        </p:txBody>
      </p:sp>
      <p:sp>
        <p:nvSpPr>
          <p:cNvPr id="447" name="Google Shape;447;p48"/>
          <p:cNvSpPr txBox="1"/>
          <p:nvPr/>
        </p:nvSpPr>
        <p:spPr>
          <a:xfrm>
            <a:off x="968125" y="296625"/>
            <a:ext cx="5814000" cy="569400"/>
          </a:xfrm>
          <a:prstGeom prst="rect">
            <a:avLst/>
          </a:prstGeom>
          <a:noFill/>
          <a:ln>
            <a:noFill/>
          </a:ln>
        </p:spPr>
        <p:txBody>
          <a:bodyPr anchorCtr="0" anchor="t" bIns="91425" lIns="91425" spcFirstLastPara="1" rIns="91425" wrap="square" tIns="91425">
            <a:spAutoFit/>
          </a:bodyPr>
          <a:lstStyle/>
          <a:p>
            <a:pPr indent="0" lvl="0" marL="0" rtl="0" algn="ctr">
              <a:lnSpc>
                <a:spcPct val="140006"/>
              </a:lnSpc>
              <a:spcBef>
                <a:spcPts val="0"/>
              </a:spcBef>
              <a:spcAft>
                <a:spcPts val="0"/>
              </a:spcAft>
              <a:buNone/>
            </a:pPr>
            <a:r>
              <a:rPr b="1" lang="en" sz="2500">
                <a:solidFill>
                  <a:schemeClr val="lt1"/>
                </a:solidFill>
              </a:rPr>
              <a:t>Does sleep disorders affect sleep? </a:t>
            </a:r>
            <a:endParaRPr b="1" sz="200">
              <a:solidFill>
                <a:schemeClr val="dk1"/>
              </a:solidFill>
            </a:endParaRPr>
          </a:p>
        </p:txBody>
      </p:sp>
      <p:grpSp>
        <p:nvGrpSpPr>
          <p:cNvPr id="448" name="Google Shape;448;p48"/>
          <p:cNvGrpSpPr/>
          <p:nvPr/>
        </p:nvGrpSpPr>
        <p:grpSpPr>
          <a:xfrm>
            <a:off x="514350" y="514350"/>
            <a:ext cx="434848" cy="434848"/>
            <a:chOff x="0" y="0"/>
            <a:chExt cx="812800" cy="812800"/>
          </a:xfrm>
        </p:grpSpPr>
        <p:sp>
          <p:nvSpPr>
            <p:cNvPr id="449" name="Google Shape;449;p4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0" name="Google Shape;450;p48"/>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51" name="Google Shape;451;p48"/>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52" name="Google Shape;452;p48"/>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53" name="Google Shape;453;p48"/>
          <p:cNvSpPr/>
          <p:nvPr/>
        </p:nvSpPr>
        <p:spPr>
          <a:xfrm flipH="1" rot="10003604">
            <a:off x="763669" y="2012094"/>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grpSp>
        <p:nvGrpSpPr>
          <p:cNvPr id="454" name="Google Shape;454;p48"/>
          <p:cNvGrpSpPr/>
          <p:nvPr/>
        </p:nvGrpSpPr>
        <p:grpSpPr>
          <a:xfrm>
            <a:off x="7924638" y="226450"/>
            <a:ext cx="434848" cy="434848"/>
            <a:chOff x="0" y="0"/>
            <a:chExt cx="812800" cy="812800"/>
          </a:xfrm>
        </p:grpSpPr>
        <p:sp>
          <p:nvSpPr>
            <p:cNvPr id="455" name="Google Shape;455;p4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36FC7"/>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456" name="Google Shape;456;p48"/>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94388"/>
                </a:lnSpc>
                <a:spcBef>
                  <a:spcPts val="0"/>
                </a:spcBef>
                <a:spcAft>
                  <a:spcPts val="0"/>
                </a:spcAft>
                <a:buNone/>
              </a:pPr>
              <a:r>
                <a:t/>
              </a:r>
              <a:endParaRPr b="0" i="0" sz="900" u="none" cap="none" strike="noStrike">
                <a:solidFill>
                  <a:schemeClr val="dk1"/>
                </a:solidFill>
                <a:latin typeface="Calibri"/>
                <a:ea typeface="Calibri"/>
                <a:cs typeface="Calibri"/>
                <a:sym typeface="Calibri"/>
              </a:endParaRPr>
            </a:p>
          </p:txBody>
        </p:sp>
      </p:grpSp>
      <p:sp>
        <p:nvSpPr>
          <p:cNvPr id="457" name="Google Shape;457;p48"/>
          <p:cNvSpPr/>
          <p:nvPr/>
        </p:nvSpPr>
        <p:spPr>
          <a:xfrm>
            <a:off x="8359473" y="35474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58" name="Google Shape;458;p48"/>
          <p:cNvSpPr/>
          <p:nvPr/>
        </p:nvSpPr>
        <p:spPr>
          <a:xfrm>
            <a:off x="8990307" y="478055"/>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59" name="Google Shape;459;p48"/>
          <p:cNvSpPr/>
          <p:nvPr/>
        </p:nvSpPr>
        <p:spPr>
          <a:xfrm flipH="1" rot="10003604">
            <a:off x="8173957" y="1724194"/>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463" name="Shape 463"/>
        <p:cNvGrpSpPr/>
        <p:nvPr/>
      </p:nvGrpSpPr>
      <p:grpSpPr>
        <a:xfrm>
          <a:off x="0" y="0"/>
          <a:ext cx="0" cy="0"/>
          <a:chOff x="0" y="0"/>
          <a:chExt cx="0" cy="0"/>
        </a:xfrm>
      </p:grpSpPr>
      <p:sp>
        <p:nvSpPr>
          <p:cNvPr id="464" name="Google Shape;464;p49"/>
          <p:cNvSpPr txBox="1"/>
          <p:nvPr/>
        </p:nvSpPr>
        <p:spPr>
          <a:xfrm>
            <a:off x="682228" y="749175"/>
            <a:ext cx="7426200" cy="3725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What has accomplished and what is the plan for next week.</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I accomplished using story studio and writing a Micro story draft and filled out the rest of the slides.</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What are the obstacles that you need help.</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rPr b="1" lang="en" sz="2420">
                <a:solidFill>
                  <a:schemeClr val="lt1"/>
                </a:solidFill>
                <a:latin typeface="Proxima Nova"/>
                <a:ea typeface="Proxima Nova"/>
                <a:cs typeface="Proxima Nova"/>
                <a:sym typeface="Proxima Nova"/>
              </a:rPr>
              <a:t>I overall just had trouble trying to group and explain my data but after some </a:t>
            </a:r>
            <a:r>
              <a:rPr b="1" lang="en" sz="2420">
                <a:solidFill>
                  <a:schemeClr val="lt1"/>
                </a:solidFill>
                <a:latin typeface="Proxima Nova"/>
                <a:ea typeface="Proxima Nova"/>
                <a:cs typeface="Proxima Nova"/>
                <a:sym typeface="Proxima Nova"/>
              </a:rPr>
              <a:t>trial</a:t>
            </a:r>
            <a:r>
              <a:rPr b="1" lang="en" sz="2420">
                <a:solidFill>
                  <a:schemeClr val="lt1"/>
                </a:solidFill>
                <a:latin typeface="Proxima Nova"/>
                <a:ea typeface="Proxima Nova"/>
                <a:cs typeface="Proxima Nova"/>
                <a:sym typeface="Proxima Nova"/>
              </a:rPr>
              <a:t> and error I </a:t>
            </a:r>
            <a:r>
              <a:rPr b="1" lang="en" sz="2420">
                <a:solidFill>
                  <a:schemeClr val="lt1"/>
                </a:solidFill>
                <a:latin typeface="Proxima Nova"/>
                <a:ea typeface="Proxima Nova"/>
                <a:cs typeface="Proxima Nova"/>
                <a:sym typeface="Proxima Nova"/>
              </a:rPr>
              <a:t>found a good way to explain which helped me understand the data story more.</a:t>
            </a:r>
            <a:endParaRPr b="1" sz="2420">
              <a:solidFill>
                <a:schemeClr val="lt1"/>
              </a:solidFill>
              <a:latin typeface="Proxima Nova"/>
              <a:ea typeface="Proxima Nova"/>
              <a:cs typeface="Proxima Nova"/>
              <a:sym typeface="Proxima Nova"/>
            </a:endParaRPr>
          </a:p>
          <a:p>
            <a:pPr indent="0" lvl="0" marL="0" rtl="0" algn="l">
              <a:spcBef>
                <a:spcPts val="0"/>
              </a:spcBef>
              <a:spcAft>
                <a:spcPts val="0"/>
              </a:spcAft>
              <a:buSzPts val="990"/>
              <a:buNone/>
            </a:pPr>
            <a:r>
              <a:t/>
            </a:r>
            <a:endParaRPr b="1" sz="2420">
              <a:solidFill>
                <a:schemeClr val="lt1"/>
              </a:solidFill>
              <a:latin typeface="Proxima Nova"/>
              <a:ea typeface="Proxima Nova"/>
              <a:cs typeface="Proxima Nova"/>
              <a:sym typeface="Proxima Nov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B3D76"/>
        </a:solidFill>
      </p:bgPr>
    </p:bg>
    <p:spTree>
      <p:nvGrpSpPr>
        <p:cNvPr id="468" name="Shape 468"/>
        <p:cNvGrpSpPr/>
        <p:nvPr/>
      </p:nvGrpSpPr>
      <p:grpSpPr>
        <a:xfrm>
          <a:off x="0" y="0"/>
          <a:ext cx="0" cy="0"/>
          <a:chOff x="0" y="0"/>
          <a:chExt cx="0" cy="0"/>
        </a:xfrm>
      </p:grpSpPr>
      <p:sp>
        <p:nvSpPr>
          <p:cNvPr id="469" name="Google Shape;469;p50"/>
          <p:cNvSpPr/>
          <p:nvPr/>
        </p:nvSpPr>
        <p:spPr>
          <a:xfrm>
            <a:off x="7290907" y="4483373"/>
            <a:ext cx="697638" cy="291554"/>
          </a:xfrm>
          <a:custGeom>
            <a:rect b="b" l="l" r="r" t="t"/>
            <a:pathLst>
              <a:path extrusionOk="0" h="583109" w="1395277">
                <a:moveTo>
                  <a:pt x="0" y="0"/>
                </a:moveTo>
                <a:lnTo>
                  <a:pt x="1395277" y="0"/>
                </a:lnTo>
                <a:lnTo>
                  <a:pt x="1395277" y="583110"/>
                </a:lnTo>
                <a:lnTo>
                  <a:pt x="0" y="583110"/>
                </a:lnTo>
                <a:lnTo>
                  <a:pt x="0" y="0"/>
                </a:lnTo>
                <a:close/>
              </a:path>
            </a:pathLst>
          </a:custGeom>
          <a:blipFill rotWithShape="1">
            <a:blip r:embed="rId3">
              <a:alphaModFix/>
            </a:blip>
            <a:stretch>
              <a:fillRect b="0" l="0" r="0" t="0"/>
            </a:stretch>
          </a:blipFill>
          <a:ln>
            <a:noFill/>
          </a:ln>
        </p:spPr>
      </p:sp>
      <p:sp>
        <p:nvSpPr>
          <p:cNvPr id="470" name="Google Shape;470;p50"/>
          <p:cNvSpPr/>
          <p:nvPr/>
        </p:nvSpPr>
        <p:spPr>
          <a:xfrm>
            <a:off x="949186" y="3835341"/>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71" name="Google Shape;471;p50"/>
          <p:cNvSpPr/>
          <p:nvPr/>
        </p:nvSpPr>
        <p:spPr>
          <a:xfrm rot="-9568652">
            <a:off x="7254962" y="593447"/>
            <a:ext cx="514298" cy="274293"/>
          </a:xfrm>
          <a:custGeom>
            <a:rect b="b" l="l" r="r" t="t"/>
            <a:pathLst>
              <a:path extrusionOk="0" h="549486" w="1030285">
                <a:moveTo>
                  <a:pt x="1030286" y="549486"/>
                </a:moveTo>
                <a:lnTo>
                  <a:pt x="0" y="549486"/>
                </a:lnTo>
                <a:lnTo>
                  <a:pt x="0" y="0"/>
                </a:lnTo>
                <a:lnTo>
                  <a:pt x="1030286" y="0"/>
                </a:lnTo>
                <a:lnTo>
                  <a:pt x="1030286" y="549486"/>
                </a:lnTo>
                <a:close/>
              </a:path>
            </a:pathLst>
          </a:custGeom>
          <a:blipFill rotWithShape="1">
            <a:blip r:embed="rId5">
              <a:alphaModFix/>
            </a:blip>
            <a:stretch>
              <a:fillRect b="0" l="0" r="0" t="0"/>
            </a:stretch>
          </a:blipFill>
          <a:ln>
            <a:noFill/>
          </a:ln>
        </p:spPr>
      </p:sp>
      <p:sp>
        <p:nvSpPr>
          <p:cNvPr id="472" name="Google Shape;472;p50"/>
          <p:cNvSpPr/>
          <p:nvPr/>
        </p:nvSpPr>
        <p:spPr>
          <a:xfrm>
            <a:off x="1580019" y="765955"/>
            <a:ext cx="235414"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73" name="Google Shape;473;p50"/>
          <p:cNvSpPr/>
          <p:nvPr/>
        </p:nvSpPr>
        <p:spPr>
          <a:xfrm flipH="1" rot="10003604">
            <a:off x="763669" y="2012094"/>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
        <p:nvSpPr>
          <p:cNvPr id="474" name="Google Shape;474;p50"/>
          <p:cNvSpPr/>
          <p:nvPr/>
        </p:nvSpPr>
        <p:spPr>
          <a:xfrm>
            <a:off x="7988545" y="26483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75" name="Google Shape;475;p50"/>
          <p:cNvSpPr txBox="1"/>
          <p:nvPr/>
        </p:nvSpPr>
        <p:spPr>
          <a:xfrm>
            <a:off x="2406457" y="189075"/>
            <a:ext cx="4331100" cy="4617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lang="en" sz="3000">
                <a:solidFill>
                  <a:srgbClr val="FFFFFF"/>
                </a:solidFill>
              </a:rPr>
              <a:t>Feed back:</a:t>
            </a:r>
            <a:endParaRPr b="1" sz="700"/>
          </a:p>
        </p:txBody>
      </p:sp>
      <p:sp>
        <p:nvSpPr>
          <p:cNvPr id="476" name="Google Shape;476;p50"/>
          <p:cNvSpPr txBox="1"/>
          <p:nvPr/>
        </p:nvSpPr>
        <p:spPr>
          <a:xfrm>
            <a:off x="901349" y="1258550"/>
            <a:ext cx="7341300" cy="1782300"/>
          </a:xfrm>
          <a:prstGeom prst="rect">
            <a:avLst/>
          </a:prstGeom>
          <a:noFill/>
          <a:ln>
            <a:noFill/>
          </a:ln>
        </p:spPr>
        <p:txBody>
          <a:bodyPr anchorCtr="0" anchor="t" bIns="0" lIns="0" spcFirstLastPara="1" rIns="0" wrap="square" tIns="0">
            <a:spAutoFit/>
          </a:bodyPr>
          <a:lstStyle/>
          <a:p>
            <a:pPr indent="0" lvl="0" marL="457200" marR="0" rtl="0" algn="ctr">
              <a:lnSpc>
                <a:spcPct val="140000"/>
              </a:lnSpc>
              <a:spcBef>
                <a:spcPts val="0"/>
              </a:spcBef>
              <a:spcAft>
                <a:spcPts val="0"/>
              </a:spcAft>
              <a:buNone/>
            </a:pPr>
            <a:r>
              <a:rPr b="1" lang="en" sz="1500">
                <a:solidFill>
                  <a:srgbClr val="FFFFFF"/>
                </a:solidFill>
              </a:rPr>
              <a:t>The feedback from last week:</a:t>
            </a:r>
            <a:endParaRPr b="1" sz="1500">
              <a:solidFill>
                <a:srgbClr val="FFFFFF"/>
              </a:solidFill>
            </a:endParaRPr>
          </a:p>
          <a:p>
            <a:pPr indent="-304800" lvl="0" marL="457200" marR="0" rtl="0" algn="ctr">
              <a:lnSpc>
                <a:spcPct val="140000"/>
              </a:lnSpc>
              <a:spcBef>
                <a:spcPts val="0"/>
              </a:spcBef>
              <a:spcAft>
                <a:spcPts val="0"/>
              </a:spcAft>
              <a:buClr>
                <a:srgbClr val="FFFFFF"/>
              </a:buClr>
              <a:buSzPts val="1200"/>
              <a:buChar char="●"/>
            </a:pPr>
            <a:r>
              <a:rPr lang="en" sz="1200">
                <a:solidFill>
                  <a:srgbClr val="FFFFFF"/>
                </a:solidFill>
              </a:rPr>
              <a:t>All I </a:t>
            </a:r>
            <a:r>
              <a:rPr lang="en" sz="1200">
                <a:solidFill>
                  <a:srgbClr val="FFFFFF"/>
                </a:solidFill>
              </a:rPr>
              <a:t>received</a:t>
            </a:r>
            <a:r>
              <a:rPr lang="en" sz="1200">
                <a:solidFill>
                  <a:srgbClr val="FFFFFF"/>
                </a:solidFill>
              </a:rPr>
              <a:t> was that my graphs looked better </a:t>
            </a:r>
            <a:endParaRPr sz="1200">
              <a:solidFill>
                <a:srgbClr val="FFFFFF"/>
              </a:solidFill>
            </a:endParaRPr>
          </a:p>
          <a:p>
            <a:pPr indent="0" lvl="0" marL="457200" marR="0" rtl="0" algn="ctr">
              <a:lnSpc>
                <a:spcPct val="140000"/>
              </a:lnSpc>
              <a:spcBef>
                <a:spcPts val="0"/>
              </a:spcBef>
              <a:spcAft>
                <a:spcPts val="0"/>
              </a:spcAft>
              <a:buNone/>
            </a:pPr>
            <a:r>
              <a:rPr b="1" lang="en" sz="1500">
                <a:solidFill>
                  <a:srgbClr val="FFFFFF"/>
                </a:solidFill>
              </a:rPr>
              <a:t>How I fixed it :</a:t>
            </a:r>
            <a:endParaRPr b="1" sz="1500">
              <a:solidFill>
                <a:srgbClr val="FFFFFF"/>
              </a:solidFill>
            </a:endParaRPr>
          </a:p>
          <a:p>
            <a:pPr indent="-323850" lvl="0" marL="457200" marR="0" rtl="0" algn="ctr">
              <a:lnSpc>
                <a:spcPct val="140000"/>
              </a:lnSpc>
              <a:spcBef>
                <a:spcPts val="0"/>
              </a:spcBef>
              <a:spcAft>
                <a:spcPts val="0"/>
              </a:spcAft>
              <a:buClr>
                <a:srgbClr val="FFFFFF"/>
              </a:buClr>
              <a:buSzPts val="1500"/>
              <a:buChar char="●"/>
            </a:pPr>
            <a:r>
              <a:rPr lang="en" sz="1500">
                <a:solidFill>
                  <a:srgbClr val="FFFFFF"/>
                </a:solidFill>
              </a:rPr>
              <a:t>I overall made my </a:t>
            </a:r>
            <a:r>
              <a:rPr lang="en" sz="1500">
                <a:solidFill>
                  <a:srgbClr val="FFFFFF"/>
                </a:solidFill>
              </a:rPr>
              <a:t>graphs</a:t>
            </a:r>
            <a:r>
              <a:rPr lang="en" sz="1500">
                <a:solidFill>
                  <a:srgbClr val="FFFFFF"/>
                </a:solidFill>
              </a:rPr>
              <a:t> more clear and focused on making sure I </a:t>
            </a:r>
            <a:r>
              <a:rPr lang="en" sz="1500">
                <a:solidFill>
                  <a:srgbClr val="FFFFFF"/>
                </a:solidFill>
              </a:rPr>
              <a:t>highlighted</a:t>
            </a:r>
            <a:r>
              <a:rPr lang="en" sz="1500">
                <a:solidFill>
                  <a:srgbClr val="FFFFFF"/>
                </a:solidFill>
              </a:rPr>
              <a:t> one dataset at a time so it did not look messy. I also learned more about using Story Studio which In returned helped me explain my data set more clearly </a:t>
            </a:r>
            <a:endParaRPr sz="1500">
              <a:solidFill>
                <a:srgbClr val="FFFFFF"/>
              </a:solidFill>
            </a:endParaRPr>
          </a:p>
        </p:txBody>
      </p:sp>
      <p:sp>
        <p:nvSpPr>
          <p:cNvPr id="477" name="Google Shape;477;p50"/>
          <p:cNvSpPr/>
          <p:nvPr/>
        </p:nvSpPr>
        <p:spPr>
          <a:xfrm>
            <a:off x="8147560" y="3718579"/>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78" name="Google Shape;478;p50"/>
          <p:cNvSpPr/>
          <p:nvPr/>
        </p:nvSpPr>
        <p:spPr>
          <a:xfrm>
            <a:off x="8778394" y="649192"/>
            <a:ext cx="235415" cy="183231"/>
          </a:xfrm>
          <a:custGeom>
            <a:rect b="b" l="l" r="r" t="t"/>
            <a:pathLst>
              <a:path extrusionOk="0" h="366462" w="470829">
                <a:moveTo>
                  <a:pt x="0" y="0"/>
                </a:moveTo>
                <a:lnTo>
                  <a:pt x="470829" y="0"/>
                </a:lnTo>
                <a:lnTo>
                  <a:pt x="470829" y="366462"/>
                </a:lnTo>
                <a:lnTo>
                  <a:pt x="0" y="366462"/>
                </a:lnTo>
                <a:lnTo>
                  <a:pt x="0" y="0"/>
                </a:lnTo>
                <a:close/>
              </a:path>
            </a:pathLst>
          </a:custGeom>
          <a:blipFill rotWithShape="1">
            <a:blip r:embed="rId4">
              <a:alphaModFix/>
            </a:blip>
            <a:stretch>
              <a:fillRect b="0" l="0" r="0" t="0"/>
            </a:stretch>
          </a:blipFill>
          <a:ln>
            <a:noFill/>
          </a:ln>
        </p:spPr>
      </p:sp>
      <p:sp>
        <p:nvSpPr>
          <p:cNvPr id="479" name="Google Shape;479;p50"/>
          <p:cNvSpPr/>
          <p:nvPr/>
        </p:nvSpPr>
        <p:spPr>
          <a:xfrm flipH="1" rot="10003604">
            <a:off x="7962044" y="1895331"/>
            <a:ext cx="516050" cy="275227"/>
          </a:xfrm>
          <a:custGeom>
            <a:rect b="b" l="l" r="r" t="t"/>
            <a:pathLst>
              <a:path extrusionOk="0" h="549486" w="1030285">
                <a:moveTo>
                  <a:pt x="0" y="549486"/>
                </a:moveTo>
                <a:lnTo>
                  <a:pt x="1030286" y="549486"/>
                </a:lnTo>
                <a:lnTo>
                  <a:pt x="1030286" y="0"/>
                </a:lnTo>
                <a:lnTo>
                  <a:pt x="0" y="0"/>
                </a:lnTo>
                <a:lnTo>
                  <a:pt x="0" y="549486"/>
                </a:lnTo>
                <a:close/>
              </a:path>
            </a:pathLst>
          </a:custGeom>
          <a:blipFill rotWithShape="1">
            <a:blip r:embed="rId5">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