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comments+xml" PartName="/ppt/comments/comment2.xml"/>
  <Override ContentType="application/vnd.openxmlformats-officedocument.presentationml.comments+xml" PartName="/ppt/comments/comment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4" name="Karen Chen"/>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44568E1-D901-4148-8306-CE0658200B0E}">
  <a:tblStyle styleId="{244568E1-D901-4148-8306-CE0658200B0E}"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5" Type="http://schemas.openxmlformats.org/officeDocument/2006/relationships/commentAuthors" Target="commentAuthors.xml"/><Relationship Id="rId19" Type="http://schemas.openxmlformats.org/officeDocument/2006/relationships/slide" Target="slides/slide12.xml"/><Relationship Id="rId6" Type="http://schemas.openxmlformats.org/officeDocument/2006/relationships/slideMaster" Target="slideMasters/slideMaster1.xml"/><Relationship Id="rId18" Type="http://schemas.openxmlformats.org/officeDocument/2006/relationships/slide" Target="slides/slide11.xml"/><Relationship Id="rId7" Type="http://schemas.openxmlformats.org/officeDocument/2006/relationships/notesMaster" Target="notesMasters/notesMaster1.xml"/><Relationship Id="rId8" Type="http://schemas.openxmlformats.org/officeDocument/2006/relationships/slide" Target="slides/slide1.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6-04-08T04:41:30.448">
    <p:pos x="196" y="725"/>
    <p:text>so the audience yourself (which is not a bad choice)</p:text>
  </p:cm>
  <p:cm authorId="0" idx="2" dt="2026-04-08T04:43:10.785">
    <p:pos x="196" y="825"/>
    <p:text>who is interested in those type of questions? consider some specific type of audience who might be genuinely interested in the type of questions you asked and analyst you are going to produce.</p:text>
  </p:cm>
</p:cmLst>
</file>

<file path=ppt/comments/comment2.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3" dt="2026-04-15T03:43:04.177">
    <p:pos x="196" y="725"/>
    <p:text>@schrist3@umbc.edu let us know if you need any help to update the data, since this class is data analysis, you don't have to be perfect with data, reach out to any of us for help.</p:text>
  </p:cm>
</p:cmLst>
</file>

<file path=ppt/comments/comment3.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4" dt="2026-04-28T23:40:12.683">
    <p:pos x="196" y="280"/>
    <p:text>@schrist3@umbc.edu updated? please reach out to the support team (TF or Wenka if you need help)</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d4b05b7c8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d4b05b7c8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d4b05b7c86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d4b05b7c86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*row amount set to change</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d4b05b7c86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d4b05b7c86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d4b05b7c86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3d4b05b7c86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d4b05b7c86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d4b05b7c86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d4b4fc9f33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3d4b4fc9f33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d5ad4f5a4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3d5ad4f5a4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dbcf2559c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3dbcf2559c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d98510f42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3d98510f42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dbd73fdc53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3dbd73fdc53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dbcf2559ce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3dbcf2559ce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3dbd73fdc53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3dbd73fdc53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comments" Target="../comments/commen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comments" Target="../comments/comment2.xml"/><Relationship Id="rId4" Type="http://schemas.openxmlformats.org/officeDocument/2006/relationships/hyperlink" Target="https://bulbapedia.bulbagarden.net/wiki/Main_Page"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comments" Target="../comments/commen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png"/><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Project weekly deliverable</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Sarah Christie</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Week 1</a:t>
            </a:r>
            <a:endParaRPr/>
          </a:p>
        </p:txBody>
      </p:sp>
      <p:sp>
        <p:nvSpPr>
          <p:cNvPr id="61" name="Google Shape;61;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Topic - Pokemon type distribution</a:t>
            </a:r>
            <a:endParaRPr/>
          </a:p>
          <a:p>
            <a:pPr indent="0" lvl="0" marL="0" rtl="0" algn="l">
              <a:spcBef>
                <a:spcPts val="1200"/>
              </a:spcBef>
              <a:spcAft>
                <a:spcPts val="0"/>
              </a:spcAft>
              <a:buNone/>
            </a:pPr>
            <a:r>
              <a:rPr lang="en"/>
              <a:t>A thing I noticed a lot in my 11 years of playing pokemon, was that in spit of there being only a select few types in the games, some individual typings, or type combinations were constantly seen and complained about. Types such as Grass, Fire/Fighting, or Ghost/</a:t>
            </a:r>
            <a:r>
              <a:rPr lang="en"/>
              <a:t>Poison</a:t>
            </a:r>
            <a:r>
              <a:rPr lang="en"/>
              <a:t>, to name a few I heard from friends. So I wanted to </a:t>
            </a:r>
            <a:r>
              <a:rPr lang="en"/>
              <a:t>check. Through currently 9 generations and roughly 1025 pokemon, what types are the most common amongst them, and what traits do they show?</a:t>
            </a:r>
            <a:r>
              <a:rPr lang="en"/>
              <a:t> </a:t>
            </a:r>
            <a:endParaRPr/>
          </a:p>
          <a:p>
            <a:pPr indent="0" lvl="0" marL="0" rtl="0" algn="l">
              <a:spcBef>
                <a:spcPts val="1200"/>
              </a:spcBef>
              <a:spcAft>
                <a:spcPts val="120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graphicFrame>
        <p:nvGraphicFramePr>
          <p:cNvPr id="66" name="Google Shape;66;p15"/>
          <p:cNvGraphicFramePr/>
          <p:nvPr/>
        </p:nvGraphicFramePr>
        <p:xfrm>
          <a:off x="113900" y="754775"/>
          <a:ext cx="3000000" cy="3000000"/>
        </p:xfrm>
        <a:graphic>
          <a:graphicData uri="http://schemas.openxmlformats.org/drawingml/2006/table">
            <a:tbl>
              <a:tblPr>
                <a:noFill/>
                <a:tableStyleId>{244568E1-D901-4148-8306-CE0658200B0E}</a:tableStyleId>
              </a:tblPr>
              <a:tblGrid>
                <a:gridCol w="2244475"/>
                <a:gridCol w="1349950"/>
                <a:gridCol w="1447800"/>
                <a:gridCol w="1447800"/>
                <a:gridCol w="2426175"/>
              </a:tblGrid>
              <a:tr h="796350">
                <a:tc>
                  <a:txBody>
                    <a:bodyPr/>
                    <a:lstStyle/>
                    <a:p>
                      <a:pPr indent="0" lvl="0" marL="0" rtl="0" algn="l">
                        <a:spcBef>
                          <a:spcPts val="0"/>
                        </a:spcBef>
                        <a:spcAft>
                          <a:spcPts val="0"/>
                        </a:spcAft>
                        <a:buNone/>
                      </a:pPr>
                      <a:r>
                        <a:rPr lang="en"/>
                        <a:t>Column</a:t>
                      </a:r>
                      <a:r>
                        <a:rPr lang="en"/>
                        <a:t> Name</a:t>
                      </a:r>
                      <a:endParaRPr/>
                    </a:p>
                  </a:txBody>
                  <a:tcPr marT="91425" marB="91425" marR="91425" marL="91425"/>
                </a:tc>
                <a:tc>
                  <a:txBody>
                    <a:bodyPr/>
                    <a:lstStyle/>
                    <a:p>
                      <a:pPr indent="0" lvl="0" marL="0" rtl="0" algn="l">
                        <a:spcBef>
                          <a:spcPts val="0"/>
                        </a:spcBef>
                        <a:spcAft>
                          <a:spcPts val="0"/>
                        </a:spcAft>
                        <a:buNone/>
                      </a:pPr>
                      <a:r>
                        <a:rPr lang="en"/>
                        <a:t>Has data missing?</a:t>
                      </a:r>
                      <a:endParaRPr/>
                    </a:p>
                  </a:txBody>
                  <a:tcPr marT="91425" marB="91425" marR="91425" marL="91425"/>
                </a:tc>
                <a:tc>
                  <a:txBody>
                    <a:bodyPr/>
                    <a:lstStyle/>
                    <a:p>
                      <a:pPr indent="0" lvl="0" marL="0" rtl="0" algn="l">
                        <a:spcBef>
                          <a:spcPts val="0"/>
                        </a:spcBef>
                        <a:spcAft>
                          <a:spcPts val="0"/>
                        </a:spcAft>
                        <a:buNone/>
                      </a:pPr>
                      <a:r>
                        <a:rPr lang="en"/>
                        <a:t>Data Type - Numeric or Free type</a:t>
                      </a:r>
                      <a:endParaRPr/>
                    </a:p>
                  </a:txBody>
                  <a:tcPr marT="91425" marB="91425" marR="91425" marL="91425"/>
                </a:tc>
                <a:tc>
                  <a:txBody>
                    <a:bodyPr/>
                    <a:lstStyle/>
                    <a:p>
                      <a:pPr indent="0" lvl="0" marL="0" rtl="0" algn="l">
                        <a:spcBef>
                          <a:spcPts val="0"/>
                        </a:spcBef>
                        <a:spcAft>
                          <a:spcPts val="0"/>
                        </a:spcAft>
                        <a:buNone/>
                      </a:pPr>
                      <a:r>
                        <a:rPr lang="en"/>
                        <a:t>Useful?</a:t>
                      </a:r>
                      <a:endParaRPr/>
                    </a:p>
                  </a:txBody>
                  <a:tcPr marT="91425" marB="91425" marR="91425" marL="91425"/>
                </a:tc>
                <a:tc>
                  <a:txBody>
                    <a:bodyPr/>
                    <a:lstStyle/>
                    <a:p>
                      <a:pPr indent="0" lvl="0" marL="0" rtl="0" algn="l">
                        <a:spcBef>
                          <a:spcPts val="0"/>
                        </a:spcBef>
                        <a:spcAft>
                          <a:spcPts val="0"/>
                        </a:spcAft>
                        <a:buNone/>
                      </a:pPr>
                      <a:r>
                        <a:rPr lang="en"/>
                        <a:t>Need cleaning/processing?</a:t>
                      </a:r>
                      <a:endParaRPr/>
                    </a:p>
                  </a:txBody>
                  <a:tcPr marT="91425" marB="91425" marR="91425" marL="91425"/>
                </a:tc>
              </a:tr>
              <a:tr h="383400">
                <a:tc>
                  <a:txBody>
                    <a:bodyPr/>
                    <a:lstStyle/>
                    <a:p>
                      <a:pPr indent="0" lvl="0" marL="0" rtl="0" algn="l">
                        <a:spcBef>
                          <a:spcPts val="0"/>
                        </a:spcBef>
                        <a:spcAft>
                          <a:spcPts val="0"/>
                        </a:spcAft>
                        <a:buNone/>
                      </a:pPr>
                      <a:r>
                        <a:rPr lang="en"/>
                        <a:t>id</a:t>
                      </a:r>
                      <a:endParaRPr/>
                    </a:p>
                  </a:txBody>
                  <a:tcPr marT="91425" marB="91425" marR="91425" marL="91425"/>
                </a:tc>
                <a:tc>
                  <a:txBody>
                    <a:bodyPr/>
                    <a:lstStyle/>
                    <a:p>
                      <a:pPr indent="0" lvl="0" marL="0" rtl="0" algn="l">
                        <a:spcBef>
                          <a:spcPts val="0"/>
                        </a:spcBef>
                        <a:spcAft>
                          <a:spcPts val="0"/>
                        </a:spcAft>
                        <a:buNone/>
                      </a:pPr>
                      <a:r>
                        <a:rPr lang="en"/>
                        <a:t>Yes</a:t>
                      </a:r>
                      <a:endParaRPr/>
                    </a:p>
                  </a:txBody>
                  <a:tcPr marT="91425" marB="91425" marR="91425" marL="91425"/>
                </a:tc>
                <a:tc>
                  <a:txBody>
                    <a:bodyPr/>
                    <a:lstStyle/>
                    <a:p>
                      <a:pPr indent="0" lvl="0" marL="0" rtl="0" algn="l">
                        <a:spcBef>
                          <a:spcPts val="0"/>
                        </a:spcBef>
                        <a:spcAft>
                          <a:spcPts val="0"/>
                        </a:spcAft>
                        <a:buNone/>
                      </a:pPr>
                      <a:r>
                        <a:rPr lang="en"/>
                        <a:t>Numeric</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
                          <a:solidFill>
                            <a:schemeClr val="dk1"/>
                          </a:solidFill>
                        </a:rPr>
                        <a:t>Yes</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
                          <a:solidFill>
                            <a:schemeClr val="dk1"/>
                          </a:solidFill>
                        </a:rPr>
                        <a:t>Yes</a:t>
                      </a:r>
                      <a:endParaRPr/>
                    </a:p>
                  </a:txBody>
                  <a:tcPr marT="91425" marB="91425" marR="91425" marL="91425"/>
                </a:tc>
              </a:tr>
              <a:tr h="383400">
                <a:tc>
                  <a:txBody>
                    <a:bodyPr/>
                    <a:lstStyle/>
                    <a:p>
                      <a:pPr indent="0" lvl="0" marL="0" rtl="0" algn="l">
                        <a:spcBef>
                          <a:spcPts val="0"/>
                        </a:spcBef>
                        <a:spcAft>
                          <a:spcPts val="0"/>
                        </a:spcAft>
                        <a:buNone/>
                      </a:pPr>
                      <a:r>
                        <a:rPr lang="en"/>
                        <a:t>pokemon</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
                          <a:solidFill>
                            <a:schemeClr val="dk1"/>
                          </a:solidFill>
                        </a:rPr>
                        <a:t>Yes</a:t>
                      </a:r>
                      <a:endParaRPr/>
                    </a:p>
                  </a:txBody>
                  <a:tcPr marT="91425" marB="91425" marR="91425" marL="91425"/>
                </a:tc>
                <a:tc>
                  <a:txBody>
                    <a:bodyPr/>
                    <a:lstStyle/>
                    <a:p>
                      <a:pPr indent="0" lvl="0" marL="0" rtl="0" algn="l">
                        <a:spcBef>
                          <a:spcPts val="0"/>
                        </a:spcBef>
                        <a:spcAft>
                          <a:spcPts val="0"/>
                        </a:spcAft>
                        <a:buNone/>
                      </a:pPr>
                      <a:r>
                        <a:rPr lang="en"/>
                        <a:t>Free type</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
                          <a:solidFill>
                            <a:schemeClr val="dk1"/>
                          </a:solidFill>
                        </a:rPr>
                        <a:t>Yes</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
                          <a:solidFill>
                            <a:schemeClr val="dk1"/>
                          </a:solidFill>
                        </a:rPr>
                        <a:t>Yes</a:t>
                      </a:r>
                      <a:endParaRPr/>
                    </a:p>
                  </a:txBody>
                  <a:tcPr marT="91425" marB="91425" marR="91425" marL="91425"/>
                </a:tc>
              </a:tr>
              <a:tr h="383400">
                <a:tc>
                  <a:txBody>
                    <a:bodyPr/>
                    <a:lstStyle/>
                    <a:p>
                      <a:pPr indent="0" lvl="0" marL="0" rtl="0" algn="l">
                        <a:spcBef>
                          <a:spcPts val="0"/>
                        </a:spcBef>
                        <a:spcAft>
                          <a:spcPts val="0"/>
                        </a:spcAft>
                        <a:buNone/>
                      </a:pPr>
                      <a:r>
                        <a:rPr lang="en"/>
                        <a:t>species_id</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
                          <a:solidFill>
                            <a:schemeClr val="dk1"/>
                          </a:solidFill>
                        </a:rPr>
                        <a:t>Yes</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
                          <a:solidFill>
                            <a:schemeClr val="dk1"/>
                          </a:solidFill>
                        </a:rPr>
                        <a:t>Numeric</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
                          <a:solidFill>
                            <a:schemeClr val="dk1"/>
                          </a:solidFill>
                        </a:rPr>
                        <a:t>Yes</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
                          <a:solidFill>
                            <a:schemeClr val="dk1"/>
                          </a:solidFill>
                        </a:rPr>
                        <a:t>Yes</a:t>
                      </a:r>
                      <a:endParaRPr/>
                    </a:p>
                  </a:txBody>
                  <a:tcPr marT="91425" marB="91425" marR="91425" marL="91425"/>
                </a:tc>
              </a:tr>
              <a:tr h="383400">
                <a:tc>
                  <a:txBody>
                    <a:bodyPr/>
                    <a:lstStyle/>
                    <a:p>
                      <a:pPr indent="0" lvl="0" marL="0" rtl="0" algn="l">
                        <a:spcBef>
                          <a:spcPts val="0"/>
                        </a:spcBef>
                        <a:spcAft>
                          <a:spcPts val="0"/>
                        </a:spcAft>
                        <a:buNone/>
                      </a:pPr>
                      <a:r>
                        <a:rPr lang="en"/>
                        <a:t>height</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
                          <a:solidFill>
                            <a:schemeClr val="dk1"/>
                          </a:solidFill>
                        </a:rPr>
                        <a:t>Yes</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
                          <a:solidFill>
                            <a:schemeClr val="dk1"/>
                          </a:solidFill>
                        </a:rPr>
                        <a:t>Numeric</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
                          <a:solidFill>
                            <a:schemeClr val="dk1"/>
                          </a:solidFill>
                        </a:rPr>
                        <a:t>Yes(?)</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
                          <a:solidFill>
                            <a:schemeClr val="dk1"/>
                          </a:solidFill>
                        </a:rPr>
                        <a:t>Yes</a:t>
                      </a:r>
                      <a:endParaRPr/>
                    </a:p>
                  </a:txBody>
                  <a:tcPr marT="91425" marB="91425" marR="91425" marL="91425"/>
                </a:tc>
              </a:tr>
              <a:tr h="383400">
                <a:tc>
                  <a:txBody>
                    <a:bodyPr/>
                    <a:lstStyle/>
                    <a:p>
                      <a:pPr indent="0" lvl="0" marL="0" rtl="0" algn="l">
                        <a:spcBef>
                          <a:spcPts val="0"/>
                        </a:spcBef>
                        <a:spcAft>
                          <a:spcPts val="0"/>
                        </a:spcAft>
                        <a:buNone/>
                      </a:pPr>
                      <a:r>
                        <a:rPr lang="en"/>
                        <a:t>weight</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
                          <a:solidFill>
                            <a:schemeClr val="dk1"/>
                          </a:solidFill>
                        </a:rPr>
                        <a:t>Yes</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
                          <a:solidFill>
                            <a:schemeClr val="dk1"/>
                          </a:solidFill>
                        </a:rPr>
                        <a:t>Numeric</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
                          <a:solidFill>
                            <a:schemeClr val="dk1"/>
                          </a:solidFill>
                        </a:rPr>
                        <a:t>Yes(?)</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
                          <a:solidFill>
                            <a:schemeClr val="dk1"/>
                          </a:solidFill>
                        </a:rPr>
                        <a:t>Yes</a:t>
                      </a:r>
                      <a:endParaRPr/>
                    </a:p>
                  </a:txBody>
                  <a:tcPr marT="91425" marB="91425" marR="91425" marL="91425"/>
                </a:tc>
              </a:tr>
              <a:tr h="383400">
                <a:tc>
                  <a:txBody>
                    <a:bodyPr/>
                    <a:lstStyle/>
                    <a:p>
                      <a:pPr indent="0" lvl="0" marL="0" rtl="0" algn="l">
                        <a:spcBef>
                          <a:spcPts val="0"/>
                        </a:spcBef>
                        <a:spcAft>
                          <a:spcPts val="0"/>
                        </a:spcAft>
                        <a:buNone/>
                      </a:pPr>
                      <a:r>
                        <a:rPr lang="en"/>
                        <a:t>b</a:t>
                      </a:r>
                      <a:r>
                        <a:rPr lang="en"/>
                        <a:t>ase_experience</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
                          <a:solidFill>
                            <a:schemeClr val="dk1"/>
                          </a:solidFill>
                        </a:rPr>
                        <a:t>Yes</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
                          <a:solidFill>
                            <a:schemeClr val="dk1"/>
                          </a:solidFill>
                        </a:rPr>
                        <a:t>Numeric</a:t>
                      </a:r>
                      <a:endParaRPr/>
                    </a:p>
                  </a:txBody>
                  <a:tcPr marT="91425" marB="91425" marR="91425" marL="91425"/>
                </a:tc>
                <a:tc>
                  <a:txBody>
                    <a:bodyPr/>
                    <a:lstStyle/>
                    <a:p>
                      <a:pPr indent="0" lvl="0" marL="0" rtl="0" algn="l">
                        <a:spcBef>
                          <a:spcPts val="0"/>
                        </a:spcBef>
                        <a:spcAft>
                          <a:spcPts val="0"/>
                        </a:spcAft>
                        <a:buNone/>
                      </a:pPr>
                      <a:r>
                        <a:rPr lang="en"/>
                        <a:t>No</a:t>
                      </a:r>
                      <a:endParaRPr/>
                    </a:p>
                  </a:txBody>
                  <a:tcPr marT="91425" marB="91425" marR="91425" marL="91425"/>
                </a:tc>
                <a:tc>
                  <a:txBody>
                    <a:bodyPr/>
                    <a:lstStyle/>
                    <a:p>
                      <a:pPr indent="0" lvl="0" marL="0" rtl="0" algn="l">
                        <a:spcBef>
                          <a:spcPts val="0"/>
                        </a:spcBef>
                        <a:spcAft>
                          <a:spcPts val="0"/>
                        </a:spcAft>
                        <a:buNone/>
                      </a:pPr>
                      <a:r>
                        <a:rPr lang="en"/>
                        <a:t>No</a:t>
                      </a:r>
                      <a:endParaRPr/>
                    </a:p>
                  </a:txBody>
                  <a:tcPr marT="91425" marB="91425" marR="91425" marL="91425"/>
                </a:tc>
              </a:tr>
              <a:tr h="383400">
                <a:tc>
                  <a:txBody>
                    <a:bodyPr/>
                    <a:lstStyle/>
                    <a:p>
                      <a:pPr indent="0" lvl="0" marL="0" rtl="0" algn="l">
                        <a:spcBef>
                          <a:spcPts val="0"/>
                        </a:spcBef>
                        <a:spcAft>
                          <a:spcPts val="0"/>
                        </a:spcAft>
                        <a:buNone/>
                      </a:pPr>
                      <a:r>
                        <a:rPr lang="en"/>
                        <a:t>type_1</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
                          <a:solidFill>
                            <a:schemeClr val="dk1"/>
                          </a:solidFill>
                        </a:rPr>
                        <a:t>Yes</a:t>
                      </a:r>
                      <a:endParaRPr/>
                    </a:p>
                  </a:txBody>
                  <a:tcPr marT="91425" marB="91425" marR="91425" marL="91425"/>
                </a:tc>
                <a:tc>
                  <a:txBody>
                    <a:bodyPr/>
                    <a:lstStyle/>
                    <a:p>
                      <a:pPr indent="0" lvl="0" marL="0" rtl="0" algn="l">
                        <a:spcBef>
                          <a:spcPts val="0"/>
                        </a:spcBef>
                        <a:spcAft>
                          <a:spcPts val="0"/>
                        </a:spcAft>
                        <a:buNone/>
                      </a:pPr>
                      <a:r>
                        <a:rPr lang="en"/>
                        <a:t>Free type</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
                          <a:solidFill>
                            <a:schemeClr val="dk1"/>
                          </a:solidFill>
                        </a:rPr>
                        <a:t>Yes</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
                          <a:solidFill>
                            <a:schemeClr val="dk1"/>
                          </a:solidFill>
                        </a:rPr>
                        <a:t>Yes</a:t>
                      </a:r>
                      <a:endParaRPr/>
                    </a:p>
                  </a:txBody>
                  <a:tcPr marT="91425" marB="91425" marR="91425" marL="91425"/>
                </a:tc>
              </a:tr>
              <a:tr h="383400">
                <a:tc>
                  <a:txBody>
                    <a:bodyPr/>
                    <a:lstStyle/>
                    <a:p>
                      <a:pPr indent="0" lvl="0" marL="0" rtl="0" algn="l">
                        <a:spcBef>
                          <a:spcPts val="0"/>
                        </a:spcBef>
                        <a:spcAft>
                          <a:spcPts val="0"/>
                        </a:spcAft>
                        <a:buNone/>
                      </a:pPr>
                      <a:r>
                        <a:rPr lang="en"/>
                        <a:t>type_2</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
                          <a:solidFill>
                            <a:schemeClr val="dk1"/>
                          </a:solidFill>
                        </a:rPr>
                        <a:t>Yes</a:t>
                      </a:r>
                      <a:endParaRPr/>
                    </a:p>
                  </a:txBody>
                  <a:tcPr marT="91425" marB="91425" marR="91425" marL="91425"/>
                </a:tc>
                <a:tc>
                  <a:txBody>
                    <a:bodyPr/>
                    <a:lstStyle/>
                    <a:p>
                      <a:pPr indent="0" lvl="0" marL="0" rtl="0" algn="l">
                        <a:spcBef>
                          <a:spcPts val="0"/>
                        </a:spcBef>
                        <a:spcAft>
                          <a:spcPts val="0"/>
                        </a:spcAft>
                        <a:buNone/>
                      </a:pPr>
                      <a:r>
                        <a:rPr lang="en"/>
                        <a:t>Free type</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
                          <a:solidFill>
                            <a:schemeClr val="dk1"/>
                          </a:solidFill>
                        </a:rPr>
                        <a:t>Yes</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
                          <a:solidFill>
                            <a:schemeClr val="dk1"/>
                          </a:solidFill>
                        </a:rPr>
                        <a:t>Yes</a:t>
                      </a:r>
                      <a:endParaRPr/>
                    </a:p>
                  </a:txBody>
                  <a:tcPr marT="91425" marB="91425" marR="91425" marL="91425"/>
                </a:tc>
              </a:tr>
              <a:tr h="383400">
                <a:tc>
                  <a:txBody>
                    <a:bodyPr/>
                    <a:lstStyle/>
                    <a:p>
                      <a:pPr indent="0" lvl="0" marL="0" rtl="0" algn="l">
                        <a:spcBef>
                          <a:spcPts val="0"/>
                        </a:spcBef>
                        <a:spcAft>
                          <a:spcPts val="0"/>
                        </a:spcAft>
                        <a:buNone/>
                      </a:pPr>
                      <a:r>
                        <a:rPr lang="en"/>
                        <a:t>hp</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
                          <a:solidFill>
                            <a:schemeClr val="dk1"/>
                          </a:solidFill>
                        </a:rPr>
                        <a:t>Yes</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
                          <a:solidFill>
                            <a:schemeClr val="dk1"/>
                          </a:solidFill>
                        </a:rPr>
                        <a:t>Numeric</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
                          <a:solidFill>
                            <a:schemeClr val="dk1"/>
                          </a:solidFill>
                        </a:rPr>
                        <a:t>No(?)</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
                          <a:solidFill>
                            <a:schemeClr val="dk1"/>
                          </a:solidFill>
                        </a:rPr>
                        <a:t>Yes</a:t>
                      </a:r>
                      <a:endParaRPr/>
                    </a:p>
                  </a:txBody>
                  <a:tcPr marT="91425" marB="91425" marR="91425" marL="91425"/>
                </a:tc>
              </a:tr>
            </a:tbl>
          </a:graphicData>
        </a:graphic>
      </p:graphicFrame>
      <p:sp>
        <p:nvSpPr>
          <p:cNvPr id="67" name="Google Shape;67;p15"/>
          <p:cNvSpPr txBox="1"/>
          <p:nvPr>
            <p:ph type="title"/>
          </p:nvPr>
        </p:nvSpPr>
        <p:spPr>
          <a:xfrm>
            <a:off x="311700" y="1820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Data Profile - Pt 1   (This has 1032* rows and 16 columns)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graphicFrame>
        <p:nvGraphicFramePr>
          <p:cNvPr id="72" name="Google Shape;72;p16"/>
          <p:cNvGraphicFramePr/>
          <p:nvPr/>
        </p:nvGraphicFramePr>
        <p:xfrm>
          <a:off x="113900" y="754775"/>
          <a:ext cx="3000000" cy="3000000"/>
        </p:xfrm>
        <a:graphic>
          <a:graphicData uri="http://schemas.openxmlformats.org/drawingml/2006/table">
            <a:tbl>
              <a:tblPr>
                <a:noFill/>
                <a:tableStyleId>{244568E1-D901-4148-8306-CE0658200B0E}</a:tableStyleId>
              </a:tblPr>
              <a:tblGrid>
                <a:gridCol w="2244475"/>
                <a:gridCol w="1349950"/>
                <a:gridCol w="1447800"/>
                <a:gridCol w="1447800"/>
                <a:gridCol w="2426175"/>
              </a:tblGrid>
              <a:tr h="796350">
                <a:tc>
                  <a:txBody>
                    <a:bodyPr/>
                    <a:lstStyle/>
                    <a:p>
                      <a:pPr indent="0" lvl="0" marL="0" rtl="0" algn="l">
                        <a:spcBef>
                          <a:spcPts val="0"/>
                        </a:spcBef>
                        <a:spcAft>
                          <a:spcPts val="0"/>
                        </a:spcAft>
                        <a:buNone/>
                      </a:pPr>
                      <a:r>
                        <a:rPr lang="en"/>
                        <a:t>Column Name</a:t>
                      </a:r>
                      <a:endParaRPr/>
                    </a:p>
                  </a:txBody>
                  <a:tcPr marT="91425" marB="91425" marR="91425" marL="91425"/>
                </a:tc>
                <a:tc>
                  <a:txBody>
                    <a:bodyPr/>
                    <a:lstStyle/>
                    <a:p>
                      <a:pPr indent="0" lvl="0" marL="0" rtl="0" algn="l">
                        <a:spcBef>
                          <a:spcPts val="0"/>
                        </a:spcBef>
                        <a:spcAft>
                          <a:spcPts val="0"/>
                        </a:spcAft>
                        <a:buNone/>
                      </a:pPr>
                      <a:r>
                        <a:rPr lang="en"/>
                        <a:t>Has data missing?</a:t>
                      </a:r>
                      <a:endParaRPr/>
                    </a:p>
                  </a:txBody>
                  <a:tcPr marT="91425" marB="91425" marR="91425" marL="91425"/>
                </a:tc>
                <a:tc>
                  <a:txBody>
                    <a:bodyPr/>
                    <a:lstStyle/>
                    <a:p>
                      <a:pPr indent="0" lvl="0" marL="0" rtl="0" algn="l">
                        <a:spcBef>
                          <a:spcPts val="0"/>
                        </a:spcBef>
                        <a:spcAft>
                          <a:spcPts val="0"/>
                        </a:spcAft>
                        <a:buNone/>
                      </a:pPr>
                      <a:r>
                        <a:rPr lang="en"/>
                        <a:t>Data Type - Numeric or Free type</a:t>
                      </a:r>
                      <a:endParaRPr/>
                    </a:p>
                  </a:txBody>
                  <a:tcPr marT="91425" marB="91425" marR="91425" marL="91425"/>
                </a:tc>
                <a:tc>
                  <a:txBody>
                    <a:bodyPr/>
                    <a:lstStyle/>
                    <a:p>
                      <a:pPr indent="0" lvl="0" marL="0" rtl="0" algn="l">
                        <a:spcBef>
                          <a:spcPts val="0"/>
                        </a:spcBef>
                        <a:spcAft>
                          <a:spcPts val="0"/>
                        </a:spcAft>
                        <a:buNone/>
                      </a:pPr>
                      <a:r>
                        <a:rPr lang="en"/>
                        <a:t>Useful?</a:t>
                      </a:r>
                      <a:endParaRPr/>
                    </a:p>
                  </a:txBody>
                  <a:tcPr marT="91425" marB="91425" marR="91425" marL="91425"/>
                </a:tc>
                <a:tc>
                  <a:txBody>
                    <a:bodyPr/>
                    <a:lstStyle/>
                    <a:p>
                      <a:pPr indent="0" lvl="0" marL="0" rtl="0" algn="l">
                        <a:spcBef>
                          <a:spcPts val="0"/>
                        </a:spcBef>
                        <a:spcAft>
                          <a:spcPts val="0"/>
                        </a:spcAft>
                        <a:buNone/>
                      </a:pPr>
                      <a:r>
                        <a:rPr lang="en"/>
                        <a:t>Need cleaning/processing?</a:t>
                      </a:r>
                      <a:endParaRPr/>
                    </a:p>
                  </a:txBody>
                  <a:tcPr marT="91425" marB="91425" marR="91425" marL="91425"/>
                </a:tc>
              </a:tr>
              <a:tr h="383400">
                <a:tc>
                  <a:txBody>
                    <a:bodyPr/>
                    <a:lstStyle/>
                    <a:p>
                      <a:pPr indent="0" lvl="0" marL="0" rtl="0" algn="l">
                        <a:spcBef>
                          <a:spcPts val="0"/>
                        </a:spcBef>
                        <a:spcAft>
                          <a:spcPts val="0"/>
                        </a:spcAft>
                        <a:buNone/>
                      </a:pPr>
                      <a:r>
                        <a:rPr lang="en"/>
                        <a:t>attack</a:t>
                      </a:r>
                      <a:endParaRPr/>
                    </a:p>
                  </a:txBody>
                  <a:tcPr marT="91425" marB="91425" marR="91425" marL="91425"/>
                </a:tc>
                <a:tc>
                  <a:txBody>
                    <a:bodyPr/>
                    <a:lstStyle/>
                    <a:p>
                      <a:pPr indent="0" lvl="0" marL="0" rtl="0" algn="l">
                        <a:spcBef>
                          <a:spcPts val="0"/>
                        </a:spcBef>
                        <a:spcAft>
                          <a:spcPts val="0"/>
                        </a:spcAft>
                        <a:buNone/>
                      </a:pPr>
                      <a:r>
                        <a:rPr lang="en"/>
                        <a:t>Yes</a:t>
                      </a:r>
                      <a:endParaRPr/>
                    </a:p>
                  </a:txBody>
                  <a:tcPr marT="91425" marB="91425" marR="91425" marL="91425"/>
                </a:tc>
                <a:tc>
                  <a:txBody>
                    <a:bodyPr/>
                    <a:lstStyle/>
                    <a:p>
                      <a:pPr indent="0" lvl="0" marL="0" rtl="0" algn="l">
                        <a:spcBef>
                          <a:spcPts val="0"/>
                        </a:spcBef>
                        <a:spcAft>
                          <a:spcPts val="0"/>
                        </a:spcAft>
                        <a:buNone/>
                      </a:pPr>
                      <a:r>
                        <a:rPr lang="en"/>
                        <a:t>Numeric</a:t>
                      </a:r>
                      <a:endParaRPr/>
                    </a:p>
                  </a:txBody>
                  <a:tcPr marT="91425" marB="91425" marR="91425" marL="91425"/>
                </a:tc>
                <a:tc>
                  <a:txBody>
                    <a:bodyPr/>
                    <a:lstStyle/>
                    <a:p>
                      <a:pPr indent="0" lvl="0" marL="0" rtl="0" algn="l">
                        <a:spcBef>
                          <a:spcPts val="0"/>
                        </a:spcBef>
                        <a:spcAft>
                          <a:spcPts val="0"/>
                        </a:spcAft>
                        <a:buNone/>
                      </a:pPr>
                      <a:r>
                        <a:rPr lang="en">
                          <a:solidFill>
                            <a:schemeClr val="dk1"/>
                          </a:solidFill>
                        </a:rPr>
                        <a:t>No(?)</a:t>
                      </a:r>
                      <a:endParaRPr/>
                    </a:p>
                  </a:txBody>
                  <a:tcPr marT="91425" marB="91425" marR="91425" marL="91425"/>
                </a:tc>
                <a:tc>
                  <a:txBody>
                    <a:bodyPr/>
                    <a:lstStyle/>
                    <a:p>
                      <a:pPr indent="0" lvl="0" marL="0" rtl="0" algn="l">
                        <a:spcBef>
                          <a:spcPts val="0"/>
                        </a:spcBef>
                        <a:spcAft>
                          <a:spcPts val="0"/>
                        </a:spcAft>
                        <a:buNone/>
                      </a:pPr>
                      <a:r>
                        <a:rPr lang="en">
                          <a:solidFill>
                            <a:schemeClr val="dk1"/>
                          </a:solidFill>
                        </a:rPr>
                        <a:t>Yes</a:t>
                      </a:r>
                      <a:endParaRPr/>
                    </a:p>
                  </a:txBody>
                  <a:tcPr marT="91425" marB="91425" marR="91425" marL="91425"/>
                </a:tc>
              </a:tr>
              <a:tr h="383400">
                <a:tc>
                  <a:txBody>
                    <a:bodyPr/>
                    <a:lstStyle/>
                    <a:p>
                      <a:pPr indent="0" lvl="0" marL="0" rtl="0" algn="l">
                        <a:spcBef>
                          <a:spcPts val="0"/>
                        </a:spcBef>
                        <a:spcAft>
                          <a:spcPts val="0"/>
                        </a:spcAft>
                        <a:buNone/>
                      </a:pPr>
                      <a:r>
                        <a:rPr lang="en"/>
                        <a:t>defense</a:t>
                      </a:r>
                      <a:endParaRPr/>
                    </a:p>
                  </a:txBody>
                  <a:tcPr marT="91425" marB="91425" marR="91425" marL="91425"/>
                </a:tc>
                <a:tc>
                  <a:txBody>
                    <a:bodyPr/>
                    <a:lstStyle/>
                    <a:p>
                      <a:pPr indent="0" lvl="0" marL="0" rtl="0" algn="l">
                        <a:spcBef>
                          <a:spcPts val="0"/>
                        </a:spcBef>
                        <a:spcAft>
                          <a:spcPts val="0"/>
                        </a:spcAft>
                        <a:buNone/>
                      </a:pPr>
                      <a:r>
                        <a:rPr lang="en">
                          <a:solidFill>
                            <a:schemeClr val="dk1"/>
                          </a:solidFill>
                        </a:rPr>
                        <a:t>Yes</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
                          <a:solidFill>
                            <a:schemeClr val="dk1"/>
                          </a:solidFill>
                        </a:rPr>
                        <a:t>Numeric</a:t>
                      </a:r>
                      <a:endParaRPr/>
                    </a:p>
                  </a:txBody>
                  <a:tcPr marT="91425" marB="91425" marR="91425" marL="91425"/>
                </a:tc>
                <a:tc>
                  <a:txBody>
                    <a:bodyPr/>
                    <a:lstStyle/>
                    <a:p>
                      <a:pPr indent="0" lvl="0" marL="0" rtl="0" algn="l">
                        <a:spcBef>
                          <a:spcPts val="0"/>
                        </a:spcBef>
                        <a:spcAft>
                          <a:spcPts val="0"/>
                        </a:spcAft>
                        <a:buNone/>
                      </a:pPr>
                      <a:r>
                        <a:rPr lang="en">
                          <a:solidFill>
                            <a:schemeClr val="dk1"/>
                          </a:solidFill>
                        </a:rPr>
                        <a:t>No(?)</a:t>
                      </a:r>
                      <a:endParaRPr/>
                    </a:p>
                  </a:txBody>
                  <a:tcPr marT="91425" marB="91425" marR="91425" marL="91425"/>
                </a:tc>
                <a:tc>
                  <a:txBody>
                    <a:bodyPr/>
                    <a:lstStyle/>
                    <a:p>
                      <a:pPr indent="0" lvl="0" marL="0" rtl="0" algn="l">
                        <a:spcBef>
                          <a:spcPts val="0"/>
                        </a:spcBef>
                        <a:spcAft>
                          <a:spcPts val="0"/>
                        </a:spcAft>
                        <a:buNone/>
                      </a:pPr>
                      <a:r>
                        <a:rPr lang="en">
                          <a:solidFill>
                            <a:schemeClr val="dk1"/>
                          </a:solidFill>
                        </a:rPr>
                        <a:t>Yes</a:t>
                      </a:r>
                      <a:endParaRPr/>
                    </a:p>
                  </a:txBody>
                  <a:tcPr marT="91425" marB="91425" marR="91425" marL="91425"/>
                </a:tc>
              </a:tr>
              <a:tr h="383400">
                <a:tc>
                  <a:txBody>
                    <a:bodyPr/>
                    <a:lstStyle/>
                    <a:p>
                      <a:pPr indent="0" lvl="0" marL="0" rtl="0" algn="l">
                        <a:spcBef>
                          <a:spcPts val="0"/>
                        </a:spcBef>
                        <a:spcAft>
                          <a:spcPts val="0"/>
                        </a:spcAft>
                        <a:buNone/>
                      </a:pPr>
                      <a:r>
                        <a:rPr lang="en"/>
                        <a:t>special_attack</a:t>
                      </a:r>
                      <a:endParaRPr/>
                    </a:p>
                  </a:txBody>
                  <a:tcPr marT="91425" marB="91425" marR="91425" marL="91425"/>
                </a:tc>
                <a:tc>
                  <a:txBody>
                    <a:bodyPr/>
                    <a:lstStyle/>
                    <a:p>
                      <a:pPr indent="0" lvl="0" marL="0" rtl="0" algn="l">
                        <a:spcBef>
                          <a:spcPts val="0"/>
                        </a:spcBef>
                        <a:spcAft>
                          <a:spcPts val="0"/>
                        </a:spcAft>
                        <a:buNone/>
                      </a:pPr>
                      <a:r>
                        <a:rPr lang="en">
                          <a:solidFill>
                            <a:schemeClr val="dk1"/>
                          </a:solidFill>
                        </a:rPr>
                        <a:t>Yes</a:t>
                      </a:r>
                      <a:endParaRPr/>
                    </a:p>
                  </a:txBody>
                  <a:tcPr marT="91425" marB="91425" marR="91425" marL="91425"/>
                </a:tc>
                <a:tc>
                  <a:txBody>
                    <a:bodyPr/>
                    <a:lstStyle/>
                    <a:p>
                      <a:pPr indent="0" lvl="0" marL="0" rtl="0" algn="l">
                        <a:spcBef>
                          <a:spcPts val="0"/>
                        </a:spcBef>
                        <a:spcAft>
                          <a:spcPts val="0"/>
                        </a:spcAft>
                        <a:buNone/>
                      </a:pPr>
                      <a:r>
                        <a:rPr lang="en">
                          <a:solidFill>
                            <a:schemeClr val="dk1"/>
                          </a:solidFill>
                        </a:rPr>
                        <a:t>Numeric</a:t>
                      </a:r>
                      <a:endParaRPr/>
                    </a:p>
                  </a:txBody>
                  <a:tcPr marT="91425" marB="91425" marR="91425" marL="91425"/>
                </a:tc>
                <a:tc>
                  <a:txBody>
                    <a:bodyPr/>
                    <a:lstStyle/>
                    <a:p>
                      <a:pPr indent="0" lvl="0" marL="0" rtl="0" algn="l">
                        <a:spcBef>
                          <a:spcPts val="0"/>
                        </a:spcBef>
                        <a:spcAft>
                          <a:spcPts val="0"/>
                        </a:spcAft>
                        <a:buNone/>
                      </a:pPr>
                      <a:r>
                        <a:rPr lang="en">
                          <a:solidFill>
                            <a:schemeClr val="dk1"/>
                          </a:solidFill>
                        </a:rPr>
                        <a:t>No(?)</a:t>
                      </a:r>
                      <a:endParaRPr/>
                    </a:p>
                  </a:txBody>
                  <a:tcPr marT="91425" marB="91425" marR="91425" marL="91425"/>
                </a:tc>
                <a:tc>
                  <a:txBody>
                    <a:bodyPr/>
                    <a:lstStyle/>
                    <a:p>
                      <a:pPr indent="0" lvl="0" marL="0" rtl="0" algn="l">
                        <a:spcBef>
                          <a:spcPts val="0"/>
                        </a:spcBef>
                        <a:spcAft>
                          <a:spcPts val="0"/>
                        </a:spcAft>
                        <a:buNone/>
                      </a:pPr>
                      <a:r>
                        <a:rPr lang="en">
                          <a:solidFill>
                            <a:schemeClr val="dk1"/>
                          </a:solidFill>
                        </a:rPr>
                        <a:t>Yes</a:t>
                      </a:r>
                      <a:endParaRPr/>
                    </a:p>
                  </a:txBody>
                  <a:tcPr marT="91425" marB="91425" marR="91425" marL="91425"/>
                </a:tc>
              </a:tr>
              <a:tr h="383400">
                <a:tc>
                  <a:txBody>
                    <a:bodyPr/>
                    <a:lstStyle/>
                    <a:p>
                      <a:pPr indent="0" lvl="0" marL="0" rtl="0" algn="l">
                        <a:spcBef>
                          <a:spcPts val="0"/>
                        </a:spcBef>
                        <a:spcAft>
                          <a:spcPts val="0"/>
                        </a:spcAft>
                        <a:buNone/>
                      </a:pPr>
                      <a:r>
                        <a:rPr lang="en"/>
                        <a:t>special_defense</a:t>
                      </a:r>
                      <a:endParaRPr/>
                    </a:p>
                  </a:txBody>
                  <a:tcPr marT="91425" marB="91425" marR="91425" marL="91425"/>
                </a:tc>
                <a:tc>
                  <a:txBody>
                    <a:bodyPr/>
                    <a:lstStyle/>
                    <a:p>
                      <a:pPr indent="0" lvl="0" marL="0" rtl="0" algn="l">
                        <a:spcBef>
                          <a:spcPts val="0"/>
                        </a:spcBef>
                        <a:spcAft>
                          <a:spcPts val="0"/>
                        </a:spcAft>
                        <a:buNone/>
                      </a:pPr>
                      <a:r>
                        <a:rPr lang="en">
                          <a:solidFill>
                            <a:schemeClr val="dk1"/>
                          </a:solidFill>
                        </a:rPr>
                        <a:t>Yes</a:t>
                      </a:r>
                      <a:endParaRPr/>
                    </a:p>
                  </a:txBody>
                  <a:tcPr marT="91425" marB="91425" marR="91425" marL="91425"/>
                </a:tc>
                <a:tc>
                  <a:txBody>
                    <a:bodyPr/>
                    <a:lstStyle/>
                    <a:p>
                      <a:pPr indent="0" lvl="0" marL="0" rtl="0" algn="l">
                        <a:spcBef>
                          <a:spcPts val="0"/>
                        </a:spcBef>
                        <a:spcAft>
                          <a:spcPts val="0"/>
                        </a:spcAft>
                        <a:buNone/>
                      </a:pPr>
                      <a:r>
                        <a:rPr lang="en">
                          <a:solidFill>
                            <a:schemeClr val="dk1"/>
                          </a:solidFill>
                        </a:rPr>
                        <a:t>Numeric</a:t>
                      </a:r>
                      <a:endParaRPr/>
                    </a:p>
                  </a:txBody>
                  <a:tcPr marT="91425" marB="91425" marR="91425" marL="91425"/>
                </a:tc>
                <a:tc>
                  <a:txBody>
                    <a:bodyPr/>
                    <a:lstStyle/>
                    <a:p>
                      <a:pPr indent="0" lvl="0" marL="0" rtl="0" algn="l">
                        <a:spcBef>
                          <a:spcPts val="0"/>
                        </a:spcBef>
                        <a:spcAft>
                          <a:spcPts val="0"/>
                        </a:spcAft>
                        <a:buNone/>
                      </a:pPr>
                      <a:r>
                        <a:rPr lang="en">
                          <a:solidFill>
                            <a:schemeClr val="dk1"/>
                          </a:solidFill>
                        </a:rPr>
                        <a:t>No(?)</a:t>
                      </a:r>
                      <a:endParaRPr/>
                    </a:p>
                  </a:txBody>
                  <a:tcPr marT="91425" marB="91425" marR="91425" marL="91425"/>
                </a:tc>
                <a:tc>
                  <a:txBody>
                    <a:bodyPr/>
                    <a:lstStyle/>
                    <a:p>
                      <a:pPr indent="0" lvl="0" marL="0" rtl="0" algn="l">
                        <a:spcBef>
                          <a:spcPts val="0"/>
                        </a:spcBef>
                        <a:spcAft>
                          <a:spcPts val="0"/>
                        </a:spcAft>
                        <a:buNone/>
                      </a:pPr>
                      <a:r>
                        <a:rPr lang="en">
                          <a:solidFill>
                            <a:schemeClr val="dk1"/>
                          </a:solidFill>
                        </a:rPr>
                        <a:t>Yes</a:t>
                      </a:r>
                      <a:endParaRPr/>
                    </a:p>
                  </a:txBody>
                  <a:tcPr marT="91425" marB="91425" marR="91425" marL="91425"/>
                </a:tc>
              </a:tr>
              <a:tr h="383400">
                <a:tc>
                  <a:txBody>
                    <a:bodyPr/>
                    <a:lstStyle/>
                    <a:p>
                      <a:pPr indent="0" lvl="0" marL="0" rtl="0" algn="l">
                        <a:spcBef>
                          <a:spcPts val="0"/>
                        </a:spcBef>
                        <a:spcAft>
                          <a:spcPts val="0"/>
                        </a:spcAft>
                        <a:buNone/>
                      </a:pPr>
                      <a:r>
                        <a:rPr lang="en"/>
                        <a:t>speed</a:t>
                      </a:r>
                      <a:endParaRPr/>
                    </a:p>
                  </a:txBody>
                  <a:tcPr marT="91425" marB="91425" marR="91425" marL="91425"/>
                </a:tc>
                <a:tc>
                  <a:txBody>
                    <a:bodyPr/>
                    <a:lstStyle/>
                    <a:p>
                      <a:pPr indent="0" lvl="0" marL="0" rtl="0" algn="l">
                        <a:spcBef>
                          <a:spcPts val="0"/>
                        </a:spcBef>
                        <a:spcAft>
                          <a:spcPts val="0"/>
                        </a:spcAft>
                        <a:buNone/>
                      </a:pPr>
                      <a:r>
                        <a:rPr lang="en">
                          <a:solidFill>
                            <a:schemeClr val="dk1"/>
                          </a:solidFill>
                        </a:rPr>
                        <a:t>Yes</a:t>
                      </a:r>
                      <a:endParaRPr/>
                    </a:p>
                  </a:txBody>
                  <a:tcPr marT="91425" marB="91425" marR="91425" marL="91425"/>
                </a:tc>
                <a:tc>
                  <a:txBody>
                    <a:bodyPr/>
                    <a:lstStyle/>
                    <a:p>
                      <a:pPr indent="0" lvl="0" marL="0" rtl="0" algn="l">
                        <a:spcBef>
                          <a:spcPts val="0"/>
                        </a:spcBef>
                        <a:spcAft>
                          <a:spcPts val="0"/>
                        </a:spcAft>
                        <a:buNone/>
                      </a:pPr>
                      <a:r>
                        <a:rPr lang="en">
                          <a:solidFill>
                            <a:schemeClr val="dk1"/>
                          </a:solidFill>
                        </a:rPr>
                        <a:t>Numeric</a:t>
                      </a:r>
                      <a:endParaRPr/>
                    </a:p>
                  </a:txBody>
                  <a:tcPr marT="91425" marB="91425" marR="91425" marL="91425"/>
                </a:tc>
                <a:tc>
                  <a:txBody>
                    <a:bodyPr/>
                    <a:lstStyle/>
                    <a:p>
                      <a:pPr indent="0" lvl="0" marL="0" rtl="0" algn="l">
                        <a:spcBef>
                          <a:spcPts val="0"/>
                        </a:spcBef>
                        <a:spcAft>
                          <a:spcPts val="0"/>
                        </a:spcAft>
                        <a:buNone/>
                      </a:pPr>
                      <a:r>
                        <a:rPr lang="en">
                          <a:solidFill>
                            <a:schemeClr val="dk1"/>
                          </a:solidFill>
                        </a:rPr>
                        <a:t>No(?)</a:t>
                      </a:r>
                      <a:endParaRPr/>
                    </a:p>
                  </a:txBody>
                  <a:tcPr marT="91425" marB="91425" marR="91425" marL="91425"/>
                </a:tc>
                <a:tc>
                  <a:txBody>
                    <a:bodyPr/>
                    <a:lstStyle/>
                    <a:p>
                      <a:pPr indent="0" lvl="0" marL="0" rtl="0" algn="l">
                        <a:spcBef>
                          <a:spcPts val="0"/>
                        </a:spcBef>
                        <a:spcAft>
                          <a:spcPts val="0"/>
                        </a:spcAft>
                        <a:buNone/>
                      </a:pPr>
                      <a:r>
                        <a:rPr lang="en">
                          <a:solidFill>
                            <a:schemeClr val="dk1"/>
                          </a:solidFill>
                        </a:rPr>
                        <a:t>Yes</a:t>
                      </a:r>
                      <a:endParaRPr/>
                    </a:p>
                  </a:txBody>
                  <a:tcPr marT="91425" marB="91425" marR="91425" marL="91425"/>
                </a:tc>
              </a:tr>
              <a:tr h="383400">
                <a:tc>
                  <a:txBody>
                    <a:bodyPr/>
                    <a:lstStyle/>
                    <a:p>
                      <a:pPr indent="0" lvl="0" marL="0" rtl="0" algn="l">
                        <a:spcBef>
                          <a:spcPts val="0"/>
                        </a:spcBef>
                        <a:spcAft>
                          <a:spcPts val="0"/>
                        </a:spcAft>
                        <a:buNone/>
                      </a:pPr>
                      <a:r>
                        <a:rPr lang="en"/>
                        <a:t>color_1</a:t>
                      </a:r>
                      <a:endParaRPr/>
                    </a:p>
                  </a:txBody>
                  <a:tcPr marT="91425" marB="91425" marR="91425" marL="91425"/>
                </a:tc>
                <a:tc>
                  <a:txBody>
                    <a:bodyPr/>
                    <a:lstStyle/>
                    <a:p>
                      <a:pPr indent="0" lvl="0" marL="0" rtl="0" algn="l">
                        <a:spcBef>
                          <a:spcPts val="0"/>
                        </a:spcBef>
                        <a:spcAft>
                          <a:spcPts val="0"/>
                        </a:spcAft>
                        <a:buNone/>
                      </a:pPr>
                      <a:r>
                        <a:rPr lang="en">
                          <a:solidFill>
                            <a:schemeClr val="dk1"/>
                          </a:solidFill>
                        </a:rPr>
                        <a:t>Yes</a:t>
                      </a:r>
                      <a:endParaRPr/>
                    </a:p>
                  </a:txBody>
                  <a:tcPr marT="91425" marB="91425" marR="91425" marL="91425"/>
                </a:tc>
                <a:tc>
                  <a:txBody>
                    <a:bodyPr/>
                    <a:lstStyle/>
                    <a:p>
                      <a:pPr indent="0" lvl="0" marL="0" rtl="0" algn="l">
                        <a:spcBef>
                          <a:spcPts val="0"/>
                        </a:spcBef>
                        <a:spcAft>
                          <a:spcPts val="0"/>
                        </a:spcAft>
                        <a:buNone/>
                      </a:pPr>
                      <a:r>
                        <a:rPr lang="en">
                          <a:solidFill>
                            <a:schemeClr val="dk1"/>
                          </a:solidFill>
                        </a:rPr>
                        <a:t>Free type</a:t>
                      </a:r>
                      <a:endParaRPr/>
                    </a:p>
                  </a:txBody>
                  <a:tcPr marT="91425" marB="91425" marR="91425" marL="91425"/>
                </a:tc>
                <a:tc>
                  <a:txBody>
                    <a:bodyPr/>
                    <a:lstStyle/>
                    <a:p>
                      <a:pPr indent="0" lvl="0" marL="0" rtl="0" algn="l">
                        <a:spcBef>
                          <a:spcPts val="0"/>
                        </a:spcBef>
                        <a:spcAft>
                          <a:spcPts val="0"/>
                        </a:spcAft>
                        <a:buNone/>
                      </a:pPr>
                      <a:r>
                        <a:rPr lang="en"/>
                        <a:t>No</a:t>
                      </a:r>
                      <a:endParaRPr/>
                    </a:p>
                  </a:txBody>
                  <a:tcPr marT="91425" marB="91425" marR="91425" marL="91425"/>
                </a:tc>
                <a:tc>
                  <a:txBody>
                    <a:bodyPr/>
                    <a:lstStyle/>
                    <a:p>
                      <a:pPr indent="0" lvl="0" marL="0" rtl="0" algn="l">
                        <a:spcBef>
                          <a:spcPts val="0"/>
                        </a:spcBef>
                        <a:spcAft>
                          <a:spcPts val="0"/>
                        </a:spcAft>
                        <a:buNone/>
                      </a:pPr>
                      <a:r>
                        <a:rPr lang="en"/>
                        <a:t>No</a:t>
                      </a:r>
                      <a:endParaRPr/>
                    </a:p>
                  </a:txBody>
                  <a:tcPr marT="91425" marB="91425" marR="91425" marL="91425"/>
                </a:tc>
              </a:tr>
              <a:tr h="383400">
                <a:tc>
                  <a:txBody>
                    <a:bodyPr/>
                    <a:lstStyle/>
                    <a:p>
                      <a:pPr indent="0" lvl="0" marL="0" rtl="0" algn="l">
                        <a:spcBef>
                          <a:spcPts val="0"/>
                        </a:spcBef>
                        <a:spcAft>
                          <a:spcPts val="0"/>
                        </a:spcAft>
                        <a:buNone/>
                      </a:pPr>
                      <a:r>
                        <a:rPr lang="en"/>
                        <a:t>color_2</a:t>
                      </a:r>
                      <a:endParaRPr/>
                    </a:p>
                  </a:txBody>
                  <a:tcPr marT="91425" marB="91425" marR="91425" marL="91425"/>
                </a:tc>
                <a:tc>
                  <a:txBody>
                    <a:bodyPr/>
                    <a:lstStyle/>
                    <a:p>
                      <a:pPr indent="0" lvl="0" marL="0" rtl="0" algn="l">
                        <a:spcBef>
                          <a:spcPts val="0"/>
                        </a:spcBef>
                        <a:spcAft>
                          <a:spcPts val="0"/>
                        </a:spcAft>
                        <a:buNone/>
                      </a:pPr>
                      <a:r>
                        <a:rPr lang="en">
                          <a:solidFill>
                            <a:schemeClr val="dk1"/>
                          </a:solidFill>
                        </a:rPr>
                        <a:t>Yes</a:t>
                      </a:r>
                      <a:endParaRPr/>
                    </a:p>
                  </a:txBody>
                  <a:tcPr marT="91425" marB="91425" marR="91425" marL="91425"/>
                </a:tc>
                <a:tc>
                  <a:txBody>
                    <a:bodyPr/>
                    <a:lstStyle/>
                    <a:p>
                      <a:pPr indent="0" lvl="0" marL="0" rtl="0" algn="l">
                        <a:spcBef>
                          <a:spcPts val="0"/>
                        </a:spcBef>
                        <a:spcAft>
                          <a:spcPts val="0"/>
                        </a:spcAft>
                        <a:buNone/>
                      </a:pPr>
                      <a:r>
                        <a:rPr lang="en"/>
                        <a:t>Free type</a:t>
                      </a:r>
                      <a:endParaRPr/>
                    </a:p>
                  </a:txBody>
                  <a:tcPr marT="91425" marB="91425" marR="91425" marL="91425"/>
                </a:tc>
                <a:tc>
                  <a:txBody>
                    <a:bodyPr/>
                    <a:lstStyle/>
                    <a:p>
                      <a:pPr indent="0" lvl="0" marL="0" rtl="0" algn="l">
                        <a:spcBef>
                          <a:spcPts val="0"/>
                        </a:spcBef>
                        <a:spcAft>
                          <a:spcPts val="0"/>
                        </a:spcAft>
                        <a:buNone/>
                      </a:pPr>
                      <a:r>
                        <a:rPr lang="en">
                          <a:solidFill>
                            <a:schemeClr val="dk1"/>
                          </a:solidFill>
                        </a:rPr>
                        <a:t>No</a:t>
                      </a:r>
                      <a:endParaRPr/>
                    </a:p>
                  </a:txBody>
                  <a:tcPr marT="91425" marB="91425" marR="91425" marL="91425"/>
                </a:tc>
                <a:tc>
                  <a:txBody>
                    <a:bodyPr/>
                    <a:lstStyle/>
                    <a:p>
                      <a:pPr indent="0" lvl="0" marL="0" rtl="0" algn="l">
                        <a:spcBef>
                          <a:spcPts val="0"/>
                        </a:spcBef>
                        <a:spcAft>
                          <a:spcPts val="0"/>
                        </a:spcAft>
                        <a:buNone/>
                      </a:pPr>
                      <a:r>
                        <a:rPr lang="en">
                          <a:solidFill>
                            <a:schemeClr val="dk1"/>
                          </a:solidFill>
                        </a:rPr>
                        <a:t>No</a:t>
                      </a:r>
                      <a:endParaRPr/>
                    </a:p>
                  </a:txBody>
                  <a:tcPr marT="91425" marB="91425" marR="91425" marL="91425"/>
                </a:tc>
              </a:tr>
              <a:tr h="383400">
                <a:tc>
                  <a:txBody>
                    <a:bodyPr/>
                    <a:lstStyle/>
                    <a:p>
                      <a:pPr indent="0" lvl="0" marL="0" rtl="0" algn="l">
                        <a:spcBef>
                          <a:spcPts val="0"/>
                        </a:spcBef>
                        <a:spcAft>
                          <a:spcPts val="0"/>
                        </a:spcAft>
                        <a:buNone/>
                      </a:pPr>
                      <a:r>
                        <a:rPr lang="en"/>
                        <a:t>color_f</a:t>
                      </a:r>
                      <a:endParaRPr/>
                    </a:p>
                  </a:txBody>
                  <a:tcPr marT="91425" marB="91425" marR="91425" marL="91425"/>
                </a:tc>
                <a:tc>
                  <a:txBody>
                    <a:bodyPr/>
                    <a:lstStyle/>
                    <a:p>
                      <a:pPr indent="0" lvl="0" marL="0" rtl="0" algn="l">
                        <a:spcBef>
                          <a:spcPts val="0"/>
                        </a:spcBef>
                        <a:spcAft>
                          <a:spcPts val="0"/>
                        </a:spcAft>
                        <a:buNone/>
                      </a:pPr>
                      <a:r>
                        <a:rPr lang="en">
                          <a:solidFill>
                            <a:schemeClr val="dk1"/>
                          </a:solidFill>
                        </a:rPr>
                        <a:t>Yes</a:t>
                      </a:r>
                      <a:endParaRPr/>
                    </a:p>
                  </a:txBody>
                  <a:tcPr marT="91425" marB="91425" marR="91425" marL="91425"/>
                </a:tc>
                <a:tc>
                  <a:txBody>
                    <a:bodyPr/>
                    <a:lstStyle/>
                    <a:p>
                      <a:pPr indent="0" lvl="0" marL="0" rtl="0" algn="l">
                        <a:spcBef>
                          <a:spcPts val="0"/>
                        </a:spcBef>
                        <a:spcAft>
                          <a:spcPts val="0"/>
                        </a:spcAft>
                        <a:buNone/>
                      </a:pPr>
                      <a:r>
                        <a:rPr lang="en"/>
                        <a:t>Free type</a:t>
                      </a:r>
                      <a:endParaRPr/>
                    </a:p>
                  </a:txBody>
                  <a:tcPr marT="91425" marB="91425" marR="91425" marL="91425"/>
                </a:tc>
                <a:tc>
                  <a:txBody>
                    <a:bodyPr/>
                    <a:lstStyle/>
                    <a:p>
                      <a:pPr indent="0" lvl="0" marL="0" rtl="0" algn="l">
                        <a:spcBef>
                          <a:spcPts val="0"/>
                        </a:spcBef>
                        <a:spcAft>
                          <a:spcPts val="0"/>
                        </a:spcAft>
                        <a:buNone/>
                      </a:pPr>
                      <a:r>
                        <a:rPr lang="en">
                          <a:solidFill>
                            <a:schemeClr val="dk1"/>
                          </a:solidFill>
                        </a:rPr>
                        <a:t>No</a:t>
                      </a:r>
                      <a:endParaRPr/>
                    </a:p>
                  </a:txBody>
                  <a:tcPr marT="91425" marB="91425" marR="91425" marL="91425"/>
                </a:tc>
                <a:tc>
                  <a:txBody>
                    <a:bodyPr/>
                    <a:lstStyle/>
                    <a:p>
                      <a:pPr indent="0" lvl="0" marL="0" rtl="0" algn="l">
                        <a:spcBef>
                          <a:spcPts val="0"/>
                        </a:spcBef>
                        <a:spcAft>
                          <a:spcPts val="0"/>
                        </a:spcAft>
                        <a:buNone/>
                      </a:pPr>
                      <a:r>
                        <a:rPr lang="en">
                          <a:solidFill>
                            <a:schemeClr val="dk1"/>
                          </a:solidFill>
                        </a:rPr>
                        <a:t>No</a:t>
                      </a:r>
                      <a:endParaRPr/>
                    </a:p>
                  </a:txBody>
                  <a:tcPr marT="91425" marB="91425" marR="91425" marL="91425"/>
                </a:tc>
              </a:tr>
              <a:tr h="383400">
                <a:tc>
                  <a:txBody>
                    <a:bodyPr/>
                    <a:lstStyle/>
                    <a:p>
                      <a:pPr indent="0" lvl="0" marL="0" rtl="0" algn="l">
                        <a:spcBef>
                          <a:spcPts val="0"/>
                        </a:spcBef>
                        <a:spcAft>
                          <a:spcPts val="0"/>
                        </a:spcAft>
                        <a:buNone/>
                      </a:pPr>
                      <a:r>
                        <a:rPr lang="en"/>
                        <a:t>egg_group_1</a:t>
                      </a:r>
                      <a:endParaRPr/>
                    </a:p>
                  </a:txBody>
                  <a:tcPr marT="91425" marB="91425" marR="91425" marL="91425"/>
                </a:tc>
                <a:tc>
                  <a:txBody>
                    <a:bodyPr/>
                    <a:lstStyle/>
                    <a:p>
                      <a:pPr indent="0" lvl="0" marL="0" rtl="0" algn="l">
                        <a:spcBef>
                          <a:spcPts val="0"/>
                        </a:spcBef>
                        <a:spcAft>
                          <a:spcPts val="0"/>
                        </a:spcAft>
                        <a:buNone/>
                      </a:pPr>
                      <a:r>
                        <a:rPr lang="en">
                          <a:solidFill>
                            <a:schemeClr val="dk1"/>
                          </a:solidFill>
                        </a:rPr>
                        <a:t>Yes</a:t>
                      </a:r>
                      <a:endParaRPr/>
                    </a:p>
                  </a:txBody>
                  <a:tcPr marT="91425" marB="91425" marR="91425" marL="91425"/>
                </a:tc>
                <a:tc>
                  <a:txBody>
                    <a:bodyPr/>
                    <a:lstStyle/>
                    <a:p>
                      <a:pPr indent="0" lvl="0" marL="0" rtl="0" algn="l">
                        <a:spcBef>
                          <a:spcPts val="0"/>
                        </a:spcBef>
                        <a:spcAft>
                          <a:spcPts val="0"/>
                        </a:spcAft>
                        <a:buNone/>
                      </a:pPr>
                      <a:r>
                        <a:rPr lang="en">
                          <a:solidFill>
                            <a:schemeClr val="dk1"/>
                          </a:solidFill>
                        </a:rPr>
                        <a:t>Free type</a:t>
                      </a:r>
                      <a:endParaRPr/>
                    </a:p>
                  </a:txBody>
                  <a:tcPr marT="91425" marB="91425" marR="91425" marL="91425"/>
                </a:tc>
                <a:tc>
                  <a:txBody>
                    <a:bodyPr/>
                    <a:lstStyle/>
                    <a:p>
                      <a:pPr indent="0" lvl="0" marL="0" rtl="0" algn="l">
                        <a:spcBef>
                          <a:spcPts val="0"/>
                        </a:spcBef>
                        <a:spcAft>
                          <a:spcPts val="0"/>
                        </a:spcAft>
                        <a:buNone/>
                      </a:pPr>
                      <a:r>
                        <a:rPr lang="en">
                          <a:solidFill>
                            <a:schemeClr val="dk1"/>
                          </a:solidFill>
                        </a:rPr>
                        <a:t>Yes</a:t>
                      </a:r>
                      <a:endParaRPr/>
                    </a:p>
                  </a:txBody>
                  <a:tcPr marT="91425" marB="91425" marR="91425" marL="91425"/>
                </a:tc>
                <a:tc>
                  <a:txBody>
                    <a:bodyPr/>
                    <a:lstStyle/>
                    <a:p>
                      <a:pPr indent="0" lvl="0" marL="0" rtl="0" algn="l">
                        <a:spcBef>
                          <a:spcPts val="0"/>
                        </a:spcBef>
                        <a:spcAft>
                          <a:spcPts val="0"/>
                        </a:spcAft>
                        <a:buNone/>
                      </a:pPr>
                      <a:r>
                        <a:rPr lang="en">
                          <a:solidFill>
                            <a:schemeClr val="dk1"/>
                          </a:solidFill>
                        </a:rPr>
                        <a:t>Yes</a:t>
                      </a:r>
                      <a:endParaRPr/>
                    </a:p>
                  </a:txBody>
                  <a:tcPr marT="91425" marB="91425" marR="91425" marL="91425"/>
                </a:tc>
              </a:tr>
            </a:tbl>
          </a:graphicData>
        </a:graphic>
      </p:graphicFrame>
      <p:sp>
        <p:nvSpPr>
          <p:cNvPr id="73" name="Google Shape;73;p16"/>
          <p:cNvSpPr txBox="1"/>
          <p:nvPr>
            <p:ph type="title"/>
          </p:nvPr>
        </p:nvSpPr>
        <p:spPr>
          <a:xfrm>
            <a:off x="311700" y="1820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Data Profile - Pt 2</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Data Profile - Pt 3</a:t>
            </a:r>
            <a:endParaRPr/>
          </a:p>
        </p:txBody>
      </p:sp>
      <p:graphicFrame>
        <p:nvGraphicFramePr>
          <p:cNvPr id="79" name="Google Shape;79;p17"/>
          <p:cNvGraphicFramePr/>
          <p:nvPr/>
        </p:nvGraphicFramePr>
        <p:xfrm>
          <a:off x="952500" y="1565895"/>
          <a:ext cx="3000000" cy="3000000"/>
        </p:xfrm>
        <a:graphic>
          <a:graphicData uri="http://schemas.openxmlformats.org/drawingml/2006/table">
            <a:tbl>
              <a:tblPr>
                <a:noFill/>
                <a:tableStyleId>{244568E1-D901-4148-8306-CE0658200B0E}</a:tableStyleId>
              </a:tblPr>
              <a:tblGrid>
                <a:gridCol w="1447800"/>
                <a:gridCol w="1447800"/>
                <a:gridCol w="1447800"/>
                <a:gridCol w="1447800"/>
                <a:gridCol w="1447800"/>
              </a:tblGrid>
              <a:tr h="381000">
                <a:tc>
                  <a:txBody>
                    <a:bodyPr/>
                    <a:lstStyle/>
                    <a:p>
                      <a:pPr indent="0" lvl="0" marL="0" rtl="0" algn="l">
                        <a:spcBef>
                          <a:spcPts val="0"/>
                        </a:spcBef>
                        <a:spcAft>
                          <a:spcPts val="0"/>
                        </a:spcAft>
                        <a:buNone/>
                      </a:pPr>
                      <a:r>
                        <a:rPr lang="en"/>
                        <a:t>Column</a:t>
                      </a:r>
                      <a:r>
                        <a:rPr lang="en"/>
                        <a:t> Name</a:t>
                      </a:r>
                      <a:endParaRPr/>
                    </a:p>
                  </a:txBody>
                  <a:tcPr marT="91425" marB="91425" marR="91425" marL="91425"/>
                </a:tc>
                <a:tc>
                  <a:txBody>
                    <a:bodyPr/>
                    <a:lstStyle/>
                    <a:p>
                      <a:pPr indent="0" lvl="0" marL="0" rtl="0" algn="l">
                        <a:spcBef>
                          <a:spcPts val="0"/>
                        </a:spcBef>
                        <a:spcAft>
                          <a:spcPts val="0"/>
                        </a:spcAft>
                        <a:buNone/>
                      </a:pPr>
                      <a:r>
                        <a:rPr lang="en"/>
                        <a:t>Has missing data?</a:t>
                      </a:r>
                      <a:endParaRPr/>
                    </a:p>
                  </a:txBody>
                  <a:tcPr marT="91425" marB="91425" marR="91425" marL="91425"/>
                </a:tc>
                <a:tc>
                  <a:txBody>
                    <a:bodyPr/>
                    <a:lstStyle/>
                    <a:p>
                      <a:pPr indent="0" lvl="0" marL="0" rtl="0" algn="l">
                        <a:spcBef>
                          <a:spcPts val="0"/>
                        </a:spcBef>
                        <a:spcAft>
                          <a:spcPts val="0"/>
                        </a:spcAft>
                        <a:buNone/>
                      </a:pPr>
                      <a:r>
                        <a:rPr lang="en">
                          <a:solidFill>
                            <a:schemeClr val="dk1"/>
                          </a:solidFill>
                        </a:rPr>
                        <a:t>Data Type - Numeric or Free type</a:t>
                      </a:r>
                      <a:endParaRPr/>
                    </a:p>
                  </a:txBody>
                  <a:tcPr marT="91425" marB="91425" marR="91425" marL="91425"/>
                </a:tc>
                <a:tc>
                  <a:txBody>
                    <a:bodyPr/>
                    <a:lstStyle/>
                    <a:p>
                      <a:pPr indent="0" lvl="0" marL="0" rtl="0" algn="l">
                        <a:spcBef>
                          <a:spcPts val="0"/>
                        </a:spcBef>
                        <a:spcAft>
                          <a:spcPts val="0"/>
                        </a:spcAft>
                        <a:buNone/>
                      </a:pPr>
                      <a:r>
                        <a:rPr lang="en"/>
                        <a:t>Useful?</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
                          <a:solidFill>
                            <a:schemeClr val="dk1"/>
                          </a:solidFill>
                        </a:rPr>
                        <a:t>Need cleaning/processing?</a:t>
                      </a:r>
                      <a:endParaRPr>
                        <a:solidFill>
                          <a:schemeClr val="dk1"/>
                        </a:solidFill>
                      </a:endParaRPr>
                    </a:p>
                    <a:p>
                      <a:pPr indent="0" lvl="0" marL="0" rtl="0" algn="l">
                        <a:spcBef>
                          <a:spcPts val="0"/>
                        </a:spcBef>
                        <a:spcAft>
                          <a:spcPts val="0"/>
                        </a:spcAft>
                        <a:buNone/>
                      </a:pPr>
                      <a:r>
                        <a:t/>
                      </a:r>
                      <a:endParaRPr/>
                    </a:p>
                  </a:txBody>
                  <a:tcPr marT="91425" marB="91425" marR="91425" marL="91425"/>
                </a:tc>
              </a:tr>
              <a:tr h="381000">
                <a:tc>
                  <a:txBody>
                    <a:bodyPr/>
                    <a:lstStyle/>
                    <a:p>
                      <a:pPr indent="0" lvl="0" marL="0" rtl="0" algn="l">
                        <a:spcBef>
                          <a:spcPts val="0"/>
                        </a:spcBef>
                        <a:spcAft>
                          <a:spcPts val="0"/>
                        </a:spcAft>
                        <a:buNone/>
                      </a:pPr>
                      <a:r>
                        <a:rPr lang="en"/>
                        <a:t>egg_group_2</a:t>
                      </a:r>
                      <a:endParaRPr/>
                    </a:p>
                  </a:txBody>
                  <a:tcPr marT="91425" marB="91425" marR="91425" marL="91425"/>
                </a:tc>
                <a:tc>
                  <a:txBody>
                    <a:bodyPr/>
                    <a:lstStyle/>
                    <a:p>
                      <a:pPr indent="0" lvl="0" marL="0" rtl="0" algn="l">
                        <a:spcBef>
                          <a:spcPts val="0"/>
                        </a:spcBef>
                        <a:spcAft>
                          <a:spcPts val="0"/>
                        </a:spcAft>
                        <a:buNone/>
                      </a:pPr>
                      <a:r>
                        <a:rPr lang="en"/>
                        <a:t>Yes</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
                          <a:solidFill>
                            <a:schemeClr val="dk1"/>
                          </a:solidFill>
                        </a:rPr>
                        <a:t>Free type</a:t>
                      </a:r>
                      <a:endParaRPr/>
                    </a:p>
                  </a:txBody>
                  <a:tcPr marT="91425" marB="91425" marR="91425" marL="91425"/>
                </a:tc>
                <a:tc>
                  <a:txBody>
                    <a:bodyPr/>
                    <a:lstStyle/>
                    <a:p>
                      <a:pPr indent="0" lvl="0" marL="0" rtl="0" algn="l">
                        <a:spcBef>
                          <a:spcPts val="0"/>
                        </a:spcBef>
                        <a:spcAft>
                          <a:spcPts val="0"/>
                        </a:spcAft>
                        <a:buNone/>
                      </a:pPr>
                      <a:r>
                        <a:rPr lang="en"/>
                        <a:t>Yes</a:t>
                      </a:r>
                      <a:endParaRPr/>
                    </a:p>
                  </a:txBody>
                  <a:tcPr marT="91425" marB="91425" marR="91425" marL="91425"/>
                </a:tc>
                <a:tc>
                  <a:txBody>
                    <a:bodyPr/>
                    <a:lstStyle/>
                    <a:p>
                      <a:pPr indent="0" lvl="0" marL="0" rtl="0" algn="l">
                        <a:spcBef>
                          <a:spcPts val="0"/>
                        </a:spcBef>
                        <a:spcAft>
                          <a:spcPts val="0"/>
                        </a:spcAft>
                        <a:buNone/>
                      </a:pPr>
                      <a:r>
                        <a:rPr lang="en"/>
                        <a:t>Yes</a:t>
                      </a:r>
                      <a:endParaRPr/>
                    </a:p>
                  </a:txBody>
                  <a:tcPr marT="91425" marB="91425" marR="91425" marL="91425"/>
                </a:tc>
              </a:tr>
              <a:tr h="381000">
                <a:tc>
                  <a:txBody>
                    <a:bodyPr/>
                    <a:lstStyle/>
                    <a:p>
                      <a:pPr indent="0" lvl="0" marL="0" rtl="0" algn="l">
                        <a:spcBef>
                          <a:spcPts val="0"/>
                        </a:spcBef>
                        <a:spcAft>
                          <a:spcPts val="0"/>
                        </a:spcAft>
                        <a:buNone/>
                      </a:pPr>
                      <a:r>
                        <a:rPr lang="en"/>
                        <a:t>url_icon</a:t>
                      </a:r>
                      <a:endParaRPr/>
                    </a:p>
                  </a:txBody>
                  <a:tcPr marT="91425" marB="91425" marR="91425" marL="91425"/>
                </a:tc>
                <a:tc>
                  <a:txBody>
                    <a:bodyPr/>
                    <a:lstStyle/>
                    <a:p>
                      <a:pPr indent="0" lvl="0" marL="0" rtl="0" algn="l">
                        <a:spcBef>
                          <a:spcPts val="0"/>
                        </a:spcBef>
                        <a:spcAft>
                          <a:spcPts val="0"/>
                        </a:spcAft>
                        <a:buNone/>
                      </a:pPr>
                      <a:r>
                        <a:rPr lang="en"/>
                        <a:t>Yes</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
                          <a:solidFill>
                            <a:schemeClr val="dk1"/>
                          </a:solidFill>
                        </a:rPr>
                        <a:t>Numeric</a:t>
                      </a:r>
                      <a:endParaRPr/>
                    </a:p>
                  </a:txBody>
                  <a:tcPr marT="91425" marB="91425" marR="91425" marL="91425"/>
                </a:tc>
                <a:tc>
                  <a:txBody>
                    <a:bodyPr/>
                    <a:lstStyle/>
                    <a:p>
                      <a:pPr indent="0" lvl="0" marL="0" rtl="0" algn="l">
                        <a:spcBef>
                          <a:spcPts val="0"/>
                        </a:spcBef>
                        <a:spcAft>
                          <a:spcPts val="0"/>
                        </a:spcAft>
                        <a:buNone/>
                      </a:pPr>
                      <a:r>
                        <a:rPr lang="en"/>
                        <a:t>No</a:t>
                      </a:r>
                      <a:endParaRPr/>
                    </a:p>
                  </a:txBody>
                  <a:tcPr marT="91425" marB="91425" marR="91425" marL="91425"/>
                </a:tc>
                <a:tc>
                  <a:txBody>
                    <a:bodyPr/>
                    <a:lstStyle/>
                    <a:p>
                      <a:pPr indent="0" lvl="0" marL="0" rtl="0" algn="l">
                        <a:spcBef>
                          <a:spcPts val="0"/>
                        </a:spcBef>
                        <a:spcAft>
                          <a:spcPts val="0"/>
                        </a:spcAft>
                        <a:buNone/>
                      </a:pPr>
                      <a:r>
                        <a:rPr lang="en"/>
                        <a:t>No</a:t>
                      </a:r>
                      <a:endParaRPr/>
                    </a:p>
                  </a:txBody>
                  <a:tcPr marT="91425" marB="91425" marR="91425" marL="91425"/>
                </a:tc>
              </a:tr>
              <a:tr h="381000">
                <a:tc>
                  <a:txBody>
                    <a:bodyPr/>
                    <a:lstStyle/>
                    <a:p>
                      <a:pPr indent="0" lvl="0" marL="0" rtl="0" algn="l">
                        <a:spcBef>
                          <a:spcPts val="0"/>
                        </a:spcBef>
                        <a:spcAft>
                          <a:spcPts val="0"/>
                        </a:spcAft>
                        <a:buNone/>
                      </a:pPr>
                      <a:r>
                        <a:rPr lang="en"/>
                        <a:t>g</a:t>
                      </a:r>
                      <a:r>
                        <a:rPr lang="en"/>
                        <a:t>eneration_id</a:t>
                      </a:r>
                      <a:endParaRPr/>
                    </a:p>
                  </a:txBody>
                  <a:tcPr marT="91425" marB="91425" marR="91425" marL="91425"/>
                </a:tc>
                <a:tc>
                  <a:txBody>
                    <a:bodyPr/>
                    <a:lstStyle/>
                    <a:p>
                      <a:pPr indent="0" lvl="0" marL="0" rtl="0" algn="l">
                        <a:spcBef>
                          <a:spcPts val="0"/>
                        </a:spcBef>
                        <a:spcAft>
                          <a:spcPts val="0"/>
                        </a:spcAft>
                        <a:buNone/>
                      </a:pPr>
                      <a:r>
                        <a:rPr lang="en"/>
                        <a:t>Yes</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
                          <a:solidFill>
                            <a:schemeClr val="dk1"/>
                          </a:solidFill>
                        </a:rPr>
                        <a:t>Free type</a:t>
                      </a:r>
                      <a:endParaRPr/>
                    </a:p>
                  </a:txBody>
                  <a:tcPr marT="91425" marB="91425" marR="91425" marL="91425"/>
                </a:tc>
                <a:tc>
                  <a:txBody>
                    <a:bodyPr/>
                    <a:lstStyle/>
                    <a:p>
                      <a:pPr indent="0" lvl="0" marL="0" rtl="0" algn="l">
                        <a:spcBef>
                          <a:spcPts val="0"/>
                        </a:spcBef>
                        <a:spcAft>
                          <a:spcPts val="0"/>
                        </a:spcAft>
                        <a:buNone/>
                      </a:pPr>
                      <a:r>
                        <a:rPr lang="en"/>
                        <a:t>Yes</a:t>
                      </a:r>
                      <a:endParaRPr/>
                    </a:p>
                  </a:txBody>
                  <a:tcPr marT="91425" marB="91425" marR="91425" marL="91425"/>
                </a:tc>
                <a:tc>
                  <a:txBody>
                    <a:bodyPr/>
                    <a:lstStyle/>
                    <a:p>
                      <a:pPr indent="0" lvl="0" marL="0" rtl="0" algn="l">
                        <a:spcBef>
                          <a:spcPts val="0"/>
                        </a:spcBef>
                        <a:spcAft>
                          <a:spcPts val="0"/>
                        </a:spcAft>
                        <a:buNone/>
                      </a:pPr>
                      <a:r>
                        <a:rPr lang="en"/>
                        <a:t>Yes</a:t>
                      </a:r>
                      <a:endParaRPr/>
                    </a:p>
                  </a:txBody>
                  <a:tcPr marT="91425" marB="91425" marR="91425" marL="91425"/>
                </a:tc>
              </a:tr>
              <a:tr h="381000">
                <a:tc>
                  <a:txBody>
                    <a:bodyPr/>
                    <a:lstStyle/>
                    <a:p>
                      <a:pPr indent="0" lvl="0" marL="0" rtl="0" algn="l">
                        <a:spcBef>
                          <a:spcPts val="0"/>
                        </a:spcBef>
                        <a:spcAft>
                          <a:spcPts val="0"/>
                        </a:spcAft>
                        <a:buNone/>
                      </a:pPr>
                      <a:r>
                        <a:rPr lang="en"/>
                        <a:t>url_image</a:t>
                      </a:r>
                      <a:endParaRPr/>
                    </a:p>
                  </a:txBody>
                  <a:tcPr marT="91425" marB="91425" marR="91425" marL="91425"/>
                </a:tc>
                <a:tc>
                  <a:txBody>
                    <a:bodyPr/>
                    <a:lstStyle/>
                    <a:p>
                      <a:pPr indent="0" lvl="0" marL="0" rtl="0" algn="l">
                        <a:spcBef>
                          <a:spcPts val="0"/>
                        </a:spcBef>
                        <a:spcAft>
                          <a:spcPts val="0"/>
                        </a:spcAft>
                        <a:buNone/>
                      </a:pPr>
                      <a:r>
                        <a:rPr lang="en"/>
                        <a:t>Yes</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
                          <a:solidFill>
                            <a:schemeClr val="dk1"/>
                          </a:solidFill>
                        </a:rPr>
                        <a:t>Free type</a:t>
                      </a:r>
                      <a:endParaRPr/>
                    </a:p>
                  </a:txBody>
                  <a:tcPr marT="91425" marB="91425" marR="91425" marL="91425"/>
                </a:tc>
                <a:tc>
                  <a:txBody>
                    <a:bodyPr/>
                    <a:lstStyle/>
                    <a:p>
                      <a:pPr indent="0" lvl="0" marL="0" rtl="0" algn="l">
                        <a:spcBef>
                          <a:spcPts val="0"/>
                        </a:spcBef>
                        <a:spcAft>
                          <a:spcPts val="0"/>
                        </a:spcAft>
                        <a:buNone/>
                      </a:pPr>
                      <a:r>
                        <a:rPr lang="en"/>
                        <a:t>No</a:t>
                      </a:r>
                      <a:endParaRPr/>
                    </a:p>
                  </a:txBody>
                  <a:tcPr marT="91425" marB="91425" marR="91425" marL="91425"/>
                </a:tc>
                <a:tc>
                  <a:txBody>
                    <a:bodyPr/>
                    <a:lstStyle/>
                    <a:p>
                      <a:pPr indent="0" lvl="0" marL="0" rtl="0" algn="l">
                        <a:spcBef>
                          <a:spcPts val="0"/>
                        </a:spcBef>
                        <a:spcAft>
                          <a:spcPts val="0"/>
                        </a:spcAft>
                        <a:buNone/>
                      </a:pPr>
                      <a:r>
                        <a:rPr lang="en"/>
                        <a:t>No</a:t>
                      </a:r>
                      <a:endParaRPr/>
                    </a:p>
                  </a:txBody>
                  <a:tcPr marT="91425" marB="91425" marR="91425" marL="91425"/>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Questions</a:t>
            </a:r>
            <a:endParaRPr/>
          </a:p>
        </p:txBody>
      </p:sp>
      <p:sp>
        <p:nvSpPr>
          <p:cNvPr id="85" name="Google Shape;85;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AutoNum type="arabicPeriod"/>
            </a:pPr>
            <a:r>
              <a:rPr lang="en"/>
              <a:t>What </a:t>
            </a:r>
            <a:r>
              <a:rPr lang="en"/>
              <a:t>individual</a:t>
            </a:r>
            <a:r>
              <a:rPr lang="en"/>
              <a:t> type has th most pokemon?</a:t>
            </a:r>
            <a:endParaRPr/>
          </a:p>
          <a:p>
            <a:pPr indent="-342900" lvl="0" marL="457200" rtl="0" algn="l">
              <a:spcBef>
                <a:spcPts val="0"/>
              </a:spcBef>
              <a:spcAft>
                <a:spcPts val="0"/>
              </a:spcAft>
              <a:buSzPts val="1800"/>
              <a:buAutoNum type="arabicPeriod"/>
            </a:pPr>
            <a:r>
              <a:rPr lang="en"/>
              <a:t>Which</a:t>
            </a:r>
            <a:r>
              <a:rPr lang="en"/>
              <a:t> type combination has the most pokemon?</a:t>
            </a:r>
            <a:endParaRPr/>
          </a:p>
          <a:p>
            <a:pPr indent="-342900" lvl="0" marL="457200" rtl="0" algn="l">
              <a:spcBef>
                <a:spcPts val="0"/>
              </a:spcBef>
              <a:spcAft>
                <a:spcPts val="0"/>
              </a:spcAft>
              <a:buSzPts val="1800"/>
              <a:buAutoNum type="arabicPeriod"/>
            </a:pPr>
            <a:r>
              <a:rPr lang="en"/>
              <a:t>In each </a:t>
            </a:r>
            <a:r>
              <a:rPr lang="en"/>
              <a:t>generation</a:t>
            </a:r>
            <a:r>
              <a:rPr lang="en"/>
              <a:t>, what is the type distribution?</a:t>
            </a:r>
            <a:endParaRPr/>
          </a:p>
          <a:p>
            <a:pPr indent="-342900" lvl="0" marL="457200" rtl="0" algn="l">
              <a:spcBef>
                <a:spcPts val="0"/>
              </a:spcBef>
              <a:spcAft>
                <a:spcPts val="0"/>
              </a:spcAft>
              <a:buSzPts val="1800"/>
              <a:buAutoNum type="arabicPeriod"/>
            </a:pPr>
            <a:r>
              <a:rPr lang="en"/>
              <a:t>Which generation of pokemon has the most of each type?</a:t>
            </a:r>
            <a:endParaRPr/>
          </a:p>
          <a:p>
            <a:pPr indent="-342900" lvl="0" marL="457200" rtl="0" algn="l">
              <a:spcBef>
                <a:spcPts val="0"/>
              </a:spcBef>
              <a:spcAft>
                <a:spcPts val="0"/>
              </a:spcAft>
              <a:buSzPts val="1800"/>
              <a:buAutoNum type="arabicPeriod"/>
            </a:pPr>
            <a:r>
              <a:rPr lang="en"/>
              <a:t>Is there any relationship between type variety and gameplay?</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Who and why?</a:t>
            </a:r>
            <a:endParaRPr/>
          </a:p>
        </p:txBody>
      </p:sp>
      <p:sp>
        <p:nvSpPr>
          <p:cNvPr id="91" name="Google Shape;91;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This will mostly a self indulgent data analysis, as I </a:t>
            </a:r>
            <a:r>
              <a:rPr lang="en"/>
              <a:t>feel</a:t>
            </a:r>
            <a:r>
              <a:rPr lang="en"/>
              <a:t> like this is a very specific and frankly silly </a:t>
            </a:r>
            <a:r>
              <a:rPr lang="en"/>
              <a:t>question and data analysis</a:t>
            </a:r>
            <a:r>
              <a:rPr lang="en"/>
              <a:t>. Also, </a:t>
            </a:r>
            <a:r>
              <a:rPr lang="en"/>
              <a:t>this</a:t>
            </a:r>
            <a:r>
              <a:rPr lang="en"/>
              <a:t> will be for my friends who tried to tell me that grass is an overrated type with too many of “virtually the same pokemon”. And I need to prove them wrong. Finally,</a:t>
            </a:r>
            <a:r>
              <a:rPr lang="en"/>
              <a:t> this will be for anyone else asking this seemingly </a:t>
            </a:r>
            <a:r>
              <a:rPr lang="en"/>
              <a:t>innocuous</a:t>
            </a:r>
            <a:r>
              <a:rPr lang="en"/>
              <a:t> question, and to stop them in advance from making an 1000+ row data </a:t>
            </a:r>
            <a:r>
              <a:rPr lang="en"/>
              <a:t>spreadsheet</a:t>
            </a:r>
            <a:r>
              <a:rPr lang="en"/>
              <a:t> to answer “Is Fire/Fighting </a:t>
            </a:r>
            <a:r>
              <a:rPr lang="en"/>
              <a:t>the</a:t>
            </a:r>
            <a:r>
              <a:rPr lang="en"/>
              <a:t> most common </a:t>
            </a:r>
            <a:r>
              <a:rPr lang="en"/>
              <a:t>starter</a:t>
            </a:r>
            <a:r>
              <a:rPr lang="en"/>
              <a:t> final evolution type combination?” (Which, the answer is yes.).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Week 2 progress</a:t>
            </a:r>
            <a:endParaRPr/>
          </a:p>
        </p:txBody>
      </p:sp>
      <p:sp>
        <p:nvSpPr>
          <p:cNvPr id="97" name="Google Shape;97;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a:t>Most of my progress this week has been updating the data sheet! And I am still not done! </a:t>
            </a:r>
            <a:r>
              <a:rPr lang="en"/>
              <a:t>Help</a:t>
            </a:r>
            <a:r>
              <a:rPr lang="en"/>
              <a:t>!</a:t>
            </a:r>
            <a:endParaRPr/>
          </a:p>
          <a:p>
            <a:pPr indent="0" lvl="0" marL="0" rtl="0" algn="l">
              <a:spcBef>
                <a:spcPts val="1200"/>
              </a:spcBef>
              <a:spcAft>
                <a:spcPts val="0"/>
              </a:spcAft>
              <a:buNone/>
            </a:pPr>
            <a:r>
              <a:rPr lang="en"/>
              <a:t>As mentioned in the diary, I found out that I may need to go over to 950 already submitted pokemon to check for </a:t>
            </a:r>
            <a:r>
              <a:rPr lang="en"/>
              <a:t>discrepancies</a:t>
            </a:r>
            <a:r>
              <a:rPr lang="en"/>
              <a:t> from roughly 8 to 10 years ago. </a:t>
            </a:r>
            <a:endParaRPr/>
          </a:p>
          <a:p>
            <a:pPr indent="0" lvl="0" marL="0" rtl="0" algn="l">
              <a:spcBef>
                <a:spcPts val="1200"/>
              </a:spcBef>
              <a:spcAft>
                <a:spcPts val="1200"/>
              </a:spcAft>
              <a:buNone/>
            </a:pPr>
            <a:r>
              <a:rPr lang="en"/>
              <a:t>I am currently using the most recent games (Pokemon Scarlet and Violet, Pokemon Legends Z-A) for checking pokemon data, as well as a pokemon data site named </a:t>
            </a:r>
            <a:r>
              <a:rPr lang="en" u="sng">
                <a:solidFill>
                  <a:schemeClr val="hlink"/>
                </a:solidFill>
                <a:hlinkClick r:id="rId4"/>
              </a:rPr>
              <a:t>bulbapedia</a:t>
            </a:r>
            <a:r>
              <a:rPr lang="en"/>
              <a:t>, a fan hosted site similar to wikipedia that has </a:t>
            </a:r>
            <a:r>
              <a:rPr lang="en"/>
              <a:t>access</a:t>
            </a:r>
            <a:r>
              <a:rPr lang="en"/>
              <a:t> to any pokemon’s information I cannot obtain from th two mainlin games, </a:t>
            </a:r>
            <a:r>
              <a:rPr lang="en"/>
              <a:t>whether</a:t>
            </a:r>
            <a:r>
              <a:rPr lang="en"/>
              <a:t> from my lack of owning the game, or the pokemon not appearing in th latest generation at all.</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Week 3 </a:t>
            </a:r>
            <a:endParaRPr/>
          </a:p>
        </p:txBody>
      </p:sp>
      <p:sp>
        <p:nvSpPr>
          <p:cNvPr id="103" name="Google Shape;103;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Hey. I’m gonna be fully </a:t>
            </a:r>
            <a:r>
              <a:rPr lang="en"/>
              <a:t>transparent</a:t>
            </a:r>
            <a:r>
              <a:rPr lang="en"/>
              <a:t>. I was not able to do anything this week.</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Week 4- </a:t>
            </a:r>
            <a:r>
              <a:rPr lang="en"/>
              <a:t>hhhhhhhhhh (Data is done!)</a:t>
            </a:r>
            <a:endParaRPr/>
          </a:p>
        </p:txBody>
      </p:sp>
      <p:sp>
        <p:nvSpPr>
          <p:cNvPr id="109" name="Google Shape;109;p2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Most of week 4 was </a:t>
            </a:r>
            <a:r>
              <a:rPr lang="en"/>
              <a:t>focused</a:t>
            </a:r>
            <a:r>
              <a:rPr lang="en"/>
              <a:t> on finishing up my data sheet. I accepted that th amount I could finish within a </a:t>
            </a:r>
            <a:r>
              <a:rPr lang="en"/>
              <a:t>reasonable</a:t>
            </a:r>
            <a:r>
              <a:rPr lang="en"/>
              <a:t> amount of time. So the </a:t>
            </a:r>
            <a:r>
              <a:rPr lang="en"/>
              <a:t>current</a:t>
            </a:r>
            <a:r>
              <a:rPr lang="en"/>
              <a:t> data </a:t>
            </a:r>
            <a:r>
              <a:rPr lang="en"/>
              <a:t>sheet</a:t>
            </a:r>
            <a:r>
              <a:rPr lang="en"/>
              <a:t> is up to Generation 8. Along with that, I can now </a:t>
            </a:r>
            <a:r>
              <a:rPr lang="en"/>
              <a:t>generate</a:t>
            </a:r>
            <a:r>
              <a:rPr lang="en"/>
              <a:t> data plots!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Data Analysis</a:t>
            </a:r>
            <a:endParaRPr/>
          </a:p>
        </p:txBody>
      </p:sp>
      <p:sp>
        <p:nvSpPr>
          <p:cNvPr id="115" name="Google Shape;115;p23"/>
          <p:cNvSpPr txBox="1"/>
          <p:nvPr>
            <p:ph idx="1" type="body"/>
          </p:nvPr>
        </p:nvSpPr>
        <p:spPr>
          <a:xfrm>
            <a:off x="311700" y="1152475"/>
            <a:ext cx="3245100" cy="3416400"/>
          </a:xfrm>
          <a:prstGeom prst="rect">
            <a:avLst/>
          </a:prstGeom>
        </p:spPr>
        <p:txBody>
          <a:bodyPr anchorCtr="0" anchor="t" bIns="91425" lIns="91425" spcFirstLastPara="1" rIns="91425" wrap="square" tIns="91425">
            <a:normAutofit fontScale="92500" lnSpcReduction="20000"/>
          </a:bodyPr>
          <a:lstStyle/>
          <a:p>
            <a:pPr indent="-334328" lvl="0" marL="457200" rtl="0" algn="l">
              <a:spcBef>
                <a:spcPts val="0"/>
              </a:spcBef>
              <a:spcAft>
                <a:spcPts val="0"/>
              </a:spcAft>
              <a:buSzPct val="100000"/>
              <a:buChar char="-"/>
            </a:pPr>
            <a:r>
              <a:rPr lang="en"/>
              <a:t>This chart shows th total amount of pokemon per type, including primary types and secondary types (if applicable)</a:t>
            </a:r>
            <a:endParaRPr/>
          </a:p>
          <a:p>
            <a:pPr indent="-334328" lvl="0" marL="457200" rtl="0" algn="l">
              <a:spcBef>
                <a:spcPts val="0"/>
              </a:spcBef>
              <a:spcAft>
                <a:spcPts val="0"/>
              </a:spcAft>
              <a:buSzPct val="100000"/>
              <a:buChar char="-"/>
            </a:pPr>
            <a:r>
              <a:rPr lang="en"/>
              <a:t>Top 3 most common types are water (suprising!), </a:t>
            </a:r>
            <a:r>
              <a:rPr lang="en"/>
              <a:t>flying</a:t>
            </a:r>
            <a:r>
              <a:rPr lang="en"/>
              <a:t>, and normal types</a:t>
            </a:r>
            <a:endParaRPr/>
          </a:p>
          <a:p>
            <a:pPr indent="-334328" lvl="0" marL="457200" rtl="0" algn="l">
              <a:spcBef>
                <a:spcPts val="0"/>
              </a:spcBef>
              <a:spcAft>
                <a:spcPts val="0"/>
              </a:spcAft>
              <a:buSzPct val="100000"/>
              <a:buChar char="-"/>
            </a:pPr>
            <a:r>
              <a:rPr lang="en"/>
              <a:t>Top 3 least common are ice, ghost, and fairy</a:t>
            </a:r>
            <a:endParaRPr/>
          </a:p>
          <a:p>
            <a:pPr indent="-310832" lvl="1" marL="914400" rtl="0" algn="l">
              <a:spcBef>
                <a:spcPts val="0"/>
              </a:spcBef>
              <a:spcAft>
                <a:spcPts val="0"/>
              </a:spcAft>
              <a:buSzPct val="100000"/>
              <a:buChar char="-"/>
            </a:pPr>
            <a:r>
              <a:rPr lang="en"/>
              <a:t>Fairy has only </a:t>
            </a:r>
            <a:r>
              <a:rPr lang="en"/>
              <a:t>been</a:t>
            </a:r>
            <a:r>
              <a:rPr lang="en"/>
              <a:t> in 2 generations and yet has more than ice and ghost </a:t>
            </a:r>
            <a:endParaRPr/>
          </a:p>
        </p:txBody>
      </p:sp>
      <p:pic>
        <p:nvPicPr>
          <p:cNvPr id="116" name="Google Shape;116;p23"/>
          <p:cNvPicPr preferRelativeResize="0"/>
          <p:nvPr/>
        </p:nvPicPr>
        <p:blipFill>
          <a:blip r:embed="rId3">
            <a:alphaModFix/>
          </a:blip>
          <a:stretch>
            <a:fillRect/>
          </a:stretch>
        </p:blipFill>
        <p:spPr>
          <a:xfrm>
            <a:off x="3556850" y="938200"/>
            <a:ext cx="5429250" cy="32670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Data </a:t>
            </a:r>
            <a:r>
              <a:rPr lang="en"/>
              <a:t>Analysis</a:t>
            </a:r>
            <a:endParaRPr/>
          </a:p>
        </p:txBody>
      </p:sp>
      <p:sp>
        <p:nvSpPr>
          <p:cNvPr id="122" name="Google Shape;122;p24"/>
          <p:cNvSpPr txBox="1"/>
          <p:nvPr>
            <p:ph idx="1" type="body"/>
          </p:nvPr>
        </p:nvSpPr>
        <p:spPr>
          <a:xfrm>
            <a:off x="311700" y="1152475"/>
            <a:ext cx="3185100" cy="3416400"/>
          </a:xfrm>
          <a:prstGeom prst="rect">
            <a:avLst/>
          </a:prstGeom>
        </p:spPr>
        <p:txBody>
          <a:bodyPr anchorCtr="0" anchor="t" bIns="91425" lIns="91425" spcFirstLastPara="1" rIns="91425" wrap="square" tIns="91425">
            <a:normAutofit fontScale="92500" lnSpcReduction="10000"/>
          </a:bodyPr>
          <a:lstStyle/>
          <a:p>
            <a:pPr indent="-334328" lvl="0" marL="457200" rtl="0" algn="l">
              <a:spcBef>
                <a:spcPts val="0"/>
              </a:spcBef>
              <a:spcAft>
                <a:spcPts val="0"/>
              </a:spcAft>
              <a:buSzPct val="100000"/>
              <a:buChar char="-"/>
            </a:pPr>
            <a:r>
              <a:rPr lang="en"/>
              <a:t>This Table takes the </a:t>
            </a:r>
            <a:r>
              <a:rPr lang="en"/>
              <a:t>average</a:t>
            </a:r>
            <a:r>
              <a:rPr lang="en"/>
              <a:t> total base stats of each </a:t>
            </a:r>
            <a:r>
              <a:rPr lang="en"/>
              <a:t>pokemon</a:t>
            </a:r>
            <a:r>
              <a:rPr lang="en"/>
              <a:t>’s primary type and lists them from </a:t>
            </a:r>
            <a:r>
              <a:rPr lang="en"/>
              <a:t>highest</a:t>
            </a:r>
            <a:r>
              <a:rPr lang="en"/>
              <a:t> to lowest.</a:t>
            </a:r>
            <a:endParaRPr/>
          </a:p>
          <a:p>
            <a:pPr indent="-334328" lvl="0" marL="457200" rtl="0" algn="l">
              <a:spcBef>
                <a:spcPts val="0"/>
              </a:spcBef>
              <a:spcAft>
                <a:spcPts val="0"/>
              </a:spcAft>
              <a:buSzPct val="100000"/>
              <a:buChar char="-"/>
            </a:pPr>
            <a:r>
              <a:rPr lang="en"/>
              <a:t>Dragon types have the </a:t>
            </a:r>
            <a:r>
              <a:rPr lang="en"/>
              <a:t>highest</a:t>
            </a:r>
            <a:r>
              <a:rPr lang="en"/>
              <a:t> base stats</a:t>
            </a:r>
            <a:endParaRPr/>
          </a:p>
          <a:p>
            <a:pPr indent="-334328" lvl="0" marL="457200" rtl="0" algn="l">
              <a:spcBef>
                <a:spcPts val="0"/>
              </a:spcBef>
              <a:spcAft>
                <a:spcPts val="0"/>
              </a:spcAft>
              <a:buSzPct val="100000"/>
              <a:buChar char="-"/>
            </a:pPr>
            <a:r>
              <a:rPr lang="en"/>
              <a:t>Bug types have the </a:t>
            </a:r>
            <a:r>
              <a:rPr lang="en"/>
              <a:t>lowest</a:t>
            </a:r>
            <a:endParaRPr/>
          </a:p>
          <a:p>
            <a:pPr indent="-334328" lvl="0" marL="457200" rtl="0" algn="l">
              <a:spcBef>
                <a:spcPts val="0"/>
              </a:spcBef>
              <a:spcAft>
                <a:spcPts val="0"/>
              </a:spcAft>
              <a:buSzPct val="100000"/>
              <a:buChar char="-"/>
            </a:pPr>
            <a:r>
              <a:rPr lang="en"/>
              <a:t>Of the “core 3 types” (fire, water, grass) Fire has the most base stat average and grass has the least</a:t>
            </a:r>
            <a:endParaRPr/>
          </a:p>
        </p:txBody>
      </p:sp>
      <p:pic>
        <p:nvPicPr>
          <p:cNvPr id="123" name="Google Shape;123;p24"/>
          <p:cNvPicPr preferRelativeResize="0"/>
          <p:nvPr/>
        </p:nvPicPr>
        <p:blipFill>
          <a:blip r:embed="rId3">
            <a:alphaModFix/>
          </a:blip>
          <a:stretch>
            <a:fillRect/>
          </a:stretch>
        </p:blipFill>
        <p:spPr>
          <a:xfrm>
            <a:off x="3496675" y="942975"/>
            <a:ext cx="5429250" cy="26860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Data Anaylsis</a:t>
            </a:r>
            <a:endParaRPr/>
          </a:p>
        </p:txBody>
      </p:sp>
      <p:sp>
        <p:nvSpPr>
          <p:cNvPr id="129" name="Google Shape;129;p25"/>
          <p:cNvSpPr txBox="1"/>
          <p:nvPr>
            <p:ph idx="1" type="body"/>
          </p:nvPr>
        </p:nvSpPr>
        <p:spPr>
          <a:xfrm>
            <a:off x="311700" y="1152475"/>
            <a:ext cx="2565900" cy="3416400"/>
          </a:xfrm>
          <a:prstGeom prst="rect">
            <a:avLst/>
          </a:prstGeom>
        </p:spPr>
        <p:txBody>
          <a:bodyPr anchorCtr="0" anchor="t" bIns="91425" lIns="91425" spcFirstLastPara="1" rIns="91425" wrap="square" tIns="91425">
            <a:normAutofit fontScale="92500"/>
          </a:bodyPr>
          <a:lstStyle/>
          <a:p>
            <a:pPr indent="-334328" lvl="0" marL="457200" rtl="0" algn="l">
              <a:spcBef>
                <a:spcPts val="0"/>
              </a:spcBef>
              <a:spcAft>
                <a:spcPts val="0"/>
              </a:spcAft>
              <a:buSzPct val="100000"/>
              <a:buChar char="-"/>
            </a:pPr>
            <a:r>
              <a:rPr lang="en"/>
              <a:t>Table on the left is most pokemon introduced per type</a:t>
            </a:r>
            <a:endParaRPr/>
          </a:p>
          <a:p>
            <a:pPr indent="-310832" lvl="1" marL="914400" rtl="0" algn="l">
              <a:spcBef>
                <a:spcPts val="0"/>
              </a:spcBef>
              <a:spcAft>
                <a:spcPts val="0"/>
              </a:spcAft>
              <a:buSzPct val="100000"/>
              <a:buChar char="-"/>
            </a:pPr>
            <a:r>
              <a:rPr lang="en"/>
              <a:t>Most are </a:t>
            </a:r>
            <a:r>
              <a:rPr lang="en"/>
              <a:t>generation</a:t>
            </a:r>
            <a:r>
              <a:rPr lang="en"/>
              <a:t> 5, which </a:t>
            </a:r>
            <a:r>
              <a:rPr lang="en"/>
              <a:t>introduced the most pokemon</a:t>
            </a:r>
            <a:endParaRPr/>
          </a:p>
          <a:p>
            <a:pPr indent="-334328" lvl="0" marL="457200" rtl="0" algn="l">
              <a:spcBef>
                <a:spcPts val="0"/>
              </a:spcBef>
              <a:spcAft>
                <a:spcPts val="0"/>
              </a:spcAft>
              <a:buSzPct val="100000"/>
              <a:buChar char="-"/>
            </a:pPr>
            <a:r>
              <a:rPr lang="en"/>
              <a:t>Graph on the right is the top most frqunt type combinations</a:t>
            </a:r>
            <a:endParaRPr/>
          </a:p>
          <a:p>
            <a:pPr indent="-310832" lvl="1" marL="914400" rtl="0" algn="l">
              <a:spcBef>
                <a:spcPts val="0"/>
              </a:spcBef>
              <a:spcAft>
                <a:spcPts val="0"/>
              </a:spcAft>
              <a:buSzPct val="100000"/>
              <a:buChar char="-"/>
            </a:pPr>
            <a:r>
              <a:rPr lang="en"/>
              <a:t>Most frequent type combo by a long shot is normal flying</a:t>
            </a:r>
            <a:endParaRPr/>
          </a:p>
        </p:txBody>
      </p:sp>
      <p:pic>
        <p:nvPicPr>
          <p:cNvPr id="130" name="Google Shape;130;p25" title="Screenshot 2026-05-03 8.11.50 PM.png"/>
          <p:cNvPicPr preferRelativeResize="0"/>
          <p:nvPr/>
        </p:nvPicPr>
        <p:blipFill>
          <a:blip r:embed="rId3">
            <a:alphaModFix/>
          </a:blip>
          <a:stretch>
            <a:fillRect/>
          </a:stretch>
        </p:blipFill>
        <p:spPr>
          <a:xfrm>
            <a:off x="2877550" y="1152475"/>
            <a:ext cx="1524000" cy="3067050"/>
          </a:xfrm>
          <a:prstGeom prst="rect">
            <a:avLst/>
          </a:prstGeom>
          <a:noFill/>
          <a:ln>
            <a:noFill/>
          </a:ln>
        </p:spPr>
      </p:pic>
      <p:pic>
        <p:nvPicPr>
          <p:cNvPr id="131" name="Google Shape;131;p25"/>
          <p:cNvPicPr preferRelativeResize="0"/>
          <p:nvPr/>
        </p:nvPicPr>
        <p:blipFill rotWithShape="1">
          <a:blip r:embed="rId4">
            <a:alphaModFix/>
          </a:blip>
          <a:srcRect b="0" l="0" r="0" t="0"/>
          <a:stretch/>
        </p:blipFill>
        <p:spPr>
          <a:xfrm>
            <a:off x="4401550" y="1152475"/>
            <a:ext cx="4742451" cy="2321478"/>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