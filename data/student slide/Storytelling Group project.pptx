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10.xml"/>
  <Override ContentType="application/vnd.openxmlformats-officedocument.presentationml.comments+xml" PartName="/ppt/comments/comment8.xml"/>
  <Override ContentType="application/vnd.openxmlformats-officedocument.presentationml.comments+xml" PartName="/ppt/comments/comment6.xml"/>
  <Override ContentType="application/vnd.openxmlformats-officedocument.presentationml.comments+xml" PartName="/ppt/comments/comment3.xml"/>
  <Override ContentType="application/vnd.openxmlformats-officedocument.presentationml.comments+xml" PartName="/ppt/comments/comment13.xml"/>
  <Override ContentType="application/vnd.openxmlformats-officedocument.presentationml.comments+xml" PartName="/ppt/comments/comment1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9.xml"/>
  <Override ContentType="application/vnd.openxmlformats-officedocument.presentationml.comments+xml" PartName="/ppt/comments/comment12.xml"/>
  <Override ContentType="application/vnd.openxmlformats-officedocument.presentationml.comments+xml" PartName="/ppt/comments/comment14.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y="5143500" cx="9144000"/>
  <p:notesSz cx="6858000" cy="9144000"/>
  <p:embeddedFontLst>
    <p:embeddedFont>
      <p:font typeface="Open Sans"/>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7" name="Karen Chen"/>
  <p:cmAuthor clrIdx="1" id="1" initials="" lastIdx="1" name="Casey Leonard"/>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587972E-C36D-4F4E-B7A7-D9FAC97B67C5}">
  <a:tblStyle styleId="{7587972E-C36D-4F4E-B7A7-D9FAC97B67C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font" Target="fonts/OpenSans-regular.fntdata"/><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OpenSans-italic.fntdata"/><Relationship Id="rId47" Type="http://schemas.openxmlformats.org/officeDocument/2006/relationships/font" Target="fonts/OpenSans-bold.fntdata"/><Relationship Id="rId49" Type="http://schemas.openxmlformats.org/officeDocument/2006/relationships/font" Target="fonts/OpenSans-boldItalic.fntdata"/><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5-04T18:21:31.433">
    <p:pos x="196" y="90"/>
    <p:text>@apatel27@umbc.edu @cjoshua2@umbc.edu @ic33778@umbc.edu for your final deliverable, you need to create only one storyboard, and one story.</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4-28T23:00:39.444">
    <p:pos x="3476" y="592"/>
    <p:text>@cjoshua2@umbc.edu is this plot supposed to be same as @apatel27@umbc.edu 's first insight? please make sure you work as a group and coordinate the analysis among yourself</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4-28T23:02:36.953">
    <p:pos x="2127" y="720"/>
    <p:text>why the developer has two value associated it? also if you are interested in develorpes make the highest-rate game, why you don't sort it?</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4-28T23:07:35.474">
    <p:pos x="2168" y="725"/>
    <p:text>at a minimum you need to have a header for the table. Why it is interesting to summarize those information in the table? what motivate you to look at those data? essentially, the question of "so what"? 
also, you need to have at least two data insights/week</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4-28T23:08:09.451">
    <p:pos x="232" y="640"/>
    <p:text>yes, this should be the focus for this week</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6-04-21T04:16:09.982">
    <p:pos x="2654" y="432"/>
    <p:text>it is interesting idea to look at standard deviation, what motivate you to look at this metrics? also, I believe a scatter plot is more appropriate if you would like to explore the relationship between rating and standard deviation (as you already have), the top plot is hard to understand</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6-04-21T04:19:47.199">
    <p:pos x="2137" y="432"/>
    <p:text>uhm, this is an interesting question, however I doubt your graph effectively answer the question @ic33778@umbc.edu</p:tex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8" dt="2026-04-21T04:22:42.730">
    <p:pos x="196" y="432"/>
    <p:text>@cjoshua2@umbc.edu in fact I disagree with this. While high play correlation with high rating, low play games has a variety of rating A better way of illustrating the idea is to bin the play num, and estimate thee mean rating and confidence interval</p:text>
  </p:cm>
</p:cmLst>
</file>

<file path=ppt/comments/comment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9" dt="2026-04-21T04:24:34.894">
    <p:pos x="196" y="432"/>
    <p:text>neither of the plot is sorted, so I doubt it answer the question</p:text>
  </p:cm>
  <p:cm authorId="0" idx="10" dt="2026-04-21T04:24:17.843">
    <p:pos x="2433" y="386"/>
    <p:text>missing horizontal label</p:text>
  </p:cm>
</p:cmLst>
</file>

<file path=ppt/comments/comment10.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1" dt="2026-04-15T02:40:51.842">
    <p:pos x="6000" y="0"/>
    <p:text>please move most recent week upfront</p:text>
  </p:cm>
</p:cmLst>
</file>

<file path=ppt/comments/comment1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2" dt="2026-04-15T02:53:01.692">
    <p:pos x="2786" y="619"/>
    <p:text>@apatel27@umbc.edu since there are many mixed genre, you might want to clean the data into binary, so for each genre, ask whether a given game belong to?  if you are interested in mixed genre then you could focus on popular genre combination, another interesting question is to find a combination genre gives you the highest rating;
aiming for 2-3 insights/week</p:text>
  </p:cm>
</p:cmLst>
</file>

<file path=ppt/comments/comment1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3" dt="2026-04-19T20:26:31.899">
    <p:pos x="178" y="652"/>
    <p:text>so this is a new game? does the release date of Elden Ring consistent with your explanation?</p:text>
  </p:cm>
  <p:cm authorId="1" idx="1" dt="2026-04-19T20:26:31.899">
    <p:pos x="178" y="652"/>
    <p:text>It was released two years ago, but the dataset seems to be from before it released.
I'm not sure where the high score comes from in this dataset, since it had no reviews at the time, but it was highly anticipated before release. It currently has a 4.4 rating on backloggd.</p:text>
  </p:cm>
  <p:cm authorId="0" idx="14" dt="2026-04-15T02:49:16.198">
    <p:pos x="178" y="752"/>
    <p:text>how about the variation? does high rating always correlation with high plays?</p:text>
  </p:cm>
  <p:cm authorId="0" idx="15" dt="2026-04-15T02:51:12.219">
    <p:pos x="145" y="89"/>
    <p:text>@ic33778@umbc.edu I like your careful analysis of the outlier. I like to see  additional analysis on general pattern</p:text>
  </p:cm>
</p:cmLst>
</file>

<file path=ppt/comments/comment1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6" dt="2026-04-15T02:52:15.147">
    <p:pos x="145" y="89"/>
    <p:text>great analysis</p:text>
  </p:cm>
</p:cmLst>
</file>

<file path=ppt/comments/comment1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7" dt="2026-04-15T02:53:19.345">
    <p:pos x="3610" y="652"/>
    <p:text>okay, aiming for 2-3 insights/week</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db9983ec3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db9983ec3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dbbacd510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dbbacd510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dbc03e5c7c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dbc03e5c7c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9a8962f5c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9a8962f5c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dbbacd510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dbbacd510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d8f136cbe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d8f136cbe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d8f136cbed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d8f136cbed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d8f136cbe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d8f136cbe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d8f136cbed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d8f136cbed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97bbbf27b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97bbbf27b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97bbbf27b4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97bbbf27b4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97bbbf27b4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97bbbf27b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9a434ddf1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9a434ddf1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9a434ddf1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9a434ddf1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97bbbf27b4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97bbbf27b4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6a8144cf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d6a8144cf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d757dc774b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d757dc774b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d6a8144cf0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d6a8144cf0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d757dc774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d757dc774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d761602381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d761602381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d761602381_8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d761602381_8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9771f425df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9771f425df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9771f425df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9771f425df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9771f425df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9771f425df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d757dc774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d757dc774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97000742d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97000742d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97000742df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97000742d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d5ab95ef5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d5ab95ef5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d5ab95ef5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d5ab95ef5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97257d32b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97257d32b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1" marL="914400" rtl="0" algn="l">
              <a:lnSpc>
                <a:spcPct val="115000"/>
              </a:lnSpc>
              <a:spcBef>
                <a:spcPts val="0"/>
              </a:spcBef>
              <a:spcAft>
                <a:spcPts val="0"/>
              </a:spcAft>
              <a:buClr>
                <a:srgbClr val="695D46"/>
              </a:buClr>
              <a:buSzPts val="1400"/>
              <a:buFont typeface="Open Sans"/>
              <a:buChar char="○"/>
            </a:pPr>
            <a:r>
              <a:rPr lang="en" sz="1400">
                <a:solidFill>
                  <a:srgbClr val="695D46"/>
                </a:solidFill>
                <a:latin typeface="Open Sans"/>
                <a:ea typeface="Open Sans"/>
                <a:cs typeface="Open Sans"/>
                <a:sym typeface="Open Sans"/>
              </a:rPr>
              <a:t>One slide on progress</a:t>
            </a:r>
            <a:endParaRPr sz="1400">
              <a:solidFill>
                <a:srgbClr val="695D46"/>
              </a:solidFill>
              <a:latin typeface="Open Sans"/>
              <a:ea typeface="Open Sans"/>
              <a:cs typeface="Open Sans"/>
              <a:sym typeface="Open Sans"/>
            </a:endParaRPr>
          </a:p>
          <a:p>
            <a:pPr indent="-317500" lvl="2" marL="1371600" rtl="0" algn="l">
              <a:lnSpc>
                <a:spcPct val="115000"/>
              </a:lnSpc>
              <a:spcBef>
                <a:spcPts val="0"/>
              </a:spcBef>
              <a:spcAft>
                <a:spcPts val="0"/>
              </a:spcAft>
              <a:buClr>
                <a:srgbClr val="695D46"/>
              </a:buClr>
              <a:buSzPts val="1400"/>
              <a:buFont typeface="Open Sans"/>
              <a:buChar char="■"/>
            </a:pPr>
            <a:r>
              <a:rPr lang="en" sz="1400">
                <a:solidFill>
                  <a:srgbClr val="695D46"/>
                </a:solidFill>
                <a:latin typeface="Open Sans"/>
                <a:ea typeface="Open Sans"/>
                <a:cs typeface="Open Sans"/>
                <a:sym typeface="Open Sans"/>
              </a:rPr>
              <a:t>What has accomplished and what is the plan for next week</a:t>
            </a:r>
            <a:endParaRPr sz="1400">
              <a:solidFill>
                <a:srgbClr val="695D46"/>
              </a:solidFill>
              <a:latin typeface="Open Sans"/>
              <a:ea typeface="Open Sans"/>
              <a:cs typeface="Open Sans"/>
              <a:sym typeface="Open Sans"/>
            </a:endParaRPr>
          </a:p>
          <a:p>
            <a:pPr indent="-317500" lvl="2" marL="1371600" rtl="0" algn="l">
              <a:lnSpc>
                <a:spcPct val="115000"/>
              </a:lnSpc>
              <a:spcBef>
                <a:spcPts val="0"/>
              </a:spcBef>
              <a:spcAft>
                <a:spcPts val="0"/>
              </a:spcAft>
              <a:buClr>
                <a:srgbClr val="695D46"/>
              </a:buClr>
              <a:buSzPts val="1400"/>
              <a:buFont typeface="Open Sans"/>
              <a:buChar char="■"/>
            </a:pPr>
            <a:r>
              <a:rPr lang="en" sz="1400">
                <a:solidFill>
                  <a:srgbClr val="695D46"/>
                </a:solidFill>
                <a:latin typeface="Open Sans"/>
                <a:ea typeface="Open Sans"/>
                <a:cs typeface="Open Sans"/>
                <a:sym typeface="Open Sans"/>
              </a:rPr>
              <a:t>What are the obstacles that you need help	</a:t>
            </a:r>
            <a:endParaRPr sz="1400">
              <a:solidFill>
                <a:srgbClr val="695D46"/>
              </a:solidFill>
              <a:latin typeface="Open Sans"/>
              <a:ea typeface="Open Sans"/>
              <a:cs typeface="Open Sans"/>
              <a:sym typeface="Open Sans"/>
            </a:endParaRPr>
          </a:p>
          <a:p>
            <a:pPr indent="-317500" lvl="2" marL="1371600" rtl="0" algn="l">
              <a:lnSpc>
                <a:spcPct val="115000"/>
              </a:lnSpc>
              <a:spcBef>
                <a:spcPts val="0"/>
              </a:spcBef>
              <a:spcAft>
                <a:spcPts val="0"/>
              </a:spcAft>
              <a:buClr>
                <a:srgbClr val="695D46"/>
              </a:buClr>
              <a:buSzPts val="1400"/>
              <a:buFont typeface="Open Sans"/>
              <a:buChar char="■"/>
            </a:pPr>
            <a:r>
              <a:rPr lang="en" sz="1400">
                <a:solidFill>
                  <a:srgbClr val="695D46"/>
                </a:solidFill>
                <a:latin typeface="Open Sans"/>
                <a:ea typeface="Open Sans"/>
                <a:cs typeface="Open Sans"/>
                <a:sym typeface="Open Sans"/>
              </a:rPr>
              <a:t>What kind of resources you have used </a:t>
            </a:r>
            <a:endParaRPr sz="1400">
              <a:solidFill>
                <a:srgbClr val="695D46"/>
              </a:solidFill>
              <a:latin typeface="Open Sans"/>
              <a:ea typeface="Open Sans"/>
              <a:cs typeface="Open Sans"/>
              <a:sym typeface="Open Sans"/>
            </a:endParaRPr>
          </a:p>
          <a:p>
            <a:pPr indent="-317500" lvl="2" marL="1371600" rtl="0" algn="l">
              <a:lnSpc>
                <a:spcPct val="115000"/>
              </a:lnSpc>
              <a:spcBef>
                <a:spcPts val="0"/>
              </a:spcBef>
              <a:spcAft>
                <a:spcPts val="0"/>
              </a:spcAft>
              <a:buClr>
                <a:srgbClr val="695D46"/>
              </a:buClr>
              <a:buSzPts val="1400"/>
              <a:buFont typeface="Open Sans"/>
              <a:buChar char="■"/>
            </a:pPr>
            <a:r>
              <a:rPr lang="en" sz="1400">
                <a:solidFill>
                  <a:srgbClr val="695D46"/>
                </a:solidFill>
                <a:latin typeface="Open Sans"/>
                <a:ea typeface="Open Sans"/>
                <a:cs typeface="Open Sans"/>
                <a:sym typeface="Open Sans"/>
              </a:rPr>
              <a:t>Contribution of each team member (for group)</a:t>
            </a:r>
            <a:endParaRPr sz="1400">
              <a:solidFill>
                <a:srgbClr val="695D46"/>
              </a:solidFill>
              <a:latin typeface="Open Sans"/>
              <a:ea typeface="Open Sans"/>
              <a:cs typeface="Open Sans"/>
              <a:sym typeface="Open Sans"/>
            </a:endParaRPr>
          </a:p>
          <a:p>
            <a:pPr indent="-317500" lvl="1" marL="914400" rtl="0" algn="l">
              <a:lnSpc>
                <a:spcPct val="115000"/>
              </a:lnSpc>
              <a:spcBef>
                <a:spcPts val="0"/>
              </a:spcBef>
              <a:spcAft>
                <a:spcPts val="0"/>
              </a:spcAft>
              <a:buClr>
                <a:srgbClr val="695D46"/>
              </a:buClr>
              <a:buSzPts val="1400"/>
              <a:buFont typeface="Open Sans"/>
              <a:buChar char="○"/>
            </a:pPr>
            <a:r>
              <a:rPr lang="en" sz="1400">
                <a:solidFill>
                  <a:srgbClr val="695D46"/>
                </a:solidFill>
                <a:latin typeface="Open Sans"/>
                <a:ea typeface="Open Sans"/>
                <a:cs typeface="Open Sans"/>
                <a:sym typeface="Open Sans"/>
              </a:rPr>
              <a:t>One slide on feedback (if you received any from previous week)</a:t>
            </a:r>
            <a:endParaRPr sz="1400">
              <a:solidFill>
                <a:srgbClr val="695D46"/>
              </a:solidFill>
              <a:latin typeface="Open Sans"/>
              <a:ea typeface="Open Sans"/>
              <a:cs typeface="Open Sans"/>
              <a:sym typeface="Open Sans"/>
            </a:endParaRPr>
          </a:p>
          <a:p>
            <a:pPr indent="-317500" lvl="2" marL="1371600" rtl="0" algn="l">
              <a:lnSpc>
                <a:spcPct val="115000"/>
              </a:lnSpc>
              <a:spcBef>
                <a:spcPts val="0"/>
              </a:spcBef>
              <a:spcAft>
                <a:spcPts val="0"/>
              </a:spcAft>
              <a:buClr>
                <a:srgbClr val="695D46"/>
              </a:buClr>
              <a:buSzPts val="1400"/>
              <a:buFont typeface="Open Sans"/>
              <a:buChar char="■"/>
            </a:pPr>
            <a:r>
              <a:rPr lang="en" sz="1400">
                <a:solidFill>
                  <a:srgbClr val="695D46"/>
                </a:solidFill>
                <a:latin typeface="Open Sans"/>
                <a:ea typeface="Open Sans"/>
                <a:cs typeface="Open Sans"/>
                <a:sym typeface="Open Sans"/>
              </a:rPr>
              <a:t>tell us something about (1) the feedback you received;(2) if and how you address the feedback; (3) whether you feel the feedback is useful; (4) what additional feedback you are seeking</a:t>
            </a:r>
            <a:endParaRPr sz="1400">
              <a:solidFill>
                <a:srgbClr val="695D46"/>
              </a:solidFill>
              <a:latin typeface="Open Sans"/>
              <a:ea typeface="Open Sans"/>
              <a:cs typeface="Open Sans"/>
              <a:sym typeface="Open Sans"/>
            </a:endParaRPr>
          </a:p>
          <a:p>
            <a:pPr indent="0" lvl="0" marL="0" rtl="0" algn="l">
              <a:spcBef>
                <a:spcPts val="160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d59a801c3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d59a801c3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d4cbe6765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d4cbe6765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d4a4c3fce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d4a4c3fce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d4a4c3fce0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d4a4c3fce0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d4a4c3fce0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d4a4c3fce0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d4a4c3fce0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d4a4c3fce0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d4a4c3fce0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d4a4c3fce0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comments" Target="../comments/comment1.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comments" Target="../comments/commen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comments" Target="../comments/comment3.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comments" Target="../comments/comment4.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comments" Target="../comments/commen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comments" Target="../comments/comment6.xml"/><Relationship Id="rId4" Type="http://schemas.openxmlformats.org/officeDocument/2006/relationships/image" Target="../media/image6.png"/><Relationship Id="rId5"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comments" Target="../comments/comment7.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comments" Target="../comments/comment8.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comments" Target="../comments/comment9.xml"/><Relationship Id="rId4" Type="http://schemas.openxmlformats.org/officeDocument/2006/relationships/image" Target="../media/image18.png"/><Relationship Id="rId5"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comments" Target="../comments/commen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comments" Target="../comments/comment11.xml"/><Relationship Id="rId4" Type="http://schemas.openxmlformats.org/officeDocument/2006/relationships/image" Target="../media/image8.jpg"/><Relationship Id="rId5" Type="http://schemas.openxmlformats.org/officeDocument/2006/relationships/image" Target="../media/image17.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comments" Target="../comments/comment12.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comments" Target="../comments/comment13.xml"/><Relationship Id="rId4" Type="http://schemas.openxmlformats.org/officeDocument/2006/relationships/image" Target="../media/image9.png"/><Relationship Id="rId5"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comments" Target="../comments/comment14.xml"/><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5300">
                <a:latin typeface="Times New Roman"/>
                <a:ea typeface="Times New Roman"/>
                <a:cs typeface="Times New Roman"/>
                <a:sym typeface="Times New Roman"/>
              </a:rPr>
              <a:t>Storytelling Group Project</a:t>
            </a:r>
            <a:endParaRPr sz="5300">
              <a:latin typeface="Times New Roman"/>
              <a:ea typeface="Times New Roman"/>
              <a:cs typeface="Times New Roman"/>
              <a:sym typeface="Times New Roman"/>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dk1"/>
                </a:solidFill>
                <a:latin typeface="Times New Roman"/>
                <a:ea typeface="Times New Roman"/>
                <a:cs typeface="Times New Roman"/>
                <a:sym typeface="Times New Roman"/>
              </a:rPr>
              <a:t>Team T4: Video Games</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Times New Roman"/>
                <a:ea typeface="Times New Roman"/>
                <a:cs typeface="Times New Roman"/>
                <a:sym typeface="Times New Roman"/>
              </a:rPr>
              <a:t>Week 5</a:t>
            </a:r>
            <a:endParaRPr>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idx="1" type="subTitle"/>
          </p:nvPr>
        </p:nvSpPr>
        <p:spPr>
          <a:xfrm>
            <a:off x="311700" y="1431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3800">
                <a:solidFill>
                  <a:schemeClr val="dk1"/>
                </a:solidFill>
                <a:latin typeface="Times New Roman"/>
                <a:ea typeface="Times New Roman"/>
                <a:cs typeface="Times New Roman"/>
                <a:sym typeface="Times New Roman"/>
              </a:rPr>
              <a:t>Storyboard - Aria</a:t>
            </a:r>
            <a:endParaRPr sz="3800">
              <a:solidFill>
                <a:schemeClr val="dk1"/>
              </a:solidFill>
              <a:latin typeface="Times New Roman"/>
              <a:ea typeface="Times New Roman"/>
              <a:cs typeface="Times New Roman"/>
              <a:sym typeface="Times New Roman"/>
            </a:endParaRPr>
          </a:p>
        </p:txBody>
      </p:sp>
      <p:pic>
        <p:nvPicPr>
          <p:cNvPr id="66" name="Google Shape;66;p15" title="Image 5-3-26 at 10.12 AM.jpeg"/>
          <p:cNvPicPr preferRelativeResize="0"/>
          <p:nvPr/>
        </p:nvPicPr>
        <p:blipFill>
          <a:blip r:embed="rId4">
            <a:alphaModFix/>
          </a:blip>
          <a:stretch>
            <a:fillRect/>
          </a:stretch>
        </p:blipFill>
        <p:spPr>
          <a:xfrm>
            <a:off x="311700" y="876300"/>
            <a:ext cx="4907225" cy="3910450"/>
          </a:xfrm>
          <a:prstGeom prst="rect">
            <a:avLst/>
          </a:prstGeom>
          <a:noFill/>
          <a:ln>
            <a:noFill/>
          </a:ln>
        </p:spPr>
      </p:pic>
      <p:sp>
        <p:nvSpPr>
          <p:cNvPr id="67" name="Google Shape;67;p15"/>
          <p:cNvSpPr txBox="1"/>
          <p:nvPr/>
        </p:nvSpPr>
        <p:spPr>
          <a:xfrm>
            <a:off x="5309425" y="986350"/>
            <a:ext cx="3522900" cy="380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chemeClr val="dk1"/>
                </a:solidFill>
                <a:latin typeface="Times New Roman"/>
                <a:ea typeface="Times New Roman"/>
                <a:cs typeface="Times New Roman"/>
                <a:sym typeface="Times New Roman"/>
              </a:rPr>
              <a:t>We made a </a:t>
            </a:r>
            <a:r>
              <a:rPr lang="en" sz="1900">
                <a:solidFill>
                  <a:schemeClr val="dk1"/>
                </a:solidFill>
                <a:latin typeface="Times New Roman"/>
                <a:ea typeface="Times New Roman"/>
                <a:cs typeface="Times New Roman"/>
                <a:sym typeface="Times New Roman"/>
              </a:rPr>
              <a:t>storyboard</a:t>
            </a:r>
            <a:r>
              <a:rPr lang="en" sz="1900">
                <a:solidFill>
                  <a:schemeClr val="dk1"/>
                </a:solidFill>
                <a:latin typeface="Times New Roman"/>
                <a:ea typeface="Times New Roman"/>
                <a:cs typeface="Times New Roman"/>
                <a:sym typeface="Times New Roman"/>
              </a:rPr>
              <a:t> for genres because it includes what we compared with genre’s like wishlists, rating, the </a:t>
            </a:r>
            <a:r>
              <a:rPr lang="en" sz="1900">
                <a:solidFill>
                  <a:schemeClr val="dk1"/>
                </a:solidFill>
                <a:latin typeface="Times New Roman"/>
                <a:ea typeface="Times New Roman"/>
                <a:cs typeface="Times New Roman"/>
                <a:sym typeface="Times New Roman"/>
              </a:rPr>
              <a:t>length</a:t>
            </a:r>
            <a:r>
              <a:rPr lang="en" sz="1900">
                <a:solidFill>
                  <a:schemeClr val="dk1"/>
                </a:solidFill>
                <a:latin typeface="Times New Roman"/>
                <a:ea typeface="Times New Roman"/>
                <a:cs typeface="Times New Roman"/>
                <a:sym typeface="Times New Roman"/>
              </a:rPr>
              <a:t> of each review per genre, the count of each genre per game. This data can help us better understand what genre is the most popular based off this data. Looking at our questions from the first week, we are focusing on genres and these graphs can help us understand which is is top 3 or top 5</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idx="1" type="subTitle"/>
          </p:nvPr>
        </p:nvSpPr>
        <p:spPr>
          <a:xfrm>
            <a:off x="311700" y="1431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3800">
                <a:solidFill>
                  <a:schemeClr val="dk1"/>
                </a:solidFill>
                <a:latin typeface="Times New Roman"/>
                <a:ea typeface="Times New Roman"/>
                <a:cs typeface="Times New Roman"/>
                <a:sym typeface="Times New Roman"/>
              </a:rPr>
              <a:t>Storyboard - Camila</a:t>
            </a:r>
            <a:endParaRPr sz="3800">
              <a:solidFill>
                <a:schemeClr val="dk1"/>
              </a:solidFill>
              <a:latin typeface="Times New Roman"/>
              <a:ea typeface="Times New Roman"/>
              <a:cs typeface="Times New Roman"/>
              <a:sym typeface="Times New Roman"/>
            </a:endParaRPr>
          </a:p>
        </p:txBody>
      </p:sp>
      <p:sp>
        <p:nvSpPr>
          <p:cNvPr id="73" name="Google Shape;73;p16"/>
          <p:cNvSpPr txBox="1"/>
          <p:nvPr/>
        </p:nvSpPr>
        <p:spPr>
          <a:xfrm>
            <a:off x="5309425" y="986350"/>
            <a:ext cx="3522900" cy="380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chemeClr val="dk1"/>
                </a:solidFill>
                <a:latin typeface="Times New Roman"/>
                <a:ea typeface="Times New Roman"/>
                <a:cs typeface="Times New Roman"/>
                <a:sym typeface="Times New Roman"/>
              </a:rPr>
              <a:t>We made another storyboard for ratings because we each had a </a:t>
            </a:r>
            <a:r>
              <a:rPr lang="en" sz="1900">
                <a:solidFill>
                  <a:schemeClr val="dk1"/>
                </a:solidFill>
                <a:latin typeface="Times New Roman"/>
                <a:ea typeface="Times New Roman"/>
                <a:cs typeface="Times New Roman"/>
                <a:sym typeface="Times New Roman"/>
              </a:rPr>
              <a:t>question</a:t>
            </a:r>
            <a:r>
              <a:rPr lang="en" sz="1900">
                <a:solidFill>
                  <a:schemeClr val="dk1"/>
                </a:solidFill>
                <a:latin typeface="Times New Roman"/>
                <a:ea typeface="Times New Roman"/>
                <a:cs typeface="Times New Roman"/>
                <a:sym typeface="Times New Roman"/>
              </a:rPr>
              <a:t> related to ratings of certain games. Whether the rating correlated with player count, game genre, etc., we all looked at the dataset and created graphs to show our findings.</a:t>
            </a:r>
            <a:endParaRPr sz="1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900">
              <a:solidFill>
                <a:schemeClr val="dk1"/>
              </a:solidFill>
              <a:latin typeface="Times New Roman"/>
              <a:ea typeface="Times New Roman"/>
              <a:cs typeface="Times New Roman"/>
              <a:sym typeface="Times New Roman"/>
            </a:endParaRPr>
          </a:p>
        </p:txBody>
      </p:sp>
      <p:pic>
        <p:nvPicPr>
          <p:cNvPr id="74" name="Google Shape;74;p16" title="Screenshot 2026-05-03 at 2.11.00 PM.png"/>
          <p:cNvPicPr preferRelativeResize="0"/>
          <p:nvPr/>
        </p:nvPicPr>
        <p:blipFill>
          <a:blip r:embed="rId3">
            <a:alphaModFix/>
          </a:blip>
          <a:stretch>
            <a:fillRect/>
          </a:stretch>
        </p:blipFill>
        <p:spPr>
          <a:xfrm>
            <a:off x="588900" y="986350"/>
            <a:ext cx="3983098" cy="39029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idx="1" type="subTitle"/>
          </p:nvPr>
        </p:nvSpPr>
        <p:spPr>
          <a:xfrm>
            <a:off x="311700" y="1431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3800">
                <a:solidFill>
                  <a:schemeClr val="dk1"/>
                </a:solidFill>
                <a:latin typeface="Times New Roman"/>
                <a:ea typeface="Times New Roman"/>
                <a:cs typeface="Times New Roman"/>
                <a:sym typeface="Times New Roman"/>
              </a:rPr>
              <a:t>Storyboard - Casey</a:t>
            </a:r>
            <a:endParaRPr sz="3800">
              <a:solidFill>
                <a:schemeClr val="dk1"/>
              </a:solidFill>
              <a:latin typeface="Times New Roman"/>
              <a:ea typeface="Times New Roman"/>
              <a:cs typeface="Times New Roman"/>
              <a:sym typeface="Times New Roman"/>
            </a:endParaRPr>
          </a:p>
        </p:txBody>
      </p:sp>
      <p:sp>
        <p:nvSpPr>
          <p:cNvPr id="80" name="Google Shape;80;p17"/>
          <p:cNvSpPr txBox="1"/>
          <p:nvPr/>
        </p:nvSpPr>
        <p:spPr>
          <a:xfrm>
            <a:off x="5309425" y="986350"/>
            <a:ext cx="3522900" cy="380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chemeClr val="dk1"/>
                </a:solidFill>
                <a:latin typeface="Times New Roman"/>
                <a:ea typeface="Times New Roman"/>
                <a:cs typeface="Times New Roman"/>
                <a:sym typeface="Times New Roman"/>
              </a:rPr>
              <a:t>We made another storyboard focused on how high play count correlates with other variables. </a:t>
            </a:r>
            <a:endParaRPr sz="1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900">
                <a:solidFill>
                  <a:schemeClr val="dk1"/>
                </a:solidFill>
                <a:latin typeface="Times New Roman"/>
                <a:ea typeface="Times New Roman"/>
                <a:cs typeface="Times New Roman"/>
                <a:sym typeface="Times New Roman"/>
              </a:rPr>
              <a:t>This data will be useful for determining how the popularity of a games can affect its other metrics, making it possible to potentially filter out noise from other types of analysis.</a:t>
            </a:r>
            <a:endParaRPr sz="1900">
              <a:solidFill>
                <a:schemeClr val="dk1"/>
              </a:solidFill>
              <a:latin typeface="Times New Roman"/>
              <a:ea typeface="Times New Roman"/>
              <a:cs typeface="Times New Roman"/>
              <a:sym typeface="Times New Roman"/>
            </a:endParaRPr>
          </a:p>
        </p:txBody>
      </p:sp>
      <p:pic>
        <p:nvPicPr>
          <p:cNvPr id="81" name="Google Shape;81;p17" title="storyboard.png"/>
          <p:cNvPicPr preferRelativeResize="0"/>
          <p:nvPr/>
        </p:nvPicPr>
        <p:blipFill>
          <a:blip r:embed="rId3">
            <a:alphaModFix/>
          </a:blip>
          <a:stretch>
            <a:fillRect/>
          </a:stretch>
        </p:blipFill>
        <p:spPr>
          <a:xfrm>
            <a:off x="90350" y="1081200"/>
            <a:ext cx="5004626" cy="304662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idx="1" type="subTitle"/>
          </p:nvPr>
        </p:nvSpPr>
        <p:spPr>
          <a:xfrm>
            <a:off x="311700" y="1356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3800">
                <a:solidFill>
                  <a:schemeClr val="dk1"/>
                </a:solidFill>
                <a:latin typeface="Times New Roman"/>
                <a:ea typeface="Times New Roman"/>
                <a:cs typeface="Times New Roman"/>
                <a:sym typeface="Times New Roman"/>
              </a:rPr>
              <a:t>Progress</a:t>
            </a:r>
            <a:endParaRPr sz="3800">
              <a:solidFill>
                <a:schemeClr val="dk1"/>
              </a:solidFill>
              <a:latin typeface="Times New Roman"/>
              <a:ea typeface="Times New Roman"/>
              <a:cs typeface="Times New Roman"/>
              <a:sym typeface="Times New Roman"/>
            </a:endParaRPr>
          </a:p>
        </p:txBody>
      </p:sp>
      <p:sp>
        <p:nvSpPr>
          <p:cNvPr id="87" name="Google Shape;87;p18"/>
          <p:cNvSpPr txBox="1"/>
          <p:nvPr/>
        </p:nvSpPr>
        <p:spPr>
          <a:xfrm>
            <a:off x="3212925" y="1092125"/>
            <a:ext cx="4058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88" name="Google Shape;88;p18"/>
          <p:cNvSpPr txBox="1"/>
          <p:nvPr/>
        </p:nvSpPr>
        <p:spPr>
          <a:xfrm>
            <a:off x="288875" y="1345775"/>
            <a:ext cx="8469300" cy="333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This week, we were able to come up with a storyboard that connected certain things together and make more sense of our data instead of it being multiple factors of other things. I think we can start to clean it up next week and maybe add some other data based off what our plan is as a group.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One challenge we need to overcome is just cleaning up the data and making it more into a story.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Times New Roman"/>
                <a:ea typeface="Times New Roman"/>
                <a:cs typeface="Times New Roman"/>
                <a:sym typeface="Times New Roman"/>
              </a:rPr>
              <a:t>Week 4</a:t>
            </a:r>
            <a:endParaRPr>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idx="1" type="subTitle"/>
          </p:nvPr>
        </p:nvSpPr>
        <p:spPr>
          <a:xfrm>
            <a:off x="311700" y="19827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4000">
                <a:solidFill>
                  <a:schemeClr val="dk1"/>
                </a:solidFill>
                <a:latin typeface="Times New Roman"/>
                <a:ea typeface="Times New Roman"/>
                <a:cs typeface="Times New Roman"/>
                <a:sym typeface="Times New Roman"/>
              </a:rPr>
              <a:t>Aria’s Mini Update</a:t>
            </a:r>
            <a:endParaRPr sz="4000">
              <a:solidFill>
                <a:schemeClr val="dk1"/>
              </a:solidFill>
              <a:latin typeface="Times New Roman"/>
              <a:ea typeface="Times New Roman"/>
              <a:cs typeface="Times New Roman"/>
              <a:sym typeface="Times New Roman"/>
            </a:endParaRPr>
          </a:p>
        </p:txBody>
      </p:sp>
      <p:sp>
        <p:nvSpPr>
          <p:cNvPr id="99" name="Google Shape;99;p20"/>
          <p:cNvSpPr txBox="1"/>
          <p:nvPr/>
        </p:nvSpPr>
        <p:spPr>
          <a:xfrm>
            <a:off x="480700" y="1113625"/>
            <a:ext cx="3917700" cy="357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I wanted to see the average number of wishlist additions per genre. That means it looked at multiple games and averaged it.  Looking at this data, you can see players are more excited about games that are narratives and story </a:t>
            </a:r>
            <a:r>
              <a:rPr lang="en" sz="1800">
                <a:solidFill>
                  <a:schemeClr val="dk1"/>
                </a:solidFill>
                <a:latin typeface="Times New Roman"/>
                <a:ea typeface="Times New Roman"/>
                <a:cs typeface="Times New Roman"/>
                <a:sym typeface="Times New Roman"/>
              </a:rPr>
              <a:t>driven and have that on their wishlist the most along with Point and Click, RPG, Adventure, and Brawler. You can also see from the graph that quiz/trivia, MOBA, an Pinball are the least interested in with under 100 being on the wishlist. </a:t>
            </a:r>
            <a:endParaRPr sz="2400">
              <a:solidFill>
                <a:schemeClr val="dk1"/>
              </a:solidFill>
              <a:latin typeface="Times New Roman"/>
              <a:ea typeface="Times New Roman"/>
              <a:cs typeface="Times New Roman"/>
              <a:sym typeface="Times New Roman"/>
            </a:endParaRPr>
          </a:p>
        </p:txBody>
      </p:sp>
      <p:pic>
        <p:nvPicPr>
          <p:cNvPr id="100" name="Google Shape;100;p20" title="Image 4-26-26 at 10.59 AM.jpeg"/>
          <p:cNvPicPr preferRelativeResize="0"/>
          <p:nvPr/>
        </p:nvPicPr>
        <p:blipFill>
          <a:blip r:embed="rId3">
            <a:alphaModFix/>
          </a:blip>
          <a:stretch>
            <a:fillRect/>
          </a:stretch>
        </p:blipFill>
        <p:spPr>
          <a:xfrm>
            <a:off x="4871101" y="976363"/>
            <a:ext cx="3689776" cy="38478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idx="1" type="subTitle"/>
          </p:nvPr>
        </p:nvSpPr>
        <p:spPr>
          <a:xfrm>
            <a:off x="311700" y="19827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4000">
                <a:solidFill>
                  <a:schemeClr val="dk1"/>
                </a:solidFill>
                <a:latin typeface="Times New Roman"/>
                <a:ea typeface="Times New Roman"/>
                <a:cs typeface="Times New Roman"/>
                <a:sym typeface="Times New Roman"/>
              </a:rPr>
              <a:t>Aria’s Mini Update</a:t>
            </a:r>
            <a:endParaRPr sz="4000">
              <a:solidFill>
                <a:schemeClr val="dk1"/>
              </a:solidFill>
              <a:latin typeface="Times New Roman"/>
              <a:ea typeface="Times New Roman"/>
              <a:cs typeface="Times New Roman"/>
              <a:sym typeface="Times New Roman"/>
            </a:endParaRPr>
          </a:p>
        </p:txBody>
      </p:sp>
      <p:sp>
        <p:nvSpPr>
          <p:cNvPr id="106" name="Google Shape;106;p21"/>
          <p:cNvSpPr txBox="1"/>
          <p:nvPr/>
        </p:nvSpPr>
        <p:spPr>
          <a:xfrm>
            <a:off x="488725" y="1161700"/>
            <a:ext cx="2363400" cy="322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07" name="Google Shape;107;p21"/>
          <p:cNvSpPr txBox="1"/>
          <p:nvPr/>
        </p:nvSpPr>
        <p:spPr>
          <a:xfrm>
            <a:off x="320475" y="945375"/>
            <a:ext cx="3829500" cy="395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1"/>
                </a:solidFill>
                <a:latin typeface="Times New Roman"/>
                <a:ea typeface="Times New Roman"/>
                <a:cs typeface="Times New Roman"/>
                <a:sym typeface="Times New Roman"/>
              </a:rPr>
              <a:t>I </a:t>
            </a:r>
            <a:r>
              <a:rPr lang="en" sz="2000">
                <a:solidFill>
                  <a:schemeClr val="dk1"/>
                </a:solidFill>
                <a:latin typeface="Times New Roman"/>
                <a:ea typeface="Times New Roman"/>
                <a:cs typeface="Times New Roman"/>
                <a:sym typeface="Times New Roman"/>
              </a:rPr>
              <a:t>wanted</a:t>
            </a:r>
            <a:r>
              <a:rPr lang="en" sz="2000">
                <a:solidFill>
                  <a:schemeClr val="dk1"/>
                </a:solidFill>
                <a:latin typeface="Times New Roman"/>
                <a:ea typeface="Times New Roman"/>
                <a:cs typeface="Times New Roman"/>
                <a:sym typeface="Times New Roman"/>
              </a:rPr>
              <a:t> to look at the length of each review and average it per genre to see if that made a difference in what was more popular. Looking </a:t>
            </a:r>
            <a:r>
              <a:rPr lang="en" sz="2000">
                <a:solidFill>
                  <a:schemeClr val="dk1"/>
                </a:solidFill>
                <a:latin typeface="Times New Roman"/>
                <a:ea typeface="Times New Roman"/>
                <a:cs typeface="Times New Roman"/>
                <a:sym typeface="Times New Roman"/>
              </a:rPr>
              <a:t>at the</a:t>
            </a:r>
            <a:r>
              <a:rPr lang="en" sz="2000">
                <a:solidFill>
                  <a:schemeClr val="dk1"/>
                </a:solidFill>
                <a:latin typeface="Times New Roman"/>
                <a:ea typeface="Times New Roman"/>
                <a:cs typeface="Times New Roman"/>
                <a:sym typeface="Times New Roman"/>
              </a:rPr>
              <a:t> </a:t>
            </a:r>
            <a:r>
              <a:rPr lang="en" sz="2000">
                <a:solidFill>
                  <a:schemeClr val="dk1"/>
                </a:solidFill>
                <a:latin typeface="Times New Roman"/>
                <a:ea typeface="Times New Roman"/>
                <a:cs typeface="Times New Roman"/>
                <a:sym typeface="Times New Roman"/>
              </a:rPr>
              <a:t>graph</a:t>
            </a:r>
            <a:r>
              <a:rPr lang="en" sz="2000">
                <a:solidFill>
                  <a:schemeClr val="dk1"/>
                </a:solidFill>
                <a:latin typeface="Times New Roman"/>
                <a:ea typeface="Times New Roman"/>
                <a:cs typeface="Times New Roman"/>
                <a:sym typeface="Times New Roman"/>
              </a:rPr>
              <a:t>, you can see that for Tactical, people had a lot to say about it and seems the most popular in terms of reviews. Quiz/Trivia seem to have the least amount of reviews and shows that it still remains unpopular. </a:t>
            </a:r>
            <a:endParaRPr sz="2000">
              <a:solidFill>
                <a:schemeClr val="dk1"/>
              </a:solidFill>
            </a:endParaRPr>
          </a:p>
        </p:txBody>
      </p:sp>
      <p:pic>
        <p:nvPicPr>
          <p:cNvPr id="108" name="Google Shape;108;p21" title="Image 4-26-26 at 11.11 AM.jpeg"/>
          <p:cNvPicPr preferRelativeResize="0"/>
          <p:nvPr/>
        </p:nvPicPr>
        <p:blipFill>
          <a:blip r:embed="rId3">
            <a:alphaModFix/>
          </a:blip>
          <a:stretch>
            <a:fillRect/>
          </a:stretch>
        </p:blipFill>
        <p:spPr>
          <a:xfrm>
            <a:off x="5079700" y="1055450"/>
            <a:ext cx="2956320" cy="384782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idx="1" type="subTitle"/>
          </p:nvPr>
        </p:nvSpPr>
        <p:spPr>
          <a:xfrm>
            <a:off x="311700" y="33447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200">
                <a:solidFill>
                  <a:schemeClr val="dk1"/>
                </a:solidFill>
                <a:latin typeface="Times New Roman"/>
                <a:ea typeface="Times New Roman"/>
                <a:cs typeface="Times New Roman"/>
                <a:sym typeface="Times New Roman"/>
              </a:rPr>
              <a:t>Feedback Analysis </a:t>
            </a:r>
            <a:endParaRPr sz="4200">
              <a:solidFill>
                <a:schemeClr val="dk1"/>
              </a:solidFill>
              <a:latin typeface="Times New Roman"/>
              <a:ea typeface="Times New Roman"/>
              <a:cs typeface="Times New Roman"/>
              <a:sym typeface="Times New Roman"/>
            </a:endParaRPr>
          </a:p>
        </p:txBody>
      </p:sp>
      <p:sp>
        <p:nvSpPr>
          <p:cNvPr id="114" name="Google Shape;114;p22"/>
          <p:cNvSpPr txBox="1"/>
          <p:nvPr/>
        </p:nvSpPr>
        <p:spPr>
          <a:xfrm>
            <a:off x="424625" y="1321925"/>
            <a:ext cx="8308200" cy="355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dk1"/>
                </a:solidFill>
                <a:latin typeface="Times New Roman"/>
                <a:ea typeface="Times New Roman"/>
                <a:cs typeface="Times New Roman"/>
                <a:sym typeface="Times New Roman"/>
              </a:rPr>
              <a:t>Aria - Looking at my feedback from last week. Visual novel </a:t>
            </a:r>
            <a:r>
              <a:rPr lang="en" sz="2100">
                <a:solidFill>
                  <a:schemeClr val="dk1"/>
                </a:solidFill>
                <a:latin typeface="Times New Roman"/>
                <a:ea typeface="Times New Roman"/>
                <a:cs typeface="Times New Roman"/>
                <a:sym typeface="Times New Roman"/>
              </a:rPr>
              <a:t>surprised</a:t>
            </a:r>
            <a:r>
              <a:rPr lang="en" sz="2100">
                <a:solidFill>
                  <a:schemeClr val="dk1"/>
                </a:solidFill>
                <a:latin typeface="Times New Roman"/>
                <a:ea typeface="Times New Roman"/>
                <a:cs typeface="Times New Roman"/>
                <a:sym typeface="Times New Roman"/>
              </a:rPr>
              <a:t> me because I didn’t expect it to be the highest in rating average, I thought adventure or RPG would be up there.  </a:t>
            </a:r>
            <a:endParaRPr sz="21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idx="1" type="subTitle"/>
          </p:nvPr>
        </p:nvSpPr>
        <p:spPr>
          <a:xfrm>
            <a:off x="311700" y="19827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4000">
                <a:solidFill>
                  <a:schemeClr val="dk1"/>
                </a:solidFill>
                <a:latin typeface="Times New Roman"/>
                <a:ea typeface="Times New Roman"/>
                <a:cs typeface="Times New Roman"/>
                <a:sym typeface="Times New Roman"/>
              </a:rPr>
              <a:t>Camila’s</a:t>
            </a:r>
            <a:r>
              <a:rPr lang="en" sz="4000">
                <a:solidFill>
                  <a:schemeClr val="dk1"/>
                </a:solidFill>
                <a:latin typeface="Times New Roman"/>
                <a:ea typeface="Times New Roman"/>
                <a:cs typeface="Times New Roman"/>
                <a:sym typeface="Times New Roman"/>
              </a:rPr>
              <a:t> Mini Update 1</a:t>
            </a:r>
            <a:endParaRPr sz="4000">
              <a:solidFill>
                <a:schemeClr val="dk1"/>
              </a:solidFill>
              <a:latin typeface="Times New Roman"/>
              <a:ea typeface="Times New Roman"/>
              <a:cs typeface="Times New Roman"/>
              <a:sym typeface="Times New Roman"/>
            </a:endParaRPr>
          </a:p>
        </p:txBody>
      </p:sp>
      <p:pic>
        <p:nvPicPr>
          <p:cNvPr id="120" name="Google Shape;120;p23" title="Screenshot 2026-04-25 at 11.31.28 PM.png"/>
          <p:cNvPicPr preferRelativeResize="0"/>
          <p:nvPr/>
        </p:nvPicPr>
        <p:blipFill>
          <a:blip r:embed="rId4">
            <a:alphaModFix/>
          </a:blip>
          <a:stretch>
            <a:fillRect/>
          </a:stretch>
        </p:blipFill>
        <p:spPr>
          <a:xfrm>
            <a:off x="5519100" y="940150"/>
            <a:ext cx="3126357" cy="3847824"/>
          </a:xfrm>
          <a:prstGeom prst="rect">
            <a:avLst/>
          </a:prstGeom>
          <a:noFill/>
          <a:ln>
            <a:noFill/>
          </a:ln>
        </p:spPr>
      </p:pic>
      <p:sp>
        <p:nvSpPr>
          <p:cNvPr id="121" name="Google Shape;121;p23"/>
          <p:cNvSpPr txBox="1"/>
          <p:nvPr/>
        </p:nvSpPr>
        <p:spPr>
          <a:xfrm>
            <a:off x="304350" y="1075375"/>
            <a:ext cx="4413000" cy="371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Times New Roman"/>
                <a:ea typeface="Times New Roman"/>
                <a:cs typeface="Times New Roman"/>
                <a:sym typeface="Times New Roman"/>
              </a:rPr>
              <a:t>This week I wanted to see which genres have the most wishlisted games? To do this, I expanded the genres and the wishlist </a:t>
            </a:r>
            <a:r>
              <a:rPr lang="en" sz="1500">
                <a:solidFill>
                  <a:schemeClr val="dk1"/>
                </a:solidFill>
                <a:latin typeface="Times New Roman"/>
                <a:ea typeface="Times New Roman"/>
                <a:cs typeface="Times New Roman"/>
                <a:sym typeface="Times New Roman"/>
              </a:rPr>
              <a:t>values</a:t>
            </a:r>
            <a:r>
              <a:rPr lang="en" sz="1500">
                <a:solidFill>
                  <a:schemeClr val="dk1"/>
                </a:solidFill>
                <a:latin typeface="Times New Roman"/>
                <a:ea typeface="Times New Roman"/>
                <a:cs typeface="Times New Roman"/>
                <a:sym typeface="Times New Roman"/>
              </a:rPr>
              <a:t>, then calculated the average.</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500">
                <a:solidFill>
                  <a:schemeClr val="dk1"/>
                </a:solidFill>
                <a:latin typeface="Times New Roman"/>
                <a:ea typeface="Times New Roman"/>
                <a:cs typeface="Times New Roman"/>
                <a:sym typeface="Times New Roman"/>
              </a:rPr>
              <a:t>From the bar graph, the Brawler genre has the highest games that players put in their </a:t>
            </a:r>
            <a:r>
              <a:rPr lang="en" sz="1500">
                <a:solidFill>
                  <a:schemeClr val="dk1"/>
                </a:solidFill>
                <a:latin typeface="Times New Roman"/>
                <a:ea typeface="Times New Roman"/>
                <a:cs typeface="Times New Roman"/>
                <a:sym typeface="Times New Roman"/>
              </a:rPr>
              <a:t>wishlist. The other genres with a high average is RPG, Turn Based Strategy, Adventure, and Indie.</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idx="1" type="subTitle"/>
          </p:nvPr>
        </p:nvSpPr>
        <p:spPr>
          <a:xfrm>
            <a:off x="311700" y="19827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4000">
                <a:solidFill>
                  <a:schemeClr val="dk1"/>
                </a:solidFill>
                <a:latin typeface="Times New Roman"/>
                <a:ea typeface="Times New Roman"/>
                <a:cs typeface="Times New Roman"/>
                <a:sym typeface="Times New Roman"/>
              </a:rPr>
              <a:t>Camila’s Mini Update 2</a:t>
            </a:r>
            <a:endParaRPr sz="4000">
              <a:solidFill>
                <a:schemeClr val="dk1"/>
              </a:solidFill>
              <a:latin typeface="Times New Roman"/>
              <a:ea typeface="Times New Roman"/>
              <a:cs typeface="Times New Roman"/>
              <a:sym typeface="Times New Roman"/>
            </a:endParaRPr>
          </a:p>
        </p:txBody>
      </p:sp>
      <p:sp>
        <p:nvSpPr>
          <p:cNvPr id="127" name="Google Shape;127;p24"/>
          <p:cNvSpPr txBox="1"/>
          <p:nvPr/>
        </p:nvSpPr>
        <p:spPr>
          <a:xfrm>
            <a:off x="304350" y="1075375"/>
            <a:ext cx="2962200" cy="371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Times New Roman"/>
                <a:ea typeface="Times New Roman"/>
                <a:cs typeface="Times New Roman"/>
                <a:sym typeface="Times New Roman"/>
              </a:rPr>
              <a:t>While looking at the table’s labels, “Team” caught my eye, since I haven’t created a question for that aspect of the data set. So this week I also wanted to see which developers make the highest-rated games? </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500">
                <a:solidFill>
                  <a:schemeClr val="dk1"/>
                </a:solidFill>
                <a:latin typeface="Times New Roman"/>
                <a:ea typeface="Times New Roman"/>
                <a:cs typeface="Times New Roman"/>
                <a:sym typeface="Times New Roman"/>
              </a:rPr>
              <a:t>From this graph, games made by TobyFox, Square Enix, Activision, etc. have high rated games.</a:t>
            </a:r>
            <a:endParaRPr sz="1500">
              <a:solidFill>
                <a:schemeClr val="dk1"/>
              </a:solidFill>
              <a:latin typeface="Times New Roman"/>
              <a:ea typeface="Times New Roman"/>
              <a:cs typeface="Times New Roman"/>
              <a:sym typeface="Times New Roman"/>
            </a:endParaRPr>
          </a:p>
        </p:txBody>
      </p:sp>
      <p:pic>
        <p:nvPicPr>
          <p:cNvPr id="128" name="Google Shape;128;p24" title="Screenshot 2026-04-25 at 11.39.57 PM.png"/>
          <p:cNvPicPr preferRelativeResize="0"/>
          <p:nvPr/>
        </p:nvPicPr>
        <p:blipFill>
          <a:blip r:embed="rId4">
            <a:alphaModFix/>
          </a:blip>
          <a:stretch>
            <a:fillRect/>
          </a:stretch>
        </p:blipFill>
        <p:spPr>
          <a:xfrm>
            <a:off x="3377525" y="1143275"/>
            <a:ext cx="5614073" cy="27321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ph idx="1" type="subTitle"/>
          </p:nvPr>
        </p:nvSpPr>
        <p:spPr>
          <a:xfrm>
            <a:off x="311700" y="33447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200">
                <a:solidFill>
                  <a:schemeClr val="dk1"/>
                </a:solidFill>
                <a:latin typeface="Times New Roman"/>
                <a:ea typeface="Times New Roman"/>
                <a:cs typeface="Times New Roman"/>
                <a:sym typeface="Times New Roman"/>
              </a:rPr>
              <a:t>Feedback Analysis </a:t>
            </a:r>
            <a:endParaRPr sz="4200">
              <a:solidFill>
                <a:schemeClr val="dk1"/>
              </a:solidFill>
              <a:latin typeface="Times New Roman"/>
              <a:ea typeface="Times New Roman"/>
              <a:cs typeface="Times New Roman"/>
              <a:sym typeface="Times New Roman"/>
            </a:endParaRPr>
          </a:p>
        </p:txBody>
      </p:sp>
      <p:sp>
        <p:nvSpPr>
          <p:cNvPr id="134" name="Google Shape;134;p25"/>
          <p:cNvSpPr txBox="1"/>
          <p:nvPr/>
        </p:nvSpPr>
        <p:spPr>
          <a:xfrm>
            <a:off x="424625" y="1321925"/>
            <a:ext cx="8308200" cy="355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dk1"/>
                </a:solidFill>
                <a:latin typeface="Times New Roman"/>
                <a:ea typeface="Times New Roman"/>
                <a:cs typeface="Times New Roman"/>
                <a:sym typeface="Times New Roman"/>
              </a:rPr>
              <a:t>After looking at the feedback, I’ve included the horizontal axis labels and taken all the other comments into consideration. I made sure to think about them when doing my updates.</a:t>
            </a:r>
            <a:endParaRPr sz="210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Times New Roman"/>
                <a:ea typeface="Times New Roman"/>
                <a:cs typeface="Times New Roman"/>
                <a:sym typeface="Times New Roman"/>
              </a:rPr>
              <a:t>Casey’s Mini-Update</a:t>
            </a:r>
            <a:endParaRPr>
              <a:latin typeface="Times New Roman"/>
              <a:ea typeface="Times New Roman"/>
              <a:cs typeface="Times New Roman"/>
              <a:sym typeface="Times New Roman"/>
            </a:endParaRPr>
          </a:p>
        </p:txBody>
      </p:sp>
      <p:sp>
        <p:nvSpPr>
          <p:cNvPr id="140" name="Google Shape;140;p26"/>
          <p:cNvSpPr txBox="1"/>
          <p:nvPr>
            <p:ph idx="1" type="body"/>
          </p:nvPr>
        </p:nvSpPr>
        <p:spPr>
          <a:xfrm>
            <a:off x="3441875" y="1152475"/>
            <a:ext cx="5390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latin typeface="Times New Roman"/>
                <a:ea typeface="Times New Roman"/>
                <a:cs typeface="Times New Roman"/>
                <a:sym typeface="Times New Roman"/>
              </a:rPr>
              <a:t>I created a table with the development team corresponding to the highest average rating for each genre of game. The list has several indie developers with only one or a few games published such as Bay 12 Games, ZA/UM, and 07th Expansion. Several appear multiple times because they have one or a few games that are very highly rated with multiple genres, so they appear as the highest rated developer for those genres.</a:t>
            </a:r>
            <a:endParaRPr>
              <a:latin typeface="Times New Roman"/>
              <a:ea typeface="Times New Roman"/>
              <a:cs typeface="Times New Roman"/>
              <a:sym typeface="Times New Roman"/>
            </a:endParaRPr>
          </a:p>
        </p:txBody>
      </p:sp>
      <p:pic>
        <p:nvPicPr>
          <p:cNvPr id="141" name="Google Shape;141;p26"/>
          <p:cNvPicPr preferRelativeResize="0"/>
          <p:nvPr/>
        </p:nvPicPr>
        <p:blipFill>
          <a:blip r:embed="rId4">
            <a:alphaModFix/>
          </a:blip>
          <a:stretch>
            <a:fillRect/>
          </a:stretch>
        </p:blipFill>
        <p:spPr>
          <a:xfrm>
            <a:off x="311700" y="1017725"/>
            <a:ext cx="2403517" cy="3820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latin typeface="Times New Roman"/>
                <a:ea typeface="Times New Roman"/>
                <a:cs typeface="Times New Roman"/>
                <a:sym typeface="Times New Roman"/>
              </a:rPr>
              <a:t>Because of the feedback from last week, I realized that expressing the top developers for each genre of game in a graph was unfeasible. Using a table to only show the highest rated developer for each genre conveys much less information, but should be more digestible because of that. However, this is still a flawed approach because it boosts the ranking of developers who have only published one or a few games in a particular genre.</a:t>
            </a:r>
            <a:endParaRPr>
              <a:latin typeface="Times New Roman"/>
              <a:ea typeface="Times New Roman"/>
              <a:cs typeface="Times New Roman"/>
              <a:sym typeface="Times New Roman"/>
            </a:endParaRPr>
          </a:p>
        </p:txBody>
      </p:sp>
      <p:sp>
        <p:nvSpPr>
          <p:cNvPr id="147" name="Google Shape;147;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Times New Roman"/>
                <a:ea typeface="Times New Roman"/>
                <a:cs typeface="Times New Roman"/>
                <a:sym typeface="Times New Roman"/>
              </a:rPr>
              <a:t>Feedback Analysis</a:t>
            </a:r>
            <a:endParaRPr>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8"/>
          <p:cNvSpPr txBox="1"/>
          <p:nvPr/>
        </p:nvSpPr>
        <p:spPr>
          <a:xfrm>
            <a:off x="368525" y="1017475"/>
            <a:ext cx="8495700" cy="366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Times New Roman"/>
                <a:ea typeface="Times New Roman"/>
                <a:cs typeface="Times New Roman"/>
                <a:sym typeface="Times New Roman"/>
              </a:rPr>
              <a:t>This week, we further analyzed data related to each genre of game and the way players interact with them. We also found more data insights about how the teams creating the highest-ranked games, within and outside the context of the genre their games are in. We once again used JupyterHub for our analyses.</a:t>
            </a:r>
            <a:endParaRPr sz="18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 sz="1800">
                <a:solidFill>
                  <a:schemeClr val="dk2"/>
                </a:solidFill>
                <a:latin typeface="Times New Roman"/>
                <a:ea typeface="Times New Roman"/>
                <a:cs typeface="Times New Roman"/>
                <a:sym typeface="Times New Roman"/>
              </a:rPr>
              <a:t>One challenge we still need to overcome is forming more cohesive data narratives using multiple types of data. We have found many interesting insights from the data so far, but have yet to connect most of them in meaningful ways.</a:t>
            </a:r>
            <a:endParaRPr sz="1800">
              <a:solidFill>
                <a:schemeClr val="dk2"/>
              </a:solidFill>
              <a:latin typeface="Times New Roman"/>
              <a:ea typeface="Times New Roman"/>
              <a:cs typeface="Times New Roman"/>
              <a:sym typeface="Times New Roman"/>
            </a:endParaRPr>
          </a:p>
        </p:txBody>
      </p:sp>
      <p:sp>
        <p:nvSpPr>
          <p:cNvPr id="153" name="Google Shape;153;p28"/>
          <p:cNvSpPr txBox="1"/>
          <p:nvPr>
            <p:ph idx="1" type="subTitle"/>
          </p:nvPr>
        </p:nvSpPr>
        <p:spPr>
          <a:xfrm>
            <a:off x="343750" y="19827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100">
                <a:solidFill>
                  <a:schemeClr val="dk1"/>
                </a:solidFill>
                <a:latin typeface="Times New Roman"/>
                <a:ea typeface="Times New Roman"/>
                <a:cs typeface="Times New Roman"/>
                <a:sym typeface="Times New Roman"/>
              </a:rPr>
              <a:t>Progress</a:t>
            </a:r>
            <a:endParaRPr sz="4100">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Times New Roman"/>
                <a:ea typeface="Times New Roman"/>
                <a:cs typeface="Times New Roman"/>
                <a:sym typeface="Times New Roman"/>
              </a:rPr>
              <a:t>Week 3</a:t>
            </a:r>
            <a:endParaRPr>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0"/>
          <p:cNvSpPr txBox="1"/>
          <p:nvPr>
            <p:ph idx="1" type="subTitle"/>
          </p:nvPr>
        </p:nvSpPr>
        <p:spPr>
          <a:xfrm>
            <a:off x="311700" y="19827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4000">
                <a:solidFill>
                  <a:schemeClr val="dk1"/>
                </a:solidFill>
                <a:latin typeface="Times New Roman"/>
                <a:ea typeface="Times New Roman"/>
                <a:cs typeface="Times New Roman"/>
                <a:sym typeface="Times New Roman"/>
              </a:rPr>
              <a:t>Aria’s Mini Update</a:t>
            </a:r>
            <a:endParaRPr sz="4000">
              <a:solidFill>
                <a:schemeClr val="dk1"/>
              </a:solidFill>
              <a:latin typeface="Times New Roman"/>
              <a:ea typeface="Times New Roman"/>
              <a:cs typeface="Times New Roman"/>
              <a:sym typeface="Times New Roman"/>
            </a:endParaRPr>
          </a:p>
        </p:txBody>
      </p:sp>
      <p:sp>
        <p:nvSpPr>
          <p:cNvPr id="164" name="Google Shape;164;p30"/>
          <p:cNvSpPr txBox="1"/>
          <p:nvPr/>
        </p:nvSpPr>
        <p:spPr>
          <a:xfrm>
            <a:off x="167500" y="1026725"/>
            <a:ext cx="4206900" cy="377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chemeClr val="dk1"/>
                </a:solidFill>
                <a:latin typeface="Times New Roman"/>
                <a:ea typeface="Times New Roman"/>
                <a:cs typeface="Times New Roman"/>
                <a:sym typeface="Times New Roman"/>
              </a:rPr>
              <a:t>I decided to compare the average rating of each genre in a more cleaner way than last week so I could fully understand the data. As you can see in the graph, </a:t>
            </a:r>
            <a:r>
              <a:rPr lang="en" sz="1900">
                <a:solidFill>
                  <a:schemeClr val="dk1"/>
                </a:solidFill>
                <a:latin typeface="Times New Roman"/>
                <a:ea typeface="Times New Roman"/>
                <a:cs typeface="Times New Roman"/>
                <a:sym typeface="Times New Roman"/>
              </a:rPr>
              <a:t>“Visual Novel” has the highest rating average which is surprising. </a:t>
            </a:r>
            <a:r>
              <a:rPr lang="en" sz="1900">
                <a:solidFill>
                  <a:schemeClr val="dk1"/>
                </a:solidFill>
                <a:latin typeface="Times New Roman"/>
                <a:ea typeface="Times New Roman"/>
                <a:cs typeface="Times New Roman"/>
                <a:sym typeface="Times New Roman"/>
              </a:rPr>
              <a:t>“MOBA” has the worst rating. Most of the games are similar in rating and are not to far off eachother but this graph helps depict which is the most popular to the least popular </a:t>
            </a:r>
            <a:endParaRPr sz="1900">
              <a:solidFill>
                <a:schemeClr val="dk1"/>
              </a:solidFill>
              <a:latin typeface="Times New Roman"/>
              <a:ea typeface="Times New Roman"/>
              <a:cs typeface="Times New Roman"/>
              <a:sym typeface="Times New Roman"/>
            </a:endParaRPr>
          </a:p>
        </p:txBody>
      </p:sp>
      <p:pic>
        <p:nvPicPr>
          <p:cNvPr id="165" name="Google Shape;165;p30" title="Image 4-19-26 at 10.32 AM.jpeg"/>
          <p:cNvPicPr preferRelativeResize="0"/>
          <p:nvPr/>
        </p:nvPicPr>
        <p:blipFill>
          <a:blip r:embed="rId3">
            <a:alphaModFix/>
          </a:blip>
          <a:stretch>
            <a:fillRect/>
          </a:stretch>
        </p:blipFill>
        <p:spPr>
          <a:xfrm>
            <a:off x="5095424" y="955025"/>
            <a:ext cx="3577525" cy="38478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1"/>
          <p:cNvSpPr txBox="1"/>
          <p:nvPr>
            <p:ph idx="1" type="subTitle"/>
          </p:nvPr>
        </p:nvSpPr>
        <p:spPr>
          <a:xfrm>
            <a:off x="311700" y="19827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4000">
                <a:solidFill>
                  <a:schemeClr val="dk1"/>
                </a:solidFill>
                <a:latin typeface="Times New Roman"/>
                <a:ea typeface="Times New Roman"/>
                <a:cs typeface="Times New Roman"/>
                <a:sym typeface="Times New Roman"/>
              </a:rPr>
              <a:t>Aria’s Mini Update</a:t>
            </a:r>
            <a:endParaRPr sz="4000">
              <a:solidFill>
                <a:schemeClr val="dk1"/>
              </a:solidFill>
              <a:latin typeface="Times New Roman"/>
              <a:ea typeface="Times New Roman"/>
              <a:cs typeface="Times New Roman"/>
              <a:sym typeface="Times New Roman"/>
            </a:endParaRPr>
          </a:p>
        </p:txBody>
      </p:sp>
      <p:sp>
        <p:nvSpPr>
          <p:cNvPr id="171" name="Google Shape;171;p31"/>
          <p:cNvSpPr txBox="1"/>
          <p:nvPr/>
        </p:nvSpPr>
        <p:spPr>
          <a:xfrm>
            <a:off x="271650" y="990875"/>
            <a:ext cx="3670200" cy="377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I wanted to </a:t>
            </a:r>
            <a:r>
              <a:rPr lang="en" sz="1800">
                <a:solidFill>
                  <a:schemeClr val="dk1"/>
                </a:solidFill>
                <a:latin typeface="Times New Roman"/>
                <a:ea typeface="Times New Roman"/>
                <a:cs typeface="Times New Roman"/>
                <a:sym typeface="Times New Roman"/>
              </a:rPr>
              <a:t>compare</a:t>
            </a:r>
            <a:r>
              <a:rPr lang="en" sz="1800">
                <a:solidFill>
                  <a:schemeClr val="dk1"/>
                </a:solidFill>
                <a:latin typeface="Times New Roman"/>
                <a:ea typeface="Times New Roman"/>
                <a:cs typeface="Times New Roman"/>
                <a:sym typeface="Times New Roman"/>
              </a:rPr>
              <a:t> which genres appear most frequently across all games? I created a bar chart to figure that out. You can see that Adventure appears in over 1000 games and is the most popular genre. You can also notice that the genre “Real Time Strategy” is the not found in many games and seems to be the </a:t>
            </a:r>
            <a:r>
              <a:rPr lang="en" sz="1800">
                <a:solidFill>
                  <a:schemeClr val="dk1"/>
                </a:solidFill>
                <a:latin typeface="Times New Roman"/>
                <a:ea typeface="Times New Roman"/>
                <a:cs typeface="Times New Roman"/>
                <a:sym typeface="Times New Roman"/>
              </a:rPr>
              <a:t>least</a:t>
            </a:r>
            <a:r>
              <a:rPr lang="en" sz="1800">
                <a:solidFill>
                  <a:schemeClr val="dk1"/>
                </a:solidFill>
                <a:latin typeface="Times New Roman"/>
                <a:ea typeface="Times New Roman"/>
                <a:cs typeface="Times New Roman"/>
                <a:sym typeface="Times New Roman"/>
              </a:rPr>
              <a:t> popular. </a:t>
            </a:r>
            <a:r>
              <a:rPr lang="en" sz="1800">
                <a:solidFill>
                  <a:schemeClr val="dk1"/>
                </a:solidFill>
                <a:latin typeface="Times New Roman"/>
                <a:ea typeface="Times New Roman"/>
                <a:cs typeface="Times New Roman"/>
                <a:sym typeface="Times New Roman"/>
              </a:rPr>
              <a:t>Lastly</a:t>
            </a:r>
            <a:r>
              <a:rPr lang="en" sz="1800">
                <a:solidFill>
                  <a:schemeClr val="dk1"/>
                </a:solidFill>
                <a:latin typeface="Times New Roman"/>
                <a:ea typeface="Times New Roman"/>
                <a:cs typeface="Times New Roman"/>
                <a:sym typeface="Times New Roman"/>
              </a:rPr>
              <a:t>, you can notice that “Quiz/Trivia”, “MOBA”, and “Pinball” are not even included in any games so they are at a 0. </a:t>
            </a:r>
            <a:endParaRPr sz="2400">
              <a:solidFill>
                <a:schemeClr val="dk1"/>
              </a:solidFill>
              <a:latin typeface="Times New Roman"/>
              <a:ea typeface="Times New Roman"/>
              <a:cs typeface="Times New Roman"/>
              <a:sym typeface="Times New Roman"/>
            </a:endParaRPr>
          </a:p>
        </p:txBody>
      </p:sp>
      <p:pic>
        <p:nvPicPr>
          <p:cNvPr id="172" name="Google Shape;172;p31" title="Image 4-19-26 at 10.17 AM.jpeg"/>
          <p:cNvPicPr preferRelativeResize="0"/>
          <p:nvPr/>
        </p:nvPicPr>
        <p:blipFill>
          <a:blip r:embed="rId3">
            <a:alphaModFix/>
          </a:blip>
          <a:stretch>
            <a:fillRect/>
          </a:stretch>
        </p:blipFill>
        <p:spPr>
          <a:xfrm>
            <a:off x="4470525" y="965300"/>
            <a:ext cx="4207226" cy="38272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2"/>
          <p:cNvSpPr txBox="1"/>
          <p:nvPr>
            <p:ph idx="1" type="subTitle"/>
          </p:nvPr>
        </p:nvSpPr>
        <p:spPr>
          <a:xfrm>
            <a:off x="311700" y="33447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200">
                <a:solidFill>
                  <a:schemeClr val="dk1"/>
                </a:solidFill>
                <a:latin typeface="Times New Roman"/>
                <a:ea typeface="Times New Roman"/>
                <a:cs typeface="Times New Roman"/>
                <a:sym typeface="Times New Roman"/>
              </a:rPr>
              <a:t>Feedback Analysis </a:t>
            </a:r>
            <a:endParaRPr sz="4200">
              <a:solidFill>
                <a:schemeClr val="dk1"/>
              </a:solidFill>
              <a:latin typeface="Times New Roman"/>
              <a:ea typeface="Times New Roman"/>
              <a:cs typeface="Times New Roman"/>
              <a:sym typeface="Times New Roman"/>
            </a:endParaRPr>
          </a:p>
        </p:txBody>
      </p:sp>
      <p:sp>
        <p:nvSpPr>
          <p:cNvPr id="178" name="Google Shape;178;p32"/>
          <p:cNvSpPr txBox="1"/>
          <p:nvPr/>
        </p:nvSpPr>
        <p:spPr>
          <a:xfrm>
            <a:off x="424625" y="1321925"/>
            <a:ext cx="8308200" cy="355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dk1"/>
                </a:solidFill>
                <a:latin typeface="Times New Roman"/>
                <a:ea typeface="Times New Roman"/>
                <a:cs typeface="Times New Roman"/>
                <a:sym typeface="Times New Roman"/>
              </a:rPr>
              <a:t>Aria - Looking at my feedback from last week, I simplified my data to get a better </a:t>
            </a:r>
            <a:r>
              <a:rPr lang="en" sz="2100">
                <a:solidFill>
                  <a:schemeClr val="dk1"/>
                </a:solidFill>
                <a:latin typeface="Times New Roman"/>
                <a:ea typeface="Times New Roman"/>
                <a:cs typeface="Times New Roman"/>
                <a:sym typeface="Times New Roman"/>
              </a:rPr>
              <a:t>understanding</a:t>
            </a:r>
            <a:r>
              <a:rPr lang="en" sz="2100">
                <a:solidFill>
                  <a:schemeClr val="dk1"/>
                </a:solidFill>
                <a:latin typeface="Times New Roman"/>
                <a:ea typeface="Times New Roman"/>
                <a:cs typeface="Times New Roman"/>
                <a:sym typeface="Times New Roman"/>
              </a:rPr>
              <a:t> and added another insight. It was useful because the simplified data is </a:t>
            </a:r>
            <a:r>
              <a:rPr lang="en" sz="2100">
                <a:solidFill>
                  <a:schemeClr val="dk1"/>
                </a:solidFill>
                <a:latin typeface="Times New Roman"/>
                <a:ea typeface="Times New Roman"/>
                <a:cs typeface="Times New Roman"/>
                <a:sym typeface="Times New Roman"/>
              </a:rPr>
              <a:t>definitely</a:t>
            </a:r>
            <a:r>
              <a:rPr lang="en" sz="2100">
                <a:solidFill>
                  <a:schemeClr val="dk1"/>
                </a:solidFill>
                <a:latin typeface="Times New Roman"/>
                <a:ea typeface="Times New Roman"/>
                <a:cs typeface="Times New Roman"/>
                <a:sym typeface="Times New Roman"/>
              </a:rPr>
              <a:t> easier to </a:t>
            </a:r>
            <a:r>
              <a:rPr lang="en" sz="2100">
                <a:solidFill>
                  <a:schemeClr val="dk1"/>
                </a:solidFill>
                <a:latin typeface="Times New Roman"/>
                <a:ea typeface="Times New Roman"/>
                <a:cs typeface="Times New Roman"/>
                <a:sym typeface="Times New Roman"/>
              </a:rPr>
              <a:t>understand. I am seeking feedback on any improvements I could make.</a:t>
            </a:r>
            <a:endParaRPr sz="2100">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3"/>
          <p:cNvSpPr txBox="1"/>
          <p:nvPr>
            <p:ph type="title"/>
          </p:nvPr>
        </p:nvSpPr>
        <p:spPr>
          <a:xfrm>
            <a:off x="311700" y="1146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Times New Roman"/>
                <a:ea typeface="Times New Roman"/>
                <a:cs typeface="Times New Roman"/>
                <a:sym typeface="Times New Roman"/>
              </a:rPr>
              <a:t>Casey’s Mini-Update 1</a:t>
            </a:r>
            <a:endParaRPr>
              <a:latin typeface="Times New Roman"/>
              <a:ea typeface="Times New Roman"/>
              <a:cs typeface="Times New Roman"/>
              <a:sym typeface="Times New Roman"/>
            </a:endParaRPr>
          </a:p>
        </p:txBody>
      </p:sp>
      <p:sp>
        <p:nvSpPr>
          <p:cNvPr id="184" name="Google Shape;184;p33"/>
          <p:cNvSpPr txBox="1"/>
          <p:nvPr>
            <p:ph idx="1" type="body"/>
          </p:nvPr>
        </p:nvSpPr>
        <p:spPr>
          <a:xfrm>
            <a:off x="4214075" y="687350"/>
            <a:ext cx="4695900" cy="4115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1200"/>
              </a:spcAft>
              <a:buNone/>
            </a:pPr>
            <a:r>
              <a:rPr lang="en">
                <a:latin typeface="Times New Roman"/>
                <a:ea typeface="Times New Roman"/>
                <a:cs typeface="Times New Roman"/>
                <a:sym typeface="Times New Roman"/>
              </a:rPr>
              <a:t>To further analyze how rating and plays correlate, I made </a:t>
            </a:r>
            <a:r>
              <a:rPr lang="en">
                <a:latin typeface="Times New Roman"/>
                <a:ea typeface="Times New Roman"/>
                <a:cs typeface="Times New Roman"/>
                <a:sym typeface="Times New Roman"/>
              </a:rPr>
              <a:t>a graph of the standard deviation of plays grouped by rating.</a:t>
            </a:r>
            <a:r>
              <a:rPr lang="en">
                <a:latin typeface="Times New Roman"/>
                <a:ea typeface="Times New Roman"/>
                <a:cs typeface="Times New Roman"/>
                <a:sym typeface="Times New Roman"/>
              </a:rPr>
              <a:t> The high standard deviation of plays for games with </a:t>
            </a:r>
            <a:r>
              <a:rPr lang="en">
                <a:latin typeface="Times New Roman"/>
                <a:ea typeface="Times New Roman"/>
                <a:cs typeface="Times New Roman"/>
                <a:sym typeface="Times New Roman"/>
              </a:rPr>
              <a:t>high ratings indicates that those games have a high deviation in how many people play them, meaning that there are many high rated games played by many people, and many played by only a few people. Games with ratings of 1.8 and 2.3 seem to have the lowest deviation, and games with a 4.4 rating have the highest deviation. Interestingly, games with a rating of 4.6, the highest in this dataset, seem to have a very low standard deviation. The graph comparing plays and rating shows that all of these games have less than 10,000 plays. This seems to reject my earlier observation that games with high ratings tend to have more plays, even though the games with the most plays usually have high ratings.</a:t>
            </a:r>
            <a:endParaRPr>
              <a:latin typeface="Times New Roman"/>
              <a:ea typeface="Times New Roman"/>
              <a:cs typeface="Times New Roman"/>
              <a:sym typeface="Times New Roman"/>
            </a:endParaRPr>
          </a:p>
        </p:txBody>
      </p:sp>
      <p:pic>
        <p:nvPicPr>
          <p:cNvPr id="185" name="Google Shape;185;p33"/>
          <p:cNvPicPr preferRelativeResize="0"/>
          <p:nvPr/>
        </p:nvPicPr>
        <p:blipFill>
          <a:blip r:embed="rId4">
            <a:alphaModFix/>
          </a:blip>
          <a:stretch>
            <a:fillRect/>
          </a:stretch>
        </p:blipFill>
        <p:spPr>
          <a:xfrm>
            <a:off x="389425" y="687350"/>
            <a:ext cx="3283474" cy="2070851"/>
          </a:xfrm>
          <a:prstGeom prst="rect">
            <a:avLst/>
          </a:prstGeom>
          <a:noFill/>
          <a:ln>
            <a:noFill/>
          </a:ln>
        </p:spPr>
      </p:pic>
      <p:pic>
        <p:nvPicPr>
          <p:cNvPr id="186" name="Google Shape;186;p33"/>
          <p:cNvPicPr preferRelativeResize="0"/>
          <p:nvPr/>
        </p:nvPicPr>
        <p:blipFill>
          <a:blip r:embed="rId5">
            <a:alphaModFix/>
          </a:blip>
          <a:stretch>
            <a:fillRect/>
          </a:stretch>
        </p:blipFill>
        <p:spPr>
          <a:xfrm>
            <a:off x="389425" y="2758200"/>
            <a:ext cx="2352625" cy="22909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4"/>
          <p:cNvSpPr txBox="1"/>
          <p:nvPr>
            <p:ph type="title"/>
          </p:nvPr>
        </p:nvSpPr>
        <p:spPr>
          <a:xfrm>
            <a:off x="311700" y="1146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Times New Roman"/>
                <a:ea typeface="Times New Roman"/>
                <a:cs typeface="Times New Roman"/>
                <a:sym typeface="Times New Roman"/>
              </a:rPr>
              <a:t>Casey’s Mini-Update 2</a:t>
            </a:r>
            <a:endParaRPr>
              <a:latin typeface="Times New Roman"/>
              <a:ea typeface="Times New Roman"/>
              <a:cs typeface="Times New Roman"/>
              <a:sym typeface="Times New Roman"/>
            </a:endParaRPr>
          </a:p>
        </p:txBody>
      </p:sp>
      <p:sp>
        <p:nvSpPr>
          <p:cNvPr id="192" name="Google Shape;192;p34"/>
          <p:cNvSpPr txBox="1"/>
          <p:nvPr>
            <p:ph idx="1" type="body"/>
          </p:nvPr>
        </p:nvSpPr>
        <p:spPr>
          <a:xfrm>
            <a:off x="3392925" y="687350"/>
            <a:ext cx="5517000" cy="4115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latin typeface="Times New Roman"/>
                <a:ea typeface="Times New Roman"/>
                <a:cs typeface="Times New Roman"/>
                <a:sym typeface="Times New Roman"/>
              </a:rPr>
              <a:t>I thought it might be interesting to find data on which developers have the highest rated games in each genre. I’ve created a chart of the average ratings of games within the RPG genre by developer.</a:t>
            </a:r>
            <a:r>
              <a:rPr lang="en">
                <a:latin typeface="Times New Roman"/>
                <a:ea typeface="Times New Roman"/>
                <a:cs typeface="Times New Roman"/>
                <a:sym typeface="Times New Roman"/>
              </a:rPr>
              <a:t> Because of number of developers who have created RPGs, it isn’t feasible to include them all in one graph, so only the top 30 are displayed here. The top developer in the list, ZA/UM, has only released one game (as well as several ports and a remaster of it listed as separate games.) The success of this one game has propelled them to the top of the list. This is also true of OMOCAT.</a:t>
            </a:r>
            <a:endParaRPr>
              <a:latin typeface="Times New Roman"/>
              <a:ea typeface="Times New Roman"/>
              <a:cs typeface="Times New Roman"/>
              <a:sym typeface="Times New Roman"/>
            </a:endParaRPr>
          </a:p>
        </p:txBody>
      </p:sp>
      <p:pic>
        <p:nvPicPr>
          <p:cNvPr id="193" name="Google Shape;193;p34"/>
          <p:cNvPicPr preferRelativeResize="0"/>
          <p:nvPr/>
        </p:nvPicPr>
        <p:blipFill>
          <a:blip r:embed="rId4">
            <a:alphaModFix/>
          </a:blip>
          <a:stretch>
            <a:fillRect/>
          </a:stretch>
        </p:blipFill>
        <p:spPr>
          <a:xfrm>
            <a:off x="130750" y="669375"/>
            <a:ext cx="2828866" cy="415135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5"/>
          <p:cNvSpPr txBox="1"/>
          <p:nvPr>
            <p:ph type="title"/>
          </p:nvPr>
        </p:nvSpPr>
        <p:spPr>
          <a:xfrm>
            <a:off x="311700" y="1146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Times New Roman"/>
                <a:ea typeface="Times New Roman"/>
                <a:cs typeface="Times New Roman"/>
                <a:sym typeface="Times New Roman"/>
              </a:rPr>
              <a:t>Camila’s</a:t>
            </a:r>
            <a:r>
              <a:rPr lang="en">
                <a:latin typeface="Times New Roman"/>
                <a:ea typeface="Times New Roman"/>
                <a:cs typeface="Times New Roman"/>
                <a:sym typeface="Times New Roman"/>
              </a:rPr>
              <a:t> Mini-Update </a:t>
            </a:r>
            <a:endParaRPr>
              <a:latin typeface="Times New Roman"/>
              <a:ea typeface="Times New Roman"/>
              <a:cs typeface="Times New Roman"/>
              <a:sym typeface="Times New Roman"/>
            </a:endParaRPr>
          </a:p>
        </p:txBody>
      </p:sp>
      <p:sp>
        <p:nvSpPr>
          <p:cNvPr id="199" name="Google Shape;199;p35"/>
          <p:cNvSpPr txBox="1"/>
          <p:nvPr>
            <p:ph idx="1" type="body"/>
          </p:nvPr>
        </p:nvSpPr>
        <p:spPr>
          <a:xfrm>
            <a:off x="311700" y="687350"/>
            <a:ext cx="4465200" cy="411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solidFill>
                  <a:schemeClr val="dk1"/>
                </a:solidFill>
                <a:latin typeface="Times New Roman"/>
                <a:ea typeface="Times New Roman"/>
                <a:cs typeface="Times New Roman"/>
                <a:sym typeface="Times New Roman"/>
              </a:rPr>
              <a:t>For this week, I wanted to answer the question “How does rating correlate with player count?” I thought a scatter plot would be best for this, so I can see if there was a positive or negative correlation. Before that, I had to convert the strings in the data (“K” for a num in the thousands and “M” for a num in the millions) to actual numbers. In the graph,</a:t>
            </a:r>
            <a:r>
              <a:rPr lang="en" sz="1500">
                <a:solidFill>
                  <a:schemeClr val="dk1"/>
                </a:solidFill>
                <a:latin typeface="Times New Roman"/>
                <a:ea typeface="Times New Roman"/>
                <a:cs typeface="Times New Roman"/>
                <a:sym typeface="Times New Roman"/>
              </a:rPr>
              <a:t> there seems to be a  positive correlation with the play_num increasing as the rating_num increases from 1-4</a:t>
            </a:r>
            <a:r>
              <a:rPr lang="en" sz="1500">
                <a:solidFill>
                  <a:schemeClr val="dk1"/>
                </a:solidFill>
                <a:latin typeface="Times New Roman"/>
                <a:ea typeface="Times New Roman"/>
                <a:cs typeface="Times New Roman"/>
                <a:sym typeface="Times New Roman"/>
              </a:rPr>
              <a:t>. This could mean that there’s a positive relationship between ratings and player count.</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latin typeface="Times New Roman"/>
              <a:ea typeface="Times New Roman"/>
              <a:cs typeface="Times New Roman"/>
              <a:sym typeface="Times New Roman"/>
            </a:endParaRPr>
          </a:p>
        </p:txBody>
      </p:sp>
      <p:pic>
        <p:nvPicPr>
          <p:cNvPr id="200" name="Google Shape;200;p35" title="Screenshot 2026-04-19 at 10.39.17 PM.png"/>
          <p:cNvPicPr preferRelativeResize="0"/>
          <p:nvPr/>
        </p:nvPicPr>
        <p:blipFill>
          <a:blip r:embed="rId4">
            <a:alphaModFix/>
          </a:blip>
          <a:stretch>
            <a:fillRect/>
          </a:stretch>
        </p:blipFill>
        <p:spPr>
          <a:xfrm>
            <a:off x="4863675" y="839750"/>
            <a:ext cx="4127925" cy="35139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6"/>
          <p:cNvSpPr txBox="1"/>
          <p:nvPr>
            <p:ph type="title"/>
          </p:nvPr>
        </p:nvSpPr>
        <p:spPr>
          <a:xfrm>
            <a:off x="311700" y="1146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Times New Roman"/>
                <a:ea typeface="Times New Roman"/>
                <a:cs typeface="Times New Roman"/>
                <a:sym typeface="Times New Roman"/>
              </a:rPr>
              <a:t>Camila’s Mini-Update 2</a:t>
            </a:r>
            <a:endParaRPr>
              <a:latin typeface="Times New Roman"/>
              <a:ea typeface="Times New Roman"/>
              <a:cs typeface="Times New Roman"/>
              <a:sym typeface="Times New Roman"/>
            </a:endParaRPr>
          </a:p>
        </p:txBody>
      </p:sp>
      <p:sp>
        <p:nvSpPr>
          <p:cNvPr id="206" name="Google Shape;206;p36"/>
          <p:cNvSpPr txBox="1"/>
          <p:nvPr>
            <p:ph idx="1" type="body"/>
          </p:nvPr>
        </p:nvSpPr>
        <p:spPr>
          <a:xfrm>
            <a:off x="311700" y="687350"/>
            <a:ext cx="3431700" cy="4115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sz="1500">
                <a:solidFill>
                  <a:schemeClr val="dk1"/>
                </a:solidFill>
                <a:latin typeface="Times New Roman"/>
                <a:ea typeface="Times New Roman"/>
                <a:cs typeface="Times New Roman"/>
                <a:sym typeface="Times New Roman"/>
              </a:rPr>
              <a:t>I also wanted to answer the question “</a:t>
            </a:r>
            <a:r>
              <a:rPr lang="en" sz="1500">
                <a:solidFill>
                  <a:schemeClr val="dk1"/>
                </a:solidFill>
                <a:latin typeface="Times New Roman"/>
                <a:ea typeface="Times New Roman"/>
                <a:cs typeface="Times New Roman"/>
                <a:sym typeface="Times New Roman"/>
              </a:rPr>
              <a:t>Which genres have the highest average ratings?</a:t>
            </a:r>
            <a:r>
              <a:rPr lang="en" sz="1500">
                <a:solidFill>
                  <a:schemeClr val="dk1"/>
                </a:solidFill>
                <a:latin typeface="Times New Roman"/>
                <a:ea typeface="Times New Roman"/>
                <a:cs typeface="Times New Roman"/>
                <a:sym typeface="Times New Roman"/>
              </a:rPr>
              <a:t>” So I grouped all the games’ genres and caluated the mean of each one. </a:t>
            </a:r>
            <a:r>
              <a:rPr lang="en" sz="1500">
                <a:solidFill>
                  <a:schemeClr val="dk1"/>
                </a:solidFill>
                <a:latin typeface="Times New Roman"/>
                <a:ea typeface="Times New Roman"/>
                <a:cs typeface="Times New Roman"/>
                <a:sym typeface="Times New Roman"/>
              </a:rPr>
              <a:t>Then I sorted then so that only the games with a rating of &gt;4 were show</a:t>
            </a:r>
            <a:r>
              <a:rPr lang="en" sz="1500">
                <a:solidFill>
                  <a:schemeClr val="dk1"/>
                </a:solidFill>
                <a:latin typeface="Times New Roman"/>
                <a:ea typeface="Times New Roman"/>
                <a:cs typeface="Times New Roman"/>
                <a:sym typeface="Times New Roman"/>
              </a:rPr>
              <a:t>n, the </a:t>
            </a:r>
            <a:r>
              <a:rPr lang="en" sz="1500">
                <a:solidFill>
                  <a:schemeClr val="dk1"/>
                </a:solidFill>
                <a:latin typeface="Times New Roman"/>
                <a:ea typeface="Times New Roman"/>
                <a:cs typeface="Times New Roman"/>
                <a:sym typeface="Times New Roman"/>
              </a:rPr>
              <a:t>created a bar graph to so my results. It created a really long list, so in this slide I only included a picture of the first 18 genre sets, and put the last few genres in the second picture.</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500">
                <a:solidFill>
                  <a:schemeClr val="dk1"/>
                </a:solidFill>
                <a:latin typeface="Times New Roman"/>
                <a:ea typeface="Times New Roman"/>
                <a:cs typeface="Times New Roman"/>
                <a:sym typeface="Times New Roman"/>
              </a:rPr>
              <a:t>It looks like games that have an Adventure genre perform really well, with the rating average ranging from 3-4. Other games that don’t have Adventure, and have a Shooter, Simulator, or Visual Novel based game don’t do as well.</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500">
              <a:solidFill>
                <a:schemeClr val="dk1"/>
              </a:solidFill>
              <a:latin typeface="Times New Roman"/>
              <a:ea typeface="Times New Roman"/>
              <a:cs typeface="Times New Roman"/>
              <a:sym typeface="Times New Roman"/>
            </a:endParaRPr>
          </a:p>
          <a:p>
            <a:pPr indent="0" lvl="0" marL="457200" rtl="0" algn="l">
              <a:spcBef>
                <a:spcPts val="1200"/>
              </a:spcBef>
              <a:spcAft>
                <a:spcPts val="1200"/>
              </a:spcAft>
              <a:buNone/>
            </a:pPr>
            <a:r>
              <a:t/>
            </a:r>
            <a:endParaRPr sz="1500">
              <a:solidFill>
                <a:schemeClr val="dk1"/>
              </a:solidFill>
              <a:latin typeface="Times New Roman"/>
              <a:ea typeface="Times New Roman"/>
              <a:cs typeface="Times New Roman"/>
              <a:sym typeface="Times New Roman"/>
            </a:endParaRPr>
          </a:p>
        </p:txBody>
      </p:sp>
      <p:pic>
        <p:nvPicPr>
          <p:cNvPr id="207" name="Google Shape;207;p36" title="Screenshot 2026-04-20 at 1.13.03 PM.png"/>
          <p:cNvPicPr preferRelativeResize="0"/>
          <p:nvPr/>
        </p:nvPicPr>
        <p:blipFill>
          <a:blip r:embed="rId4">
            <a:alphaModFix/>
          </a:blip>
          <a:stretch>
            <a:fillRect/>
          </a:stretch>
        </p:blipFill>
        <p:spPr>
          <a:xfrm>
            <a:off x="3862450" y="613550"/>
            <a:ext cx="3086875" cy="2026250"/>
          </a:xfrm>
          <a:prstGeom prst="rect">
            <a:avLst/>
          </a:prstGeom>
          <a:noFill/>
          <a:ln>
            <a:noFill/>
          </a:ln>
        </p:spPr>
      </p:pic>
      <p:pic>
        <p:nvPicPr>
          <p:cNvPr id="208" name="Google Shape;208;p36" title="Screenshot 2026-04-20 at 1.13.24 PM.png"/>
          <p:cNvPicPr preferRelativeResize="0"/>
          <p:nvPr/>
        </p:nvPicPr>
        <p:blipFill>
          <a:blip r:embed="rId5">
            <a:alphaModFix/>
          </a:blip>
          <a:stretch>
            <a:fillRect/>
          </a:stretch>
        </p:blipFill>
        <p:spPr>
          <a:xfrm>
            <a:off x="6188402" y="2722225"/>
            <a:ext cx="2856748" cy="24212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7"/>
          <p:cNvSpPr txBox="1"/>
          <p:nvPr>
            <p:ph idx="1" type="subTitle"/>
          </p:nvPr>
        </p:nvSpPr>
        <p:spPr>
          <a:xfrm>
            <a:off x="311700" y="33447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200">
                <a:solidFill>
                  <a:schemeClr val="dk1"/>
                </a:solidFill>
                <a:latin typeface="Times New Roman"/>
                <a:ea typeface="Times New Roman"/>
                <a:cs typeface="Times New Roman"/>
                <a:sym typeface="Times New Roman"/>
              </a:rPr>
              <a:t>Feedback Analysis </a:t>
            </a:r>
            <a:endParaRPr sz="4200">
              <a:solidFill>
                <a:schemeClr val="dk1"/>
              </a:solidFill>
              <a:latin typeface="Times New Roman"/>
              <a:ea typeface="Times New Roman"/>
              <a:cs typeface="Times New Roman"/>
              <a:sym typeface="Times New Roman"/>
            </a:endParaRPr>
          </a:p>
        </p:txBody>
      </p:sp>
      <p:sp>
        <p:nvSpPr>
          <p:cNvPr id="214" name="Google Shape;214;p37"/>
          <p:cNvSpPr txBox="1"/>
          <p:nvPr/>
        </p:nvSpPr>
        <p:spPr>
          <a:xfrm>
            <a:off x="424625" y="1321925"/>
            <a:ext cx="8308200" cy="355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dk1"/>
                </a:solidFill>
                <a:latin typeface="Times New Roman"/>
                <a:ea typeface="Times New Roman"/>
                <a:cs typeface="Times New Roman"/>
                <a:sym typeface="Times New Roman"/>
              </a:rPr>
              <a:t>Camila</a:t>
            </a:r>
            <a:r>
              <a:rPr lang="en" sz="2100">
                <a:solidFill>
                  <a:schemeClr val="dk1"/>
                </a:solidFill>
                <a:latin typeface="Times New Roman"/>
                <a:ea typeface="Times New Roman"/>
                <a:cs typeface="Times New Roman"/>
                <a:sym typeface="Times New Roman"/>
              </a:rPr>
              <a:t> - Looking at my feedback from last week, I added another insight to the slide deck answering another question.</a:t>
            </a:r>
            <a:endParaRPr sz="2100">
              <a:solidFill>
                <a:schemeClr val="dk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8"/>
          <p:cNvSpPr txBox="1"/>
          <p:nvPr>
            <p:ph idx="1" type="subTitle"/>
          </p:nvPr>
        </p:nvSpPr>
        <p:spPr>
          <a:xfrm>
            <a:off x="343750" y="19827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100">
                <a:solidFill>
                  <a:schemeClr val="dk1"/>
                </a:solidFill>
                <a:latin typeface="Times New Roman"/>
                <a:ea typeface="Times New Roman"/>
                <a:cs typeface="Times New Roman"/>
                <a:sym typeface="Times New Roman"/>
              </a:rPr>
              <a:t>Progress</a:t>
            </a:r>
            <a:endParaRPr sz="4100">
              <a:solidFill>
                <a:schemeClr val="dk1"/>
              </a:solidFill>
              <a:latin typeface="Times New Roman"/>
              <a:ea typeface="Times New Roman"/>
              <a:cs typeface="Times New Roman"/>
              <a:sym typeface="Times New Roman"/>
            </a:endParaRPr>
          </a:p>
        </p:txBody>
      </p:sp>
      <p:sp>
        <p:nvSpPr>
          <p:cNvPr id="220" name="Google Shape;220;p38"/>
          <p:cNvSpPr txBox="1"/>
          <p:nvPr/>
        </p:nvSpPr>
        <p:spPr>
          <a:xfrm>
            <a:off x="312450" y="1161700"/>
            <a:ext cx="8520600" cy="326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1"/>
                </a:solidFill>
                <a:latin typeface="Times New Roman"/>
                <a:ea typeface="Times New Roman"/>
                <a:cs typeface="Times New Roman"/>
                <a:sym typeface="Times New Roman"/>
              </a:rPr>
              <a:t>Just like last week, we accomplished answering important questions that can help us understand and answer our questions better. </a:t>
            </a:r>
            <a:r>
              <a:rPr lang="en" sz="2000">
                <a:solidFill>
                  <a:schemeClr val="dk1"/>
                </a:solidFill>
                <a:latin typeface="Times New Roman"/>
                <a:ea typeface="Times New Roman"/>
                <a:cs typeface="Times New Roman"/>
                <a:sym typeface="Times New Roman"/>
              </a:rPr>
              <a:t>Some</a:t>
            </a:r>
            <a:r>
              <a:rPr lang="en" sz="2000">
                <a:solidFill>
                  <a:schemeClr val="dk1"/>
                </a:solidFill>
                <a:latin typeface="Times New Roman"/>
                <a:ea typeface="Times New Roman"/>
                <a:cs typeface="Times New Roman"/>
                <a:sym typeface="Times New Roman"/>
              </a:rPr>
              <a:t> obstacles we ran into was just figuring out how to answer the question when looking </a:t>
            </a:r>
            <a:r>
              <a:rPr lang="en" sz="2000">
                <a:solidFill>
                  <a:schemeClr val="dk1"/>
                </a:solidFill>
                <a:latin typeface="Times New Roman"/>
                <a:ea typeface="Times New Roman"/>
                <a:cs typeface="Times New Roman"/>
                <a:sym typeface="Times New Roman"/>
              </a:rPr>
              <a:t>to</a:t>
            </a:r>
            <a:r>
              <a:rPr lang="en" sz="2000">
                <a:solidFill>
                  <a:schemeClr val="dk1"/>
                </a:solidFill>
                <a:latin typeface="Times New Roman"/>
                <a:ea typeface="Times New Roman"/>
                <a:cs typeface="Times New Roman"/>
                <a:sym typeface="Times New Roman"/>
              </a:rPr>
              <a:t> compare two </a:t>
            </a:r>
            <a:r>
              <a:rPr lang="en" sz="2000">
                <a:solidFill>
                  <a:schemeClr val="dk1"/>
                </a:solidFill>
                <a:latin typeface="Times New Roman"/>
                <a:ea typeface="Times New Roman"/>
                <a:cs typeface="Times New Roman"/>
                <a:sym typeface="Times New Roman"/>
              </a:rPr>
              <a:t>items</a:t>
            </a:r>
            <a:r>
              <a:rPr lang="en" sz="2000">
                <a:solidFill>
                  <a:schemeClr val="dk1"/>
                </a:solidFill>
                <a:latin typeface="Times New Roman"/>
                <a:ea typeface="Times New Roman"/>
                <a:cs typeface="Times New Roman"/>
                <a:sym typeface="Times New Roman"/>
              </a:rPr>
              <a:t> in the table. Overall, there wasn’t many obstacles to overcome this week. We used jupyterhub to create our graphs to answer our questions. </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Times New Roman"/>
                <a:ea typeface="Times New Roman"/>
                <a:cs typeface="Times New Roman"/>
                <a:sym typeface="Times New Roman"/>
              </a:rPr>
              <a:t>Week 2</a:t>
            </a:r>
            <a:endParaRPr>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0"/>
          <p:cNvSpPr txBox="1"/>
          <p:nvPr/>
        </p:nvSpPr>
        <p:spPr>
          <a:xfrm>
            <a:off x="231075" y="141625"/>
            <a:ext cx="8408400" cy="67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4000">
                <a:solidFill>
                  <a:schemeClr val="dk1"/>
                </a:solidFill>
                <a:latin typeface="Times New Roman"/>
                <a:ea typeface="Times New Roman"/>
                <a:cs typeface="Times New Roman"/>
                <a:sym typeface="Times New Roman"/>
              </a:rPr>
              <a:t>Aria’s Mini Update</a:t>
            </a:r>
            <a:endParaRPr sz="4000">
              <a:solidFill>
                <a:schemeClr val="dk1"/>
              </a:solidFill>
              <a:latin typeface="Times New Roman"/>
              <a:ea typeface="Times New Roman"/>
              <a:cs typeface="Times New Roman"/>
              <a:sym typeface="Times New Roman"/>
            </a:endParaRPr>
          </a:p>
        </p:txBody>
      </p:sp>
      <p:pic>
        <p:nvPicPr>
          <p:cNvPr id="231" name="Google Shape;231;p40" title="Image 4-9-26 at 2.17 PM.jpeg"/>
          <p:cNvPicPr preferRelativeResize="0"/>
          <p:nvPr/>
        </p:nvPicPr>
        <p:blipFill>
          <a:blip r:embed="rId4">
            <a:alphaModFix/>
          </a:blip>
          <a:stretch>
            <a:fillRect/>
          </a:stretch>
        </p:blipFill>
        <p:spPr>
          <a:xfrm>
            <a:off x="6580375" y="4297750"/>
            <a:ext cx="2059099" cy="419818"/>
          </a:xfrm>
          <a:prstGeom prst="rect">
            <a:avLst/>
          </a:prstGeom>
          <a:noFill/>
          <a:ln>
            <a:noFill/>
          </a:ln>
        </p:spPr>
      </p:pic>
      <p:pic>
        <p:nvPicPr>
          <p:cNvPr id="232" name="Google Shape;232;p40" title="Image 4-9-26 at 2.18 PM.jpeg"/>
          <p:cNvPicPr preferRelativeResize="0"/>
          <p:nvPr/>
        </p:nvPicPr>
        <p:blipFill>
          <a:blip r:embed="rId5">
            <a:alphaModFix/>
          </a:blip>
          <a:stretch>
            <a:fillRect/>
          </a:stretch>
        </p:blipFill>
        <p:spPr>
          <a:xfrm>
            <a:off x="4424075" y="983875"/>
            <a:ext cx="4215398" cy="3313875"/>
          </a:xfrm>
          <a:prstGeom prst="rect">
            <a:avLst/>
          </a:prstGeom>
          <a:noFill/>
          <a:ln>
            <a:noFill/>
          </a:ln>
        </p:spPr>
      </p:pic>
      <p:sp>
        <p:nvSpPr>
          <p:cNvPr id="233" name="Google Shape;233;p40"/>
          <p:cNvSpPr txBox="1"/>
          <p:nvPr/>
        </p:nvSpPr>
        <p:spPr>
          <a:xfrm>
            <a:off x="283275" y="1036150"/>
            <a:ext cx="3794400" cy="363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Looking at this </a:t>
            </a:r>
            <a:r>
              <a:rPr lang="en" sz="1800">
                <a:solidFill>
                  <a:schemeClr val="dk1"/>
                </a:solidFill>
                <a:latin typeface="Times New Roman"/>
                <a:ea typeface="Times New Roman"/>
                <a:cs typeface="Times New Roman"/>
                <a:sym typeface="Times New Roman"/>
              </a:rPr>
              <a:t>bar chart</a:t>
            </a:r>
            <a:r>
              <a:rPr lang="en" sz="1800">
                <a:solidFill>
                  <a:schemeClr val="dk1"/>
                </a:solidFill>
                <a:latin typeface="Times New Roman"/>
                <a:ea typeface="Times New Roman"/>
                <a:cs typeface="Times New Roman"/>
                <a:sym typeface="Times New Roman"/>
              </a:rPr>
              <a:t>, you can tell there were multiple ratings for different genres and we wanted to find the average rating of each genre and see which was the </a:t>
            </a:r>
            <a:r>
              <a:rPr lang="en" sz="1800">
                <a:solidFill>
                  <a:schemeClr val="dk1"/>
                </a:solidFill>
                <a:latin typeface="Times New Roman"/>
                <a:ea typeface="Times New Roman"/>
                <a:cs typeface="Times New Roman"/>
                <a:sym typeface="Times New Roman"/>
              </a:rPr>
              <a:t>highest</a:t>
            </a:r>
            <a:r>
              <a:rPr lang="en" sz="1800">
                <a:solidFill>
                  <a:schemeClr val="dk1"/>
                </a:solidFill>
                <a:latin typeface="Times New Roman"/>
                <a:ea typeface="Times New Roman"/>
                <a:cs typeface="Times New Roman"/>
                <a:sym typeface="Times New Roman"/>
              </a:rPr>
              <a:t> rating. This is not all of the ratings because there were </a:t>
            </a:r>
            <a:r>
              <a:rPr lang="en" sz="1800">
                <a:solidFill>
                  <a:schemeClr val="dk1"/>
                </a:solidFill>
                <a:latin typeface="Times New Roman"/>
                <a:ea typeface="Times New Roman"/>
                <a:cs typeface="Times New Roman"/>
                <a:sym typeface="Times New Roman"/>
              </a:rPr>
              <a:t>too</a:t>
            </a:r>
            <a:r>
              <a:rPr lang="en" sz="1800">
                <a:solidFill>
                  <a:schemeClr val="dk1"/>
                </a:solidFill>
                <a:latin typeface="Times New Roman"/>
                <a:ea typeface="Times New Roman"/>
                <a:cs typeface="Times New Roman"/>
                <a:sym typeface="Times New Roman"/>
              </a:rPr>
              <a:t> many </a:t>
            </a:r>
            <a:r>
              <a:rPr lang="en" sz="1800">
                <a:solidFill>
                  <a:schemeClr val="dk1"/>
                </a:solidFill>
                <a:latin typeface="Times New Roman"/>
                <a:ea typeface="Times New Roman"/>
                <a:cs typeface="Times New Roman"/>
                <a:sym typeface="Times New Roman"/>
              </a:rPr>
              <a:t>genres</a:t>
            </a:r>
            <a:r>
              <a:rPr lang="en" sz="1800">
                <a:solidFill>
                  <a:schemeClr val="dk1"/>
                </a:solidFill>
                <a:latin typeface="Times New Roman"/>
                <a:ea typeface="Times New Roman"/>
                <a:cs typeface="Times New Roman"/>
                <a:sym typeface="Times New Roman"/>
              </a:rPr>
              <a:t> to fit into this slide but this is what I was able to use to figure out the average ratings of each genre. I think this data should be included in the data story since it is one our questions. </a:t>
            </a:r>
            <a:endParaRPr sz="18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1"/>
          <p:cNvSpPr txBox="1"/>
          <p:nvPr/>
        </p:nvSpPr>
        <p:spPr>
          <a:xfrm>
            <a:off x="231075" y="141625"/>
            <a:ext cx="8408400" cy="67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4000">
                <a:solidFill>
                  <a:schemeClr val="dk1"/>
                </a:solidFill>
                <a:latin typeface="Times New Roman"/>
                <a:ea typeface="Times New Roman"/>
                <a:cs typeface="Times New Roman"/>
                <a:sym typeface="Times New Roman"/>
              </a:rPr>
              <a:t>Casey’s Mini-Update 1</a:t>
            </a:r>
            <a:endParaRPr sz="4000">
              <a:solidFill>
                <a:schemeClr val="dk1"/>
              </a:solidFill>
              <a:latin typeface="Times New Roman"/>
              <a:ea typeface="Times New Roman"/>
              <a:cs typeface="Times New Roman"/>
              <a:sym typeface="Times New Roman"/>
            </a:endParaRPr>
          </a:p>
        </p:txBody>
      </p:sp>
      <p:sp>
        <p:nvSpPr>
          <p:cNvPr id="239" name="Google Shape;239;p41"/>
          <p:cNvSpPr txBox="1"/>
          <p:nvPr/>
        </p:nvSpPr>
        <p:spPr>
          <a:xfrm>
            <a:off x="283275" y="1036150"/>
            <a:ext cx="5433900" cy="363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Most games with over 10,000 plays fall between a 3.5 and 4.5 rating. The lowest rated game in the dataset, Superman: The New Superman Adventures, usually referred to as Superman 64, has a rating of 0.7 and 859 plays. The highest rated game is Elden Ring: Shadow of the Erdtree, with a rating of 4.8 and </a:t>
            </a:r>
            <a:r>
              <a:rPr lang="en" sz="1800">
                <a:solidFill>
                  <a:schemeClr val="dk1"/>
                </a:solidFill>
                <a:latin typeface="Times New Roman"/>
                <a:ea typeface="Times New Roman"/>
                <a:cs typeface="Times New Roman"/>
                <a:sym typeface="Times New Roman"/>
              </a:rPr>
              <a:t>1 play</a:t>
            </a:r>
            <a:r>
              <a:rPr lang="en" sz="1800">
                <a:solidFill>
                  <a:schemeClr val="dk1"/>
                </a:solidFill>
                <a:latin typeface="Times New Roman"/>
                <a:ea typeface="Times New Roman"/>
                <a:cs typeface="Times New Roman"/>
                <a:sym typeface="Times New Roman"/>
              </a:rPr>
              <a:t>. </a:t>
            </a:r>
            <a:r>
              <a:rPr lang="en" sz="1800">
                <a:solidFill>
                  <a:schemeClr val="dk1"/>
                </a:solidFill>
                <a:latin typeface="Times New Roman"/>
                <a:ea typeface="Times New Roman"/>
                <a:cs typeface="Times New Roman"/>
                <a:sym typeface="Times New Roman"/>
              </a:rPr>
              <a:t>This seems like inaccurate data, and the dataset lists the game as not yet having a release date at the time the data was recorded</a:t>
            </a:r>
            <a:r>
              <a:rPr lang="en" sz="1800">
                <a:solidFill>
                  <a:schemeClr val="dk1"/>
                </a:solidFill>
                <a:latin typeface="Times New Roman"/>
                <a:ea typeface="Times New Roman"/>
                <a:cs typeface="Times New Roman"/>
                <a:sym typeface="Times New Roman"/>
              </a:rPr>
              <a:t>. Many games are tied for the second highest rated with ratings of 4.6. Out of these, Outer Wilds has the highest number of plays at 7.7k. </a:t>
            </a:r>
            <a:r>
              <a:rPr lang="en" sz="1800">
                <a:solidFill>
                  <a:schemeClr val="dk1"/>
                </a:solidFill>
                <a:latin typeface="Times New Roman"/>
                <a:ea typeface="Times New Roman"/>
                <a:cs typeface="Times New Roman"/>
                <a:sym typeface="Times New Roman"/>
              </a:rPr>
              <a:t>Outside of the outlier caused by poor data quality, this data supports the idea that games that are well received are more popular than those that are poorly recieved. </a:t>
            </a:r>
            <a:endParaRPr sz="1800">
              <a:solidFill>
                <a:schemeClr val="dk1"/>
              </a:solidFill>
              <a:latin typeface="Times New Roman"/>
              <a:ea typeface="Times New Roman"/>
              <a:cs typeface="Times New Roman"/>
              <a:sym typeface="Times New Roman"/>
            </a:endParaRPr>
          </a:p>
        </p:txBody>
      </p:sp>
      <p:pic>
        <p:nvPicPr>
          <p:cNvPr id="240" name="Google Shape;240;p41"/>
          <p:cNvPicPr preferRelativeResize="0"/>
          <p:nvPr/>
        </p:nvPicPr>
        <p:blipFill>
          <a:blip r:embed="rId4">
            <a:alphaModFix/>
          </a:blip>
          <a:stretch>
            <a:fillRect/>
          </a:stretch>
        </p:blipFill>
        <p:spPr>
          <a:xfrm>
            <a:off x="5959200" y="957950"/>
            <a:ext cx="3808405" cy="370849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2"/>
          <p:cNvSpPr txBox="1"/>
          <p:nvPr/>
        </p:nvSpPr>
        <p:spPr>
          <a:xfrm>
            <a:off x="231075" y="141625"/>
            <a:ext cx="8408400" cy="67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4000">
                <a:solidFill>
                  <a:schemeClr val="dk1"/>
                </a:solidFill>
                <a:latin typeface="Times New Roman"/>
                <a:ea typeface="Times New Roman"/>
                <a:cs typeface="Times New Roman"/>
                <a:sym typeface="Times New Roman"/>
              </a:rPr>
              <a:t>Casey’s Mini-Update 2</a:t>
            </a:r>
            <a:endParaRPr sz="4000">
              <a:solidFill>
                <a:schemeClr val="dk1"/>
              </a:solidFill>
              <a:latin typeface="Times New Roman"/>
              <a:ea typeface="Times New Roman"/>
              <a:cs typeface="Times New Roman"/>
              <a:sym typeface="Times New Roman"/>
            </a:endParaRPr>
          </a:p>
        </p:txBody>
      </p:sp>
      <p:sp>
        <p:nvSpPr>
          <p:cNvPr id="246" name="Google Shape;246;p42"/>
          <p:cNvSpPr txBox="1"/>
          <p:nvPr/>
        </p:nvSpPr>
        <p:spPr>
          <a:xfrm>
            <a:off x="283275" y="1036150"/>
            <a:ext cx="5269500" cy="363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Number of plays has a strong correlation with number of reviews. It makes sense for this to be the case, since if more people have played a game, there are more people who may want to leave a review for it. Similarly, games with higher ratings tend to have more </a:t>
            </a:r>
            <a:r>
              <a:rPr lang="en" sz="1800">
                <a:solidFill>
                  <a:schemeClr val="dk1"/>
                </a:solidFill>
                <a:latin typeface="Times New Roman"/>
                <a:ea typeface="Times New Roman"/>
                <a:cs typeface="Times New Roman"/>
                <a:sym typeface="Times New Roman"/>
              </a:rPr>
              <a:t>reviews</a:t>
            </a:r>
            <a:r>
              <a:rPr lang="en" sz="1800">
                <a:solidFill>
                  <a:schemeClr val="dk1"/>
                </a:solidFill>
                <a:latin typeface="Times New Roman"/>
                <a:ea typeface="Times New Roman"/>
                <a:cs typeface="Times New Roman"/>
                <a:sym typeface="Times New Roman"/>
              </a:rPr>
              <a:t>. This could either mean that people are more likely to leave reviews for games that they like than games they dislike. It’s also possible that well-recieved games </a:t>
            </a:r>
            <a:r>
              <a:rPr lang="en" sz="1800">
                <a:solidFill>
                  <a:schemeClr val="dk1"/>
                </a:solidFill>
                <a:latin typeface="Times New Roman"/>
                <a:ea typeface="Times New Roman"/>
                <a:cs typeface="Times New Roman"/>
                <a:sym typeface="Times New Roman"/>
              </a:rPr>
              <a:t>receive</a:t>
            </a:r>
            <a:r>
              <a:rPr lang="en" sz="1800">
                <a:solidFill>
                  <a:schemeClr val="dk1"/>
                </a:solidFill>
                <a:latin typeface="Times New Roman"/>
                <a:ea typeface="Times New Roman"/>
                <a:cs typeface="Times New Roman"/>
                <a:sym typeface="Times New Roman"/>
              </a:rPr>
              <a:t> more reviews because they are more popular.</a:t>
            </a:r>
            <a:endParaRPr sz="1800">
              <a:solidFill>
                <a:schemeClr val="dk1"/>
              </a:solidFill>
              <a:latin typeface="Times New Roman"/>
              <a:ea typeface="Times New Roman"/>
              <a:cs typeface="Times New Roman"/>
              <a:sym typeface="Times New Roman"/>
            </a:endParaRPr>
          </a:p>
        </p:txBody>
      </p:sp>
      <p:pic>
        <p:nvPicPr>
          <p:cNvPr id="247" name="Google Shape;247;p42"/>
          <p:cNvPicPr preferRelativeResize="0"/>
          <p:nvPr/>
        </p:nvPicPr>
        <p:blipFill>
          <a:blip r:embed="rId4">
            <a:alphaModFix/>
          </a:blip>
          <a:stretch>
            <a:fillRect/>
          </a:stretch>
        </p:blipFill>
        <p:spPr>
          <a:xfrm>
            <a:off x="6219400" y="1036150"/>
            <a:ext cx="2265650" cy="2014275"/>
          </a:xfrm>
          <a:prstGeom prst="rect">
            <a:avLst/>
          </a:prstGeom>
          <a:noFill/>
          <a:ln>
            <a:noFill/>
          </a:ln>
        </p:spPr>
      </p:pic>
      <p:pic>
        <p:nvPicPr>
          <p:cNvPr id="248" name="Google Shape;248;p42"/>
          <p:cNvPicPr preferRelativeResize="0"/>
          <p:nvPr/>
        </p:nvPicPr>
        <p:blipFill>
          <a:blip r:embed="rId5">
            <a:alphaModFix/>
          </a:blip>
          <a:stretch>
            <a:fillRect/>
          </a:stretch>
        </p:blipFill>
        <p:spPr>
          <a:xfrm>
            <a:off x="6219400" y="3050425"/>
            <a:ext cx="2265650" cy="1981177"/>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3"/>
          <p:cNvSpPr txBox="1"/>
          <p:nvPr/>
        </p:nvSpPr>
        <p:spPr>
          <a:xfrm>
            <a:off x="231075" y="141625"/>
            <a:ext cx="8408400" cy="67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4000">
                <a:solidFill>
                  <a:schemeClr val="dk1"/>
                </a:solidFill>
                <a:latin typeface="Times New Roman"/>
                <a:ea typeface="Times New Roman"/>
                <a:cs typeface="Times New Roman"/>
                <a:sym typeface="Times New Roman"/>
              </a:rPr>
              <a:t>Camila’s</a:t>
            </a:r>
            <a:r>
              <a:rPr lang="en" sz="4000">
                <a:solidFill>
                  <a:schemeClr val="dk1"/>
                </a:solidFill>
                <a:latin typeface="Times New Roman"/>
                <a:ea typeface="Times New Roman"/>
                <a:cs typeface="Times New Roman"/>
                <a:sym typeface="Times New Roman"/>
              </a:rPr>
              <a:t> Mini Update</a:t>
            </a:r>
            <a:endParaRPr sz="4000">
              <a:solidFill>
                <a:schemeClr val="dk1"/>
              </a:solidFill>
              <a:latin typeface="Times New Roman"/>
              <a:ea typeface="Times New Roman"/>
              <a:cs typeface="Times New Roman"/>
              <a:sym typeface="Times New Roman"/>
            </a:endParaRPr>
          </a:p>
        </p:txBody>
      </p:sp>
      <p:sp>
        <p:nvSpPr>
          <p:cNvPr id="254" name="Google Shape;254;p43"/>
          <p:cNvSpPr txBox="1"/>
          <p:nvPr/>
        </p:nvSpPr>
        <p:spPr>
          <a:xfrm>
            <a:off x="283275" y="1036150"/>
            <a:ext cx="5042700" cy="363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This week I chose to answer the question “Which genres are the most popular among players?” I made a</a:t>
            </a:r>
            <a:r>
              <a:rPr lang="en" sz="1800">
                <a:solidFill>
                  <a:schemeClr val="dk1"/>
                </a:solidFill>
                <a:latin typeface="Times New Roman"/>
                <a:ea typeface="Times New Roman"/>
                <a:cs typeface="Times New Roman"/>
                <a:sym typeface="Times New Roman"/>
              </a:rPr>
              <a:t> graph to answer this. In the visual, adventure takes first place with over 1000 games, and pinball comes last. RPG, shooter, and platform are also popular with 300~600 games. Most if not all games have multiple genres in their description and adventures shows up the most.</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pic>
        <p:nvPicPr>
          <p:cNvPr id="255" name="Google Shape;255;p43" title="Screenshot 2026-04-12 at 10.57.12 PM.png"/>
          <p:cNvPicPr preferRelativeResize="0"/>
          <p:nvPr/>
        </p:nvPicPr>
        <p:blipFill>
          <a:blip r:embed="rId4">
            <a:alphaModFix/>
          </a:blip>
          <a:stretch>
            <a:fillRect/>
          </a:stretch>
        </p:blipFill>
        <p:spPr>
          <a:xfrm>
            <a:off x="5730950" y="1036150"/>
            <a:ext cx="3034301" cy="39630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4"/>
          <p:cNvSpPr txBox="1"/>
          <p:nvPr>
            <p:ph idx="1" type="subTitle"/>
          </p:nvPr>
        </p:nvSpPr>
        <p:spPr>
          <a:xfrm>
            <a:off x="311700" y="2383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solidFill>
                  <a:schemeClr val="dk1"/>
                </a:solidFill>
                <a:latin typeface="Times New Roman"/>
                <a:ea typeface="Times New Roman"/>
                <a:cs typeface="Times New Roman"/>
                <a:sym typeface="Times New Roman"/>
              </a:rPr>
              <a:t>Progress</a:t>
            </a:r>
            <a:endParaRPr b="1">
              <a:solidFill>
                <a:schemeClr val="dk1"/>
              </a:solidFill>
              <a:latin typeface="Times New Roman"/>
              <a:ea typeface="Times New Roman"/>
              <a:cs typeface="Times New Roman"/>
              <a:sym typeface="Times New Roman"/>
            </a:endParaRPr>
          </a:p>
        </p:txBody>
      </p:sp>
      <p:sp>
        <p:nvSpPr>
          <p:cNvPr id="261" name="Google Shape;261;p44"/>
          <p:cNvSpPr txBox="1"/>
          <p:nvPr/>
        </p:nvSpPr>
        <p:spPr>
          <a:xfrm>
            <a:off x="456675" y="1089600"/>
            <a:ext cx="8235900" cy="364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We have accomplished answering some of the questions this week which was our goal and we were successful in getting the answers for our questions. The plan for next week is to answer more of the questions but also start looking at patterns and similarities. An obstacle is probably the large amount of data but so far we haven’t had any trouble with the questions so far. We have used </a:t>
            </a:r>
            <a:r>
              <a:rPr lang="en" sz="1800">
                <a:solidFill>
                  <a:schemeClr val="dk1"/>
                </a:solidFill>
                <a:latin typeface="Times New Roman"/>
                <a:ea typeface="Times New Roman"/>
                <a:cs typeface="Times New Roman"/>
                <a:sym typeface="Times New Roman"/>
              </a:rPr>
              <a:t>jupyterhub</a:t>
            </a:r>
            <a:r>
              <a:rPr lang="en" sz="1800">
                <a:solidFill>
                  <a:schemeClr val="dk1"/>
                </a:solidFill>
                <a:latin typeface="Times New Roman"/>
                <a:ea typeface="Times New Roman"/>
                <a:cs typeface="Times New Roman"/>
                <a:sym typeface="Times New Roman"/>
              </a:rPr>
              <a:t> to write the codes to actually figure out </a:t>
            </a:r>
            <a:r>
              <a:rPr lang="en" sz="1800">
                <a:solidFill>
                  <a:schemeClr val="dk1"/>
                </a:solidFill>
                <a:latin typeface="Times New Roman"/>
                <a:ea typeface="Times New Roman"/>
                <a:cs typeface="Times New Roman"/>
                <a:sym typeface="Times New Roman"/>
              </a:rPr>
              <a:t>the</a:t>
            </a:r>
            <a:r>
              <a:rPr lang="en" sz="1800">
                <a:solidFill>
                  <a:schemeClr val="dk1"/>
                </a:solidFill>
                <a:latin typeface="Times New Roman"/>
                <a:ea typeface="Times New Roman"/>
                <a:cs typeface="Times New Roman"/>
                <a:sym typeface="Times New Roman"/>
              </a:rPr>
              <a:t> answers to our questions.</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Times New Roman"/>
                <a:ea typeface="Times New Roman"/>
                <a:cs typeface="Times New Roman"/>
                <a:sym typeface="Times New Roman"/>
              </a:rPr>
              <a:t>Week 1</a:t>
            </a:r>
            <a:endParaRPr>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Dataset Information</a:t>
            </a:r>
            <a:endParaRPr>
              <a:latin typeface="Times New Roman"/>
              <a:ea typeface="Times New Roman"/>
              <a:cs typeface="Times New Roman"/>
              <a:sym typeface="Times New Roman"/>
            </a:endParaRPr>
          </a:p>
        </p:txBody>
      </p:sp>
      <p:sp>
        <p:nvSpPr>
          <p:cNvPr id="272" name="Google Shape;272;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1512 Rows</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14 Columns</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The “Team,” “Genres,” and “Reviews” columns contain multiple column </a:t>
            </a:r>
            <a:r>
              <a:rPr lang="en">
                <a:solidFill>
                  <a:schemeClr val="dk1"/>
                </a:solidFill>
                <a:latin typeface="Times New Roman"/>
                <a:ea typeface="Times New Roman"/>
                <a:cs typeface="Times New Roman"/>
                <a:sym typeface="Times New Roman"/>
              </a:rPr>
              <a:t>delimited</a:t>
            </a:r>
            <a:r>
              <a:rPr lang="en">
                <a:solidFill>
                  <a:schemeClr val="dk1"/>
                </a:solidFill>
                <a:latin typeface="Times New Roman"/>
                <a:ea typeface="Times New Roman"/>
                <a:cs typeface="Times New Roman"/>
                <a:sym typeface="Times New Roman"/>
              </a:rPr>
              <a:t> strings. To gather useful data about these attributes, it will be necessary to perform operations on the data. The “Reviews” column will likely not be useful, so cleaning it is unnecessary.</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Column Analysis pt.1</a:t>
            </a:r>
            <a:endParaRPr>
              <a:latin typeface="Times New Roman"/>
              <a:ea typeface="Times New Roman"/>
              <a:cs typeface="Times New Roman"/>
              <a:sym typeface="Times New Roman"/>
            </a:endParaRPr>
          </a:p>
        </p:txBody>
      </p:sp>
      <p:graphicFrame>
        <p:nvGraphicFramePr>
          <p:cNvPr id="278" name="Google Shape;278;p47"/>
          <p:cNvGraphicFramePr/>
          <p:nvPr/>
        </p:nvGraphicFramePr>
        <p:xfrm>
          <a:off x="497250" y="1340466"/>
          <a:ext cx="3000000" cy="3000000"/>
        </p:xfrm>
        <a:graphic>
          <a:graphicData uri="http://schemas.openxmlformats.org/drawingml/2006/table">
            <a:tbl>
              <a:tblPr>
                <a:noFill/>
                <a:tableStyleId>{7587972E-C36D-4F4E-B7A7-D9FAC97B67C5}</a:tableStyleId>
              </a:tblPr>
              <a:tblGrid>
                <a:gridCol w="2466900"/>
                <a:gridCol w="1301800"/>
                <a:gridCol w="2066025"/>
                <a:gridCol w="755200"/>
                <a:gridCol w="1602950"/>
              </a:tblGrid>
              <a:tr h="381000">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Column Name</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Has missing value?</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Data type (discrete or number or free text)</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Useful?</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Needs cleaning or processing?</a:t>
                      </a:r>
                      <a:endParaRPr b="1">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
                          <a:latin typeface="Times New Roman"/>
                          <a:ea typeface="Times New Roman"/>
                          <a:cs typeface="Times New Roman"/>
                          <a:sym typeface="Times New Roman"/>
                        </a:rPr>
                        <a:t>Untitled (Row Number)</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No</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Discrete</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No</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No</a:t>
                      </a:r>
                      <a:endParaRPr>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
                          <a:latin typeface="Times New Roman"/>
                          <a:ea typeface="Times New Roman"/>
                          <a:cs typeface="Times New Roman"/>
                          <a:sym typeface="Times New Roman"/>
                        </a:rPr>
                        <a:t>Title</a:t>
                      </a:r>
                      <a:endParaRPr>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No</a:t>
                      </a:r>
                      <a:endParaRPr>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Free Text</a:t>
                      </a:r>
                      <a:endParaRPr>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Yes</a:t>
                      </a:r>
                      <a:endParaRPr>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No</a:t>
                      </a:r>
                      <a:endParaRPr>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latin typeface="Times New Roman"/>
                          <a:ea typeface="Times New Roman"/>
                          <a:cs typeface="Times New Roman"/>
                          <a:sym typeface="Times New Roman"/>
                        </a:rPr>
                        <a:t>Release Date</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No</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Number</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Yes</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Yes</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latin typeface="Times New Roman"/>
                          <a:ea typeface="Times New Roman"/>
                          <a:cs typeface="Times New Roman"/>
                          <a:sym typeface="Times New Roman"/>
                        </a:rPr>
                        <a:t>Team</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No</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Free Text</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Yes</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Yes</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latin typeface="Times New Roman"/>
                          <a:ea typeface="Times New Roman"/>
                          <a:cs typeface="Times New Roman"/>
                          <a:sym typeface="Times New Roman"/>
                        </a:rPr>
                        <a:t>Rating</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No</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Number</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Yes</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No</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latin typeface="Times New Roman"/>
                          <a:ea typeface="Times New Roman"/>
                          <a:cs typeface="Times New Roman"/>
                          <a:sym typeface="Times New Roman"/>
                        </a:rPr>
                        <a:t>Times Listed</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No</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Discrete</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Yes</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No</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latin typeface="Times New Roman"/>
                          <a:ea typeface="Times New Roman"/>
                          <a:cs typeface="Times New Roman"/>
                          <a:sym typeface="Times New Roman"/>
                        </a:rPr>
                        <a:t>Number of Reviews</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No</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Discrete</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Yes</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No</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Column Analysis pt. 2</a:t>
            </a:r>
            <a:endParaRPr>
              <a:latin typeface="Times New Roman"/>
              <a:ea typeface="Times New Roman"/>
              <a:cs typeface="Times New Roman"/>
              <a:sym typeface="Times New Roman"/>
            </a:endParaRPr>
          </a:p>
        </p:txBody>
      </p:sp>
      <p:graphicFrame>
        <p:nvGraphicFramePr>
          <p:cNvPr id="284" name="Google Shape;284;p48"/>
          <p:cNvGraphicFramePr/>
          <p:nvPr/>
        </p:nvGraphicFramePr>
        <p:xfrm>
          <a:off x="497250" y="1340466"/>
          <a:ext cx="3000000" cy="3000000"/>
        </p:xfrm>
        <a:graphic>
          <a:graphicData uri="http://schemas.openxmlformats.org/drawingml/2006/table">
            <a:tbl>
              <a:tblPr>
                <a:noFill/>
                <a:tableStyleId>{7587972E-C36D-4F4E-B7A7-D9FAC97B67C5}</a:tableStyleId>
              </a:tblPr>
              <a:tblGrid>
                <a:gridCol w="2466900"/>
                <a:gridCol w="1301800"/>
                <a:gridCol w="2066025"/>
                <a:gridCol w="755200"/>
                <a:gridCol w="1602950"/>
              </a:tblGrid>
              <a:tr h="381000">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Column Name</a:t>
                      </a:r>
                      <a:endParaRPr b="1">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Has missing value?</a:t>
                      </a:r>
                      <a:endParaRPr b="1">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Data type (discrete or number or free text)</a:t>
                      </a:r>
                      <a:endParaRPr b="1">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Useful?</a:t>
                      </a:r>
                      <a:endParaRPr b="1">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Needs cleaning or processing?</a:t>
                      </a:r>
                      <a:endParaRPr b="1">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latin typeface="Times New Roman"/>
                          <a:ea typeface="Times New Roman"/>
                          <a:cs typeface="Times New Roman"/>
                          <a:sym typeface="Times New Roman"/>
                        </a:rPr>
                        <a:t>Genres</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No</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Free Text</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Yes</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Yes</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46325">
                <a:tc>
                  <a:txBody>
                    <a:bodyPr/>
                    <a:lstStyle/>
                    <a:p>
                      <a:pPr indent="0" lvl="0" marL="0" rtl="0" algn="l">
                        <a:spcBef>
                          <a:spcPts val="0"/>
                        </a:spcBef>
                        <a:spcAft>
                          <a:spcPts val="0"/>
                        </a:spcAft>
                        <a:buNone/>
                      </a:pPr>
                      <a:r>
                        <a:rPr lang="en">
                          <a:latin typeface="Times New Roman"/>
                          <a:ea typeface="Times New Roman"/>
                          <a:cs typeface="Times New Roman"/>
                          <a:sym typeface="Times New Roman"/>
                        </a:rPr>
                        <a:t>Summary</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No</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Free Text</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No</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No</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latin typeface="Times New Roman"/>
                          <a:ea typeface="Times New Roman"/>
                          <a:cs typeface="Times New Roman"/>
                          <a:sym typeface="Times New Roman"/>
                        </a:rPr>
                        <a:t>Reviews</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No</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Free Text</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No</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No</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latin typeface="Times New Roman"/>
                          <a:ea typeface="Times New Roman"/>
                          <a:cs typeface="Times New Roman"/>
                          <a:sym typeface="Times New Roman"/>
                        </a:rPr>
                        <a:t>Plays</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No</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Discrete</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Yes</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Yes</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latin typeface="Times New Roman"/>
                          <a:ea typeface="Times New Roman"/>
                          <a:cs typeface="Times New Roman"/>
                          <a:sym typeface="Times New Roman"/>
                        </a:rPr>
                        <a:t>Playing</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No</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Discrete</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Yes</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No</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latin typeface="Times New Roman"/>
                          <a:ea typeface="Times New Roman"/>
                          <a:cs typeface="Times New Roman"/>
                          <a:sym typeface="Times New Roman"/>
                        </a:rPr>
                        <a:t>Backlogs</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No</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Discrete</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Yes</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No</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latin typeface="Times New Roman"/>
                          <a:ea typeface="Times New Roman"/>
                          <a:cs typeface="Times New Roman"/>
                          <a:sym typeface="Times New Roman"/>
                        </a:rPr>
                        <a:t>Wishlist</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No</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Discrete</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Yes</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No</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Potential Questions</a:t>
            </a:r>
            <a:r>
              <a:rPr lang="en"/>
              <a:t> </a:t>
            </a:r>
            <a:endParaRPr/>
          </a:p>
        </p:txBody>
      </p:sp>
      <p:sp>
        <p:nvSpPr>
          <p:cNvPr id="290" name="Google Shape;290;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Which genres have the highest average ratings?</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Which genres are the most popular among players?</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Which genres have the greatest disparity between player count and ratings?</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Which genres have the lowest and highest difference between player count and review count?</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How does rating correlate with player count?</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Does number of backlogs correlate more closely with popularity or with rating?</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Which genres have the </a:t>
            </a:r>
            <a:r>
              <a:rPr lang="en">
                <a:solidFill>
                  <a:schemeClr val="dk1"/>
                </a:solidFill>
                <a:latin typeface="Times New Roman"/>
                <a:ea typeface="Times New Roman"/>
                <a:cs typeface="Times New Roman"/>
                <a:sym typeface="Times New Roman"/>
              </a:rPr>
              <a:t>highest</a:t>
            </a:r>
            <a:r>
              <a:rPr lang="en">
                <a:solidFill>
                  <a:schemeClr val="dk1"/>
                </a:solidFill>
                <a:latin typeface="Times New Roman"/>
                <a:ea typeface="Times New Roman"/>
                <a:cs typeface="Times New Roman"/>
                <a:sym typeface="Times New Roman"/>
              </a:rPr>
              <a:t> proportion of backlogs compared to plays?</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latin typeface="Times New Roman"/>
                <a:ea typeface="Times New Roman"/>
                <a:cs typeface="Times New Roman"/>
                <a:sym typeface="Times New Roman"/>
              </a:rPr>
              <a:t>The intended audience for our analysis will be people who play video games. Our goal will be to inform and possibly change perspectives on genres and potentially encourage people who play video games to step outside their comfort zones and try unfamiliar genres of games.</a:t>
            </a:r>
            <a:endParaRPr>
              <a:solidFill>
                <a:schemeClr val="dk1"/>
              </a:solidFill>
              <a:latin typeface="Times New Roman"/>
              <a:ea typeface="Times New Roman"/>
              <a:cs typeface="Times New Roman"/>
              <a:sym typeface="Times New Roman"/>
            </a:endParaRPr>
          </a:p>
        </p:txBody>
      </p:sp>
      <p:sp>
        <p:nvSpPr>
          <p:cNvPr id="296" name="Google Shape;296;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Audience &amp; Goals</a:t>
            </a:r>
            <a:endParaRPr>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