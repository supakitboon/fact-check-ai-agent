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Karen Chen"/>
  <p:cmAuthor clrIdx="1" id="1" initials="" lastIdx="1" name="Oluwanifemi Arowolo"/>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BBA4F8B-ACAD-4F70-8473-5142660719E3}">
  <a:tblStyle styleId="{CBBA4F8B-ACAD-4F70-8473-5142660719E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08T04:18:00.972">
    <p:pos x="196" y="428"/>
    <p:text>good start, with project evolve, you will consider more questions</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15T03:16:27.879">
    <p:pos x="2212" y="296"/>
    <p:text>do you use python data science package to generated those plot?</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4-21T20:32:16.208">
    <p:pos x="2524" y="641"/>
    <p:text>better to show as a plot</p:text>
  </p:cm>
  <p:cm authorId="1" idx="1" dt="2026-04-21T20:32:16.208">
    <p:pos x="2524" y="641"/>
    <p:text>i've updated the plot below (it's now sorted too)</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4-15T03:18:33.846">
    <p:pos x="196" y="809"/>
    <p:text>do you have any obstacles? follow the prompts for your reflection, great job overall!</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4-21T04:53:31.394">
    <p:pos x="196" y="69"/>
    <p:text>@oarowol1@umbc.edu where is your update for this week? also, can you address my questions?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96dc365e4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96dc365e4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58c9b20c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58c9b20c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58c9b20c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58c9b20c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d58c9b20c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d58c9b20c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d58c9b20c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d58c9b20c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58c9b20c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58c9b20c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58c9b20c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d58c9b20c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d58c9b20c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d58c9b20c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58c9b20c0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d58c9b20c0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977247f0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977247f0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77247f0e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977247f0e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8fd1686be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8fd1686be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8fd1686b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d8fd1686b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97f93816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d97f9381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d97f93816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d97f93816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97f93816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d97f93816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d97f93816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d97f93816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dbcf12fab2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dbcf12fab2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dbcf12fab2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dbcf12fab2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bcf12fab2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dbcf12fab2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dbbc7c50c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dbbc7c50c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GB" sz="1123">
                <a:solidFill>
                  <a:srgbClr val="595959"/>
                </a:solidFill>
              </a:rPr>
              <a:t>Try adding the personal relations to the beginning of the story and take out all the (my story is about) it distracts people from the story and make the first sentence something everyone can relate to. Like a “have you ever?” “I have” kinda </a:t>
            </a:r>
            <a:r>
              <a:rPr lang="en-GB" sz="1123">
                <a:solidFill>
                  <a:srgbClr val="595959"/>
                </a:solidFill>
              </a:rPr>
              <a:t>beginning</a:t>
            </a:r>
            <a:r>
              <a:rPr lang="en-GB" sz="1123">
                <a:solidFill>
                  <a:srgbClr val="595959"/>
                </a:solidFill>
              </a:rPr>
              <a:t> (draw your listeners in). You can also add how different occupations play a role in stress levels and maybe find a solution even if you can’t plot a graph. Also maybe add a ‘how less sleep makes me feel like i’m out of my body and watching myself perform tasks as habits not as me actually doing things’.</a:t>
            </a:r>
            <a:endParaRPr sz="1123">
              <a:solidFill>
                <a:srgbClr val="595959"/>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comments" Target="../comments/comment2.xml"/><Relationship Id="rId4" Type="http://schemas.openxmlformats.org/officeDocument/2006/relationships/image" Target="../media/image2.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comments" Target="../comments/comment3.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comments" Target="../comments/commen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comments" Target="../comments/comment5.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Curious Questions</a:t>
            </a:r>
            <a:endParaRPr/>
          </a:p>
          <a:p>
            <a:pPr indent="0" lvl="0" marL="0" rtl="0" algn="l">
              <a:spcBef>
                <a:spcPts val="0"/>
              </a:spcBef>
              <a:spcAft>
                <a:spcPts val="0"/>
              </a:spcAft>
              <a:buNone/>
            </a:pPr>
            <a:r>
              <a:t/>
            </a:r>
            <a:endParaRPr/>
          </a:p>
        </p:txBody>
      </p:sp>
      <p:sp>
        <p:nvSpPr>
          <p:cNvPr id="55" name="Google Shape;55;p13"/>
          <p:cNvSpPr txBox="1"/>
          <p:nvPr>
            <p:ph idx="1" type="body"/>
          </p:nvPr>
        </p:nvSpPr>
        <p:spPr>
          <a:xfrm>
            <a:off x="311700" y="6803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t/>
            </a:r>
            <a:endParaRPr sz="1700">
              <a:solidFill>
                <a:schemeClr val="dk1"/>
              </a:solidFill>
            </a:endParaRPr>
          </a:p>
          <a:p>
            <a:pPr indent="-336550" lvl="0" marL="457200" rtl="0" algn="l">
              <a:spcBef>
                <a:spcPts val="1200"/>
              </a:spcBef>
              <a:spcAft>
                <a:spcPts val="0"/>
              </a:spcAft>
              <a:buClr>
                <a:schemeClr val="dk1"/>
              </a:buClr>
              <a:buSzPts val="1700"/>
              <a:buChar char="●"/>
            </a:pPr>
            <a:r>
              <a:rPr lang="en-GB" sz="1700">
                <a:solidFill>
                  <a:schemeClr val="dk1"/>
                </a:solidFill>
              </a:rPr>
              <a:t>Do people with sleep disorders show different patterns in daily steps or heart rate?</a:t>
            </a:r>
            <a:endParaRPr sz="1700">
              <a:solidFill>
                <a:schemeClr val="dk1"/>
              </a:solidFill>
            </a:endParaRPr>
          </a:p>
          <a:p>
            <a:pPr indent="-336550" lvl="0" marL="457200" rtl="0" algn="l">
              <a:spcBef>
                <a:spcPts val="0"/>
              </a:spcBef>
              <a:spcAft>
                <a:spcPts val="0"/>
              </a:spcAft>
              <a:buClr>
                <a:schemeClr val="dk1"/>
              </a:buClr>
              <a:buSzPts val="1700"/>
              <a:buChar char="●"/>
            </a:pPr>
            <a:r>
              <a:rPr lang="en-GB" sz="1700">
                <a:solidFill>
                  <a:schemeClr val="dk1"/>
                </a:solidFill>
              </a:rPr>
              <a:t>Are certain occupations linked to worse sleep or higher stress?</a:t>
            </a:r>
            <a:endParaRPr sz="1700">
              <a:solidFill>
                <a:schemeClr val="dk1"/>
              </a:solidFill>
            </a:endParaRPr>
          </a:p>
          <a:p>
            <a:pPr indent="-336550" lvl="0" marL="457200" rtl="0" algn="l">
              <a:spcBef>
                <a:spcPts val="0"/>
              </a:spcBef>
              <a:spcAft>
                <a:spcPts val="0"/>
              </a:spcAft>
              <a:buClr>
                <a:schemeClr val="dk1"/>
              </a:buClr>
              <a:buSzPts val="1700"/>
              <a:buChar char="●"/>
            </a:pPr>
            <a:r>
              <a:rPr lang="en-GB" sz="1700">
                <a:solidFill>
                  <a:schemeClr val="dk1"/>
                </a:solidFill>
              </a:rPr>
              <a:t>How do stress levels relate to sleep duration or sleep quality?</a:t>
            </a:r>
            <a:endParaRPr sz="1700">
              <a:solidFill>
                <a:schemeClr val="dk1"/>
              </a:solidFill>
            </a:endParaRPr>
          </a:p>
          <a:p>
            <a:pPr indent="0" lvl="0" marL="0" rtl="0" algn="l">
              <a:spcBef>
                <a:spcPts val="1200"/>
              </a:spcBef>
              <a:spcAft>
                <a:spcPts val="0"/>
              </a:spcAft>
              <a:buNone/>
            </a:pPr>
            <a:r>
              <a:rPr b="1" lang="en-GB" sz="1700">
                <a:solidFill>
                  <a:schemeClr val="dk1"/>
                </a:solidFill>
              </a:rPr>
              <a:t>Audience</a:t>
            </a:r>
            <a:r>
              <a:rPr lang="en-GB" sz="2000">
                <a:solidFill>
                  <a:schemeClr val="dk1"/>
                </a:solidFill>
              </a:rPr>
              <a:t>:</a:t>
            </a:r>
            <a:endParaRPr sz="2000">
              <a:solidFill>
                <a:schemeClr val="dk1"/>
              </a:solidFill>
            </a:endParaRPr>
          </a:p>
          <a:p>
            <a:pPr indent="0" lvl="0" marL="0" rtl="0" algn="l">
              <a:spcBef>
                <a:spcPts val="1200"/>
              </a:spcBef>
              <a:spcAft>
                <a:spcPts val="0"/>
              </a:spcAft>
              <a:buClr>
                <a:schemeClr val="dk1"/>
              </a:buClr>
              <a:buSzPts val="1100"/>
              <a:buFont typeface="Arial"/>
              <a:buNone/>
            </a:pPr>
            <a:r>
              <a:rPr lang="en-GB" sz="1700">
                <a:solidFill>
                  <a:schemeClr val="dk1"/>
                </a:solidFill>
              </a:rPr>
              <a:t>People who want to understand how lifestyle factors affect sleep and stress.</a:t>
            </a:r>
            <a:endParaRPr sz="1700">
              <a:solidFill>
                <a:schemeClr val="dk1"/>
              </a:solidFill>
            </a:endParaRPr>
          </a:p>
          <a:p>
            <a:pPr indent="0" lvl="0" marL="0" rtl="0" algn="l">
              <a:spcBef>
                <a:spcPts val="1200"/>
              </a:spcBef>
              <a:spcAft>
                <a:spcPts val="0"/>
              </a:spcAft>
              <a:buNone/>
            </a:pPr>
            <a:r>
              <a:rPr b="1" lang="en-GB" sz="1700">
                <a:solidFill>
                  <a:schemeClr val="dk1"/>
                </a:solidFill>
              </a:rPr>
              <a:t>Communication Goal</a:t>
            </a:r>
            <a:r>
              <a:rPr lang="en-GB" sz="2000">
                <a:solidFill>
                  <a:schemeClr val="dk1"/>
                </a:solidFill>
              </a:rPr>
              <a:t>:</a:t>
            </a:r>
            <a:endParaRPr sz="2000">
              <a:solidFill>
                <a:schemeClr val="dk1"/>
              </a:solidFill>
            </a:endParaRPr>
          </a:p>
          <a:p>
            <a:pPr indent="0" lvl="0" marL="0" rtl="0" algn="l">
              <a:spcBef>
                <a:spcPts val="1200"/>
              </a:spcBef>
              <a:spcAft>
                <a:spcPts val="0"/>
              </a:spcAft>
              <a:buClr>
                <a:schemeClr val="dk1"/>
              </a:buClr>
              <a:buSzPts val="1100"/>
              <a:buFont typeface="Arial"/>
              <a:buNone/>
            </a:pPr>
            <a:r>
              <a:rPr lang="en-GB" sz="1700">
                <a:solidFill>
                  <a:schemeClr val="dk1"/>
                </a:solidFill>
              </a:rPr>
              <a:t>To Improve understanding of how daily habits connect to sleep health.</a:t>
            </a:r>
            <a:endParaRPr sz="17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graphicFrame>
        <p:nvGraphicFramePr>
          <p:cNvPr id="60" name="Google Shape;60;p14"/>
          <p:cNvGraphicFramePr/>
          <p:nvPr/>
        </p:nvGraphicFramePr>
        <p:xfrm>
          <a:off x="1033625" y="468425"/>
          <a:ext cx="3000000" cy="3000000"/>
        </p:xfrm>
        <a:graphic>
          <a:graphicData uri="http://schemas.openxmlformats.org/drawingml/2006/table">
            <a:tbl>
              <a:tblPr>
                <a:noFill/>
                <a:tableStyleId>{CBBA4F8B-ACAD-4F70-8473-5142660719E3}</a:tableStyleId>
              </a:tblPr>
              <a:tblGrid>
                <a:gridCol w="1373175"/>
                <a:gridCol w="1373175"/>
                <a:gridCol w="1373175"/>
                <a:gridCol w="1373175"/>
                <a:gridCol w="1373175"/>
              </a:tblGrid>
              <a:tr h="242300">
                <a:tc>
                  <a:txBody>
                    <a:bodyPr/>
                    <a:lstStyle/>
                    <a:p>
                      <a:pPr indent="0" lvl="0" marL="0" rtl="0" algn="ctr">
                        <a:lnSpc>
                          <a:spcPct val="115000"/>
                        </a:lnSpc>
                        <a:spcBef>
                          <a:spcPts val="0"/>
                        </a:spcBef>
                        <a:spcAft>
                          <a:spcPts val="0"/>
                        </a:spcAft>
                        <a:buNone/>
                      </a:pPr>
                      <a:r>
                        <a:rPr b="1" lang="en-GB" sz="1100"/>
                        <a:t>Column Name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GB" sz="1100"/>
                        <a:t>Missing Values?</a:t>
                      </a:r>
                      <a:endParaRPr b="1" sz="1100"/>
                    </a:p>
                  </a:txBody>
                  <a:tcPr marT="91425" marB="91425" marR="91425" marL="91425"/>
                </a:tc>
                <a:tc>
                  <a:txBody>
                    <a:bodyPr/>
                    <a:lstStyle/>
                    <a:p>
                      <a:pPr indent="0" lvl="0" marL="0" rtl="0" algn="ctr">
                        <a:lnSpc>
                          <a:spcPct val="115000"/>
                        </a:lnSpc>
                        <a:spcBef>
                          <a:spcPts val="0"/>
                        </a:spcBef>
                        <a:spcAft>
                          <a:spcPts val="0"/>
                        </a:spcAft>
                        <a:buNone/>
                      </a:pPr>
                      <a:r>
                        <a:rPr b="1" lang="en-GB" sz="1100"/>
                        <a:t>Data Type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GB" sz="1100"/>
                        <a:t>Useful?</a:t>
                      </a:r>
                      <a:endParaRPr b="1" sz="1100"/>
                    </a:p>
                  </a:txBody>
                  <a:tcPr marT="91425" marB="91425" marR="91425" marL="91425"/>
                </a:tc>
                <a:tc>
                  <a:txBody>
                    <a:bodyPr/>
                    <a:lstStyle/>
                    <a:p>
                      <a:pPr indent="0" lvl="0" marL="0" rtl="0" algn="ctr">
                        <a:lnSpc>
                          <a:spcPct val="115000"/>
                        </a:lnSpc>
                        <a:spcBef>
                          <a:spcPts val="0"/>
                        </a:spcBef>
                        <a:spcAft>
                          <a:spcPts val="0"/>
                        </a:spcAft>
                        <a:buNone/>
                      </a:pPr>
                      <a:r>
                        <a:rPr b="1" lang="en-GB" sz="1100"/>
                        <a:t>Needs Cleaning?</a:t>
                      </a:r>
                      <a:endParaRPr b="1" sz="1100"/>
                    </a:p>
                  </a:txBody>
                  <a:tcPr marT="91425" marB="91425" marR="91425" marL="91425"/>
                </a:tc>
              </a:tr>
              <a:tr h="273900">
                <a:tc>
                  <a:txBody>
                    <a:bodyPr/>
                    <a:lstStyle/>
                    <a:p>
                      <a:pPr indent="0" lvl="0" marL="0" rtl="0" algn="l">
                        <a:spcBef>
                          <a:spcPts val="0"/>
                        </a:spcBef>
                        <a:spcAft>
                          <a:spcPts val="0"/>
                        </a:spcAft>
                        <a:buNone/>
                      </a:pPr>
                      <a:r>
                        <a:rPr lang="en-GB"/>
                        <a:t>Person ID</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c>
                  <a:txBody>
                    <a:bodyPr/>
                    <a:lstStyle/>
                    <a:p>
                      <a:pPr indent="0" lvl="0" marL="0" rtl="0" algn="l">
                        <a:spcBef>
                          <a:spcPts val="0"/>
                        </a:spcBef>
                        <a:spcAft>
                          <a:spcPts val="0"/>
                        </a:spcAft>
                        <a:buNone/>
                      </a:pPr>
                      <a:r>
                        <a:rPr lang="en-GB"/>
                        <a:t>Discrete (int)</a:t>
                      </a:r>
                      <a:endParaRPr/>
                    </a:p>
                  </a:txBody>
                  <a:tcPr marT="91425" marB="91425" marR="91425" marL="91425"/>
                </a:tc>
                <a:tc>
                  <a:txBody>
                    <a:bodyPr/>
                    <a:lstStyle/>
                    <a:p>
                      <a:pPr indent="0" lvl="0" marL="0" rtl="0" algn="l">
                        <a:spcBef>
                          <a:spcPts val="0"/>
                        </a:spcBef>
                        <a:spcAft>
                          <a:spcPts val="0"/>
                        </a:spcAft>
                        <a:buNone/>
                      </a:pPr>
                      <a:r>
                        <a:rPr lang="en-GB"/>
                        <a:t>Maybe</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r>
              <a:tr h="273900">
                <a:tc>
                  <a:txBody>
                    <a:bodyPr/>
                    <a:lstStyle/>
                    <a:p>
                      <a:pPr indent="0" lvl="0" marL="0" rtl="0" algn="l">
                        <a:spcBef>
                          <a:spcPts val="0"/>
                        </a:spcBef>
                        <a:spcAft>
                          <a:spcPts val="0"/>
                        </a:spcAft>
                        <a:buNone/>
                      </a:pPr>
                      <a:r>
                        <a:rPr lang="en-GB"/>
                        <a:t>Gender</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c>
                  <a:txBody>
                    <a:bodyPr/>
                    <a:lstStyle/>
                    <a:p>
                      <a:pPr indent="0" lvl="0" marL="0" rtl="0" algn="l">
                        <a:spcBef>
                          <a:spcPts val="0"/>
                        </a:spcBef>
                        <a:spcAft>
                          <a:spcPts val="0"/>
                        </a:spcAft>
                        <a:buNone/>
                      </a:pPr>
                      <a:r>
                        <a:rPr lang="en-GB"/>
                        <a:t>Categorical</a:t>
                      </a:r>
                      <a:endParaRPr/>
                    </a:p>
                  </a:txBody>
                  <a:tcPr marT="91425" marB="91425" marR="91425" marL="91425"/>
                </a:tc>
                <a:tc>
                  <a:txBody>
                    <a:bodyPr/>
                    <a:lstStyle/>
                    <a:p>
                      <a:pPr indent="0" lvl="0" marL="0" rtl="0" algn="l">
                        <a:spcBef>
                          <a:spcPts val="0"/>
                        </a:spcBef>
                        <a:spcAft>
                          <a:spcPts val="0"/>
                        </a:spcAft>
                        <a:buNone/>
                      </a:pPr>
                      <a:r>
                        <a:rPr lang="en-GB"/>
                        <a:t>Yes</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r>
              <a:tr h="273900">
                <a:tc>
                  <a:txBody>
                    <a:bodyPr/>
                    <a:lstStyle/>
                    <a:p>
                      <a:pPr indent="0" lvl="0" marL="0" rtl="0" algn="l">
                        <a:spcBef>
                          <a:spcPts val="0"/>
                        </a:spcBef>
                        <a:spcAft>
                          <a:spcPts val="0"/>
                        </a:spcAft>
                        <a:buNone/>
                      </a:pPr>
                      <a:r>
                        <a:rPr lang="en-GB"/>
                        <a:t>Age</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c>
                  <a:txBody>
                    <a:bodyPr/>
                    <a:lstStyle/>
                    <a:p>
                      <a:pPr indent="0" lvl="0" marL="0" rtl="0" algn="l">
                        <a:spcBef>
                          <a:spcPts val="0"/>
                        </a:spcBef>
                        <a:spcAft>
                          <a:spcPts val="0"/>
                        </a:spcAft>
                        <a:buNone/>
                      </a:pPr>
                      <a:r>
                        <a:rPr lang="en-GB"/>
                        <a:t>Numeric</a:t>
                      </a:r>
                      <a:endParaRPr/>
                    </a:p>
                  </a:txBody>
                  <a:tcPr marT="91425" marB="91425" marR="91425" marL="91425"/>
                </a:tc>
                <a:tc>
                  <a:txBody>
                    <a:bodyPr/>
                    <a:lstStyle/>
                    <a:p>
                      <a:pPr indent="0" lvl="0" marL="0" rtl="0" algn="l">
                        <a:spcBef>
                          <a:spcPts val="0"/>
                        </a:spcBef>
                        <a:spcAft>
                          <a:spcPts val="0"/>
                        </a:spcAft>
                        <a:buNone/>
                      </a:pPr>
                      <a:r>
                        <a:rPr lang="en-GB"/>
                        <a:t>Yes</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r>
              <a:tr h="273900">
                <a:tc>
                  <a:txBody>
                    <a:bodyPr/>
                    <a:lstStyle/>
                    <a:p>
                      <a:pPr indent="0" lvl="0" marL="0" rtl="0" algn="l">
                        <a:spcBef>
                          <a:spcPts val="0"/>
                        </a:spcBef>
                        <a:spcAft>
                          <a:spcPts val="0"/>
                        </a:spcAft>
                        <a:buNone/>
                      </a:pPr>
                      <a:r>
                        <a:rPr lang="en-GB"/>
                        <a:t>Occupation</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c>
                  <a:txBody>
                    <a:bodyPr/>
                    <a:lstStyle/>
                    <a:p>
                      <a:pPr indent="0" lvl="0" marL="0" rtl="0" algn="l">
                        <a:spcBef>
                          <a:spcPts val="0"/>
                        </a:spcBef>
                        <a:spcAft>
                          <a:spcPts val="0"/>
                        </a:spcAft>
                        <a:buNone/>
                      </a:pPr>
                      <a:r>
                        <a:rPr lang="en-GB"/>
                        <a:t>Categorical</a:t>
                      </a:r>
                      <a:endParaRPr/>
                    </a:p>
                  </a:txBody>
                  <a:tcPr marT="91425" marB="91425" marR="91425" marL="91425"/>
                </a:tc>
                <a:tc>
                  <a:txBody>
                    <a:bodyPr/>
                    <a:lstStyle/>
                    <a:p>
                      <a:pPr indent="0" lvl="0" marL="0" rtl="0" algn="l">
                        <a:spcBef>
                          <a:spcPts val="0"/>
                        </a:spcBef>
                        <a:spcAft>
                          <a:spcPts val="0"/>
                        </a:spcAft>
                        <a:buNone/>
                      </a:pPr>
                      <a:r>
                        <a:rPr lang="en-GB"/>
                        <a:t>Yes</a:t>
                      </a:r>
                      <a:endParaRPr/>
                    </a:p>
                  </a:txBody>
                  <a:tcPr marT="91425" marB="91425" marR="91425" marL="91425"/>
                </a:tc>
                <a:tc>
                  <a:txBody>
                    <a:bodyPr/>
                    <a:lstStyle/>
                    <a:p>
                      <a:pPr indent="0" lvl="0" marL="0" rtl="0" algn="l">
                        <a:spcBef>
                          <a:spcPts val="0"/>
                        </a:spcBef>
                        <a:spcAft>
                          <a:spcPts val="0"/>
                        </a:spcAft>
                        <a:buNone/>
                      </a:pPr>
                      <a:r>
                        <a:rPr lang="en-GB"/>
                        <a:t>Maybe</a:t>
                      </a:r>
                      <a:endParaRPr/>
                    </a:p>
                  </a:txBody>
                  <a:tcPr marT="91425" marB="91425" marR="91425" marL="91425"/>
                </a:tc>
              </a:tr>
              <a:tr h="421400">
                <a:tc>
                  <a:txBody>
                    <a:bodyPr/>
                    <a:lstStyle/>
                    <a:p>
                      <a:pPr indent="0" lvl="0" marL="0" rtl="0" algn="l">
                        <a:spcBef>
                          <a:spcPts val="0"/>
                        </a:spcBef>
                        <a:spcAft>
                          <a:spcPts val="0"/>
                        </a:spcAft>
                        <a:buNone/>
                      </a:pPr>
                      <a:r>
                        <a:rPr lang="en-GB"/>
                        <a:t>Sleep Duration</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c>
                  <a:txBody>
                    <a:bodyPr/>
                    <a:lstStyle/>
                    <a:p>
                      <a:pPr indent="0" lvl="0" marL="0" rtl="0" algn="l">
                        <a:spcBef>
                          <a:spcPts val="0"/>
                        </a:spcBef>
                        <a:spcAft>
                          <a:spcPts val="0"/>
                        </a:spcAft>
                        <a:buNone/>
                      </a:pPr>
                      <a:r>
                        <a:rPr lang="en-GB"/>
                        <a:t>Numeric</a:t>
                      </a:r>
                      <a:endParaRPr/>
                    </a:p>
                  </a:txBody>
                  <a:tcPr marT="91425" marB="91425" marR="91425" marL="91425"/>
                </a:tc>
                <a:tc>
                  <a:txBody>
                    <a:bodyPr/>
                    <a:lstStyle/>
                    <a:p>
                      <a:pPr indent="0" lvl="0" marL="0" rtl="0" algn="l">
                        <a:spcBef>
                          <a:spcPts val="0"/>
                        </a:spcBef>
                        <a:spcAft>
                          <a:spcPts val="0"/>
                        </a:spcAft>
                        <a:buNone/>
                      </a:pPr>
                      <a:r>
                        <a:rPr lang="en-GB"/>
                        <a:t>Yes</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r>
              <a:tr h="421400">
                <a:tc>
                  <a:txBody>
                    <a:bodyPr/>
                    <a:lstStyle/>
                    <a:p>
                      <a:pPr indent="0" lvl="0" marL="0" rtl="0" algn="l">
                        <a:spcBef>
                          <a:spcPts val="0"/>
                        </a:spcBef>
                        <a:spcAft>
                          <a:spcPts val="0"/>
                        </a:spcAft>
                        <a:buNone/>
                      </a:pPr>
                      <a:r>
                        <a:rPr lang="en-GB"/>
                        <a:t>Quality of Sleep</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c>
                  <a:txBody>
                    <a:bodyPr/>
                    <a:lstStyle/>
                    <a:p>
                      <a:pPr indent="0" lvl="0" marL="0" rtl="0" algn="l">
                        <a:spcBef>
                          <a:spcPts val="0"/>
                        </a:spcBef>
                        <a:spcAft>
                          <a:spcPts val="0"/>
                        </a:spcAft>
                        <a:buNone/>
                      </a:pPr>
                      <a:r>
                        <a:rPr lang="en-GB"/>
                        <a:t>Numeric</a:t>
                      </a:r>
                      <a:endParaRPr/>
                    </a:p>
                  </a:txBody>
                  <a:tcPr marT="91425" marB="91425" marR="91425" marL="91425"/>
                </a:tc>
                <a:tc>
                  <a:txBody>
                    <a:bodyPr/>
                    <a:lstStyle/>
                    <a:p>
                      <a:pPr indent="0" lvl="0" marL="0" rtl="0" algn="l">
                        <a:spcBef>
                          <a:spcPts val="0"/>
                        </a:spcBef>
                        <a:spcAft>
                          <a:spcPts val="0"/>
                        </a:spcAft>
                        <a:buNone/>
                      </a:pPr>
                      <a:r>
                        <a:rPr lang="en-GB"/>
                        <a:t>Yes</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r>
              <a:tr h="421400">
                <a:tc>
                  <a:txBody>
                    <a:bodyPr/>
                    <a:lstStyle/>
                    <a:p>
                      <a:pPr indent="0" lvl="0" marL="0" rtl="0" algn="l">
                        <a:spcBef>
                          <a:spcPts val="0"/>
                        </a:spcBef>
                        <a:spcAft>
                          <a:spcPts val="0"/>
                        </a:spcAft>
                        <a:buNone/>
                      </a:pPr>
                      <a:r>
                        <a:rPr lang="en-GB"/>
                        <a:t>Physical Activity Level</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c>
                  <a:txBody>
                    <a:bodyPr/>
                    <a:lstStyle/>
                    <a:p>
                      <a:pPr indent="0" lvl="0" marL="0" rtl="0" algn="l">
                        <a:spcBef>
                          <a:spcPts val="0"/>
                        </a:spcBef>
                        <a:spcAft>
                          <a:spcPts val="0"/>
                        </a:spcAft>
                        <a:buNone/>
                      </a:pPr>
                      <a:r>
                        <a:rPr lang="en-GB"/>
                        <a:t>Numeric</a:t>
                      </a:r>
                      <a:endParaRPr/>
                    </a:p>
                  </a:txBody>
                  <a:tcPr marT="91425" marB="91425" marR="91425" marL="91425"/>
                </a:tc>
                <a:tc>
                  <a:txBody>
                    <a:bodyPr/>
                    <a:lstStyle/>
                    <a:p>
                      <a:pPr indent="0" lvl="0" marL="0" rtl="0" algn="l">
                        <a:spcBef>
                          <a:spcPts val="0"/>
                        </a:spcBef>
                        <a:spcAft>
                          <a:spcPts val="0"/>
                        </a:spcAft>
                        <a:buNone/>
                      </a:pPr>
                      <a:r>
                        <a:rPr lang="en-GB"/>
                        <a:t>Yes</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r>
              <a:tr h="273900">
                <a:tc>
                  <a:txBody>
                    <a:bodyPr/>
                    <a:lstStyle/>
                    <a:p>
                      <a:pPr indent="0" lvl="0" marL="0" rtl="0" algn="l">
                        <a:spcBef>
                          <a:spcPts val="0"/>
                        </a:spcBef>
                        <a:spcAft>
                          <a:spcPts val="0"/>
                        </a:spcAft>
                        <a:buNone/>
                      </a:pPr>
                      <a:r>
                        <a:rPr lang="en-GB"/>
                        <a:t>Stress Level</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c>
                  <a:txBody>
                    <a:bodyPr/>
                    <a:lstStyle/>
                    <a:p>
                      <a:pPr indent="0" lvl="0" marL="0" rtl="0" algn="l">
                        <a:spcBef>
                          <a:spcPts val="0"/>
                        </a:spcBef>
                        <a:spcAft>
                          <a:spcPts val="0"/>
                        </a:spcAft>
                        <a:buNone/>
                      </a:pPr>
                      <a:r>
                        <a:rPr lang="en-GB"/>
                        <a:t>Numeric</a:t>
                      </a:r>
                      <a:endParaRPr/>
                    </a:p>
                  </a:txBody>
                  <a:tcPr marT="91425" marB="91425" marR="91425" marL="91425"/>
                </a:tc>
                <a:tc>
                  <a:txBody>
                    <a:bodyPr/>
                    <a:lstStyle/>
                    <a:p>
                      <a:pPr indent="0" lvl="0" marL="0" rtl="0" algn="l">
                        <a:spcBef>
                          <a:spcPts val="0"/>
                        </a:spcBef>
                        <a:spcAft>
                          <a:spcPts val="0"/>
                        </a:spcAft>
                        <a:buNone/>
                      </a:pPr>
                      <a:r>
                        <a:rPr lang="en-GB"/>
                        <a:t>Yes</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r>
              <a:tr h="408500">
                <a:tc>
                  <a:txBody>
                    <a:bodyPr/>
                    <a:lstStyle/>
                    <a:p>
                      <a:pPr indent="0" lvl="0" marL="0" rtl="0" algn="l">
                        <a:spcBef>
                          <a:spcPts val="0"/>
                        </a:spcBef>
                        <a:spcAft>
                          <a:spcPts val="0"/>
                        </a:spcAft>
                        <a:buNone/>
                      </a:pPr>
                      <a:r>
                        <a:rPr lang="en-GB"/>
                        <a:t>BMI Category</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c>
                  <a:txBody>
                    <a:bodyPr/>
                    <a:lstStyle/>
                    <a:p>
                      <a:pPr indent="0" lvl="0" marL="0" rtl="0" algn="l">
                        <a:spcBef>
                          <a:spcPts val="0"/>
                        </a:spcBef>
                        <a:spcAft>
                          <a:spcPts val="0"/>
                        </a:spcAft>
                        <a:buNone/>
                      </a:pPr>
                      <a:r>
                        <a:rPr lang="en-GB"/>
                        <a:t>Categorical</a:t>
                      </a:r>
                      <a:endParaRPr/>
                    </a:p>
                  </a:txBody>
                  <a:tcPr marT="91425" marB="91425" marR="91425" marL="91425"/>
                </a:tc>
                <a:tc>
                  <a:txBody>
                    <a:bodyPr/>
                    <a:lstStyle/>
                    <a:p>
                      <a:pPr indent="0" lvl="0" marL="0" rtl="0" algn="l">
                        <a:spcBef>
                          <a:spcPts val="0"/>
                        </a:spcBef>
                        <a:spcAft>
                          <a:spcPts val="0"/>
                        </a:spcAft>
                        <a:buNone/>
                      </a:pPr>
                      <a:r>
                        <a:rPr lang="en-GB"/>
                        <a:t>Yes</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r>
              <a:tr h="421400">
                <a:tc>
                  <a:txBody>
                    <a:bodyPr/>
                    <a:lstStyle/>
                    <a:p>
                      <a:pPr indent="0" lvl="0" marL="0" rtl="0" algn="l">
                        <a:spcBef>
                          <a:spcPts val="0"/>
                        </a:spcBef>
                        <a:spcAft>
                          <a:spcPts val="0"/>
                        </a:spcAft>
                        <a:buNone/>
                      </a:pPr>
                      <a:r>
                        <a:rPr lang="en-GB"/>
                        <a:t>Blood Pressure</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c>
                  <a:txBody>
                    <a:bodyPr/>
                    <a:lstStyle/>
                    <a:p>
                      <a:pPr indent="0" lvl="0" marL="0" rtl="0" algn="l">
                        <a:spcBef>
                          <a:spcPts val="0"/>
                        </a:spcBef>
                        <a:spcAft>
                          <a:spcPts val="0"/>
                        </a:spcAft>
                        <a:buNone/>
                      </a:pPr>
                      <a:r>
                        <a:rPr lang="en-GB"/>
                        <a:t>Categorical</a:t>
                      </a:r>
                      <a:endParaRPr/>
                    </a:p>
                  </a:txBody>
                  <a:tcPr marT="91425" marB="91425" marR="91425" marL="91425"/>
                </a:tc>
                <a:tc>
                  <a:txBody>
                    <a:bodyPr/>
                    <a:lstStyle/>
                    <a:p>
                      <a:pPr indent="0" lvl="0" marL="0" rtl="0" algn="l">
                        <a:spcBef>
                          <a:spcPts val="0"/>
                        </a:spcBef>
                        <a:spcAft>
                          <a:spcPts val="0"/>
                        </a:spcAft>
                        <a:buNone/>
                      </a:pPr>
                      <a:r>
                        <a:rPr lang="en-GB"/>
                        <a:t>Yes</a:t>
                      </a:r>
                      <a:endParaRPr/>
                    </a:p>
                  </a:txBody>
                  <a:tcPr marT="91425" marB="91425" marR="91425" marL="91425"/>
                </a:tc>
                <a:tc>
                  <a:txBody>
                    <a:bodyPr/>
                    <a:lstStyle/>
                    <a:p>
                      <a:pPr indent="0" lvl="0" marL="0" rtl="0" algn="l">
                        <a:spcBef>
                          <a:spcPts val="0"/>
                        </a:spcBef>
                        <a:spcAft>
                          <a:spcPts val="0"/>
                        </a:spcAft>
                        <a:buNone/>
                      </a:pPr>
                      <a:r>
                        <a:rPr lang="en-GB"/>
                        <a:t>Maybe</a:t>
                      </a:r>
                      <a:endParaRPr/>
                    </a:p>
                  </a:txBody>
                  <a:tcPr marT="91425" marB="91425" marR="91425" marL="91425"/>
                </a:tc>
              </a:tr>
              <a:tr h="273900">
                <a:tc>
                  <a:txBody>
                    <a:bodyPr/>
                    <a:lstStyle/>
                    <a:p>
                      <a:pPr indent="0" lvl="0" marL="0" rtl="0" algn="l">
                        <a:spcBef>
                          <a:spcPts val="0"/>
                        </a:spcBef>
                        <a:spcAft>
                          <a:spcPts val="0"/>
                        </a:spcAft>
                        <a:buNone/>
                      </a:pPr>
                      <a:r>
                        <a:rPr lang="en-GB"/>
                        <a:t>Heart Rate</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c>
                  <a:txBody>
                    <a:bodyPr/>
                    <a:lstStyle/>
                    <a:p>
                      <a:pPr indent="0" lvl="0" marL="0" rtl="0" algn="l">
                        <a:spcBef>
                          <a:spcPts val="0"/>
                        </a:spcBef>
                        <a:spcAft>
                          <a:spcPts val="0"/>
                        </a:spcAft>
                        <a:buNone/>
                      </a:pPr>
                      <a:r>
                        <a:rPr lang="en-GB"/>
                        <a:t>Numeric</a:t>
                      </a:r>
                      <a:endParaRPr/>
                    </a:p>
                  </a:txBody>
                  <a:tcPr marT="91425" marB="91425" marR="91425" marL="91425"/>
                </a:tc>
                <a:tc>
                  <a:txBody>
                    <a:bodyPr/>
                    <a:lstStyle/>
                    <a:p>
                      <a:pPr indent="0" lvl="0" marL="0" rtl="0" algn="l">
                        <a:spcBef>
                          <a:spcPts val="0"/>
                        </a:spcBef>
                        <a:spcAft>
                          <a:spcPts val="0"/>
                        </a:spcAft>
                        <a:buNone/>
                      </a:pPr>
                      <a:r>
                        <a:rPr lang="en-GB"/>
                        <a:t>Yes</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r>
              <a:tr h="273900">
                <a:tc>
                  <a:txBody>
                    <a:bodyPr/>
                    <a:lstStyle/>
                    <a:p>
                      <a:pPr indent="0" lvl="0" marL="0" rtl="0" algn="l">
                        <a:spcBef>
                          <a:spcPts val="0"/>
                        </a:spcBef>
                        <a:spcAft>
                          <a:spcPts val="0"/>
                        </a:spcAft>
                        <a:buNone/>
                      </a:pPr>
                      <a:r>
                        <a:rPr lang="en-GB"/>
                        <a:t>Daily Steps</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c>
                  <a:txBody>
                    <a:bodyPr/>
                    <a:lstStyle/>
                    <a:p>
                      <a:pPr indent="0" lvl="0" marL="0" rtl="0" algn="l">
                        <a:spcBef>
                          <a:spcPts val="0"/>
                        </a:spcBef>
                        <a:spcAft>
                          <a:spcPts val="0"/>
                        </a:spcAft>
                        <a:buNone/>
                      </a:pPr>
                      <a:r>
                        <a:rPr lang="en-GB"/>
                        <a:t>Numeric</a:t>
                      </a:r>
                      <a:endParaRPr/>
                    </a:p>
                  </a:txBody>
                  <a:tcPr marT="91425" marB="91425" marR="91425" marL="91425"/>
                </a:tc>
                <a:tc>
                  <a:txBody>
                    <a:bodyPr/>
                    <a:lstStyle/>
                    <a:p>
                      <a:pPr indent="0" lvl="0" marL="0" rtl="0" algn="l">
                        <a:spcBef>
                          <a:spcPts val="0"/>
                        </a:spcBef>
                        <a:spcAft>
                          <a:spcPts val="0"/>
                        </a:spcAft>
                        <a:buNone/>
                      </a:pPr>
                      <a:r>
                        <a:rPr lang="en-GB"/>
                        <a:t>Yes</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r>
              <a:tr h="421400">
                <a:tc>
                  <a:txBody>
                    <a:bodyPr/>
                    <a:lstStyle/>
                    <a:p>
                      <a:pPr indent="0" lvl="0" marL="0" rtl="0" algn="l">
                        <a:spcBef>
                          <a:spcPts val="0"/>
                        </a:spcBef>
                        <a:spcAft>
                          <a:spcPts val="0"/>
                        </a:spcAft>
                        <a:buNone/>
                      </a:pPr>
                      <a:r>
                        <a:rPr lang="en-GB"/>
                        <a:t>Sleep Disorder</a:t>
                      </a:r>
                      <a:endParaRPr/>
                    </a:p>
                  </a:txBody>
                  <a:tcPr marT="91425" marB="91425" marR="91425" marL="91425"/>
                </a:tc>
                <a:tc>
                  <a:txBody>
                    <a:bodyPr/>
                    <a:lstStyle/>
                    <a:p>
                      <a:pPr indent="0" lvl="0" marL="0" rtl="0" algn="l">
                        <a:spcBef>
                          <a:spcPts val="0"/>
                        </a:spcBef>
                        <a:spcAft>
                          <a:spcPts val="0"/>
                        </a:spcAft>
                        <a:buNone/>
                      </a:pPr>
                      <a:r>
                        <a:rPr b="1" lang="en-GB" sz="1100"/>
                        <a:t>Yes (219 missing)</a:t>
                      </a:r>
                      <a:endParaRPr b="1" sz="1100"/>
                    </a:p>
                  </a:txBody>
                  <a:tcPr marT="91425" marB="91425" marR="91425" marL="91425"/>
                </a:tc>
                <a:tc>
                  <a:txBody>
                    <a:bodyPr/>
                    <a:lstStyle/>
                    <a:p>
                      <a:pPr indent="0" lvl="0" marL="0" rtl="0" algn="l">
                        <a:spcBef>
                          <a:spcPts val="0"/>
                        </a:spcBef>
                        <a:spcAft>
                          <a:spcPts val="0"/>
                        </a:spcAft>
                        <a:buNone/>
                      </a:pPr>
                      <a:r>
                        <a:rPr lang="en-GB"/>
                        <a:t>Categorical</a:t>
                      </a:r>
                      <a:endParaRPr/>
                    </a:p>
                  </a:txBody>
                  <a:tcPr marT="91425" marB="91425" marR="91425" marL="91425"/>
                </a:tc>
                <a:tc>
                  <a:txBody>
                    <a:bodyPr/>
                    <a:lstStyle/>
                    <a:p>
                      <a:pPr indent="0" lvl="0" marL="0" rtl="0" algn="l">
                        <a:spcBef>
                          <a:spcPts val="0"/>
                        </a:spcBef>
                        <a:spcAft>
                          <a:spcPts val="0"/>
                        </a:spcAft>
                        <a:buNone/>
                      </a:pPr>
                      <a:r>
                        <a:rPr lang="en-GB"/>
                        <a:t>Yes</a:t>
                      </a:r>
                      <a:endParaRPr/>
                    </a:p>
                  </a:txBody>
                  <a:tcPr marT="91425" marB="91425" marR="91425" marL="91425"/>
                </a:tc>
                <a:tc>
                  <a:txBody>
                    <a:bodyPr/>
                    <a:lstStyle/>
                    <a:p>
                      <a:pPr indent="0" lvl="0" marL="0" rtl="0" algn="l">
                        <a:spcBef>
                          <a:spcPts val="0"/>
                        </a:spcBef>
                        <a:spcAft>
                          <a:spcPts val="0"/>
                        </a:spcAft>
                        <a:buNone/>
                      </a:pPr>
                      <a:r>
                        <a:rPr b="1" lang="en-GB" sz="1100"/>
                        <a:t>Yes</a:t>
                      </a:r>
                      <a:endParaRPr b="1" sz="1100"/>
                    </a:p>
                  </a:txBody>
                  <a:tcPr marT="91425" marB="91425" marR="91425" marL="91425"/>
                </a:tc>
              </a:tr>
            </a:tbl>
          </a:graphicData>
        </a:graphic>
      </p:graphicFrame>
      <p:sp>
        <p:nvSpPr>
          <p:cNvPr id="61" name="Google Shape;61;p14"/>
          <p:cNvSpPr txBox="1"/>
          <p:nvPr>
            <p:ph type="title"/>
          </p:nvPr>
        </p:nvSpPr>
        <p:spPr>
          <a:xfrm>
            <a:off x="1033625" y="-152800"/>
            <a:ext cx="8520600" cy="47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2100"/>
              <a:t>Mini update #1: </a:t>
            </a:r>
            <a:r>
              <a:rPr lang="en-GB" sz="2100"/>
              <a:t>This dataset has 374 rows and 13 columns</a:t>
            </a:r>
            <a:r>
              <a:rPr lang="en-GB"/>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2618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3620"/>
              <a:t>WEEK 1</a:t>
            </a:r>
            <a:endParaRPr sz="3620"/>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0"/>
              </a:spcAft>
              <a:buNone/>
            </a:pPr>
            <a:r>
              <a:rPr lang="en-GB" sz="6500"/>
              <a:t>✨</a:t>
            </a:r>
            <a:r>
              <a:rPr lang="en-GB" sz="7403"/>
              <a:t>CURIOUS</a:t>
            </a:r>
            <a:endParaRPr sz="5703"/>
          </a:p>
          <a:p>
            <a:pPr indent="0" lvl="0" marL="0" rtl="0" algn="l">
              <a:spcBef>
                <a:spcPts val="1200"/>
              </a:spcBef>
              <a:spcAft>
                <a:spcPts val="0"/>
              </a:spcAft>
              <a:buNone/>
            </a:pPr>
            <a:r>
              <a:rPr lang="en-GB" sz="6500"/>
              <a:t>                 </a:t>
            </a:r>
            <a:r>
              <a:rPr lang="en-GB" sz="7389"/>
              <a:t>QUESTIONS✨</a:t>
            </a:r>
            <a:endParaRPr sz="7389"/>
          </a:p>
          <a:p>
            <a:pPr indent="0" lvl="0" marL="0" rtl="0" algn="l">
              <a:spcBef>
                <a:spcPts val="1200"/>
              </a:spcBef>
              <a:spcAft>
                <a:spcPts val="1200"/>
              </a:spcAft>
              <a:buNone/>
            </a:pPr>
            <a:r>
              <a:t/>
            </a:r>
            <a:endParaRPr sz="6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0" y="-100750"/>
            <a:ext cx="8655600" cy="913500"/>
          </a:xfrm>
          <a:prstGeom prst="rect">
            <a:avLst/>
          </a:prstGeom>
        </p:spPr>
        <p:txBody>
          <a:bodyPr anchorCtr="0" anchor="b" bIns="91425" lIns="91425" spcFirstLastPara="1" rIns="91425" wrap="square" tIns="91425">
            <a:noAutofit/>
          </a:bodyPr>
          <a:lstStyle/>
          <a:p>
            <a:pPr indent="0" lvl="0" marL="0" rtl="0" algn="l">
              <a:lnSpc>
                <a:spcPct val="115000"/>
              </a:lnSpc>
              <a:spcBef>
                <a:spcPts val="1200"/>
              </a:spcBef>
              <a:spcAft>
                <a:spcPts val="1200"/>
              </a:spcAft>
              <a:buSzPts val="990"/>
              <a:buNone/>
            </a:pPr>
            <a:r>
              <a:rPr lang="en-GB" sz="2140"/>
              <a:t>Do </a:t>
            </a:r>
            <a:r>
              <a:rPr lang="en-GB" sz="2140"/>
              <a:t>people</a:t>
            </a:r>
            <a:r>
              <a:rPr lang="en-GB" sz="2140"/>
              <a:t> with different disorders show different patterns in steps or            heart rate?</a:t>
            </a:r>
            <a:endParaRPr sz="2770"/>
          </a:p>
        </p:txBody>
      </p:sp>
      <p:sp>
        <p:nvSpPr>
          <p:cNvPr id="73" name="Google Shape;73;p16"/>
          <p:cNvSpPr txBox="1"/>
          <p:nvPr>
            <p:ph idx="1" type="body"/>
          </p:nvPr>
        </p:nvSpPr>
        <p:spPr>
          <a:xfrm>
            <a:off x="0" y="710475"/>
            <a:ext cx="3512100" cy="4253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sz="1800"/>
              <a:t>Sleep Disorders and Daily Steps</a:t>
            </a:r>
            <a:endParaRPr sz="1800" u="sng"/>
          </a:p>
          <a:p>
            <a:pPr indent="0" lvl="0" marL="0" rtl="0" algn="l">
              <a:spcBef>
                <a:spcPts val="1200"/>
              </a:spcBef>
              <a:spcAft>
                <a:spcPts val="0"/>
              </a:spcAft>
              <a:buNone/>
            </a:pPr>
            <a:r>
              <a:rPr lang="en-GB" sz="1800"/>
              <a:t>People with sleep apnea walked more on average (about 7,619 steps) compared to those with insomnia (about 5,901 steps). The difference shows that not all sleep disorders affect activity the same way.</a:t>
            </a:r>
            <a:endParaRPr sz="1800"/>
          </a:p>
          <a:p>
            <a:pPr indent="0" lvl="0" marL="0" rtl="0" algn="l">
              <a:spcBef>
                <a:spcPts val="1200"/>
              </a:spcBef>
              <a:spcAft>
                <a:spcPts val="0"/>
              </a:spcAft>
              <a:buNone/>
            </a:pPr>
            <a:r>
              <a:t/>
            </a:r>
            <a:endParaRPr sz="1800"/>
          </a:p>
          <a:p>
            <a:pPr indent="0" lvl="0" marL="0" rtl="0" algn="l">
              <a:spcBef>
                <a:spcPts val="1200"/>
              </a:spcBef>
              <a:spcAft>
                <a:spcPts val="0"/>
              </a:spcAft>
              <a:buNone/>
            </a:pPr>
            <a:r>
              <a:t/>
            </a:r>
            <a:endParaRPr sz="1800"/>
          </a:p>
          <a:p>
            <a:pPr indent="0" lvl="0" marL="0" rtl="0" algn="l">
              <a:spcBef>
                <a:spcPts val="1200"/>
              </a:spcBef>
              <a:spcAft>
                <a:spcPts val="1200"/>
              </a:spcAft>
              <a:buNone/>
            </a:pPr>
            <a:r>
              <a:rPr lang="en-GB" sz="1800"/>
              <a:t>CONTRIBUTOR: SHARON AROWOLO</a:t>
            </a:r>
            <a:endParaRPr sz="1800"/>
          </a:p>
        </p:txBody>
      </p:sp>
      <p:pic>
        <p:nvPicPr>
          <p:cNvPr id="74" name="Google Shape;74;p16"/>
          <p:cNvPicPr preferRelativeResize="0"/>
          <p:nvPr/>
        </p:nvPicPr>
        <p:blipFill>
          <a:blip r:embed="rId4">
            <a:alphaModFix/>
          </a:blip>
          <a:stretch>
            <a:fillRect/>
          </a:stretch>
        </p:blipFill>
        <p:spPr>
          <a:xfrm>
            <a:off x="3512050" y="812750"/>
            <a:ext cx="5481650" cy="4253625"/>
          </a:xfrm>
          <a:prstGeom prst="rect">
            <a:avLst/>
          </a:prstGeom>
          <a:noFill/>
          <a:ln>
            <a:noFill/>
          </a:ln>
        </p:spPr>
      </p:pic>
      <p:pic>
        <p:nvPicPr>
          <p:cNvPr id="75" name="Google Shape;75;p16"/>
          <p:cNvPicPr preferRelativeResize="0"/>
          <p:nvPr/>
        </p:nvPicPr>
        <p:blipFill>
          <a:blip r:embed="rId5">
            <a:alphaModFix/>
          </a:blip>
          <a:stretch>
            <a:fillRect/>
          </a:stretch>
        </p:blipFill>
        <p:spPr>
          <a:xfrm>
            <a:off x="3512050" y="470250"/>
            <a:ext cx="5481650" cy="4673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1200"/>
              </a:spcAft>
              <a:buClr>
                <a:schemeClr val="dk1"/>
              </a:buClr>
              <a:buSzPct val="46262"/>
              <a:buFont typeface="Arial"/>
              <a:buNone/>
            </a:pPr>
            <a:r>
              <a:rPr lang="en-GB" sz="2140"/>
              <a:t>Do people with different disorders show different patterns in steps or            heart rate? (Contd)</a:t>
            </a:r>
            <a:endParaRPr/>
          </a:p>
        </p:txBody>
      </p:sp>
      <p:sp>
        <p:nvSpPr>
          <p:cNvPr id="81" name="Google Shape;81;p17"/>
          <p:cNvSpPr txBox="1"/>
          <p:nvPr>
            <p:ph idx="1" type="body"/>
          </p:nvPr>
        </p:nvSpPr>
        <p:spPr>
          <a:xfrm>
            <a:off x="215025" y="818613"/>
            <a:ext cx="3374100" cy="4180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2000"/>
              <a:t>Sleep Disorders and Heart Rate</a:t>
            </a:r>
            <a:endParaRPr sz="2000"/>
          </a:p>
          <a:p>
            <a:pPr indent="0" lvl="0" marL="0" rtl="0" algn="l">
              <a:spcBef>
                <a:spcPts val="1200"/>
              </a:spcBef>
              <a:spcAft>
                <a:spcPts val="0"/>
              </a:spcAft>
              <a:buNone/>
            </a:pPr>
            <a:r>
              <a:rPr lang="en-GB" sz="2000"/>
              <a:t>Average heart rate was slightly higher for sleep apnea (around 73 bpm) than insomnia (around 70 bpm). This suggests sleep apnea may put a bit more strain on the body.</a:t>
            </a:r>
            <a:endParaRPr sz="2000"/>
          </a:p>
          <a:p>
            <a:pPr indent="0" lvl="0" marL="0" rtl="0" algn="l">
              <a:spcBef>
                <a:spcPts val="1200"/>
              </a:spcBef>
              <a:spcAft>
                <a:spcPts val="0"/>
              </a:spcAft>
              <a:buNone/>
            </a:pPr>
            <a:r>
              <a:t/>
            </a:r>
            <a:endParaRPr sz="2000"/>
          </a:p>
          <a:p>
            <a:pPr indent="0" lvl="0" marL="0" rtl="0" algn="l">
              <a:spcBef>
                <a:spcPts val="1200"/>
              </a:spcBef>
              <a:spcAft>
                <a:spcPts val="1200"/>
              </a:spcAft>
              <a:buNone/>
            </a:pPr>
            <a:r>
              <a:rPr lang="en-GB" sz="2000"/>
              <a:t>CONTRIBUTOR:SHARON AROWOLO</a:t>
            </a:r>
            <a:endParaRPr sz="2000"/>
          </a:p>
        </p:txBody>
      </p:sp>
      <p:sp>
        <p:nvSpPr>
          <p:cNvPr id="82" name="Google Shape;82;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3" name="Google Shape;83;p17"/>
          <p:cNvPicPr preferRelativeResize="0"/>
          <p:nvPr/>
        </p:nvPicPr>
        <p:blipFill rotWithShape="1">
          <a:blip r:embed="rId3">
            <a:alphaModFix/>
          </a:blip>
          <a:srcRect b="0" l="0" r="0" t="-9685"/>
          <a:stretch/>
        </p:blipFill>
        <p:spPr>
          <a:xfrm>
            <a:off x="3589125" y="0"/>
            <a:ext cx="5336400" cy="51434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180075" y="98650"/>
            <a:ext cx="88323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lang="en-GB" sz="2400"/>
              <a:t>Are certain occupations linked to worse sleep or higher stress?</a:t>
            </a:r>
            <a:endParaRPr sz="3500"/>
          </a:p>
        </p:txBody>
      </p:sp>
      <p:sp>
        <p:nvSpPr>
          <p:cNvPr id="89" name="Google Shape;89;p18"/>
          <p:cNvSpPr txBox="1"/>
          <p:nvPr>
            <p:ph idx="1" type="body"/>
          </p:nvPr>
        </p:nvSpPr>
        <p:spPr>
          <a:xfrm>
            <a:off x="180075" y="862525"/>
            <a:ext cx="3550200" cy="40296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GB" sz="1800"/>
              <a:t>Occupation, Sleep, and Stress</a:t>
            </a:r>
            <a:endParaRPr sz="1800"/>
          </a:p>
          <a:p>
            <a:pPr indent="0" lvl="0" marL="0" rtl="0" algn="l">
              <a:spcBef>
                <a:spcPts val="1200"/>
              </a:spcBef>
              <a:spcAft>
                <a:spcPts val="0"/>
              </a:spcAft>
              <a:buNone/>
            </a:pPr>
            <a:r>
              <a:rPr lang="en-GB" sz="1600"/>
              <a:t>Different jobs show different sleep and stress patterns. Sales Representatives stand out with the lowest sleep quality (4.0) and the highest stress level (8.0), while Engineers have the best sleep quality (8.41) and one of the lowest stress levels (3.89). This makes it clear that some occupations deal with more pressure than others, and it shows up in their sleep.</a:t>
            </a:r>
            <a:endParaRPr sz="1600"/>
          </a:p>
          <a:p>
            <a:pPr indent="0" lvl="0" marL="0" rtl="0" algn="l">
              <a:spcBef>
                <a:spcPts val="1200"/>
              </a:spcBef>
              <a:spcAft>
                <a:spcPts val="0"/>
              </a:spcAft>
              <a:buNone/>
            </a:pPr>
            <a:r>
              <a:t/>
            </a:r>
            <a:endParaRPr/>
          </a:p>
          <a:p>
            <a:pPr indent="0" lvl="0" marL="0" rtl="0" algn="l">
              <a:spcBef>
                <a:spcPts val="1200"/>
              </a:spcBef>
              <a:spcAft>
                <a:spcPts val="1200"/>
              </a:spcAft>
              <a:buNone/>
            </a:pPr>
            <a:r>
              <a:rPr lang="en-GB" sz="1708"/>
              <a:t>CONTRIBUTOR: SHARON AROWOLO</a:t>
            </a:r>
            <a:endParaRPr sz="1708"/>
          </a:p>
        </p:txBody>
      </p:sp>
      <p:sp>
        <p:nvSpPr>
          <p:cNvPr id="90" name="Google Shape;90;p1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1" name="Google Shape;91;p18"/>
          <p:cNvPicPr preferRelativeResize="0"/>
          <p:nvPr/>
        </p:nvPicPr>
        <p:blipFill>
          <a:blip r:embed="rId4">
            <a:alphaModFix/>
          </a:blip>
          <a:stretch>
            <a:fillRect/>
          </a:stretch>
        </p:blipFill>
        <p:spPr>
          <a:xfrm>
            <a:off x="4007400" y="1017725"/>
            <a:ext cx="4824900" cy="4029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133300"/>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Clr>
                <a:schemeClr val="dk1"/>
              </a:buClr>
              <a:buSzPts val="990"/>
              <a:buFont typeface="Arial"/>
              <a:buNone/>
            </a:pPr>
            <a:r>
              <a:rPr lang="en-GB" sz="2060"/>
              <a:t>Are certain occupations linked to worse sleep or higher stress?(Contd)</a:t>
            </a:r>
            <a:endParaRPr sz="2420"/>
          </a:p>
        </p:txBody>
      </p:sp>
      <p:sp>
        <p:nvSpPr>
          <p:cNvPr id="97" name="Google Shape;97;p19"/>
          <p:cNvSpPr txBox="1"/>
          <p:nvPr>
            <p:ph idx="1" type="body"/>
          </p:nvPr>
        </p:nvSpPr>
        <p:spPr>
          <a:xfrm>
            <a:off x="155850" y="806300"/>
            <a:ext cx="3765000" cy="4203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sz="1800"/>
              <a:t>Stress Levels Across Occupations</a:t>
            </a:r>
            <a:endParaRPr sz="1800"/>
          </a:p>
          <a:p>
            <a:pPr indent="0" lvl="0" marL="0" rtl="0" algn="l">
              <a:spcBef>
                <a:spcPts val="1200"/>
              </a:spcBef>
              <a:spcAft>
                <a:spcPts val="0"/>
              </a:spcAft>
              <a:buNone/>
            </a:pPr>
            <a:r>
              <a:rPr lang="en-GB" sz="1700"/>
              <a:t>Stress levels vary a lot by job. Sales Representatives have the highest stress level at 8, while Engineers and Teachers are on the lower end around 4. This shows that some jobs carry way more pressure than others.</a:t>
            </a:r>
            <a:endParaRPr sz="1700"/>
          </a:p>
          <a:p>
            <a:pPr indent="0" lvl="0" marL="0" rtl="0" algn="l">
              <a:spcBef>
                <a:spcPts val="1200"/>
              </a:spcBef>
              <a:spcAft>
                <a:spcPts val="0"/>
              </a:spcAft>
              <a:buNone/>
            </a:pPr>
            <a:r>
              <a:rPr lang="en-GB" sz="1700"/>
              <a:t>Some jobs are clearly more stressful, and it shows in the numbers</a:t>
            </a:r>
            <a:endParaRPr sz="1700"/>
          </a:p>
          <a:p>
            <a:pPr indent="0" lvl="0" marL="0" rtl="0" algn="l">
              <a:spcBef>
                <a:spcPts val="1200"/>
              </a:spcBef>
              <a:spcAft>
                <a:spcPts val="0"/>
              </a:spcAft>
              <a:buNone/>
            </a:pPr>
            <a:r>
              <a:t/>
            </a:r>
            <a:endParaRPr sz="1700"/>
          </a:p>
          <a:p>
            <a:pPr indent="0" lvl="0" marL="0" rtl="0" algn="l">
              <a:spcBef>
                <a:spcPts val="1200"/>
              </a:spcBef>
              <a:spcAft>
                <a:spcPts val="1200"/>
              </a:spcAft>
              <a:buNone/>
            </a:pPr>
            <a:r>
              <a:rPr lang="en-GB" sz="1700"/>
              <a:t>CONTRIBUTOR: SHARON AROWOLO</a:t>
            </a:r>
            <a:endParaRPr sz="1700"/>
          </a:p>
        </p:txBody>
      </p:sp>
      <p:sp>
        <p:nvSpPr>
          <p:cNvPr id="98" name="Google Shape;98;p1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9" name="Google Shape;99;p19"/>
          <p:cNvPicPr preferRelativeResize="0"/>
          <p:nvPr/>
        </p:nvPicPr>
        <p:blipFill>
          <a:blip r:embed="rId3">
            <a:alphaModFix/>
          </a:blip>
          <a:stretch>
            <a:fillRect/>
          </a:stretch>
        </p:blipFill>
        <p:spPr>
          <a:xfrm>
            <a:off x="4142000" y="706000"/>
            <a:ext cx="4884900" cy="4303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158500" y="1167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1300"/>
              </a:spcBef>
              <a:spcAft>
                <a:spcPts val="0"/>
              </a:spcAft>
              <a:buClr>
                <a:schemeClr val="dk1"/>
              </a:buClr>
              <a:buSzPct val="43421"/>
              <a:buFont typeface="Arial"/>
              <a:buNone/>
            </a:pPr>
            <a:r>
              <a:rPr lang="en-GB" sz="2533">
                <a:highlight>
                  <a:srgbClr val="FFFFFF"/>
                </a:highlight>
              </a:rPr>
              <a:t>How do stress levels relate to sleep duration or sleep quality?</a:t>
            </a:r>
            <a:endParaRPr sz="2533">
              <a:highlight>
                <a:srgbClr val="FFFFFF"/>
              </a:highlight>
            </a:endParaRPr>
          </a:p>
          <a:p>
            <a:pPr indent="0" lvl="0" marL="0" rtl="0" algn="l">
              <a:spcBef>
                <a:spcPts val="900"/>
              </a:spcBef>
              <a:spcAft>
                <a:spcPts val="0"/>
              </a:spcAft>
              <a:buNone/>
            </a:pPr>
            <a:r>
              <a:t/>
            </a:r>
            <a:endParaRPr/>
          </a:p>
        </p:txBody>
      </p:sp>
      <p:sp>
        <p:nvSpPr>
          <p:cNvPr id="105" name="Google Shape;105;p20"/>
          <p:cNvSpPr txBox="1"/>
          <p:nvPr>
            <p:ph idx="1" type="body"/>
          </p:nvPr>
        </p:nvSpPr>
        <p:spPr>
          <a:xfrm>
            <a:off x="158500" y="1152475"/>
            <a:ext cx="3789900" cy="3833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sz="2000"/>
              <a:t>Stress Level &amp; Sleep Duration</a:t>
            </a:r>
            <a:endParaRPr/>
          </a:p>
          <a:p>
            <a:pPr indent="0" lvl="0" marL="0" rtl="0" algn="l">
              <a:spcBef>
                <a:spcPts val="1200"/>
              </a:spcBef>
              <a:spcAft>
                <a:spcPts val="0"/>
              </a:spcAft>
              <a:buNone/>
            </a:pPr>
            <a:r>
              <a:rPr lang="en-GB" sz="2000"/>
              <a:t>Higher stress levels show a slight trend toward shorter sleep duration. It’s not a perfect pattern, but overall, people with more stress tend to sleep a little less.</a:t>
            </a:r>
            <a:endParaRPr sz="2000"/>
          </a:p>
          <a:p>
            <a:pPr indent="0" lvl="0" marL="0" rtl="0" algn="l">
              <a:spcBef>
                <a:spcPts val="1200"/>
              </a:spcBef>
              <a:spcAft>
                <a:spcPts val="0"/>
              </a:spcAft>
              <a:buNone/>
            </a:pPr>
            <a:r>
              <a:t/>
            </a:r>
            <a:endParaRPr sz="2000"/>
          </a:p>
          <a:p>
            <a:pPr indent="0" lvl="0" marL="0" rtl="0" algn="l">
              <a:spcBef>
                <a:spcPts val="1200"/>
              </a:spcBef>
              <a:spcAft>
                <a:spcPts val="1200"/>
              </a:spcAft>
              <a:buNone/>
            </a:pPr>
            <a:r>
              <a:rPr lang="en-GB" sz="2000"/>
              <a:t>CONTRIBUTOR: SHARON AROWOLO</a:t>
            </a:r>
            <a:endParaRPr sz="2000"/>
          </a:p>
        </p:txBody>
      </p:sp>
      <p:sp>
        <p:nvSpPr>
          <p:cNvPr id="106" name="Google Shape;106;p20"/>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7" name="Google Shape;107;p20"/>
          <p:cNvPicPr preferRelativeResize="0"/>
          <p:nvPr/>
        </p:nvPicPr>
        <p:blipFill>
          <a:blip r:embed="rId3">
            <a:alphaModFix/>
          </a:blip>
          <a:stretch>
            <a:fillRect/>
          </a:stretch>
        </p:blipFill>
        <p:spPr>
          <a:xfrm>
            <a:off x="4070175" y="784225"/>
            <a:ext cx="4999825" cy="4152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160475"/>
            <a:ext cx="8520600" cy="572700"/>
          </a:xfrm>
          <a:prstGeom prst="rect">
            <a:avLst/>
          </a:prstGeom>
        </p:spPr>
        <p:txBody>
          <a:bodyPr anchorCtr="0" anchor="t" bIns="91425" lIns="91425" spcFirstLastPara="1" rIns="91425" wrap="square" tIns="91425">
            <a:noAutofit/>
          </a:bodyPr>
          <a:lstStyle/>
          <a:p>
            <a:pPr indent="0" lvl="0" marL="0" rtl="0" algn="l">
              <a:spcBef>
                <a:spcPts val="1300"/>
              </a:spcBef>
              <a:spcAft>
                <a:spcPts val="900"/>
              </a:spcAft>
              <a:buClr>
                <a:schemeClr val="dk1"/>
              </a:buClr>
              <a:buSzPts val="990"/>
              <a:buFont typeface="Arial"/>
              <a:buNone/>
            </a:pPr>
            <a:r>
              <a:rPr lang="en-GB" sz="2080">
                <a:highlight>
                  <a:srgbClr val="FFFFFF"/>
                </a:highlight>
              </a:rPr>
              <a:t>How do stress levels relate to sleep duration or sleep quality?(Contd)</a:t>
            </a:r>
            <a:endParaRPr sz="2320"/>
          </a:p>
        </p:txBody>
      </p:sp>
      <p:sp>
        <p:nvSpPr>
          <p:cNvPr id="113" name="Google Shape;113;p21"/>
          <p:cNvSpPr txBox="1"/>
          <p:nvPr>
            <p:ph idx="1" type="body"/>
          </p:nvPr>
        </p:nvSpPr>
        <p:spPr>
          <a:xfrm>
            <a:off x="205700" y="871225"/>
            <a:ext cx="3633300" cy="409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sz="2100"/>
              <a:t>Stress Level &amp; Sleep Quality</a:t>
            </a:r>
            <a:endParaRPr sz="2100"/>
          </a:p>
          <a:p>
            <a:pPr indent="0" lvl="0" marL="0" rtl="0" algn="l">
              <a:spcBef>
                <a:spcPts val="1200"/>
              </a:spcBef>
              <a:spcAft>
                <a:spcPts val="0"/>
              </a:spcAft>
              <a:buNone/>
            </a:pPr>
            <a:r>
              <a:rPr lang="en-GB" sz="2100"/>
              <a:t>Sleep quality drops as stress levels go up. The points aren’t perfectly lined up, but the overall pattern shows that higher stress usually means lower sleep quality.</a:t>
            </a:r>
            <a:endParaRPr sz="2100"/>
          </a:p>
          <a:p>
            <a:pPr indent="0" lvl="0" marL="0" rtl="0" algn="l">
              <a:spcBef>
                <a:spcPts val="1200"/>
              </a:spcBef>
              <a:spcAft>
                <a:spcPts val="0"/>
              </a:spcAft>
              <a:buNone/>
            </a:pPr>
            <a:r>
              <a:t/>
            </a:r>
            <a:endParaRPr sz="2100"/>
          </a:p>
          <a:p>
            <a:pPr indent="0" lvl="0" marL="0" rtl="0" algn="l">
              <a:spcBef>
                <a:spcPts val="1200"/>
              </a:spcBef>
              <a:spcAft>
                <a:spcPts val="1200"/>
              </a:spcAft>
              <a:buNone/>
            </a:pPr>
            <a:r>
              <a:rPr lang="en-GB" sz="2100"/>
              <a:t>CONTRIBUTOR: SHARON AROWOLO</a:t>
            </a:r>
            <a:endParaRPr sz="2100"/>
          </a:p>
        </p:txBody>
      </p:sp>
      <p:sp>
        <p:nvSpPr>
          <p:cNvPr id="114" name="Google Shape;114;p21"/>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5" name="Google Shape;115;p21"/>
          <p:cNvPicPr preferRelativeResize="0"/>
          <p:nvPr/>
        </p:nvPicPr>
        <p:blipFill>
          <a:blip r:embed="rId3">
            <a:alphaModFix/>
          </a:blip>
          <a:stretch>
            <a:fillRect/>
          </a:stretch>
        </p:blipFill>
        <p:spPr>
          <a:xfrm>
            <a:off x="3992175" y="733175"/>
            <a:ext cx="5005650" cy="44103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11700" y="151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      </a:t>
            </a:r>
            <a:r>
              <a:rPr lang="en-GB" sz="3578"/>
              <a:t>Summary of What I Learned This Week</a:t>
            </a:r>
            <a:endParaRPr sz="3578"/>
          </a:p>
        </p:txBody>
      </p:sp>
      <p:sp>
        <p:nvSpPr>
          <p:cNvPr id="121" name="Google Shape;121;p22"/>
          <p:cNvSpPr txBox="1"/>
          <p:nvPr>
            <p:ph idx="1" type="body"/>
          </p:nvPr>
        </p:nvSpPr>
        <p:spPr>
          <a:xfrm>
            <a:off x="311700" y="1285300"/>
            <a:ext cx="8520600" cy="3638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2400"/>
              <a:t>This week helped me understand how different lifestyle factors connect to sleep and stress. I learned that sleep disorders show up in people’s daily steps and heart rate, stress levels affect both sleep duration and sleep quality, and occupations have their own sleep and stress patterns. Breaking each question into its own slide made the patterns clearer and helped me see how the story fits together.</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100">
                <a:solidFill>
                  <a:schemeClr val="dk2"/>
                </a:solidFill>
              </a:rPr>
              <a:t>Week 2 Curious Questions</a:t>
            </a:r>
            <a:endParaRPr sz="4100"/>
          </a:p>
        </p:txBody>
      </p:sp>
      <p:sp>
        <p:nvSpPr>
          <p:cNvPr id="127" name="Google Shape;12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GB" sz="2800">
                <a:solidFill>
                  <a:schemeClr val="dk1"/>
                </a:solidFill>
              </a:rPr>
              <a:t>1. Does sleeping longer actually lead to better sleep quality?</a:t>
            </a:r>
            <a:endParaRPr sz="2800">
              <a:solidFill>
                <a:schemeClr val="dk1"/>
              </a:solidFill>
            </a:endParaRPr>
          </a:p>
          <a:p>
            <a:pPr indent="0" lvl="0" marL="0" rtl="0" algn="l">
              <a:lnSpc>
                <a:spcPct val="100000"/>
              </a:lnSpc>
              <a:spcBef>
                <a:spcPts val="0"/>
              </a:spcBef>
              <a:spcAft>
                <a:spcPts val="0"/>
              </a:spcAft>
              <a:buNone/>
            </a:pPr>
            <a:r>
              <a:t/>
            </a:r>
            <a:endParaRPr sz="2800">
              <a:solidFill>
                <a:schemeClr val="dk1"/>
              </a:solidFill>
            </a:endParaRPr>
          </a:p>
          <a:p>
            <a:pPr indent="0" lvl="0" marL="0" rtl="0" algn="l">
              <a:lnSpc>
                <a:spcPct val="100000"/>
              </a:lnSpc>
              <a:spcBef>
                <a:spcPts val="0"/>
              </a:spcBef>
              <a:spcAft>
                <a:spcPts val="0"/>
              </a:spcAft>
              <a:buNone/>
            </a:pPr>
            <a:r>
              <a:rPr lang="en-GB" sz="2800">
                <a:solidFill>
                  <a:schemeClr val="dk1"/>
                </a:solidFill>
              </a:rPr>
              <a:t>2. </a:t>
            </a:r>
            <a:r>
              <a:rPr lang="en-GB" sz="2578">
                <a:solidFill>
                  <a:schemeClr val="dk1"/>
                </a:solidFill>
              </a:rPr>
              <a:t>Do people with higher stress levels tend to have higher heart rates?</a:t>
            </a:r>
            <a:endParaRPr sz="2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ph type="title"/>
          </p:nvPr>
        </p:nvSpPr>
        <p:spPr>
          <a:xfrm>
            <a:off x="311700" y="110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Does sleeping longer actually lead to better sleep quality? </a:t>
            </a:r>
            <a:endParaRPr/>
          </a:p>
        </p:txBody>
      </p:sp>
      <p:sp>
        <p:nvSpPr>
          <p:cNvPr id="133" name="Google Shape;133;p2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GB" sz="2400"/>
              <a:t>People who sleep longer tend to report slightly better sleep quality on average, although the relationship is not very strong as there might be other factors also plating into their sleep quality.</a:t>
            </a:r>
            <a:endParaRPr/>
          </a:p>
        </p:txBody>
      </p:sp>
      <p:sp>
        <p:nvSpPr>
          <p:cNvPr id="134" name="Google Shape;134;p2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5" name="Google Shape;135;p24"/>
          <p:cNvPicPr preferRelativeResize="0"/>
          <p:nvPr/>
        </p:nvPicPr>
        <p:blipFill>
          <a:blip r:embed="rId4">
            <a:alphaModFix/>
          </a:blip>
          <a:stretch>
            <a:fillRect/>
          </a:stretch>
        </p:blipFill>
        <p:spPr>
          <a:xfrm>
            <a:off x="4180550" y="683050"/>
            <a:ext cx="4651750" cy="41903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5"/>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2578"/>
              <a:t>Do people with higher stress levels tend to have higher heart rates?</a:t>
            </a:r>
            <a:r>
              <a:rPr lang="en-GB"/>
              <a:t> </a:t>
            </a:r>
            <a:endParaRPr/>
          </a:p>
        </p:txBody>
      </p:sp>
      <p:sp>
        <p:nvSpPr>
          <p:cNvPr id="141" name="Google Shape;141;p25"/>
          <p:cNvSpPr txBox="1"/>
          <p:nvPr>
            <p:ph idx="1" type="body"/>
          </p:nvPr>
        </p:nvSpPr>
        <p:spPr>
          <a:xfrm>
            <a:off x="206000" y="676875"/>
            <a:ext cx="3999900" cy="3891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GB" sz="2400"/>
              <a:t>Higher stress levels are associated with slightly higher average heart rates, according to the data, the higher the stress level, the higher the heart rate. Suggesting that stress may have a measurable effect on the body. </a:t>
            </a:r>
            <a:endParaRPr sz="2400"/>
          </a:p>
        </p:txBody>
      </p:sp>
      <p:sp>
        <p:nvSpPr>
          <p:cNvPr id="142" name="Google Shape;142;p2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3" name="Google Shape;143;p25"/>
          <p:cNvPicPr preferRelativeResize="0"/>
          <p:nvPr/>
        </p:nvPicPr>
        <p:blipFill>
          <a:blip r:embed="rId3">
            <a:alphaModFix/>
          </a:blip>
          <a:stretch>
            <a:fillRect/>
          </a:stretch>
        </p:blipFill>
        <p:spPr>
          <a:xfrm>
            <a:off x="4092500" y="572700"/>
            <a:ext cx="4841900" cy="4371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type="title"/>
          </p:nvPr>
        </p:nvSpPr>
        <p:spPr>
          <a:xfrm>
            <a:off x="311700" y="2336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3720"/>
              <a:t>What i learned this week</a:t>
            </a:r>
            <a:endParaRPr sz="3720"/>
          </a:p>
        </p:txBody>
      </p:sp>
      <p:sp>
        <p:nvSpPr>
          <p:cNvPr id="149" name="Google Shape;149;p26"/>
          <p:cNvSpPr txBox="1"/>
          <p:nvPr>
            <p:ph idx="1" type="body"/>
          </p:nvPr>
        </p:nvSpPr>
        <p:spPr>
          <a:xfrm>
            <a:off x="311700" y="1152475"/>
            <a:ext cx="8520600" cy="39147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sz="2000"/>
              <a:t>This week, I learned how to analyze relationships in my dataset using grouping, sorting, and clear visualizations. I practiced comparing variables like stress, sleep duration, sleep quality, heart rate, and sleep disorders, and I learned when to switch from scatterplots to bar charts for clearer results. I faced a few obstacles, including charts not displaying, bars being too close together, and missing values breaking my plots. I fixed these issues by adjusting my plotting methods, using horizontal bar charts or matplotlib for better spacing and resetting the plotting backend when Jupyter stopped showing graphs. Overall, I became more confident in troubleshooting my code and choosing the right visualizations to clearly explain my findings. </a:t>
            </a:r>
            <a:endParaRPr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type="title"/>
          </p:nvPr>
        </p:nvSpPr>
        <p:spPr>
          <a:xfrm>
            <a:off x="435025" y="198425"/>
            <a:ext cx="8520600" cy="81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3100"/>
              <a:t>Week 3 Curious questions</a:t>
            </a:r>
            <a:endParaRPr sz="3100"/>
          </a:p>
        </p:txBody>
      </p:sp>
      <p:sp>
        <p:nvSpPr>
          <p:cNvPr id="155" name="Google Shape;155;p27"/>
          <p:cNvSpPr txBox="1"/>
          <p:nvPr>
            <p:ph idx="1" type="body"/>
          </p:nvPr>
        </p:nvSpPr>
        <p:spPr>
          <a:xfrm>
            <a:off x="311700" y="1015925"/>
            <a:ext cx="8520600" cy="3416400"/>
          </a:xfrm>
          <a:prstGeom prst="rect">
            <a:avLst/>
          </a:prstGeom>
        </p:spPr>
        <p:txBody>
          <a:bodyPr anchorCtr="0" anchor="t" bIns="91425" lIns="91425" spcFirstLastPara="1" rIns="91425" wrap="square" tIns="91425">
            <a:normAutofit/>
          </a:bodyPr>
          <a:lstStyle/>
          <a:p>
            <a:pPr indent="-387350" lvl="0" marL="457200" rtl="0" algn="l">
              <a:lnSpc>
                <a:spcPct val="100000"/>
              </a:lnSpc>
              <a:spcBef>
                <a:spcPts val="1300"/>
              </a:spcBef>
              <a:spcAft>
                <a:spcPts val="0"/>
              </a:spcAft>
              <a:buClr>
                <a:schemeClr val="dk1"/>
              </a:buClr>
              <a:buSzPts val="2500"/>
              <a:buAutoNum type="arabicPeriod"/>
            </a:pPr>
            <a:r>
              <a:rPr lang="en-GB" sz="2500">
                <a:solidFill>
                  <a:schemeClr val="dk1"/>
                </a:solidFill>
                <a:highlight>
                  <a:srgbClr val="FFFFFF"/>
                </a:highlight>
              </a:rPr>
              <a:t>Do people with higher physical activity levels take more daily steps?</a:t>
            </a:r>
            <a:endParaRPr sz="2500">
              <a:solidFill>
                <a:schemeClr val="dk1"/>
              </a:solidFill>
              <a:highlight>
                <a:srgbClr val="FFFFFF"/>
              </a:highlight>
            </a:endParaRPr>
          </a:p>
          <a:p>
            <a:pPr indent="-379730" lvl="0" marL="457200" rtl="0" algn="l">
              <a:lnSpc>
                <a:spcPct val="100000"/>
              </a:lnSpc>
              <a:spcBef>
                <a:spcPts val="0"/>
              </a:spcBef>
              <a:spcAft>
                <a:spcPts val="0"/>
              </a:spcAft>
              <a:buClr>
                <a:schemeClr val="dk1"/>
              </a:buClr>
              <a:buSzPts val="2380"/>
              <a:buAutoNum type="arabicPeriod"/>
            </a:pPr>
            <a:r>
              <a:rPr lang="en-GB" sz="2380">
                <a:solidFill>
                  <a:schemeClr val="dk1"/>
                </a:solidFill>
                <a:highlight>
                  <a:srgbClr val="FFFFFF"/>
                </a:highlight>
              </a:rPr>
              <a:t>Does age group affect stress levels?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idx="1" type="body"/>
          </p:nvPr>
        </p:nvSpPr>
        <p:spPr>
          <a:xfrm>
            <a:off x="155850" y="810300"/>
            <a:ext cx="4155900" cy="4333200"/>
          </a:xfrm>
          <a:prstGeom prst="rect">
            <a:avLst/>
          </a:prstGeom>
        </p:spPr>
        <p:txBody>
          <a:bodyPr anchorCtr="0" anchor="t" bIns="91425" lIns="91425" spcFirstLastPara="1" rIns="91425" wrap="square" tIns="91425">
            <a:normAutofit fontScale="25000"/>
          </a:bodyPr>
          <a:lstStyle/>
          <a:p>
            <a:pPr indent="0" lvl="0" marL="0" rtl="0" algn="l">
              <a:spcBef>
                <a:spcPts val="1200"/>
              </a:spcBef>
              <a:spcAft>
                <a:spcPts val="1200"/>
              </a:spcAft>
              <a:buNone/>
            </a:pPr>
            <a:r>
              <a:rPr lang="en-GB" sz="7278"/>
              <a:t>The chart shows a clear upward trend: people with higher physical activity levels take more daily steps on average. The bars increase steadily as activity level rises, which highlights a strong relationship between movement and overall activity intensity. This pattern suggests that individuals who are more active throughout the day naturally accumulate more steps.</a:t>
            </a:r>
            <a:endParaRPr sz="7278"/>
          </a:p>
        </p:txBody>
      </p:sp>
      <p:sp>
        <p:nvSpPr>
          <p:cNvPr id="161" name="Google Shape;161;p2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2" name="Google Shape;162;p28"/>
          <p:cNvPicPr preferRelativeResize="0"/>
          <p:nvPr/>
        </p:nvPicPr>
        <p:blipFill>
          <a:blip r:embed="rId3">
            <a:alphaModFix/>
          </a:blip>
          <a:stretch>
            <a:fillRect/>
          </a:stretch>
        </p:blipFill>
        <p:spPr>
          <a:xfrm>
            <a:off x="4311600" y="610650"/>
            <a:ext cx="4748250" cy="4466175"/>
          </a:xfrm>
          <a:prstGeom prst="rect">
            <a:avLst/>
          </a:prstGeom>
          <a:noFill/>
          <a:ln>
            <a:noFill/>
          </a:ln>
        </p:spPr>
      </p:pic>
      <p:sp>
        <p:nvSpPr>
          <p:cNvPr id="163" name="Google Shape;163;p28"/>
          <p:cNvSpPr txBox="1"/>
          <p:nvPr/>
        </p:nvSpPr>
        <p:spPr>
          <a:xfrm>
            <a:off x="155850" y="0"/>
            <a:ext cx="8832300" cy="523200"/>
          </a:xfrm>
          <a:prstGeom prst="rect">
            <a:avLst/>
          </a:prstGeom>
          <a:noFill/>
          <a:ln>
            <a:noFill/>
          </a:ln>
        </p:spPr>
        <p:txBody>
          <a:bodyPr anchorCtr="0" anchor="t" bIns="91425" lIns="91425" spcFirstLastPara="1" rIns="91425" wrap="square" tIns="91425">
            <a:spAutoFit/>
          </a:bodyPr>
          <a:lstStyle/>
          <a:p>
            <a:pPr indent="0" lvl="0" marL="0" rtl="0" algn="l">
              <a:spcBef>
                <a:spcPts val="1300"/>
              </a:spcBef>
              <a:spcAft>
                <a:spcPts val="900"/>
              </a:spcAft>
              <a:buNone/>
            </a:pPr>
            <a:r>
              <a:rPr lang="en-GB" sz="2200">
                <a:solidFill>
                  <a:schemeClr val="dk1"/>
                </a:solidFill>
                <a:highlight>
                  <a:srgbClr val="FFFFFF"/>
                </a:highlight>
              </a:rPr>
              <a:t>Do people with higher physical activity levels take more daily steps?</a:t>
            </a:r>
            <a:endParaRPr sz="2200">
              <a:solidFill>
                <a:schemeClr val="dk1"/>
              </a:solidFill>
              <a:highlight>
                <a:srgbClr val="FFFFFF"/>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type="title"/>
          </p:nvPr>
        </p:nvSpPr>
        <p:spPr>
          <a:xfrm>
            <a:off x="311700" y="0"/>
            <a:ext cx="8520600" cy="572700"/>
          </a:xfrm>
          <a:prstGeom prst="rect">
            <a:avLst/>
          </a:prstGeom>
        </p:spPr>
        <p:txBody>
          <a:bodyPr anchorCtr="0" anchor="t" bIns="91425" lIns="91425" spcFirstLastPara="1" rIns="91425" wrap="square" tIns="91425">
            <a:noAutofit/>
          </a:bodyPr>
          <a:lstStyle/>
          <a:p>
            <a:pPr indent="0" lvl="0" marL="0" rtl="0" algn="l">
              <a:spcBef>
                <a:spcPts val="1300"/>
              </a:spcBef>
              <a:spcAft>
                <a:spcPts val="0"/>
              </a:spcAft>
              <a:buClr>
                <a:schemeClr val="dk1"/>
              </a:buClr>
              <a:buSzPts val="990"/>
              <a:buFont typeface="Arial"/>
              <a:buNone/>
            </a:pPr>
            <a:r>
              <a:rPr lang="en-GB" sz="2880">
                <a:highlight>
                  <a:srgbClr val="FFFFFF"/>
                </a:highlight>
              </a:rPr>
              <a:t>Does age group affect stress levels?</a:t>
            </a:r>
            <a:endParaRPr sz="2880">
              <a:highlight>
                <a:srgbClr val="FFFFFF"/>
              </a:highlight>
            </a:endParaRPr>
          </a:p>
          <a:p>
            <a:pPr indent="0" lvl="0" marL="0" rtl="0" algn="l">
              <a:spcBef>
                <a:spcPts val="900"/>
              </a:spcBef>
              <a:spcAft>
                <a:spcPts val="0"/>
              </a:spcAft>
              <a:buSzPts val="990"/>
              <a:buNone/>
            </a:pPr>
            <a:r>
              <a:t/>
            </a:r>
            <a:endParaRPr sz="2520"/>
          </a:p>
        </p:txBody>
      </p:sp>
      <p:sp>
        <p:nvSpPr>
          <p:cNvPr id="169" name="Google Shape;169;p29"/>
          <p:cNvSpPr txBox="1"/>
          <p:nvPr>
            <p:ph idx="1" type="body"/>
          </p:nvPr>
        </p:nvSpPr>
        <p:spPr>
          <a:xfrm>
            <a:off x="311700" y="892500"/>
            <a:ext cx="3999900" cy="4016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sz="2000"/>
              <a:t>The chart shows that younger adults tend to have higher average stress levels than older adults. The 20–29 age group has the highest stress, while stress gradually decreases across the older age groups. This pattern suggests that stress may be more common or more intense in early adulthood compared to later stages of life.</a:t>
            </a:r>
            <a:r>
              <a:rPr lang="en-GB" sz="1700"/>
              <a:t> </a:t>
            </a:r>
            <a:endParaRPr sz="1700"/>
          </a:p>
        </p:txBody>
      </p:sp>
      <p:sp>
        <p:nvSpPr>
          <p:cNvPr id="170" name="Google Shape;170;p2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1" name="Google Shape;171;p29"/>
          <p:cNvPicPr preferRelativeResize="0"/>
          <p:nvPr/>
        </p:nvPicPr>
        <p:blipFill>
          <a:blip r:embed="rId3">
            <a:alphaModFix/>
          </a:blip>
          <a:stretch>
            <a:fillRect/>
          </a:stretch>
        </p:blipFill>
        <p:spPr>
          <a:xfrm>
            <a:off x="4233400" y="892475"/>
            <a:ext cx="4598900" cy="401614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ph type="title"/>
          </p:nvPr>
        </p:nvSpPr>
        <p:spPr>
          <a:xfrm>
            <a:off x="311700" y="339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i learned this week</a:t>
            </a:r>
            <a:endParaRPr/>
          </a:p>
        </p:txBody>
      </p:sp>
      <p:sp>
        <p:nvSpPr>
          <p:cNvPr id="177" name="Google Shape;177;p30"/>
          <p:cNvSpPr txBox="1"/>
          <p:nvPr>
            <p:ph idx="1" type="body"/>
          </p:nvPr>
        </p:nvSpPr>
        <p:spPr>
          <a:xfrm>
            <a:off x="311700" y="1244775"/>
            <a:ext cx="8520600" cy="3693900"/>
          </a:xfrm>
          <a:prstGeom prst="rect">
            <a:avLst/>
          </a:prstGeom>
        </p:spPr>
        <p:txBody>
          <a:bodyPr anchorCtr="0" anchor="t" bIns="91425" lIns="91425" spcFirstLastPara="1" rIns="91425" wrap="square" tIns="91425">
            <a:normAutofit fontScale="92500" lnSpcReduction="20000"/>
          </a:bodyPr>
          <a:lstStyle/>
          <a:p>
            <a:pPr indent="0" lvl="0" marL="0" rtl="0" algn="l">
              <a:spcBef>
                <a:spcPts val="1200"/>
              </a:spcBef>
              <a:spcAft>
                <a:spcPts val="0"/>
              </a:spcAft>
              <a:buClr>
                <a:schemeClr val="dk1"/>
              </a:buClr>
              <a:buSzPct val="52179"/>
              <a:buFont typeface="Arial"/>
              <a:buNone/>
            </a:pPr>
            <a:r>
              <a:rPr lang="en-GB" sz="2108"/>
              <a:t>This week, I learned how to analyze relationships in my dataset by grouping variables and comparing their averages through clear visualizations. I explored patterns such as younger adults having higher stress levels, higher physical activity levels being linked to more daily steps, and stress levels rising alongside heart rate. While working through these questions, I encountered a few obstacles, especially with creating age groups and getting some charts to display correctly. I overcame these challenges by checking my column names, fixing data types, and adjusting my approach until the visualizations came out clean. Overall, this week taught me how to interpret grouped data more confidently, recognize meaningful trends in health‑related variables, and troubleshoot issues in a structured way.</a:t>
            </a:r>
            <a:endParaRPr sz="2108"/>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WEEK 4</a:t>
            </a:r>
            <a:endParaRPr/>
          </a:p>
        </p:txBody>
      </p:sp>
      <p:sp>
        <p:nvSpPr>
          <p:cNvPr id="183" name="Google Shape;183;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000"/>
              <a:t>MICRO</a:t>
            </a:r>
            <a:endParaRPr sz="10000"/>
          </a:p>
          <a:p>
            <a:pPr indent="0" lvl="0" marL="0" rtl="0" algn="l">
              <a:spcBef>
                <a:spcPts val="1200"/>
              </a:spcBef>
              <a:spcAft>
                <a:spcPts val="1200"/>
              </a:spcAft>
              <a:buNone/>
            </a:pPr>
            <a:r>
              <a:rPr lang="en-GB" sz="10000"/>
              <a:t>         STORY</a:t>
            </a:r>
            <a:endParaRPr sz="10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ph type="title"/>
          </p:nvPr>
        </p:nvSpPr>
        <p:spPr>
          <a:xfrm>
            <a:off x="311700" y="163575"/>
            <a:ext cx="8520600" cy="6690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HOW DOES STRESS AFFECT SLEEP?</a:t>
            </a:r>
            <a:endParaRPr/>
          </a:p>
        </p:txBody>
      </p:sp>
      <p:pic>
        <p:nvPicPr>
          <p:cNvPr id="189" name="Google Shape;189;p32"/>
          <p:cNvPicPr preferRelativeResize="0"/>
          <p:nvPr/>
        </p:nvPicPr>
        <p:blipFill>
          <a:blip r:embed="rId3">
            <a:alphaModFix/>
          </a:blip>
          <a:stretch>
            <a:fillRect/>
          </a:stretch>
        </p:blipFill>
        <p:spPr>
          <a:xfrm>
            <a:off x="152400" y="832575"/>
            <a:ext cx="8839201" cy="43109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3"/>
          <p:cNvSpPr txBox="1"/>
          <p:nvPr>
            <p:ph type="title"/>
          </p:nvPr>
        </p:nvSpPr>
        <p:spPr>
          <a:xfrm>
            <a:off x="716025" y="145400"/>
            <a:ext cx="7855800" cy="578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HOW DOES STRESS AFFECT SLEEP?</a:t>
            </a:r>
            <a:endParaRPr/>
          </a:p>
        </p:txBody>
      </p:sp>
      <p:pic>
        <p:nvPicPr>
          <p:cNvPr id="195" name="Google Shape;195;p33"/>
          <p:cNvPicPr preferRelativeResize="0"/>
          <p:nvPr/>
        </p:nvPicPr>
        <p:blipFill rotWithShape="1">
          <a:blip r:embed="rId3">
            <a:alphaModFix/>
          </a:blip>
          <a:srcRect b="-53351" l="-177358" r="276553" t="10433"/>
          <a:stretch/>
        </p:blipFill>
        <p:spPr>
          <a:xfrm>
            <a:off x="-2355415" y="828675"/>
            <a:ext cx="36225" cy="3486150"/>
          </a:xfrm>
          <a:prstGeom prst="rect">
            <a:avLst/>
          </a:prstGeom>
          <a:noFill/>
          <a:ln>
            <a:noFill/>
          </a:ln>
        </p:spPr>
      </p:pic>
      <p:pic>
        <p:nvPicPr>
          <p:cNvPr id="196" name="Google Shape;196;p33"/>
          <p:cNvPicPr preferRelativeResize="0"/>
          <p:nvPr/>
        </p:nvPicPr>
        <p:blipFill>
          <a:blip r:embed="rId4">
            <a:alphaModFix/>
          </a:blip>
          <a:stretch>
            <a:fillRect/>
          </a:stretch>
        </p:blipFill>
        <p:spPr>
          <a:xfrm>
            <a:off x="4841725" y="723500"/>
            <a:ext cx="4111800" cy="4289225"/>
          </a:xfrm>
          <a:prstGeom prst="rect">
            <a:avLst/>
          </a:prstGeom>
          <a:noFill/>
          <a:ln>
            <a:noFill/>
          </a:ln>
        </p:spPr>
      </p:pic>
      <p:pic>
        <p:nvPicPr>
          <p:cNvPr id="197" name="Google Shape;197;p33"/>
          <p:cNvPicPr preferRelativeResize="0"/>
          <p:nvPr/>
        </p:nvPicPr>
        <p:blipFill>
          <a:blip r:embed="rId5">
            <a:alphaModFix/>
          </a:blip>
          <a:stretch>
            <a:fillRect/>
          </a:stretch>
        </p:blipFill>
        <p:spPr>
          <a:xfrm>
            <a:off x="213925" y="992525"/>
            <a:ext cx="4482399" cy="4020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4"/>
          <p:cNvSpPr txBox="1"/>
          <p:nvPr>
            <p:ph type="title"/>
          </p:nvPr>
        </p:nvSpPr>
        <p:spPr>
          <a:xfrm>
            <a:off x="311700" y="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3720"/>
              <a:t>Micro-Story Draft</a:t>
            </a:r>
            <a:endParaRPr sz="3720"/>
          </a:p>
        </p:txBody>
      </p:sp>
      <p:sp>
        <p:nvSpPr>
          <p:cNvPr id="203" name="Google Shape;203;p34"/>
          <p:cNvSpPr txBox="1"/>
          <p:nvPr>
            <p:ph idx="1" type="body"/>
          </p:nvPr>
        </p:nvSpPr>
        <p:spPr>
          <a:xfrm>
            <a:off x="311700" y="762000"/>
            <a:ext cx="8520600" cy="4136400"/>
          </a:xfrm>
          <a:prstGeom prst="rect">
            <a:avLst/>
          </a:prstGeom>
        </p:spPr>
        <p:txBody>
          <a:bodyPr anchorCtr="0" anchor="t" bIns="91425" lIns="91425" spcFirstLastPara="1" rIns="91425" wrap="square" tIns="91425">
            <a:normAutofit fontScale="32500"/>
          </a:bodyPr>
          <a:lstStyle/>
          <a:p>
            <a:pPr indent="0" lvl="0" marL="0" rtl="0" algn="l">
              <a:spcBef>
                <a:spcPts val="1200"/>
              </a:spcBef>
              <a:spcAft>
                <a:spcPts val="0"/>
              </a:spcAft>
              <a:buClr>
                <a:schemeClr val="dk1"/>
              </a:buClr>
              <a:buSzPct val="28038"/>
              <a:buFont typeface="Arial"/>
              <a:buNone/>
            </a:pPr>
            <a:r>
              <a:rPr lang="en-GB" sz="3923"/>
              <a:t>The story I chose shows the relationship between stress levels and average sleep durationand sleep quality. It shows that as stress increases, the amount of sleep people get drops which also affects their sleep quaality. I know this because the bars clearly decrease from low stress to high stress, which means people with higher stress are sleeping fewer hours. This pattern stood out to me because it connects two things that affect almost everyone: stress and sleep. I’ve definitely had days where stress made it harder to sleep, so seeing the data match my own experience made it feel more real.</a:t>
            </a:r>
            <a:endParaRPr sz="3923"/>
          </a:p>
          <a:p>
            <a:pPr indent="0" lvl="0" marL="0" rtl="0" algn="l">
              <a:spcBef>
                <a:spcPts val="1200"/>
              </a:spcBef>
              <a:spcAft>
                <a:spcPts val="0"/>
              </a:spcAft>
              <a:buClr>
                <a:schemeClr val="dk1"/>
              </a:buClr>
              <a:buSzPct val="28038"/>
              <a:buFont typeface="Arial"/>
              <a:buNone/>
            </a:pPr>
            <a:r>
              <a:rPr lang="en-GB" sz="3923"/>
              <a:t>This dataset matters to me because I’m a student, and stress is something I deal with all the time. When I don’t sleep enough, everything feels harder, focusing, remembering things, even just getting through the day. So looking at this chart made me think about how much stress affects my daily routine without me even noticing.</a:t>
            </a:r>
            <a:endParaRPr sz="3923"/>
          </a:p>
          <a:p>
            <a:pPr indent="0" lvl="0" marL="0" rtl="0" algn="l">
              <a:spcBef>
                <a:spcPts val="1200"/>
              </a:spcBef>
              <a:spcAft>
                <a:spcPts val="0"/>
              </a:spcAft>
              <a:buClr>
                <a:schemeClr val="dk1"/>
              </a:buClr>
              <a:buSzPct val="28038"/>
              <a:buFont typeface="Arial"/>
              <a:buNone/>
            </a:pPr>
            <a:r>
              <a:rPr lang="en-GB" sz="3923"/>
              <a:t>I think this dataset should matter to other people because it shows how connected our habits and health really are. A lot of people think stress is just a mental thing, but this chart shows it affects sleep, which then affects everything else. Understanding this could help people take stress more seriously.</a:t>
            </a:r>
            <a:endParaRPr sz="3923"/>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